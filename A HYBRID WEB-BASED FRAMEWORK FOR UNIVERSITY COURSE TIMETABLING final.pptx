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82"/>
  </p:notesMasterIdLst>
  <p:sldIdLst>
    <p:sldId id="256" r:id="rId2"/>
    <p:sldId id="285" r:id="rId3"/>
    <p:sldId id="283" r:id="rId4"/>
    <p:sldId id="269" r:id="rId5"/>
    <p:sldId id="270" r:id="rId6"/>
    <p:sldId id="271" r:id="rId7"/>
    <p:sldId id="272" r:id="rId8"/>
    <p:sldId id="273" r:id="rId9"/>
    <p:sldId id="274" r:id="rId10"/>
    <p:sldId id="275" r:id="rId11"/>
    <p:sldId id="276" r:id="rId12"/>
    <p:sldId id="277" r:id="rId13"/>
    <p:sldId id="278" r:id="rId14"/>
    <p:sldId id="279" r:id="rId15"/>
    <p:sldId id="280" r:id="rId16"/>
    <p:sldId id="281" r:id="rId17"/>
    <p:sldId id="266" r:id="rId18"/>
    <p:sldId id="282" r:id="rId19"/>
    <p:sldId id="260" r:id="rId20"/>
    <p:sldId id="294" r:id="rId21"/>
    <p:sldId id="295" r:id="rId22"/>
    <p:sldId id="296" r:id="rId23"/>
    <p:sldId id="298" r:id="rId24"/>
    <p:sldId id="297" r:id="rId25"/>
    <p:sldId id="299" r:id="rId26"/>
    <p:sldId id="300" r:id="rId27"/>
    <p:sldId id="301" r:id="rId28"/>
    <p:sldId id="302" r:id="rId29"/>
    <p:sldId id="303" r:id="rId30"/>
    <p:sldId id="304" r:id="rId31"/>
    <p:sldId id="305" r:id="rId32"/>
    <p:sldId id="316" r:id="rId33"/>
    <p:sldId id="263" r:id="rId34"/>
    <p:sldId id="306" r:id="rId35"/>
    <p:sldId id="307" r:id="rId36"/>
    <p:sldId id="308" r:id="rId37"/>
    <p:sldId id="309" r:id="rId38"/>
    <p:sldId id="310" r:id="rId39"/>
    <p:sldId id="311" r:id="rId40"/>
    <p:sldId id="312" r:id="rId41"/>
    <p:sldId id="313" r:id="rId42"/>
    <p:sldId id="314" r:id="rId43"/>
    <p:sldId id="326" r:id="rId44"/>
    <p:sldId id="315" r:id="rId45"/>
    <p:sldId id="262" r:id="rId46"/>
    <p:sldId id="286" r:id="rId47"/>
    <p:sldId id="287" r:id="rId48"/>
    <p:sldId id="288" r:id="rId49"/>
    <p:sldId id="289" r:id="rId50"/>
    <p:sldId id="290" r:id="rId51"/>
    <p:sldId id="317" r:id="rId52"/>
    <p:sldId id="292" r:id="rId53"/>
    <p:sldId id="293" r:id="rId54"/>
    <p:sldId id="321" r:id="rId55"/>
    <p:sldId id="320" r:id="rId56"/>
    <p:sldId id="319" r:id="rId57"/>
    <p:sldId id="327" r:id="rId58"/>
    <p:sldId id="328" r:id="rId59"/>
    <p:sldId id="329" r:id="rId60"/>
    <p:sldId id="330" r:id="rId61"/>
    <p:sldId id="331" r:id="rId62"/>
    <p:sldId id="332" r:id="rId63"/>
    <p:sldId id="333" r:id="rId64"/>
    <p:sldId id="334" r:id="rId65"/>
    <p:sldId id="335" r:id="rId66"/>
    <p:sldId id="336" r:id="rId67"/>
    <p:sldId id="337" r:id="rId68"/>
    <p:sldId id="338" r:id="rId69"/>
    <p:sldId id="340" r:id="rId70"/>
    <p:sldId id="264" r:id="rId71"/>
    <p:sldId id="322" r:id="rId72"/>
    <p:sldId id="323" r:id="rId73"/>
    <p:sldId id="324" r:id="rId74"/>
    <p:sldId id="342" r:id="rId75"/>
    <p:sldId id="341" r:id="rId76"/>
    <p:sldId id="325" r:id="rId77"/>
    <p:sldId id="265" r:id="rId78"/>
    <p:sldId id="343" r:id="rId79"/>
    <p:sldId id="344" r:id="rId80"/>
    <p:sldId id="284" r:id="rId8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6082"/>
    <a:srgbClr val="FFCC66"/>
    <a:srgbClr val="FFFF99"/>
    <a:srgbClr val="25BF8C"/>
    <a:srgbClr val="00B0F0"/>
    <a:srgbClr val="110914"/>
    <a:srgbClr val="120914"/>
    <a:srgbClr val="150A15"/>
    <a:srgbClr val="100914"/>
    <a:srgbClr val="0E091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3D4867-A026-BB15-3D97-388DA3623720}" v="829" dt="2026-06-12T21:21:04.205"/>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microsoft.com/office/2015/10/relationships/revisionInfo" Target="revisionInfo.xml"/><Relationship Id="rId61" Type="http://schemas.openxmlformats.org/officeDocument/2006/relationships/slide" Target="slides/slide60.xml"/><Relationship Id="rId8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3C0A635-C774-461D-A222-88BAEA77A94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D5057250-ED50-4DB8-A966-D788531B2F01}">
      <dgm:prSet/>
      <dgm:spPr/>
      <dgm:t>
        <a:bodyPr/>
        <a:lstStyle/>
        <a:p>
          <a:r>
            <a:rPr lang="en-US" b="1"/>
            <a:t>HGATS: Hybrid Guided Search Genetic Algorithm with Tabu Search</a:t>
          </a:r>
          <a:endParaRPr lang="en-US"/>
        </a:p>
      </dgm:t>
    </dgm:pt>
    <dgm:pt modelId="{48BAD1C0-C4E8-4EA4-AC16-66D5ADF9C1DC}" type="parTrans" cxnId="{E16232FF-5E69-410C-B61D-23B9848175BB}">
      <dgm:prSet/>
      <dgm:spPr/>
      <dgm:t>
        <a:bodyPr/>
        <a:lstStyle/>
        <a:p>
          <a:endParaRPr lang="en-US"/>
        </a:p>
      </dgm:t>
    </dgm:pt>
    <dgm:pt modelId="{B3147249-1C03-49AB-A7B6-36F6F7069255}" type="sibTrans" cxnId="{E16232FF-5E69-410C-B61D-23B9848175BB}">
      <dgm:prSet/>
      <dgm:spPr/>
      <dgm:t>
        <a:bodyPr/>
        <a:lstStyle/>
        <a:p>
          <a:endParaRPr lang="en-US"/>
        </a:p>
      </dgm:t>
    </dgm:pt>
    <dgm:pt modelId="{2D6EF33D-C024-4E2F-9075-10B19ADB78FA}">
      <dgm:prSet/>
      <dgm:spPr/>
      <dgm:t>
        <a:bodyPr/>
        <a:lstStyle/>
        <a:p>
          <a:r>
            <a:rPr lang="en-US"/>
            <a:t>HGATS</a:t>
          </a:r>
          <a:r>
            <a:rPr lang="ar-EG"/>
            <a:t> </a:t>
          </a:r>
          <a:r>
            <a:rPr lang="en-US"/>
            <a:t>=</a:t>
          </a:r>
          <a:r>
            <a:rPr lang="ar-EG"/>
            <a:t> </a:t>
          </a:r>
          <a:r>
            <a:rPr lang="en-US"/>
            <a:t>GSGA + TS</a:t>
          </a:r>
        </a:p>
      </dgm:t>
    </dgm:pt>
    <dgm:pt modelId="{D556BF0B-6C1C-4B13-9FF4-9FE9CE7D9F4F}" type="parTrans" cxnId="{7C962E6B-2FBB-46EA-8040-2D8144198444}">
      <dgm:prSet/>
      <dgm:spPr/>
      <dgm:t>
        <a:bodyPr/>
        <a:lstStyle/>
        <a:p>
          <a:endParaRPr lang="en-US"/>
        </a:p>
      </dgm:t>
    </dgm:pt>
    <dgm:pt modelId="{70042467-9E5B-460F-8151-FEA029C1EB05}" type="sibTrans" cxnId="{7C962E6B-2FBB-46EA-8040-2D8144198444}">
      <dgm:prSet/>
      <dgm:spPr/>
      <dgm:t>
        <a:bodyPr/>
        <a:lstStyle/>
        <a:p>
          <a:endParaRPr lang="en-US"/>
        </a:p>
      </dgm:t>
    </dgm:pt>
    <dgm:pt modelId="{A4FE71F5-1BDB-4654-B3F3-D08CBAD34C2E}">
      <dgm:prSet/>
      <dgm:spPr/>
      <dgm:t>
        <a:bodyPr/>
        <a:lstStyle/>
        <a:p>
          <a:r>
            <a:rPr lang="en-US"/>
            <a:t>Designed for the Post-Enrolment Course Timetabling Problem (PECTP). </a:t>
          </a:r>
        </a:p>
      </dgm:t>
    </dgm:pt>
    <dgm:pt modelId="{63A8B2DE-B3B7-4EC0-87B4-200D28AE12BD}" type="parTrans" cxnId="{96839412-B197-4E57-B1DF-A1584104B895}">
      <dgm:prSet/>
      <dgm:spPr/>
      <dgm:t>
        <a:bodyPr/>
        <a:lstStyle/>
        <a:p>
          <a:endParaRPr lang="en-US"/>
        </a:p>
      </dgm:t>
    </dgm:pt>
    <dgm:pt modelId="{7B753978-7D75-4FEC-A401-1AB5BDAE1D22}" type="sibTrans" cxnId="{96839412-B197-4E57-B1DF-A1584104B895}">
      <dgm:prSet/>
      <dgm:spPr/>
      <dgm:t>
        <a:bodyPr/>
        <a:lstStyle/>
        <a:p>
          <a:endParaRPr lang="en-US"/>
        </a:p>
      </dgm:t>
    </dgm:pt>
    <dgm:pt modelId="{E6E8B3AF-7533-428D-BF97-3F05A8AEEF98}">
      <dgm:prSet/>
      <dgm:spPr/>
      <dgm:t>
        <a:bodyPr/>
        <a:lstStyle/>
        <a:p>
          <a:r>
            <a:rPr lang="en-US"/>
            <a:t>Combines global exploration and local exploitation. </a:t>
          </a:r>
        </a:p>
      </dgm:t>
    </dgm:pt>
    <dgm:pt modelId="{203245FB-D732-4351-9345-32C1D00353C4}" type="parTrans" cxnId="{521AF872-F1ED-4951-8494-3B3AF5207A97}">
      <dgm:prSet/>
      <dgm:spPr/>
      <dgm:t>
        <a:bodyPr/>
        <a:lstStyle/>
        <a:p>
          <a:endParaRPr lang="en-US"/>
        </a:p>
      </dgm:t>
    </dgm:pt>
    <dgm:pt modelId="{A17DA12B-CF3A-4ECA-9086-3ADD0CC7B1F2}" type="sibTrans" cxnId="{521AF872-F1ED-4951-8494-3B3AF5207A97}">
      <dgm:prSet/>
      <dgm:spPr/>
      <dgm:t>
        <a:bodyPr/>
        <a:lstStyle/>
        <a:p>
          <a:endParaRPr lang="en-US"/>
        </a:p>
      </dgm:t>
    </dgm:pt>
    <dgm:pt modelId="{4BDA23D9-FBA9-4774-B443-133915BF7157}">
      <dgm:prSet/>
      <dgm:spPr/>
      <dgm:t>
        <a:bodyPr/>
        <a:lstStyle/>
        <a:p>
          <a:r>
            <a:rPr lang="en-US"/>
            <a:t>Integrates: </a:t>
          </a:r>
        </a:p>
      </dgm:t>
    </dgm:pt>
    <dgm:pt modelId="{B30F9F9E-B6CC-467E-A78F-CDC2B3FDCAA2}" type="parTrans" cxnId="{ADD68CE5-32D0-417F-A45D-6E99C7201938}">
      <dgm:prSet/>
      <dgm:spPr/>
      <dgm:t>
        <a:bodyPr/>
        <a:lstStyle/>
        <a:p>
          <a:endParaRPr lang="en-US"/>
        </a:p>
      </dgm:t>
    </dgm:pt>
    <dgm:pt modelId="{2E221B63-03E5-48A0-B74D-39729DB52633}" type="sibTrans" cxnId="{ADD68CE5-32D0-417F-A45D-6E99C7201938}">
      <dgm:prSet/>
      <dgm:spPr/>
      <dgm:t>
        <a:bodyPr/>
        <a:lstStyle/>
        <a:p>
          <a:endParaRPr lang="en-US"/>
        </a:p>
      </dgm:t>
    </dgm:pt>
    <dgm:pt modelId="{C78A9BDF-E8DD-4DCA-B2D0-7D67F7348890}">
      <dgm:prSet/>
      <dgm:spPr/>
      <dgm:t>
        <a:bodyPr/>
        <a:lstStyle/>
        <a:p>
          <a:r>
            <a:rPr lang="en-US"/>
            <a:t>Guided Search Genetic Algorithm (GSGA) </a:t>
          </a:r>
        </a:p>
      </dgm:t>
    </dgm:pt>
    <dgm:pt modelId="{AF5C6D24-927C-45E7-B750-4B44DA49E804}" type="parTrans" cxnId="{E566C595-9689-4CA9-AC09-350B4F491257}">
      <dgm:prSet/>
      <dgm:spPr/>
      <dgm:t>
        <a:bodyPr/>
        <a:lstStyle/>
        <a:p>
          <a:endParaRPr lang="en-US"/>
        </a:p>
      </dgm:t>
    </dgm:pt>
    <dgm:pt modelId="{D1A00B4F-CF0E-4C41-9058-3638E68A6AB2}" type="sibTrans" cxnId="{E566C595-9689-4CA9-AC09-350B4F491257}">
      <dgm:prSet/>
      <dgm:spPr/>
      <dgm:t>
        <a:bodyPr/>
        <a:lstStyle/>
        <a:p>
          <a:endParaRPr lang="en-US"/>
        </a:p>
      </dgm:t>
    </dgm:pt>
    <dgm:pt modelId="{F0ECD6D3-F778-4ABC-BB3D-44F9117F65FB}">
      <dgm:prSet/>
      <dgm:spPr/>
      <dgm:t>
        <a:bodyPr/>
        <a:lstStyle/>
        <a:p>
          <a:r>
            <a:rPr lang="en-US"/>
            <a:t>Local Search (LS3 &amp; LS4) </a:t>
          </a:r>
        </a:p>
      </dgm:t>
    </dgm:pt>
    <dgm:pt modelId="{7E2EFD8E-554E-46D8-A4F3-C3AD889F4089}" type="parTrans" cxnId="{B6FF8BD5-BE72-4EED-A709-7E326E40E023}">
      <dgm:prSet/>
      <dgm:spPr/>
      <dgm:t>
        <a:bodyPr/>
        <a:lstStyle/>
        <a:p>
          <a:endParaRPr lang="en-US"/>
        </a:p>
      </dgm:t>
    </dgm:pt>
    <dgm:pt modelId="{038C88C2-476D-40D3-9107-869C2EEA0EDD}" type="sibTrans" cxnId="{B6FF8BD5-BE72-4EED-A709-7E326E40E023}">
      <dgm:prSet/>
      <dgm:spPr/>
      <dgm:t>
        <a:bodyPr/>
        <a:lstStyle/>
        <a:p>
          <a:endParaRPr lang="en-US"/>
        </a:p>
      </dgm:t>
    </dgm:pt>
    <dgm:pt modelId="{5F5260A8-7F24-4D93-A298-1287B0DA86A1}">
      <dgm:prSet/>
      <dgm:spPr/>
      <dgm:t>
        <a:bodyPr/>
        <a:lstStyle/>
        <a:p>
          <a:r>
            <a:rPr lang="en-US"/>
            <a:t>Tabu Search (TS) </a:t>
          </a:r>
        </a:p>
      </dgm:t>
    </dgm:pt>
    <dgm:pt modelId="{AF3DFEB3-6202-4475-834C-B073D969685E}" type="parTrans" cxnId="{84601226-FD5C-4729-AEDB-F8473BC4E12F}">
      <dgm:prSet/>
      <dgm:spPr/>
      <dgm:t>
        <a:bodyPr/>
        <a:lstStyle/>
        <a:p>
          <a:endParaRPr lang="en-US"/>
        </a:p>
      </dgm:t>
    </dgm:pt>
    <dgm:pt modelId="{1F4A6D0F-E116-4125-A227-BA2F9F4342F5}" type="sibTrans" cxnId="{84601226-FD5C-4729-AEDB-F8473BC4E12F}">
      <dgm:prSet/>
      <dgm:spPr/>
      <dgm:t>
        <a:bodyPr/>
        <a:lstStyle/>
        <a:p>
          <a:endParaRPr lang="en-US"/>
        </a:p>
      </dgm:t>
    </dgm:pt>
    <dgm:pt modelId="{591C9085-4631-41EE-88C4-D53FACE6859C}">
      <dgm:prSet/>
      <dgm:spPr/>
      <dgm:t>
        <a:bodyPr/>
        <a:lstStyle/>
        <a:p>
          <a:r>
            <a:rPr lang="en-US"/>
            <a:t>Objective: </a:t>
          </a:r>
        </a:p>
      </dgm:t>
    </dgm:pt>
    <dgm:pt modelId="{8FAACD69-3BF8-42FA-9379-B8CB65C15532}" type="parTrans" cxnId="{B054B17E-A65E-4A68-A8C0-B7F4098D890C}">
      <dgm:prSet/>
      <dgm:spPr/>
      <dgm:t>
        <a:bodyPr/>
        <a:lstStyle/>
        <a:p>
          <a:endParaRPr lang="en-US"/>
        </a:p>
      </dgm:t>
    </dgm:pt>
    <dgm:pt modelId="{1A0995B5-DE05-4231-B337-21D4541C5224}" type="sibTrans" cxnId="{B054B17E-A65E-4A68-A8C0-B7F4098D890C}">
      <dgm:prSet/>
      <dgm:spPr/>
      <dgm:t>
        <a:bodyPr/>
        <a:lstStyle/>
        <a:p>
          <a:endParaRPr lang="en-US"/>
        </a:p>
      </dgm:t>
    </dgm:pt>
    <dgm:pt modelId="{935B9E19-100D-4ADC-B3F2-BD78B5457224}">
      <dgm:prSet/>
      <dgm:spPr/>
      <dgm:t>
        <a:bodyPr/>
        <a:lstStyle/>
        <a:p>
          <a:r>
            <a:rPr lang="en-US"/>
            <a:t>Minimize hard constraint violations. </a:t>
          </a:r>
        </a:p>
      </dgm:t>
    </dgm:pt>
    <dgm:pt modelId="{89FC323B-589D-4C08-9E49-3690A710CA59}" type="parTrans" cxnId="{CA5364DC-D401-4DA7-8BB1-D7DA79862A3D}">
      <dgm:prSet/>
      <dgm:spPr/>
      <dgm:t>
        <a:bodyPr/>
        <a:lstStyle/>
        <a:p>
          <a:endParaRPr lang="en-US"/>
        </a:p>
      </dgm:t>
    </dgm:pt>
    <dgm:pt modelId="{A3B545E9-030D-4E83-B4B6-5C9A63849152}" type="sibTrans" cxnId="{CA5364DC-D401-4DA7-8BB1-D7DA79862A3D}">
      <dgm:prSet/>
      <dgm:spPr/>
      <dgm:t>
        <a:bodyPr/>
        <a:lstStyle/>
        <a:p>
          <a:endParaRPr lang="en-US"/>
        </a:p>
      </dgm:t>
    </dgm:pt>
    <dgm:pt modelId="{723A6ECF-34C8-4C2E-836B-0FB7758BA589}">
      <dgm:prSet/>
      <dgm:spPr/>
      <dgm:t>
        <a:bodyPr/>
        <a:lstStyle/>
        <a:p>
          <a:r>
            <a:rPr lang="en-US"/>
            <a:t>Minimize soft constraint penalties. </a:t>
          </a:r>
        </a:p>
      </dgm:t>
    </dgm:pt>
    <dgm:pt modelId="{7EEA8217-C003-44CA-97E0-8E87D44C4DFB}" type="parTrans" cxnId="{B1AC45D5-150C-4E4D-A3A9-6C96E6574D1F}">
      <dgm:prSet/>
      <dgm:spPr/>
      <dgm:t>
        <a:bodyPr/>
        <a:lstStyle/>
        <a:p>
          <a:endParaRPr lang="en-US"/>
        </a:p>
      </dgm:t>
    </dgm:pt>
    <dgm:pt modelId="{5E8CBA28-A8FC-484A-B9B1-CA103915E680}" type="sibTrans" cxnId="{B1AC45D5-150C-4E4D-A3A9-6C96E6574D1F}">
      <dgm:prSet/>
      <dgm:spPr/>
      <dgm:t>
        <a:bodyPr/>
        <a:lstStyle/>
        <a:p>
          <a:endParaRPr lang="en-US"/>
        </a:p>
      </dgm:t>
    </dgm:pt>
    <dgm:pt modelId="{547495B8-D427-484F-A761-D24CF29E6A15}">
      <dgm:prSet/>
      <dgm:spPr/>
      <dgm:t>
        <a:bodyPr/>
        <a:lstStyle/>
        <a:p>
          <a:r>
            <a:rPr lang="en-US"/>
            <a:t>Generate high-quality feasible timetables.</a:t>
          </a:r>
        </a:p>
      </dgm:t>
    </dgm:pt>
    <dgm:pt modelId="{0CDD06F9-5A49-4EE8-90B4-88039C1B7401}" type="parTrans" cxnId="{B6AF5804-BAB5-4597-B412-159B7FEBCE0F}">
      <dgm:prSet/>
      <dgm:spPr/>
      <dgm:t>
        <a:bodyPr/>
        <a:lstStyle/>
        <a:p>
          <a:endParaRPr lang="en-US"/>
        </a:p>
      </dgm:t>
    </dgm:pt>
    <dgm:pt modelId="{768CB72F-6C0F-4848-AE6C-06D6C0C5EE8D}" type="sibTrans" cxnId="{B6AF5804-BAB5-4597-B412-159B7FEBCE0F}">
      <dgm:prSet/>
      <dgm:spPr/>
      <dgm:t>
        <a:bodyPr/>
        <a:lstStyle/>
        <a:p>
          <a:endParaRPr lang="en-US"/>
        </a:p>
      </dgm:t>
    </dgm:pt>
    <dgm:pt modelId="{26B2D80E-23AD-4C51-90A6-CB877C7EECA2}" type="pres">
      <dgm:prSet presAssocID="{73C0A635-C774-461D-A222-88BAEA77A94C}" presName="linear" presStyleCnt="0">
        <dgm:presLayoutVars>
          <dgm:animLvl val="lvl"/>
          <dgm:resizeHandles val="exact"/>
        </dgm:presLayoutVars>
      </dgm:prSet>
      <dgm:spPr/>
    </dgm:pt>
    <dgm:pt modelId="{D458343F-5E81-43A3-BE44-46E9A86B4ED4}" type="pres">
      <dgm:prSet presAssocID="{D5057250-ED50-4DB8-A966-D788531B2F01}" presName="parentText" presStyleLbl="node1" presStyleIdx="0" presStyleCnt="6">
        <dgm:presLayoutVars>
          <dgm:chMax val="0"/>
          <dgm:bulletEnabled val="1"/>
        </dgm:presLayoutVars>
      </dgm:prSet>
      <dgm:spPr/>
    </dgm:pt>
    <dgm:pt modelId="{31712524-5B42-4350-97AD-3121C667D29A}" type="pres">
      <dgm:prSet presAssocID="{B3147249-1C03-49AB-A7B6-36F6F7069255}" presName="spacer" presStyleCnt="0"/>
      <dgm:spPr/>
    </dgm:pt>
    <dgm:pt modelId="{7D89BEBF-5AE9-42D2-A7F2-F99672933BD9}" type="pres">
      <dgm:prSet presAssocID="{2D6EF33D-C024-4E2F-9075-10B19ADB78FA}" presName="parentText" presStyleLbl="node1" presStyleIdx="1" presStyleCnt="6">
        <dgm:presLayoutVars>
          <dgm:chMax val="0"/>
          <dgm:bulletEnabled val="1"/>
        </dgm:presLayoutVars>
      </dgm:prSet>
      <dgm:spPr/>
    </dgm:pt>
    <dgm:pt modelId="{9E5BD90C-F0B1-46B8-823C-34996A084259}" type="pres">
      <dgm:prSet presAssocID="{70042467-9E5B-460F-8151-FEA029C1EB05}" presName="spacer" presStyleCnt="0"/>
      <dgm:spPr/>
    </dgm:pt>
    <dgm:pt modelId="{80D9D4AE-BD82-47BE-BB2B-D2719B2D90D0}" type="pres">
      <dgm:prSet presAssocID="{A4FE71F5-1BDB-4654-B3F3-D08CBAD34C2E}" presName="parentText" presStyleLbl="node1" presStyleIdx="2" presStyleCnt="6">
        <dgm:presLayoutVars>
          <dgm:chMax val="0"/>
          <dgm:bulletEnabled val="1"/>
        </dgm:presLayoutVars>
      </dgm:prSet>
      <dgm:spPr/>
    </dgm:pt>
    <dgm:pt modelId="{94D83147-9BFF-481C-AFAD-3F312F242C80}" type="pres">
      <dgm:prSet presAssocID="{7B753978-7D75-4FEC-A401-1AB5BDAE1D22}" presName="spacer" presStyleCnt="0"/>
      <dgm:spPr/>
    </dgm:pt>
    <dgm:pt modelId="{00929271-7C1D-4C97-B110-9DF1EFC9BC2A}" type="pres">
      <dgm:prSet presAssocID="{E6E8B3AF-7533-428D-BF97-3F05A8AEEF98}" presName="parentText" presStyleLbl="node1" presStyleIdx="3" presStyleCnt="6">
        <dgm:presLayoutVars>
          <dgm:chMax val="0"/>
          <dgm:bulletEnabled val="1"/>
        </dgm:presLayoutVars>
      </dgm:prSet>
      <dgm:spPr/>
    </dgm:pt>
    <dgm:pt modelId="{C9891DA9-ECF9-4571-9137-20BFFA728B5B}" type="pres">
      <dgm:prSet presAssocID="{A17DA12B-CF3A-4ECA-9086-3ADD0CC7B1F2}" presName="spacer" presStyleCnt="0"/>
      <dgm:spPr/>
    </dgm:pt>
    <dgm:pt modelId="{70D99967-C2C3-4E1D-92A8-DDF767EF1BFC}" type="pres">
      <dgm:prSet presAssocID="{4BDA23D9-FBA9-4774-B443-133915BF7157}" presName="parentText" presStyleLbl="node1" presStyleIdx="4" presStyleCnt="6">
        <dgm:presLayoutVars>
          <dgm:chMax val="0"/>
          <dgm:bulletEnabled val="1"/>
        </dgm:presLayoutVars>
      </dgm:prSet>
      <dgm:spPr/>
    </dgm:pt>
    <dgm:pt modelId="{DDA21B50-C62A-4501-ACEF-59FC74C31D57}" type="pres">
      <dgm:prSet presAssocID="{4BDA23D9-FBA9-4774-B443-133915BF7157}" presName="childText" presStyleLbl="revTx" presStyleIdx="0" presStyleCnt="2">
        <dgm:presLayoutVars>
          <dgm:bulletEnabled val="1"/>
        </dgm:presLayoutVars>
      </dgm:prSet>
      <dgm:spPr/>
    </dgm:pt>
    <dgm:pt modelId="{B8D82BF7-73B5-4918-96E7-9E04E602B0E3}" type="pres">
      <dgm:prSet presAssocID="{591C9085-4631-41EE-88C4-D53FACE6859C}" presName="parentText" presStyleLbl="node1" presStyleIdx="5" presStyleCnt="6">
        <dgm:presLayoutVars>
          <dgm:chMax val="0"/>
          <dgm:bulletEnabled val="1"/>
        </dgm:presLayoutVars>
      </dgm:prSet>
      <dgm:spPr/>
    </dgm:pt>
    <dgm:pt modelId="{250170A0-7760-444E-85DA-F2E7627F885B}" type="pres">
      <dgm:prSet presAssocID="{591C9085-4631-41EE-88C4-D53FACE6859C}" presName="childText" presStyleLbl="revTx" presStyleIdx="1" presStyleCnt="2">
        <dgm:presLayoutVars>
          <dgm:bulletEnabled val="1"/>
        </dgm:presLayoutVars>
      </dgm:prSet>
      <dgm:spPr/>
    </dgm:pt>
  </dgm:ptLst>
  <dgm:cxnLst>
    <dgm:cxn modelId="{A1D03301-0932-4F6E-8170-F79EFFCF3EE3}" type="presOf" srcId="{591C9085-4631-41EE-88C4-D53FACE6859C}" destId="{B8D82BF7-73B5-4918-96E7-9E04E602B0E3}" srcOrd="0" destOrd="0" presId="urn:microsoft.com/office/officeart/2005/8/layout/vList2"/>
    <dgm:cxn modelId="{B6AF5804-BAB5-4597-B412-159B7FEBCE0F}" srcId="{591C9085-4631-41EE-88C4-D53FACE6859C}" destId="{547495B8-D427-484F-A761-D24CF29E6A15}" srcOrd="2" destOrd="0" parTransId="{0CDD06F9-5A49-4EE8-90B4-88039C1B7401}" sibTransId="{768CB72F-6C0F-4848-AE6C-06D6C0C5EE8D}"/>
    <dgm:cxn modelId="{9CDFC40D-8B94-475A-B05E-5570B381C5C9}" type="presOf" srcId="{73C0A635-C774-461D-A222-88BAEA77A94C}" destId="{26B2D80E-23AD-4C51-90A6-CB877C7EECA2}" srcOrd="0" destOrd="0" presId="urn:microsoft.com/office/officeart/2005/8/layout/vList2"/>
    <dgm:cxn modelId="{96839412-B197-4E57-B1DF-A1584104B895}" srcId="{73C0A635-C774-461D-A222-88BAEA77A94C}" destId="{A4FE71F5-1BDB-4654-B3F3-D08CBAD34C2E}" srcOrd="2" destOrd="0" parTransId="{63A8B2DE-B3B7-4EC0-87B4-200D28AE12BD}" sibTransId="{7B753978-7D75-4FEC-A401-1AB5BDAE1D22}"/>
    <dgm:cxn modelId="{3C464317-74D9-4D84-A215-B32737FD4AE6}" type="presOf" srcId="{C78A9BDF-E8DD-4DCA-B2D0-7D67F7348890}" destId="{DDA21B50-C62A-4501-ACEF-59FC74C31D57}" srcOrd="0" destOrd="0" presId="urn:microsoft.com/office/officeart/2005/8/layout/vList2"/>
    <dgm:cxn modelId="{9EA83D23-EDCC-4B1D-9B6E-8FEE309B3F8E}" type="presOf" srcId="{D5057250-ED50-4DB8-A966-D788531B2F01}" destId="{D458343F-5E81-43A3-BE44-46E9A86B4ED4}" srcOrd="0" destOrd="0" presId="urn:microsoft.com/office/officeart/2005/8/layout/vList2"/>
    <dgm:cxn modelId="{84601226-FD5C-4729-AEDB-F8473BC4E12F}" srcId="{4BDA23D9-FBA9-4774-B443-133915BF7157}" destId="{5F5260A8-7F24-4D93-A298-1287B0DA86A1}" srcOrd="2" destOrd="0" parTransId="{AF3DFEB3-6202-4475-834C-B073D969685E}" sibTransId="{1F4A6D0F-E116-4125-A227-BA2F9F4342F5}"/>
    <dgm:cxn modelId="{99A66039-BC80-4A4C-981C-D83BFCFE46A8}" type="presOf" srcId="{5F5260A8-7F24-4D93-A298-1287B0DA86A1}" destId="{DDA21B50-C62A-4501-ACEF-59FC74C31D57}" srcOrd="0" destOrd="2" presId="urn:microsoft.com/office/officeart/2005/8/layout/vList2"/>
    <dgm:cxn modelId="{17DE1940-0E1D-4AC9-87CA-D9E97EAB92BC}" type="presOf" srcId="{935B9E19-100D-4ADC-B3F2-BD78B5457224}" destId="{250170A0-7760-444E-85DA-F2E7627F885B}" srcOrd="0" destOrd="0" presId="urn:microsoft.com/office/officeart/2005/8/layout/vList2"/>
    <dgm:cxn modelId="{7C962E6B-2FBB-46EA-8040-2D8144198444}" srcId="{73C0A635-C774-461D-A222-88BAEA77A94C}" destId="{2D6EF33D-C024-4E2F-9075-10B19ADB78FA}" srcOrd="1" destOrd="0" parTransId="{D556BF0B-6C1C-4B13-9FF4-9FE9CE7D9F4F}" sibTransId="{70042467-9E5B-460F-8151-FEA029C1EB05}"/>
    <dgm:cxn modelId="{C324A770-3423-4EA6-B3B6-563DC62D93F9}" type="presOf" srcId="{2D6EF33D-C024-4E2F-9075-10B19ADB78FA}" destId="{7D89BEBF-5AE9-42D2-A7F2-F99672933BD9}" srcOrd="0" destOrd="0" presId="urn:microsoft.com/office/officeart/2005/8/layout/vList2"/>
    <dgm:cxn modelId="{521AF872-F1ED-4951-8494-3B3AF5207A97}" srcId="{73C0A635-C774-461D-A222-88BAEA77A94C}" destId="{E6E8B3AF-7533-428D-BF97-3F05A8AEEF98}" srcOrd="3" destOrd="0" parTransId="{203245FB-D732-4351-9345-32C1D00353C4}" sibTransId="{A17DA12B-CF3A-4ECA-9086-3ADD0CC7B1F2}"/>
    <dgm:cxn modelId="{747B2B56-382C-4DA6-984F-04A478F0F255}" type="presOf" srcId="{A4FE71F5-1BDB-4654-B3F3-D08CBAD34C2E}" destId="{80D9D4AE-BD82-47BE-BB2B-D2719B2D90D0}" srcOrd="0" destOrd="0" presId="urn:microsoft.com/office/officeart/2005/8/layout/vList2"/>
    <dgm:cxn modelId="{90353976-C9C9-4AC6-BCF9-3B495F937C7F}" type="presOf" srcId="{547495B8-D427-484F-A761-D24CF29E6A15}" destId="{250170A0-7760-444E-85DA-F2E7627F885B}" srcOrd="0" destOrd="2" presId="urn:microsoft.com/office/officeart/2005/8/layout/vList2"/>
    <dgm:cxn modelId="{44B0405A-8EE4-4B96-9B47-734CCF72701F}" type="presOf" srcId="{723A6ECF-34C8-4C2E-836B-0FB7758BA589}" destId="{250170A0-7760-444E-85DA-F2E7627F885B}" srcOrd="0" destOrd="1" presId="urn:microsoft.com/office/officeart/2005/8/layout/vList2"/>
    <dgm:cxn modelId="{B054B17E-A65E-4A68-A8C0-B7F4098D890C}" srcId="{73C0A635-C774-461D-A222-88BAEA77A94C}" destId="{591C9085-4631-41EE-88C4-D53FACE6859C}" srcOrd="5" destOrd="0" parTransId="{8FAACD69-3BF8-42FA-9379-B8CB65C15532}" sibTransId="{1A0995B5-DE05-4231-B337-21D4541C5224}"/>
    <dgm:cxn modelId="{E566C595-9689-4CA9-AC09-350B4F491257}" srcId="{4BDA23D9-FBA9-4774-B443-133915BF7157}" destId="{C78A9BDF-E8DD-4DCA-B2D0-7D67F7348890}" srcOrd="0" destOrd="0" parTransId="{AF5C6D24-927C-45E7-B750-4B44DA49E804}" sibTransId="{D1A00B4F-CF0E-4C41-9058-3638E68A6AB2}"/>
    <dgm:cxn modelId="{410752B0-D40E-442D-B5DD-F3503C94E3BB}" type="presOf" srcId="{E6E8B3AF-7533-428D-BF97-3F05A8AEEF98}" destId="{00929271-7C1D-4C97-B110-9DF1EFC9BC2A}" srcOrd="0" destOrd="0" presId="urn:microsoft.com/office/officeart/2005/8/layout/vList2"/>
    <dgm:cxn modelId="{AB9FA7C4-FCD4-416C-84D7-F1219611D6C9}" type="presOf" srcId="{4BDA23D9-FBA9-4774-B443-133915BF7157}" destId="{70D99967-C2C3-4E1D-92A8-DDF767EF1BFC}" srcOrd="0" destOrd="0" presId="urn:microsoft.com/office/officeart/2005/8/layout/vList2"/>
    <dgm:cxn modelId="{B1AC45D5-150C-4E4D-A3A9-6C96E6574D1F}" srcId="{591C9085-4631-41EE-88C4-D53FACE6859C}" destId="{723A6ECF-34C8-4C2E-836B-0FB7758BA589}" srcOrd="1" destOrd="0" parTransId="{7EEA8217-C003-44CA-97E0-8E87D44C4DFB}" sibTransId="{5E8CBA28-A8FC-484A-B9B1-CA103915E680}"/>
    <dgm:cxn modelId="{B6FF8BD5-BE72-4EED-A709-7E326E40E023}" srcId="{4BDA23D9-FBA9-4774-B443-133915BF7157}" destId="{F0ECD6D3-F778-4ABC-BB3D-44F9117F65FB}" srcOrd="1" destOrd="0" parTransId="{7E2EFD8E-554E-46D8-A4F3-C3AD889F4089}" sibTransId="{038C88C2-476D-40D3-9107-869C2EEA0EDD}"/>
    <dgm:cxn modelId="{CA5364DC-D401-4DA7-8BB1-D7DA79862A3D}" srcId="{591C9085-4631-41EE-88C4-D53FACE6859C}" destId="{935B9E19-100D-4ADC-B3F2-BD78B5457224}" srcOrd="0" destOrd="0" parTransId="{89FC323B-589D-4C08-9E49-3690A710CA59}" sibTransId="{A3B545E9-030D-4E83-B4B6-5C9A63849152}"/>
    <dgm:cxn modelId="{3D8993E3-14C7-4079-9FB3-3374E0891A43}" type="presOf" srcId="{F0ECD6D3-F778-4ABC-BB3D-44F9117F65FB}" destId="{DDA21B50-C62A-4501-ACEF-59FC74C31D57}" srcOrd="0" destOrd="1" presId="urn:microsoft.com/office/officeart/2005/8/layout/vList2"/>
    <dgm:cxn modelId="{ADD68CE5-32D0-417F-A45D-6E99C7201938}" srcId="{73C0A635-C774-461D-A222-88BAEA77A94C}" destId="{4BDA23D9-FBA9-4774-B443-133915BF7157}" srcOrd="4" destOrd="0" parTransId="{B30F9F9E-B6CC-467E-A78F-CDC2B3FDCAA2}" sibTransId="{2E221B63-03E5-48A0-B74D-39729DB52633}"/>
    <dgm:cxn modelId="{E16232FF-5E69-410C-B61D-23B9848175BB}" srcId="{73C0A635-C774-461D-A222-88BAEA77A94C}" destId="{D5057250-ED50-4DB8-A966-D788531B2F01}" srcOrd="0" destOrd="0" parTransId="{48BAD1C0-C4E8-4EA4-AC16-66D5ADF9C1DC}" sibTransId="{B3147249-1C03-49AB-A7B6-36F6F7069255}"/>
    <dgm:cxn modelId="{31235928-C039-4943-859E-E2C72D52E4BC}" type="presParOf" srcId="{26B2D80E-23AD-4C51-90A6-CB877C7EECA2}" destId="{D458343F-5E81-43A3-BE44-46E9A86B4ED4}" srcOrd="0" destOrd="0" presId="urn:microsoft.com/office/officeart/2005/8/layout/vList2"/>
    <dgm:cxn modelId="{1B20AF90-C30D-4B33-B1B0-AC908D435F66}" type="presParOf" srcId="{26B2D80E-23AD-4C51-90A6-CB877C7EECA2}" destId="{31712524-5B42-4350-97AD-3121C667D29A}" srcOrd="1" destOrd="0" presId="urn:microsoft.com/office/officeart/2005/8/layout/vList2"/>
    <dgm:cxn modelId="{7DE2ADBE-D6EA-4656-999D-2827E2F3B218}" type="presParOf" srcId="{26B2D80E-23AD-4C51-90A6-CB877C7EECA2}" destId="{7D89BEBF-5AE9-42D2-A7F2-F99672933BD9}" srcOrd="2" destOrd="0" presId="urn:microsoft.com/office/officeart/2005/8/layout/vList2"/>
    <dgm:cxn modelId="{42C746FF-FCB5-4105-B2DD-D6C72210DCC2}" type="presParOf" srcId="{26B2D80E-23AD-4C51-90A6-CB877C7EECA2}" destId="{9E5BD90C-F0B1-46B8-823C-34996A084259}" srcOrd="3" destOrd="0" presId="urn:microsoft.com/office/officeart/2005/8/layout/vList2"/>
    <dgm:cxn modelId="{9BF6A850-C744-412F-A29D-8FA26A53A46D}" type="presParOf" srcId="{26B2D80E-23AD-4C51-90A6-CB877C7EECA2}" destId="{80D9D4AE-BD82-47BE-BB2B-D2719B2D90D0}" srcOrd="4" destOrd="0" presId="urn:microsoft.com/office/officeart/2005/8/layout/vList2"/>
    <dgm:cxn modelId="{D34B7C4C-0745-483B-9A0F-C507DD104017}" type="presParOf" srcId="{26B2D80E-23AD-4C51-90A6-CB877C7EECA2}" destId="{94D83147-9BFF-481C-AFAD-3F312F242C80}" srcOrd="5" destOrd="0" presId="urn:microsoft.com/office/officeart/2005/8/layout/vList2"/>
    <dgm:cxn modelId="{9309246C-9F63-4AEC-A61F-BD17B45BD401}" type="presParOf" srcId="{26B2D80E-23AD-4C51-90A6-CB877C7EECA2}" destId="{00929271-7C1D-4C97-B110-9DF1EFC9BC2A}" srcOrd="6" destOrd="0" presId="urn:microsoft.com/office/officeart/2005/8/layout/vList2"/>
    <dgm:cxn modelId="{FCF650B6-D25A-4636-9669-C3C53A7C81DA}" type="presParOf" srcId="{26B2D80E-23AD-4C51-90A6-CB877C7EECA2}" destId="{C9891DA9-ECF9-4571-9137-20BFFA728B5B}" srcOrd="7" destOrd="0" presId="urn:microsoft.com/office/officeart/2005/8/layout/vList2"/>
    <dgm:cxn modelId="{C7F4F76D-FEE5-4DCC-B8EE-0982CD36DF5F}" type="presParOf" srcId="{26B2D80E-23AD-4C51-90A6-CB877C7EECA2}" destId="{70D99967-C2C3-4E1D-92A8-DDF767EF1BFC}" srcOrd="8" destOrd="0" presId="urn:microsoft.com/office/officeart/2005/8/layout/vList2"/>
    <dgm:cxn modelId="{C63DDAD1-AECC-4A5D-9681-0CFEB1294C76}" type="presParOf" srcId="{26B2D80E-23AD-4C51-90A6-CB877C7EECA2}" destId="{DDA21B50-C62A-4501-ACEF-59FC74C31D57}" srcOrd="9" destOrd="0" presId="urn:microsoft.com/office/officeart/2005/8/layout/vList2"/>
    <dgm:cxn modelId="{330A763E-17D6-4A69-BFB7-C99519A50EAF}" type="presParOf" srcId="{26B2D80E-23AD-4C51-90A6-CB877C7EECA2}" destId="{B8D82BF7-73B5-4918-96E7-9E04E602B0E3}" srcOrd="10" destOrd="0" presId="urn:microsoft.com/office/officeart/2005/8/layout/vList2"/>
    <dgm:cxn modelId="{79EA58B9-EA73-43F3-8706-08929D7DD1DF}" type="presParOf" srcId="{26B2D80E-23AD-4C51-90A6-CB877C7EECA2}" destId="{250170A0-7760-444E-85DA-F2E7627F885B}" srcOrd="1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C6B766-3604-49B5-B868-E8B4C98416E1}" type="doc">
      <dgm:prSet loTypeId="urn:microsoft.com/office/officeart/2005/8/layout/pyramid2" loCatId="list" qsTypeId="urn:microsoft.com/office/officeart/2005/8/quickstyle/simple3" qsCatId="simple" csTypeId="urn:microsoft.com/office/officeart/2005/8/colors/accent1_2" csCatId="accent1"/>
      <dgm:spPr/>
      <dgm:t>
        <a:bodyPr/>
        <a:lstStyle/>
        <a:p>
          <a:endParaRPr lang="en-US"/>
        </a:p>
      </dgm:t>
    </dgm:pt>
    <dgm:pt modelId="{0336AA44-1107-4024-B6D6-EF24AE51A0F5}">
      <dgm:prSet/>
      <dgm:spPr/>
      <dgm:t>
        <a:bodyPr/>
        <a:lstStyle/>
        <a:p>
          <a:r>
            <a:rPr lang="en-US" dirty="0"/>
            <a:t>Initialize Population</a:t>
          </a:r>
        </a:p>
      </dgm:t>
    </dgm:pt>
    <dgm:pt modelId="{E2897488-BEFD-4BDD-B900-834525F2E04A}" type="parTrans" cxnId="{57A06518-D0C6-48FB-AAEC-64F9A2219C7D}">
      <dgm:prSet/>
      <dgm:spPr/>
      <dgm:t>
        <a:bodyPr/>
        <a:lstStyle/>
        <a:p>
          <a:endParaRPr lang="en-US"/>
        </a:p>
      </dgm:t>
    </dgm:pt>
    <dgm:pt modelId="{CC5FA6ED-33DB-4A60-A363-17BBE831AD55}" type="sibTrans" cxnId="{57A06518-D0C6-48FB-AAEC-64F9A2219C7D}">
      <dgm:prSet/>
      <dgm:spPr/>
      <dgm:t>
        <a:bodyPr/>
        <a:lstStyle/>
        <a:p>
          <a:endParaRPr lang="en-US"/>
        </a:p>
      </dgm:t>
    </dgm:pt>
    <dgm:pt modelId="{810FF63E-1C98-4300-ADD4-C365046AB1C0}">
      <dgm:prSet/>
      <dgm:spPr/>
      <dgm:t>
        <a:bodyPr/>
        <a:lstStyle/>
        <a:p>
          <a:r>
            <a:rPr lang="en-US"/>
            <a:t>GSGA</a:t>
          </a:r>
        </a:p>
      </dgm:t>
    </dgm:pt>
    <dgm:pt modelId="{1DA7E4DB-DE5E-48A6-9018-D64011E64701}" type="parTrans" cxnId="{AC3603C0-A51B-49DE-842A-DE19202833AA}">
      <dgm:prSet/>
      <dgm:spPr/>
      <dgm:t>
        <a:bodyPr/>
        <a:lstStyle/>
        <a:p>
          <a:endParaRPr lang="en-US"/>
        </a:p>
      </dgm:t>
    </dgm:pt>
    <dgm:pt modelId="{3DA2D384-1DC6-4606-8109-F2051989C9A1}" type="sibTrans" cxnId="{AC3603C0-A51B-49DE-842A-DE19202833AA}">
      <dgm:prSet/>
      <dgm:spPr/>
      <dgm:t>
        <a:bodyPr/>
        <a:lstStyle/>
        <a:p>
          <a:endParaRPr lang="en-US"/>
        </a:p>
      </dgm:t>
    </dgm:pt>
    <dgm:pt modelId="{B090855D-6E25-4FED-B5FC-69EEFDBAE2C5}">
      <dgm:prSet/>
      <dgm:spPr/>
      <dgm:t>
        <a:bodyPr/>
        <a:lstStyle/>
        <a:p>
          <a:r>
            <a:rPr lang="en-US" dirty="0"/>
            <a:t>Guided Search /Biased Crossover</a:t>
          </a:r>
        </a:p>
      </dgm:t>
    </dgm:pt>
    <dgm:pt modelId="{86862083-9EE0-4963-A8B0-0BA28101FDC1}" type="parTrans" cxnId="{F10A1E2F-49BA-47DA-BEAA-4D6C25FB3F75}">
      <dgm:prSet/>
      <dgm:spPr/>
      <dgm:t>
        <a:bodyPr/>
        <a:lstStyle/>
        <a:p>
          <a:endParaRPr lang="en-US"/>
        </a:p>
      </dgm:t>
    </dgm:pt>
    <dgm:pt modelId="{571744F2-A7F4-4FC9-A58D-524EABB97A86}" type="sibTrans" cxnId="{F10A1E2F-49BA-47DA-BEAA-4D6C25FB3F75}">
      <dgm:prSet/>
      <dgm:spPr/>
      <dgm:t>
        <a:bodyPr/>
        <a:lstStyle/>
        <a:p>
          <a:endParaRPr lang="en-US"/>
        </a:p>
      </dgm:t>
    </dgm:pt>
    <dgm:pt modelId="{9C71B231-AEF8-4915-A8E2-5559895E19C5}">
      <dgm:prSet/>
      <dgm:spPr/>
      <dgm:t>
        <a:bodyPr/>
        <a:lstStyle/>
        <a:p>
          <a:r>
            <a:rPr lang="en-US"/>
            <a:t>Mutation</a:t>
          </a:r>
        </a:p>
      </dgm:t>
    </dgm:pt>
    <dgm:pt modelId="{C4702B30-0FF0-4E1C-90BB-74B3BB537780}" type="parTrans" cxnId="{E99F1BCC-5C46-4C9F-8C5C-192AC843DDD4}">
      <dgm:prSet/>
      <dgm:spPr/>
      <dgm:t>
        <a:bodyPr/>
        <a:lstStyle/>
        <a:p>
          <a:endParaRPr lang="en-US"/>
        </a:p>
      </dgm:t>
    </dgm:pt>
    <dgm:pt modelId="{71685A5E-C417-43C3-999F-14AF97E1F317}" type="sibTrans" cxnId="{E99F1BCC-5C46-4C9F-8C5C-192AC843DDD4}">
      <dgm:prSet/>
      <dgm:spPr/>
      <dgm:t>
        <a:bodyPr/>
        <a:lstStyle/>
        <a:p>
          <a:endParaRPr lang="en-US"/>
        </a:p>
      </dgm:t>
    </dgm:pt>
    <dgm:pt modelId="{B95DB3AF-73A2-459A-8C19-CCA4E5F8443D}">
      <dgm:prSet/>
      <dgm:spPr/>
      <dgm:t>
        <a:bodyPr/>
        <a:lstStyle/>
        <a:p>
          <a:r>
            <a:rPr lang="en-US"/>
            <a:t>LS3 + LS4</a:t>
          </a:r>
        </a:p>
      </dgm:t>
    </dgm:pt>
    <dgm:pt modelId="{2E20C5F4-A817-4FD9-B9F7-A0D9641D0F28}" type="parTrans" cxnId="{CDF99B17-2366-4BAF-BF29-2AC7D71E63E2}">
      <dgm:prSet/>
      <dgm:spPr/>
      <dgm:t>
        <a:bodyPr/>
        <a:lstStyle/>
        <a:p>
          <a:endParaRPr lang="en-US"/>
        </a:p>
      </dgm:t>
    </dgm:pt>
    <dgm:pt modelId="{A0293938-74EB-4897-9101-6391412D139E}" type="sibTrans" cxnId="{CDF99B17-2366-4BAF-BF29-2AC7D71E63E2}">
      <dgm:prSet/>
      <dgm:spPr/>
      <dgm:t>
        <a:bodyPr/>
        <a:lstStyle/>
        <a:p>
          <a:endParaRPr lang="en-US"/>
        </a:p>
      </dgm:t>
    </dgm:pt>
    <dgm:pt modelId="{2651703B-969E-4C0C-91B2-A43C4EFF42F0}">
      <dgm:prSet/>
      <dgm:spPr/>
      <dgm:t>
        <a:bodyPr/>
        <a:lstStyle/>
        <a:p>
          <a:r>
            <a:rPr lang="en-US" dirty="0"/>
            <a:t>Best Solution</a:t>
          </a:r>
        </a:p>
      </dgm:t>
    </dgm:pt>
    <dgm:pt modelId="{E55CCC14-1B1A-4CCE-9C82-A380FC17B162}" type="parTrans" cxnId="{A98A6416-A878-47AB-8075-B10D91F60C86}">
      <dgm:prSet/>
      <dgm:spPr/>
      <dgm:t>
        <a:bodyPr/>
        <a:lstStyle/>
        <a:p>
          <a:endParaRPr lang="en-US"/>
        </a:p>
      </dgm:t>
    </dgm:pt>
    <dgm:pt modelId="{461E7D5E-CADB-42FA-B95E-373CE3A02F14}" type="sibTrans" cxnId="{A98A6416-A878-47AB-8075-B10D91F60C86}">
      <dgm:prSet/>
      <dgm:spPr/>
      <dgm:t>
        <a:bodyPr/>
        <a:lstStyle/>
        <a:p>
          <a:endParaRPr lang="en-US"/>
        </a:p>
      </dgm:t>
    </dgm:pt>
    <dgm:pt modelId="{568CA87D-47A4-40BA-B4CC-8FB510EF9EED}">
      <dgm:prSet/>
      <dgm:spPr/>
      <dgm:t>
        <a:bodyPr/>
        <a:lstStyle/>
        <a:p>
          <a:r>
            <a:rPr lang="en-US" dirty="0"/>
            <a:t>Tabu Search</a:t>
          </a:r>
        </a:p>
      </dgm:t>
    </dgm:pt>
    <dgm:pt modelId="{B3DB7F61-6A0F-4CD7-979B-A3027BF954F6}" type="parTrans" cxnId="{1CD61551-9DEA-4B8A-BFF3-7B836BF09F4C}">
      <dgm:prSet/>
      <dgm:spPr/>
      <dgm:t>
        <a:bodyPr/>
        <a:lstStyle/>
        <a:p>
          <a:endParaRPr lang="en-US"/>
        </a:p>
      </dgm:t>
    </dgm:pt>
    <dgm:pt modelId="{EF1E890A-62AA-4C5A-9CDD-06D106BA92BA}" type="sibTrans" cxnId="{1CD61551-9DEA-4B8A-BFF3-7B836BF09F4C}">
      <dgm:prSet/>
      <dgm:spPr/>
      <dgm:t>
        <a:bodyPr/>
        <a:lstStyle/>
        <a:p>
          <a:endParaRPr lang="en-US"/>
        </a:p>
      </dgm:t>
    </dgm:pt>
    <dgm:pt modelId="{23175B3D-0A3F-4246-9A09-B844103832AF}">
      <dgm:prSet/>
      <dgm:spPr/>
      <dgm:t>
        <a:bodyPr/>
        <a:lstStyle/>
        <a:p>
          <a:r>
            <a:rPr lang="en-US" dirty="0"/>
            <a:t>Final Solution</a:t>
          </a:r>
        </a:p>
      </dgm:t>
    </dgm:pt>
    <dgm:pt modelId="{F270F03A-B090-4F95-A6C6-26E288E2B723}" type="parTrans" cxnId="{7E5C2B9C-654A-4642-B8E8-DA14F9AD93D7}">
      <dgm:prSet/>
      <dgm:spPr/>
      <dgm:t>
        <a:bodyPr/>
        <a:lstStyle/>
        <a:p>
          <a:endParaRPr lang="en-US"/>
        </a:p>
      </dgm:t>
    </dgm:pt>
    <dgm:pt modelId="{48B81991-5005-4402-B08A-87FCAAF824BD}" type="sibTrans" cxnId="{7E5C2B9C-654A-4642-B8E8-DA14F9AD93D7}">
      <dgm:prSet/>
      <dgm:spPr/>
      <dgm:t>
        <a:bodyPr/>
        <a:lstStyle/>
        <a:p>
          <a:endParaRPr lang="en-US"/>
        </a:p>
      </dgm:t>
    </dgm:pt>
    <dgm:pt modelId="{ADD0F293-1523-401A-812A-A5EA5E8BEE52}" type="pres">
      <dgm:prSet presAssocID="{38C6B766-3604-49B5-B868-E8B4C98416E1}" presName="compositeShape" presStyleCnt="0">
        <dgm:presLayoutVars>
          <dgm:dir/>
          <dgm:resizeHandles/>
        </dgm:presLayoutVars>
      </dgm:prSet>
      <dgm:spPr/>
    </dgm:pt>
    <dgm:pt modelId="{2DB1584F-DF12-4944-9431-33C9B5242235}" type="pres">
      <dgm:prSet presAssocID="{38C6B766-3604-49B5-B868-E8B4C98416E1}" presName="pyramid" presStyleLbl="node1" presStyleIdx="0" presStyleCnt="1"/>
      <dgm:spPr/>
    </dgm:pt>
    <dgm:pt modelId="{36D0DE9E-D4DE-4513-A386-13CF3B44C54F}" type="pres">
      <dgm:prSet presAssocID="{38C6B766-3604-49B5-B868-E8B4C98416E1}" presName="theList" presStyleCnt="0"/>
      <dgm:spPr/>
    </dgm:pt>
    <dgm:pt modelId="{3B797577-9E6D-4487-8214-6235F0F47A7C}" type="pres">
      <dgm:prSet presAssocID="{0336AA44-1107-4024-B6D6-EF24AE51A0F5}" presName="aNode" presStyleLbl="fgAcc1" presStyleIdx="0" presStyleCnt="8">
        <dgm:presLayoutVars>
          <dgm:bulletEnabled val="1"/>
        </dgm:presLayoutVars>
      </dgm:prSet>
      <dgm:spPr/>
    </dgm:pt>
    <dgm:pt modelId="{AA3C112E-2E6E-4AA8-92DE-3AAD9DA152B0}" type="pres">
      <dgm:prSet presAssocID="{0336AA44-1107-4024-B6D6-EF24AE51A0F5}" presName="aSpace" presStyleCnt="0"/>
      <dgm:spPr/>
    </dgm:pt>
    <dgm:pt modelId="{3DA0F8C6-917F-4416-832E-D00C8E6CC3BA}" type="pres">
      <dgm:prSet presAssocID="{810FF63E-1C98-4300-ADD4-C365046AB1C0}" presName="aNode" presStyleLbl="fgAcc1" presStyleIdx="1" presStyleCnt="8">
        <dgm:presLayoutVars>
          <dgm:bulletEnabled val="1"/>
        </dgm:presLayoutVars>
      </dgm:prSet>
      <dgm:spPr/>
    </dgm:pt>
    <dgm:pt modelId="{81402711-F459-474F-AE51-3DD7335C0E87}" type="pres">
      <dgm:prSet presAssocID="{810FF63E-1C98-4300-ADD4-C365046AB1C0}" presName="aSpace" presStyleCnt="0"/>
      <dgm:spPr/>
    </dgm:pt>
    <dgm:pt modelId="{F18F5B72-CC9B-4690-BB1E-F556B6CD443B}" type="pres">
      <dgm:prSet presAssocID="{B090855D-6E25-4FED-B5FC-69EEFDBAE2C5}" presName="aNode" presStyleLbl="fgAcc1" presStyleIdx="2" presStyleCnt="8">
        <dgm:presLayoutVars>
          <dgm:bulletEnabled val="1"/>
        </dgm:presLayoutVars>
      </dgm:prSet>
      <dgm:spPr/>
    </dgm:pt>
    <dgm:pt modelId="{5ED2F709-AB53-40C0-9C68-A01D2BA958C2}" type="pres">
      <dgm:prSet presAssocID="{B090855D-6E25-4FED-B5FC-69EEFDBAE2C5}" presName="aSpace" presStyleCnt="0"/>
      <dgm:spPr/>
    </dgm:pt>
    <dgm:pt modelId="{F0DE2713-E619-42BA-B442-5B8FDCC671B1}" type="pres">
      <dgm:prSet presAssocID="{9C71B231-AEF8-4915-A8E2-5559895E19C5}" presName="aNode" presStyleLbl="fgAcc1" presStyleIdx="3" presStyleCnt="8">
        <dgm:presLayoutVars>
          <dgm:bulletEnabled val="1"/>
        </dgm:presLayoutVars>
      </dgm:prSet>
      <dgm:spPr/>
    </dgm:pt>
    <dgm:pt modelId="{BEDB160E-3DD8-4FE4-8EE5-8F711E77B4CF}" type="pres">
      <dgm:prSet presAssocID="{9C71B231-AEF8-4915-A8E2-5559895E19C5}" presName="aSpace" presStyleCnt="0"/>
      <dgm:spPr/>
    </dgm:pt>
    <dgm:pt modelId="{10C386EC-1B73-4C59-BBEA-77F9FF33DC64}" type="pres">
      <dgm:prSet presAssocID="{B95DB3AF-73A2-459A-8C19-CCA4E5F8443D}" presName="aNode" presStyleLbl="fgAcc1" presStyleIdx="4" presStyleCnt="8">
        <dgm:presLayoutVars>
          <dgm:bulletEnabled val="1"/>
        </dgm:presLayoutVars>
      </dgm:prSet>
      <dgm:spPr/>
    </dgm:pt>
    <dgm:pt modelId="{E39BB210-DC4D-4948-9E7F-FD024CF59B8A}" type="pres">
      <dgm:prSet presAssocID="{B95DB3AF-73A2-459A-8C19-CCA4E5F8443D}" presName="aSpace" presStyleCnt="0"/>
      <dgm:spPr/>
    </dgm:pt>
    <dgm:pt modelId="{B3794F94-29B1-4F1C-ADE7-DC7070665F1C}" type="pres">
      <dgm:prSet presAssocID="{2651703B-969E-4C0C-91B2-A43C4EFF42F0}" presName="aNode" presStyleLbl="fgAcc1" presStyleIdx="5" presStyleCnt="8">
        <dgm:presLayoutVars>
          <dgm:bulletEnabled val="1"/>
        </dgm:presLayoutVars>
      </dgm:prSet>
      <dgm:spPr/>
    </dgm:pt>
    <dgm:pt modelId="{9565A4CA-FC1D-438B-86FF-FC28B873C6E8}" type="pres">
      <dgm:prSet presAssocID="{2651703B-969E-4C0C-91B2-A43C4EFF42F0}" presName="aSpace" presStyleCnt="0"/>
      <dgm:spPr/>
    </dgm:pt>
    <dgm:pt modelId="{B1154D5A-2787-4CAA-B99B-E192484D9272}" type="pres">
      <dgm:prSet presAssocID="{568CA87D-47A4-40BA-B4CC-8FB510EF9EED}" presName="aNode" presStyleLbl="fgAcc1" presStyleIdx="6" presStyleCnt="8">
        <dgm:presLayoutVars>
          <dgm:bulletEnabled val="1"/>
        </dgm:presLayoutVars>
      </dgm:prSet>
      <dgm:spPr/>
    </dgm:pt>
    <dgm:pt modelId="{BA5C8DA0-A5E9-43EE-8BFE-A116DFFFA77D}" type="pres">
      <dgm:prSet presAssocID="{568CA87D-47A4-40BA-B4CC-8FB510EF9EED}" presName="aSpace" presStyleCnt="0"/>
      <dgm:spPr/>
    </dgm:pt>
    <dgm:pt modelId="{668B3043-C3B2-42AA-937B-8842EC7BA359}" type="pres">
      <dgm:prSet presAssocID="{23175B3D-0A3F-4246-9A09-B844103832AF}" presName="aNode" presStyleLbl="fgAcc1" presStyleIdx="7" presStyleCnt="8">
        <dgm:presLayoutVars>
          <dgm:bulletEnabled val="1"/>
        </dgm:presLayoutVars>
      </dgm:prSet>
      <dgm:spPr/>
    </dgm:pt>
    <dgm:pt modelId="{96387CB0-8BCF-4F1D-A739-545AE883580D}" type="pres">
      <dgm:prSet presAssocID="{23175B3D-0A3F-4246-9A09-B844103832AF}" presName="aSpace" presStyleCnt="0"/>
      <dgm:spPr/>
    </dgm:pt>
  </dgm:ptLst>
  <dgm:cxnLst>
    <dgm:cxn modelId="{82EABD09-5705-4599-8825-302E13A59F1D}" type="presOf" srcId="{2651703B-969E-4C0C-91B2-A43C4EFF42F0}" destId="{B3794F94-29B1-4F1C-ADE7-DC7070665F1C}" srcOrd="0" destOrd="0" presId="urn:microsoft.com/office/officeart/2005/8/layout/pyramid2"/>
    <dgm:cxn modelId="{F5C6790D-37B6-4672-B706-3D1D850C13C4}" type="presOf" srcId="{B95DB3AF-73A2-459A-8C19-CCA4E5F8443D}" destId="{10C386EC-1B73-4C59-BBEA-77F9FF33DC64}" srcOrd="0" destOrd="0" presId="urn:microsoft.com/office/officeart/2005/8/layout/pyramid2"/>
    <dgm:cxn modelId="{A98A6416-A878-47AB-8075-B10D91F60C86}" srcId="{38C6B766-3604-49B5-B868-E8B4C98416E1}" destId="{2651703B-969E-4C0C-91B2-A43C4EFF42F0}" srcOrd="5" destOrd="0" parTransId="{E55CCC14-1B1A-4CCE-9C82-A380FC17B162}" sibTransId="{461E7D5E-CADB-42FA-B95E-373CE3A02F14}"/>
    <dgm:cxn modelId="{CDF99B17-2366-4BAF-BF29-2AC7D71E63E2}" srcId="{38C6B766-3604-49B5-B868-E8B4C98416E1}" destId="{B95DB3AF-73A2-459A-8C19-CCA4E5F8443D}" srcOrd="4" destOrd="0" parTransId="{2E20C5F4-A817-4FD9-B9F7-A0D9641D0F28}" sibTransId="{A0293938-74EB-4897-9101-6391412D139E}"/>
    <dgm:cxn modelId="{57A06518-D0C6-48FB-AAEC-64F9A2219C7D}" srcId="{38C6B766-3604-49B5-B868-E8B4C98416E1}" destId="{0336AA44-1107-4024-B6D6-EF24AE51A0F5}" srcOrd="0" destOrd="0" parTransId="{E2897488-BEFD-4BDD-B900-834525F2E04A}" sibTransId="{CC5FA6ED-33DB-4A60-A363-17BBE831AD55}"/>
    <dgm:cxn modelId="{F10A1E2F-49BA-47DA-BEAA-4D6C25FB3F75}" srcId="{38C6B766-3604-49B5-B868-E8B4C98416E1}" destId="{B090855D-6E25-4FED-B5FC-69EEFDBAE2C5}" srcOrd="2" destOrd="0" parTransId="{86862083-9EE0-4963-A8B0-0BA28101FDC1}" sibTransId="{571744F2-A7F4-4FC9-A58D-524EABB97A86}"/>
    <dgm:cxn modelId="{1F93185B-9BB5-4134-A912-740B5F1A3EA6}" type="presOf" srcId="{568CA87D-47A4-40BA-B4CC-8FB510EF9EED}" destId="{B1154D5A-2787-4CAA-B99B-E192484D9272}" srcOrd="0" destOrd="0" presId="urn:microsoft.com/office/officeart/2005/8/layout/pyramid2"/>
    <dgm:cxn modelId="{CFF1B660-6682-4442-B6F6-EAA6B4703923}" type="presOf" srcId="{810FF63E-1C98-4300-ADD4-C365046AB1C0}" destId="{3DA0F8C6-917F-4416-832E-D00C8E6CC3BA}" srcOrd="0" destOrd="0" presId="urn:microsoft.com/office/officeart/2005/8/layout/pyramid2"/>
    <dgm:cxn modelId="{A43CA467-C129-4494-B190-13F1B5906627}" type="presOf" srcId="{B090855D-6E25-4FED-B5FC-69EEFDBAE2C5}" destId="{F18F5B72-CC9B-4690-BB1E-F556B6CD443B}" srcOrd="0" destOrd="0" presId="urn:microsoft.com/office/officeart/2005/8/layout/pyramid2"/>
    <dgm:cxn modelId="{AD9B6B6E-7D10-4F91-8A65-F6F30E71E8E8}" type="presOf" srcId="{0336AA44-1107-4024-B6D6-EF24AE51A0F5}" destId="{3B797577-9E6D-4487-8214-6235F0F47A7C}" srcOrd="0" destOrd="0" presId="urn:microsoft.com/office/officeart/2005/8/layout/pyramid2"/>
    <dgm:cxn modelId="{1CD61551-9DEA-4B8A-BFF3-7B836BF09F4C}" srcId="{38C6B766-3604-49B5-B868-E8B4C98416E1}" destId="{568CA87D-47A4-40BA-B4CC-8FB510EF9EED}" srcOrd="6" destOrd="0" parTransId="{B3DB7F61-6A0F-4CD7-979B-A3027BF954F6}" sibTransId="{EF1E890A-62AA-4C5A-9CDD-06D106BA92BA}"/>
    <dgm:cxn modelId="{7E5C2B9C-654A-4642-B8E8-DA14F9AD93D7}" srcId="{38C6B766-3604-49B5-B868-E8B4C98416E1}" destId="{23175B3D-0A3F-4246-9A09-B844103832AF}" srcOrd="7" destOrd="0" parTransId="{F270F03A-B090-4F95-A6C6-26E288E2B723}" sibTransId="{48B81991-5005-4402-B08A-87FCAAF824BD}"/>
    <dgm:cxn modelId="{AC3603C0-A51B-49DE-842A-DE19202833AA}" srcId="{38C6B766-3604-49B5-B868-E8B4C98416E1}" destId="{810FF63E-1C98-4300-ADD4-C365046AB1C0}" srcOrd="1" destOrd="0" parTransId="{1DA7E4DB-DE5E-48A6-9018-D64011E64701}" sibTransId="{3DA2D384-1DC6-4606-8109-F2051989C9A1}"/>
    <dgm:cxn modelId="{9B0C12C3-2BAD-4E56-80F8-FDD3C25E3A1D}" type="presOf" srcId="{23175B3D-0A3F-4246-9A09-B844103832AF}" destId="{668B3043-C3B2-42AA-937B-8842EC7BA359}" srcOrd="0" destOrd="0" presId="urn:microsoft.com/office/officeart/2005/8/layout/pyramid2"/>
    <dgm:cxn modelId="{E99F1BCC-5C46-4C9F-8C5C-192AC843DDD4}" srcId="{38C6B766-3604-49B5-B868-E8B4C98416E1}" destId="{9C71B231-AEF8-4915-A8E2-5559895E19C5}" srcOrd="3" destOrd="0" parTransId="{C4702B30-0FF0-4E1C-90BB-74B3BB537780}" sibTransId="{71685A5E-C417-43C3-999F-14AF97E1F317}"/>
    <dgm:cxn modelId="{95F789CC-6449-4B28-8316-2522EF54B42C}" type="presOf" srcId="{9C71B231-AEF8-4915-A8E2-5559895E19C5}" destId="{F0DE2713-E619-42BA-B442-5B8FDCC671B1}" srcOrd="0" destOrd="0" presId="urn:microsoft.com/office/officeart/2005/8/layout/pyramid2"/>
    <dgm:cxn modelId="{D70119D4-56C7-4CD4-AE5E-5EC4B570F477}" type="presOf" srcId="{38C6B766-3604-49B5-B868-E8B4C98416E1}" destId="{ADD0F293-1523-401A-812A-A5EA5E8BEE52}" srcOrd="0" destOrd="0" presId="urn:microsoft.com/office/officeart/2005/8/layout/pyramid2"/>
    <dgm:cxn modelId="{B199D275-B65C-45A5-A3B0-A29AAE32BC03}" type="presParOf" srcId="{ADD0F293-1523-401A-812A-A5EA5E8BEE52}" destId="{2DB1584F-DF12-4944-9431-33C9B5242235}" srcOrd="0" destOrd="0" presId="urn:microsoft.com/office/officeart/2005/8/layout/pyramid2"/>
    <dgm:cxn modelId="{DDA33FDB-7097-42A1-831B-0403915A976A}" type="presParOf" srcId="{ADD0F293-1523-401A-812A-A5EA5E8BEE52}" destId="{36D0DE9E-D4DE-4513-A386-13CF3B44C54F}" srcOrd="1" destOrd="0" presId="urn:microsoft.com/office/officeart/2005/8/layout/pyramid2"/>
    <dgm:cxn modelId="{AC9A5E40-971B-4350-BFB5-C83DD97B11BE}" type="presParOf" srcId="{36D0DE9E-D4DE-4513-A386-13CF3B44C54F}" destId="{3B797577-9E6D-4487-8214-6235F0F47A7C}" srcOrd="0" destOrd="0" presId="urn:microsoft.com/office/officeart/2005/8/layout/pyramid2"/>
    <dgm:cxn modelId="{FF282EC7-1654-462D-BD68-0B268EBA31A9}" type="presParOf" srcId="{36D0DE9E-D4DE-4513-A386-13CF3B44C54F}" destId="{AA3C112E-2E6E-4AA8-92DE-3AAD9DA152B0}" srcOrd="1" destOrd="0" presId="urn:microsoft.com/office/officeart/2005/8/layout/pyramid2"/>
    <dgm:cxn modelId="{0937F516-CB23-455C-8AE9-D76DB6F82F06}" type="presParOf" srcId="{36D0DE9E-D4DE-4513-A386-13CF3B44C54F}" destId="{3DA0F8C6-917F-4416-832E-D00C8E6CC3BA}" srcOrd="2" destOrd="0" presId="urn:microsoft.com/office/officeart/2005/8/layout/pyramid2"/>
    <dgm:cxn modelId="{ECACADD5-1D42-442F-9C29-8EE45E957A9B}" type="presParOf" srcId="{36D0DE9E-D4DE-4513-A386-13CF3B44C54F}" destId="{81402711-F459-474F-AE51-3DD7335C0E87}" srcOrd="3" destOrd="0" presId="urn:microsoft.com/office/officeart/2005/8/layout/pyramid2"/>
    <dgm:cxn modelId="{51A29C47-282A-4DB6-8952-A5232DC3C7F2}" type="presParOf" srcId="{36D0DE9E-D4DE-4513-A386-13CF3B44C54F}" destId="{F18F5B72-CC9B-4690-BB1E-F556B6CD443B}" srcOrd="4" destOrd="0" presId="urn:microsoft.com/office/officeart/2005/8/layout/pyramid2"/>
    <dgm:cxn modelId="{F54C782D-7BCC-4FEE-916F-47C07E34C35F}" type="presParOf" srcId="{36D0DE9E-D4DE-4513-A386-13CF3B44C54F}" destId="{5ED2F709-AB53-40C0-9C68-A01D2BA958C2}" srcOrd="5" destOrd="0" presId="urn:microsoft.com/office/officeart/2005/8/layout/pyramid2"/>
    <dgm:cxn modelId="{4771CA46-731F-48AD-B20F-CF7B94EF32D6}" type="presParOf" srcId="{36D0DE9E-D4DE-4513-A386-13CF3B44C54F}" destId="{F0DE2713-E619-42BA-B442-5B8FDCC671B1}" srcOrd="6" destOrd="0" presId="urn:microsoft.com/office/officeart/2005/8/layout/pyramid2"/>
    <dgm:cxn modelId="{3A9CDFB9-B960-48B3-BEE2-013CC320450E}" type="presParOf" srcId="{36D0DE9E-D4DE-4513-A386-13CF3B44C54F}" destId="{BEDB160E-3DD8-4FE4-8EE5-8F711E77B4CF}" srcOrd="7" destOrd="0" presId="urn:microsoft.com/office/officeart/2005/8/layout/pyramid2"/>
    <dgm:cxn modelId="{291FA077-EA61-4F95-8584-1282ABB55642}" type="presParOf" srcId="{36D0DE9E-D4DE-4513-A386-13CF3B44C54F}" destId="{10C386EC-1B73-4C59-BBEA-77F9FF33DC64}" srcOrd="8" destOrd="0" presId="urn:microsoft.com/office/officeart/2005/8/layout/pyramid2"/>
    <dgm:cxn modelId="{2F91387E-13BB-48FA-B231-1C4F41790712}" type="presParOf" srcId="{36D0DE9E-D4DE-4513-A386-13CF3B44C54F}" destId="{E39BB210-DC4D-4948-9E7F-FD024CF59B8A}" srcOrd="9" destOrd="0" presId="urn:microsoft.com/office/officeart/2005/8/layout/pyramid2"/>
    <dgm:cxn modelId="{69C3D2B8-C9BD-4FB2-8C03-27EA3ACFFDB7}" type="presParOf" srcId="{36D0DE9E-D4DE-4513-A386-13CF3B44C54F}" destId="{B3794F94-29B1-4F1C-ADE7-DC7070665F1C}" srcOrd="10" destOrd="0" presId="urn:microsoft.com/office/officeart/2005/8/layout/pyramid2"/>
    <dgm:cxn modelId="{9A4DE8A6-D810-4AE5-8D05-FA18B8555AE0}" type="presParOf" srcId="{36D0DE9E-D4DE-4513-A386-13CF3B44C54F}" destId="{9565A4CA-FC1D-438B-86FF-FC28B873C6E8}" srcOrd="11" destOrd="0" presId="urn:microsoft.com/office/officeart/2005/8/layout/pyramid2"/>
    <dgm:cxn modelId="{7220FADC-C143-4437-A5B8-5FDAA86017F0}" type="presParOf" srcId="{36D0DE9E-D4DE-4513-A386-13CF3B44C54F}" destId="{B1154D5A-2787-4CAA-B99B-E192484D9272}" srcOrd="12" destOrd="0" presId="urn:microsoft.com/office/officeart/2005/8/layout/pyramid2"/>
    <dgm:cxn modelId="{0D1FB07D-E382-4AB1-88F9-DD466A29B277}" type="presParOf" srcId="{36D0DE9E-D4DE-4513-A386-13CF3B44C54F}" destId="{BA5C8DA0-A5E9-43EE-8BFE-A116DFFFA77D}" srcOrd="13" destOrd="0" presId="urn:microsoft.com/office/officeart/2005/8/layout/pyramid2"/>
    <dgm:cxn modelId="{9D4A121B-2E28-4D48-A3AC-5D29B737C048}" type="presParOf" srcId="{36D0DE9E-D4DE-4513-A386-13CF3B44C54F}" destId="{668B3043-C3B2-42AA-937B-8842EC7BA359}" srcOrd="14" destOrd="0" presId="urn:microsoft.com/office/officeart/2005/8/layout/pyramid2"/>
    <dgm:cxn modelId="{9BC51FAF-D63F-421F-AB4F-95261453599D}" type="presParOf" srcId="{36D0DE9E-D4DE-4513-A386-13CF3B44C54F}" destId="{96387CB0-8BCF-4F1D-A739-545AE883580D}" srcOrd="15"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224F89A-5900-4048-8DF7-38063BB94692}" type="doc">
      <dgm:prSet loTypeId="urn:microsoft.com/office/officeart/2005/8/layout/hierarchy1" loCatId="hierarchy" qsTypeId="urn:microsoft.com/office/officeart/2005/8/quickstyle/simple3" qsCatId="simple" csTypeId="urn:microsoft.com/office/officeart/2005/8/colors/accent1_2" csCatId="accent1"/>
      <dgm:spPr/>
      <dgm:t>
        <a:bodyPr/>
        <a:lstStyle/>
        <a:p>
          <a:endParaRPr lang="en-US"/>
        </a:p>
      </dgm:t>
    </dgm:pt>
    <dgm:pt modelId="{9142BF92-D25E-4C24-B538-6C9BED2CC61A}">
      <dgm:prSet/>
      <dgm:spPr/>
      <dgm:t>
        <a:bodyPr/>
        <a:lstStyle/>
        <a:p>
          <a:r>
            <a:rPr lang="en-US" dirty="0"/>
            <a:t>Population</a:t>
          </a:r>
        </a:p>
      </dgm:t>
    </dgm:pt>
    <dgm:pt modelId="{2646E2E0-F0D0-4101-85C7-71B9D648CC0F}" type="parTrans" cxnId="{3E9C9ACC-F044-44AB-B8A3-071CD268727B}">
      <dgm:prSet/>
      <dgm:spPr/>
      <dgm:t>
        <a:bodyPr/>
        <a:lstStyle/>
        <a:p>
          <a:endParaRPr lang="en-US"/>
        </a:p>
      </dgm:t>
    </dgm:pt>
    <dgm:pt modelId="{F29FBF25-022F-4D98-9BBD-A29B55BC7B02}" type="sibTrans" cxnId="{3E9C9ACC-F044-44AB-B8A3-071CD268727B}">
      <dgm:prSet/>
      <dgm:spPr/>
      <dgm:t>
        <a:bodyPr/>
        <a:lstStyle/>
        <a:p>
          <a:endParaRPr lang="en-US"/>
        </a:p>
      </dgm:t>
    </dgm:pt>
    <dgm:pt modelId="{B835F6E2-CD3E-4B5E-A2E0-3195C96EAEB0}">
      <dgm:prSet/>
      <dgm:spPr/>
      <dgm:t>
        <a:bodyPr/>
        <a:lstStyle/>
        <a:p>
          <a:r>
            <a:rPr lang="en-US" dirty="0"/>
            <a:t>Select Top α%</a:t>
          </a:r>
        </a:p>
      </dgm:t>
    </dgm:pt>
    <dgm:pt modelId="{D94856D5-C027-4323-B86D-9BC4CC57736E}" type="parTrans" cxnId="{B986F838-FAB0-4601-8B55-68E6FDE9D4A7}">
      <dgm:prSet/>
      <dgm:spPr/>
      <dgm:t>
        <a:bodyPr/>
        <a:lstStyle/>
        <a:p>
          <a:endParaRPr lang="en-US"/>
        </a:p>
      </dgm:t>
    </dgm:pt>
    <dgm:pt modelId="{99FE3A14-608C-462C-ABD5-7C568ED8B929}" type="sibTrans" cxnId="{B986F838-FAB0-4601-8B55-68E6FDE9D4A7}">
      <dgm:prSet/>
      <dgm:spPr/>
      <dgm:t>
        <a:bodyPr/>
        <a:lstStyle/>
        <a:p>
          <a:endParaRPr lang="en-US"/>
        </a:p>
      </dgm:t>
    </dgm:pt>
    <dgm:pt modelId="{D2974EC9-2F8F-45D9-924F-CF171E1C7065}">
      <dgm:prSet/>
      <dgm:spPr/>
      <dgm:t>
        <a:bodyPr/>
        <a:lstStyle/>
        <a:p>
          <a:r>
            <a:rPr lang="en-US" dirty="0"/>
            <a:t>Evaluate Events</a:t>
          </a:r>
        </a:p>
      </dgm:t>
    </dgm:pt>
    <dgm:pt modelId="{3742B135-DE58-42DF-AAD9-3882E6096048}" type="parTrans" cxnId="{30362BA3-66BA-4655-AB4B-A30ADC24205A}">
      <dgm:prSet/>
      <dgm:spPr/>
      <dgm:t>
        <a:bodyPr/>
        <a:lstStyle/>
        <a:p>
          <a:endParaRPr lang="en-US"/>
        </a:p>
      </dgm:t>
    </dgm:pt>
    <dgm:pt modelId="{F99F8992-8302-4DA0-A9CC-E8D98480AE5E}" type="sibTrans" cxnId="{30362BA3-66BA-4655-AB4B-A30ADC24205A}">
      <dgm:prSet/>
      <dgm:spPr/>
      <dgm:t>
        <a:bodyPr/>
        <a:lstStyle/>
        <a:p>
          <a:endParaRPr lang="en-US"/>
        </a:p>
      </dgm:t>
    </dgm:pt>
    <dgm:pt modelId="{CA40AD27-B4AB-4440-8055-E6C2B957B0A7}">
      <dgm:prSet/>
      <dgm:spPr/>
      <dgm:t>
        <a:bodyPr/>
        <a:lstStyle/>
        <a:p>
          <a:r>
            <a:rPr lang="en-US"/>
            <a:t>Store Good Assignments</a:t>
          </a:r>
        </a:p>
      </dgm:t>
    </dgm:pt>
    <dgm:pt modelId="{A49DDC84-388D-4833-9CF5-264A1879B494}" type="parTrans" cxnId="{2064517A-7F5B-4232-B8F5-6263BF7E8F6E}">
      <dgm:prSet/>
      <dgm:spPr/>
      <dgm:t>
        <a:bodyPr/>
        <a:lstStyle/>
        <a:p>
          <a:endParaRPr lang="en-US"/>
        </a:p>
      </dgm:t>
    </dgm:pt>
    <dgm:pt modelId="{138FC39A-61C2-4453-A808-B6389871A580}" type="sibTrans" cxnId="{2064517A-7F5B-4232-B8F5-6263BF7E8F6E}">
      <dgm:prSet/>
      <dgm:spPr/>
      <dgm:t>
        <a:bodyPr/>
        <a:lstStyle/>
        <a:p>
          <a:endParaRPr lang="en-US"/>
        </a:p>
      </dgm:t>
    </dgm:pt>
    <dgm:pt modelId="{5027EF43-3296-4CF7-947C-C9DD77E84937}">
      <dgm:prSet/>
      <dgm:spPr/>
      <dgm:t>
        <a:bodyPr/>
        <a:lstStyle/>
        <a:p>
          <a:r>
            <a:rPr lang="en-US" dirty="0"/>
            <a:t>MEM</a:t>
          </a:r>
        </a:p>
      </dgm:t>
    </dgm:pt>
    <dgm:pt modelId="{F122AC02-93A2-40C2-BDF6-4F80BAF529F3}" type="parTrans" cxnId="{3A9F4572-8D72-4204-829C-44978724AEAF}">
      <dgm:prSet/>
      <dgm:spPr/>
      <dgm:t>
        <a:bodyPr/>
        <a:lstStyle/>
        <a:p>
          <a:endParaRPr lang="en-US"/>
        </a:p>
      </dgm:t>
    </dgm:pt>
    <dgm:pt modelId="{B3E0AEAA-4477-4D96-B2EF-44379D44F869}" type="sibTrans" cxnId="{3A9F4572-8D72-4204-829C-44978724AEAF}">
      <dgm:prSet/>
      <dgm:spPr/>
      <dgm:t>
        <a:bodyPr/>
        <a:lstStyle/>
        <a:p>
          <a:endParaRPr lang="en-US"/>
        </a:p>
      </dgm:t>
    </dgm:pt>
    <dgm:pt modelId="{AD7E06F9-B516-4378-A55C-87107F4A1A56}" type="pres">
      <dgm:prSet presAssocID="{4224F89A-5900-4048-8DF7-38063BB94692}" presName="hierChild1" presStyleCnt="0">
        <dgm:presLayoutVars>
          <dgm:chPref val="1"/>
          <dgm:dir/>
          <dgm:animOne val="branch"/>
          <dgm:animLvl val="lvl"/>
          <dgm:resizeHandles/>
        </dgm:presLayoutVars>
      </dgm:prSet>
      <dgm:spPr/>
    </dgm:pt>
    <dgm:pt modelId="{C1526DB5-8E09-4F28-AB33-B8AFFC2BADFE}" type="pres">
      <dgm:prSet presAssocID="{9142BF92-D25E-4C24-B538-6C9BED2CC61A}" presName="hierRoot1" presStyleCnt="0"/>
      <dgm:spPr/>
    </dgm:pt>
    <dgm:pt modelId="{010B6A4A-C6E5-4DE8-B92B-4098BC65B207}" type="pres">
      <dgm:prSet presAssocID="{9142BF92-D25E-4C24-B538-6C9BED2CC61A}" presName="composite" presStyleCnt="0"/>
      <dgm:spPr/>
    </dgm:pt>
    <dgm:pt modelId="{5759A74F-28CA-4CED-8616-B74E3589AE0E}" type="pres">
      <dgm:prSet presAssocID="{9142BF92-D25E-4C24-B538-6C9BED2CC61A}" presName="background" presStyleLbl="node0" presStyleIdx="0" presStyleCnt="5"/>
      <dgm:spPr/>
    </dgm:pt>
    <dgm:pt modelId="{965D2E61-8E5A-41A6-AC1F-A369E7FB579A}" type="pres">
      <dgm:prSet presAssocID="{9142BF92-D25E-4C24-B538-6C9BED2CC61A}" presName="text" presStyleLbl="fgAcc0" presStyleIdx="0" presStyleCnt="5">
        <dgm:presLayoutVars>
          <dgm:chPref val="3"/>
        </dgm:presLayoutVars>
      </dgm:prSet>
      <dgm:spPr/>
    </dgm:pt>
    <dgm:pt modelId="{37D2DBAB-E7D8-4455-B028-4A61386272C7}" type="pres">
      <dgm:prSet presAssocID="{9142BF92-D25E-4C24-B538-6C9BED2CC61A}" presName="hierChild2" presStyleCnt="0"/>
      <dgm:spPr/>
    </dgm:pt>
    <dgm:pt modelId="{3D2E5882-B353-4FAF-88F9-517538F4A05D}" type="pres">
      <dgm:prSet presAssocID="{B835F6E2-CD3E-4B5E-A2E0-3195C96EAEB0}" presName="hierRoot1" presStyleCnt="0"/>
      <dgm:spPr/>
    </dgm:pt>
    <dgm:pt modelId="{6F058B26-545E-48D0-B71C-23CF8733440D}" type="pres">
      <dgm:prSet presAssocID="{B835F6E2-CD3E-4B5E-A2E0-3195C96EAEB0}" presName="composite" presStyleCnt="0"/>
      <dgm:spPr/>
    </dgm:pt>
    <dgm:pt modelId="{8437FAE8-8817-4EA7-894B-357317527742}" type="pres">
      <dgm:prSet presAssocID="{B835F6E2-CD3E-4B5E-A2E0-3195C96EAEB0}" presName="background" presStyleLbl="node0" presStyleIdx="1" presStyleCnt="5"/>
      <dgm:spPr/>
    </dgm:pt>
    <dgm:pt modelId="{527B9F4B-30D1-4A26-80EC-90F0138B8378}" type="pres">
      <dgm:prSet presAssocID="{B835F6E2-CD3E-4B5E-A2E0-3195C96EAEB0}" presName="text" presStyleLbl="fgAcc0" presStyleIdx="1" presStyleCnt="5">
        <dgm:presLayoutVars>
          <dgm:chPref val="3"/>
        </dgm:presLayoutVars>
      </dgm:prSet>
      <dgm:spPr/>
    </dgm:pt>
    <dgm:pt modelId="{1D440996-BAF4-4972-9336-9F8D1DB92D35}" type="pres">
      <dgm:prSet presAssocID="{B835F6E2-CD3E-4B5E-A2E0-3195C96EAEB0}" presName="hierChild2" presStyleCnt="0"/>
      <dgm:spPr/>
    </dgm:pt>
    <dgm:pt modelId="{9D7B189F-59DF-4D2E-AA5F-64DF67D4C645}" type="pres">
      <dgm:prSet presAssocID="{D2974EC9-2F8F-45D9-924F-CF171E1C7065}" presName="hierRoot1" presStyleCnt="0"/>
      <dgm:spPr/>
    </dgm:pt>
    <dgm:pt modelId="{5EF13875-5E47-4A1F-A3BA-528B3362676D}" type="pres">
      <dgm:prSet presAssocID="{D2974EC9-2F8F-45D9-924F-CF171E1C7065}" presName="composite" presStyleCnt="0"/>
      <dgm:spPr/>
    </dgm:pt>
    <dgm:pt modelId="{63A53F45-F128-4EBB-9D19-28CDBE4EFE1C}" type="pres">
      <dgm:prSet presAssocID="{D2974EC9-2F8F-45D9-924F-CF171E1C7065}" presName="background" presStyleLbl="node0" presStyleIdx="2" presStyleCnt="5"/>
      <dgm:spPr/>
    </dgm:pt>
    <dgm:pt modelId="{9A3AEC63-7646-45CC-9B1F-5BC0B38B3ECB}" type="pres">
      <dgm:prSet presAssocID="{D2974EC9-2F8F-45D9-924F-CF171E1C7065}" presName="text" presStyleLbl="fgAcc0" presStyleIdx="2" presStyleCnt="5">
        <dgm:presLayoutVars>
          <dgm:chPref val="3"/>
        </dgm:presLayoutVars>
      </dgm:prSet>
      <dgm:spPr/>
    </dgm:pt>
    <dgm:pt modelId="{FFB7FB62-29EF-428B-B761-36A30F2AFC0B}" type="pres">
      <dgm:prSet presAssocID="{D2974EC9-2F8F-45D9-924F-CF171E1C7065}" presName="hierChild2" presStyleCnt="0"/>
      <dgm:spPr/>
    </dgm:pt>
    <dgm:pt modelId="{41B0F36E-D554-426A-8BE4-BE03841820E9}" type="pres">
      <dgm:prSet presAssocID="{CA40AD27-B4AB-4440-8055-E6C2B957B0A7}" presName="hierRoot1" presStyleCnt="0"/>
      <dgm:spPr/>
    </dgm:pt>
    <dgm:pt modelId="{8C406FF2-DD66-42B6-8A65-B1A2CBBD384B}" type="pres">
      <dgm:prSet presAssocID="{CA40AD27-B4AB-4440-8055-E6C2B957B0A7}" presName="composite" presStyleCnt="0"/>
      <dgm:spPr/>
    </dgm:pt>
    <dgm:pt modelId="{C27CBE20-6B38-4ABA-B75D-D46FD466A922}" type="pres">
      <dgm:prSet presAssocID="{CA40AD27-B4AB-4440-8055-E6C2B957B0A7}" presName="background" presStyleLbl="node0" presStyleIdx="3" presStyleCnt="5"/>
      <dgm:spPr/>
    </dgm:pt>
    <dgm:pt modelId="{B8397958-2507-4288-87C7-85CA608ADA96}" type="pres">
      <dgm:prSet presAssocID="{CA40AD27-B4AB-4440-8055-E6C2B957B0A7}" presName="text" presStyleLbl="fgAcc0" presStyleIdx="3" presStyleCnt="5">
        <dgm:presLayoutVars>
          <dgm:chPref val="3"/>
        </dgm:presLayoutVars>
      </dgm:prSet>
      <dgm:spPr/>
    </dgm:pt>
    <dgm:pt modelId="{7F4EE13A-45F7-4E21-BD15-E73B151D9BFB}" type="pres">
      <dgm:prSet presAssocID="{CA40AD27-B4AB-4440-8055-E6C2B957B0A7}" presName="hierChild2" presStyleCnt="0"/>
      <dgm:spPr/>
    </dgm:pt>
    <dgm:pt modelId="{8A743031-2CF5-40FB-84F1-3022E418C988}" type="pres">
      <dgm:prSet presAssocID="{5027EF43-3296-4CF7-947C-C9DD77E84937}" presName="hierRoot1" presStyleCnt="0"/>
      <dgm:spPr/>
    </dgm:pt>
    <dgm:pt modelId="{1F84AECE-F56D-433A-A208-D7BEC5CDD2DD}" type="pres">
      <dgm:prSet presAssocID="{5027EF43-3296-4CF7-947C-C9DD77E84937}" presName="composite" presStyleCnt="0"/>
      <dgm:spPr/>
    </dgm:pt>
    <dgm:pt modelId="{54FD7A6D-B4A2-4080-83B6-E68B8E212396}" type="pres">
      <dgm:prSet presAssocID="{5027EF43-3296-4CF7-947C-C9DD77E84937}" presName="background" presStyleLbl="node0" presStyleIdx="4" presStyleCnt="5"/>
      <dgm:spPr/>
    </dgm:pt>
    <dgm:pt modelId="{47011F13-F561-4CB0-BA8E-870A18D9EB98}" type="pres">
      <dgm:prSet presAssocID="{5027EF43-3296-4CF7-947C-C9DD77E84937}" presName="text" presStyleLbl="fgAcc0" presStyleIdx="4" presStyleCnt="5">
        <dgm:presLayoutVars>
          <dgm:chPref val="3"/>
        </dgm:presLayoutVars>
      </dgm:prSet>
      <dgm:spPr/>
    </dgm:pt>
    <dgm:pt modelId="{8BCDCE49-2C28-429B-A1AC-9760CBAC020C}" type="pres">
      <dgm:prSet presAssocID="{5027EF43-3296-4CF7-947C-C9DD77E84937}" presName="hierChild2" presStyleCnt="0"/>
      <dgm:spPr/>
    </dgm:pt>
  </dgm:ptLst>
  <dgm:cxnLst>
    <dgm:cxn modelId="{72C3A72D-5399-44A5-8DC7-88FF08BECE05}" type="presOf" srcId="{CA40AD27-B4AB-4440-8055-E6C2B957B0A7}" destId="{B8397958-2507-4288-87C7-85CA608ADA96}" srcOrd="0" destOrd="0" presId="urn:microsoft.com/office/officeart/2005/8/layout/hierarchy1"/>
    <dgm:cxn modelId="{B986F838-FAB0-4601-8B55-68E6FDE9D4A7}" srcId="{4224F89A-5900-4048-8DF7-38063BB94692}" destId="{B835F6E2-CD3E-4B5E-A2E0-3195C96EAEB0}" srcOrd="1" destOrd="0" parTransId="{D94856D5-C027-4323-B86D-9BC4CC57736E}" sibTransId="{99FE3A14-608C-462C-ABD5-7C568ED8B929}"/>
    <dgm:cxn modelId="{3A9F4572-8D72-4204-829C-44978724AEAF}" srcId="{4224F89A-5900-4048-8DF7-38063BB94692}" destId="{5027EF43-3296-4CF7-947C-C9DD77E84937}" srcOrd="4" destOrd="0" parTransId="{F122AC02-93A2-40C2-BDF6-4F80BAF529F3}" sibTransId="{B3E0AEAA-4477-4D96-B2EF-44379D44F869}"/>
    <dgm:cxn modelId="{3C27B276-C223-40DA-AB84-F92CF7E0595C}" type="presOf" srcId="{D2974EC9-2F8F-45D9-924F-CF171E1C7065}" destId="{9A3AEC63-7646-45CC-9B1F-5BC0B38B3ECB}" srcOrd="0" destOrd="0" presId="urn:microsoft.com/office/officeart/2005/8/layout/hierarchy1"/>
    <dgm:cxn modelId="{2064517A-7F5B-4232-B8F5-6263BF7E8F6E}" srcId="{4224F89A-5900-4048-8DF7-38063BB94692}" destId="{CA40AD27-B4AB-4440-8055-E6C2B957B0A7}" srcOrd="3" destOrd="0" parTransId="{A49DDC84-388D-4833-9CF5-264A1879B494}" sibTransId="{138FC39A-61C2-4453-A808-B6389871A580}"/>
    <dgm:cxn modelId="{8D8A0983-C143-4076-BE46-73344844E792}" type="presOf" srcId="{5027EF43-3296-4CF7-947C-C9DD77E84937}" destId="{47011F13-F561-4CB0-BA8E-870A18D9EB98}" srcOrd="0" destOrd="0" presId="urn:microsoft.com/office/officeart/2005/8/layout/hierarchy1"/>
    <dgm:cxn modelId="{30362BA3-66BA-4655-AB4B-A30ADC24205A}" srcId="{4224F89A-5900-4048-8DF7-38063BB94692}" destId="{D2974EC9-2F8F-45D9-924F-CF171E1C7065}" srcOrd="2" destOrd="0" parTransId="{3742B135-DE58-42DF-AAD9-3882E6096048}" sibTransId="{F99F8992-8302-4DA0-A9CC-E8D98480AE5E}"/>
    <dgm:cxn modelId="{6207CEBD-A5AE-4DC6-BCA8-5CE2F9729881}" type="presOf" srcId="{4224F89A-5900-4048-8DF7-38063BB94692}" destId="{AD7E06F9-B516-4378-A55C-87107F4A1A56}" srcOrd="0" destOrd="0" presId="urn:microsoft.com/office/officeart/2005/8/layout/hierarchy1"/>
    <dgm:cxn modelId="{39E55CC6-5283-4611-AF3B-7582E543B8E3}" type="presOf" srcId="{B835F6E2-CD3E-4B5E-A2E0-3195C96EAEB0}" destId="{527B9F4B-30D1-4A26-80EC-90F0138B8378}" srcOrd="0" destOrd="0" presId="urn:microsoft.com/office/officeart/2005/8/layout/hierarchy1"/>
    <dgm:cxn modelId="{3E9C9ACC-F044-44AB-B8A3-071CD268727B}" srcId="{4224F89A-5900-4048-8DF7-38063BB94692}" destId="{9142BF92-D25E-4C24-B538-6C9BED2CC61A}" srcOrd="0" destOrd="0" parTransId="{2646E2E0-F0D0-4101-85C7-71B9D648CC0F}" sibTransId="{F29FBF25-022F-4D98-9BBD-A29B55BC7B02}"/>
    <dgm:cxn modelId="{2C53BFDA-DFEB-4844-AF81-EF90E6CC7EB5}" type="presOf" srcId="{9142BF92-D25E-4C24-B538-6C9BED2CC61A}" destId="{965D2E61-8E5A-41A6-AC1F-A369E7FB579A}" srcOrd="0" destOrd="0" presId="urn:microsoft.com/office/officeart/2005/8/layout/hierarchy1"/>
    <dgm:cxn modelId="{9EB1C2C6-8B43-409F-9768-C1C42E0DB114}" type="presParOf" srcId="{AD7E06F9-B516-4378-A55C-87107F4A1A56}" destId="{C1526DB5-8E09-4F28-AB33-B8AFFC2BADFE}" srcOrd="0" destOrd="0" presId="urn:microsoft.com/office/officeart/2005/8/layout/hierarchy1"/>
    <dgm:cxn modelId="{BE13DE35-C143-4869-982F-C9F61B289FD1}" type="presParOf" srcId="{C1526DB5-8E09-4F28-AB33-B8AFFC2BADFE}" destId="{010B6A4A-C6E5-4DE8-B92B-4098BC65B207}" srcOrd="0" destOrd="0" presId="urn:microsoft.com/office/officeart/2005/8/layout/hierarchy1"/>
    <dgm:cxn modelId="{5F018470-2124-41E6-BEE2-DAF3620F3D8A}" type="presParOf" srcId="{010B6A4A-C6E5-4DE8-B92B-4098BC65B207}" destId="{5759A74F-28CA-4CED-8616-B74E3589AE0E}" srcOrd="0" destOrd="0" presId="urn:microsoft.com/office/officeart/2005/8/layout/hierarchy1"/>
    <dgm:cxn modelId="{6F064392-F2E8-4619-980E-B3D5F864D69E}" type="presParOf" srcId="{010B6A4A-C6E5-4DE8-B92B-4098BC65B207}" destId="{965D2E61-8E5A-41A6-AC1F-A369E7FB579A}" srcOrd="1" destOrd="0" presId="urn:microsoft.com/office/officeart/2005/8/layout/hierarchy1"/>
    <dgm:cxn modelId="{ADC68622-69D8-49F1-9C5B-2D1432F92F4C}" type="presParOf" srcId="{C1526DB5-8E09-4F28-AB33-B8AFFC2BADFE}" destId="{37D2DBAB-E7D8-4455-B028-4A61386272C7}" srcOrd="1" destOrd="0" presId="urn:microsoft.com/office/officeart/2005/8/layout/hierarchy1"/>
    <dgm:cxn modelId="{8FBE5E84-9AC8-42F5-9E70-CA594B1218A1}" type="presParOf" srcId="{AD7E06F9-B516-4378-A55C-87107F4A1A56}" destId="{3D2E5882-B353-4FAF-88F9-517538F4A05D}" srcOrd="1" destOrd="0" presId="urn:microsoft.com/office/officeart/2005/8/layout/hierarchy1"/>
    <dgm:cxn modelId="{9C605E45-23CD-442D-988B-77E34498B756}" type="presParOf" srcId="{3D2E5882-B353-4FAF-88F9-517538F4A05D}" destId="{6F058B26-545E-48D0-B71C-23CF8733440D}" srcOrd="0" destOrd="0" presId="urn:microsoft.com/office/officeart/2005/8/layout/hierarchy1"/>
    <dgm:cxn modelId="{14F71394-86A4-4DAB-95EF-D8E2A96C8B8D}" type="presParOf" srcId="{6F058B26-545E-48D0-B71C-23CF8733440D}" destId="{8437FAE8-8817-4EA7-894B-357317527742}" srcOrd="0" destOrd="0" presId="urn:microsoft.com/office/officeart/2005/8/layout/hierarchy1"/>
    <dgm:cxn modelId="{B1B8C934-F241-4EB9-97F2-465D1B5B2286}" type="presParOf" srcId="{6F058B26-545E-48D0-B71C-23CF8733440D}" destId="{527B9F4B-30D1-4A26-80EC-90F0138B8378}" srcOrd="1" destOrd="0" presId="urn:microsoft.com/office/officeart/2005/8/layout/hierarchy1"/>
    <dgm:cxn modelId="{EFFC0132-9E12-4394-987B-541D6820BB10}" type="presParOf" srcId="{3D2E5882-B353-4FAF-88F9-517538F4A05D}" destId="{1D440996-BAF4-4972-9336-9F8D1DB92D35}" srcOrd="1" destOrd="0" presId="urn:microsoft.com/office/officeart/2005/8/layout/hierarchy1"/>
    <dgm:cxn modelId="{221215F5-F933-4C4A-901C-93C005AD316E}" type="presParOf" srcId="{AD7E06F9-B516-4378-A55C-87107F4A1A56}" destId="{9D7B189F-59DF-4D2E-AA5F-64DF67D4C645}" srcOrd="2" destOrd="0" presId="urn:microsoft.com/office/officeart/2005/8/layout/hierarchy1"/>
    <dgm:cxn modelId="{698D56F5-FEF0-41D2-BCBF-665D115EB79A}" type="presParOf" srcId="{9D7B189F-59DF-4D2E-AA5F-64DF67D4C645}" destId="{5EF13875-5E47-4A1F-A3BA-528B3362676D}" srcOrd="0" destOrd="0" presId="urn:microsoft.com/office/officeart/2005/8/layout/hierarchy1"/>
    <dgm:cxn modelId="{AFD8538C-A8AD-405F-8278-DC565073C117}" type="presParOf" srcId="{5EF13875-5E47-4A1F-A3BA-528B3362676D}" destId="{63A53F45-F128-4EBB-9D19-28CDBE4EFE1C}" srcOrd="0" destOrd="0" presId="urn:microsoft.com/office/officeart/2005/8/layout/hierarchy1"/>
    <dgm:cxn modelId="{39A5081E-13CA-4203-A139-4A184FDD4D51}" type="presParOf" srcId="{5EF13875-5E47-4A1F-A3BA-528B3362676D}" destId="{9A3AEC63-7646-45CC-9B1F-5BC0B38B3ECB}" srcOrd="1" destOrd="0" presId="urn:microsoft.com/office/officeart/2005/8/layout/hierarchy1"/>
    <dgm:cxn modelId="{1E2DCD96-76F2-4057-B21A-3637FA9A69EC}" type="presParOf" srcId="{9D7B189F-59DF-4D2E-AA5F-64DF67D4C645}" destId="{FFB7FB62-29EF-428B-B761-36A30F2AFC0B}" srcOrd="1" destOrd="0" presId="urn:microsoft.com/office/officeart/2005/8/layout/hierarchy1"/>
    <dgm:cxn modelId="{D7664E45-4E68-4BB1-861A-B9A8C9668FE9}" type="presParOf" srcId="{AD7E06F9-B516-4378-A55C-87107F4A1A56}" destId="{41B0F36E-D554-426A-8BE4-BE03841820E9}" srcOrd="3" destOrd="0" presId="urn:microsoft.com/office/officeart/2005/8/layout/hierarchy1"/>
    <dgm:cxn modelId="{E3E67DAE-EA02-4FBF-B3A0-2C41B0968A86}" type="presParOf" srcId="{41B0F36E-D554-426A-8BE4-BE03841820E9}" destId="{8C406FF2-DD66-42B6-8A65-B1A2CBBD384B}" srcOrd="0" destOrd="0" presId="urn:microsoft.com/office/officeart/2005/8/layout/hierarchy1"/>
    <dgm:cxn modelId="{589060A7-556C-4206-A0C7-FBFE3A6A0318}" type="presParOf" srcId="{8C406FF2-DD66-42B6-8A65-B1A2CBBD384B}" destId="{C27CBE20-6B38-4ABA-B75D-D46FD466A922}" srcOrd="0" destOrd="0" presId="urn:microsoft.com/office/officeart/2005/8/layout/hierarchy1"/>
    <dgm:cxn modelId="{F884529D-1B31-4EFF-A923-D7C6AE8C0F5D}" type="presParOf" srcId="{8C406FF2-DD66-42B6-8A65-B1A2CBBD384B}" destId="{B8397958-2507-4288-87C7-85CA608ADA96}" srcOrd="1" destOrd="0" presId="urn:microsoft.com/office/officeart/2005/8/layout/hierarchy1"/>
    <dgm:cxn modelId="{1EEB2096-1C43-45C2-8D49-0BA6718E028B}" type="presParOf" srcId="{41B0F36E-D554-426A-8BE4-BE03841820E9}" destId="{7F4EE13A-45F7-4E21-BD15-E73B151D9BFB}" srcOrd="1" destOrd="0" presId="urn:microsoft.com/office/officeart/2005/8/layout/hierarchy1"/>
    <dgm:cxn modelId="{1BCAB3BD-1175-41FD-865A-49676D6F9139}" type="presParOf" srcId="{AD7E06F9-B516-4378-A55C-87107F4A1A56}" destId="{8A743031-2CF5-40FB-84F1-3022E418C988}" srcOrd="4" destOrd="0" presId="urn:microsoft.com/office/officeart/2005/8/layout/hierarchy1"/>
    <dgm:cxn modelId="{34D11881-5D88-41FB-959E-D1EB7351E8F4}" type="presParOf" srcId="{8A743031-2CF5-40FB-84F1-3022E418C988}" destId="{1F84AECE-F56D-433A-A208-D7BEC5CDD2DD}" srcOrd="0" destOrd="0" presId="urn:microsoft.com/office/officeart/2005/8/layout/hierarchy1"/>
    <dgm:cxn modelId="{BE61F2BC-F47D-4568-8F0E-D9BC7462016B}" type="presParOf" srcId="{1F84AECE-F56D-433A-A208-D7BEC5CDD2DD}" destId="{54FD7A6D-B4A2-4080-83B6-E68B8E212396}" srcOrd="0" destOrd="0" presId="urn:microsoft.com/office/officeart/2005/8/layout/hierarchy1"/>
    <dgm:cxn modelId="{6717A63F-E4C7-4713-9ED7-19CC3F6A08C8}" type="presParOf" srcId="{1F84AECE-F56D-433A-A208-D7BEC5CDD2DD}" destId="{47011F13-F561-4CB0-BA8E-870A18D9EB98}" srcOrd="1" destOrd="0" presId="urn:microsoft.com/office/officeart/2005/8/layout/hierarchy1"/>
    <dgm:cxn modelId="{C7D9BEAC-1BBD-4205-B322-FBB898261915}" type="presParOf" srcId="{8A743031-2CF5-40FB-84F1-3022E418C988}" destId="{8BCDCE49-2C28-429B-A1AC-9760CBAC020C}"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224F89A-5900-4048-8DF7-38063BB94692}" type="doc">
      <dgm:prSet loTypeId="urn:microsoft.com/office/officeart/2005/8/layout/hierarchy1" loCatId="hierarchy" qsTypeId="urn:microsoft.com/office/officeart/2005/8/quickstyle/simple3" qsCatId="simple" csTypeId="urn:microsoft.com/office/officeart/2005/8/colors/accent1_2" csCatId="accent1" phldr="1"/>
      <dgm:spPr/>
      <dgm:t>
        <a:bodyPr/>
        <a:lstStyle/>
        <a:p>
          <a:endParaRPr lang="en-US"/>
        </a:p>
      </dgm:t>
    </dgm:pt>
    <dgm:pt modelId="{9142BF92-D25E-4C24-B538-6C9BED2CC61A}">
      <dgm:prSet/>
      <dgm:spPr/>
      <dgm:t>
        <a:bodyPr/>
        <a:lstStyle/>
        <a:p>
          <a:r>
            <a:rPr lang="en-US" dirty="0"/>
            <a:t>Select Base Individual</a:t>
          </a:r>
        </a:p>
      </dgm:t>
    </dgm:pt>
    <dgm:pt modelId="{2646E2E0-F0D0-4101-85C7-71B9D648CC0F}" type="parTrans" cxnId="{3E9C9ACC-F044-44AB-B8A3-071CD268727B}">
      <dgm:prSet/>
      <dgm:spPr/>
      <dgm:t>
        <a:bodyPr/>
        <a:lstStyle/>
        <a:p>
          <a:endParaRPr lang="en-US"/>
        </a:p>
      </dgm:t>
    </dgm:pt>
    <dgm:pt modelId="{F29FBF25-022F-4D98-9BBD-A29B55BC7B02}" type="sibTrans" cxnId="{3E9C9ACC-F044-44AB-B8A3-071CD268727B}">
      <dgm:prSet/>
      <dgm:spPr/>
      <dgm:t>
        <a:bodyPr/>
        <a:lstStyle/>
        <a:p>
          <a:endParaRPr lang="en-US"/>
        </a:p>
      </dgm:t>
    </dgm:pt>
    <dgm:pt modelId="{B835F6E2-CD3E-4B5E-A2E0-3195C96EAEB0}">
      <dgm:prSet/>
      <dgm:spPr/>
      <dgm:t>
        <a:bodyPr/>
        <a:lstStyle/>
        <a:p>
          <a:r>
            <a:rPr lang="en-US" dirty="0"/>
            <a:t>Choose β × E0 Events</a:t>
          </a:r>
        </a:p>
      </dgm:t>
    </dgm:pt>
    <dgm:pt modelId="{D94856D5-C027-4323-B86D-9BC4CC57736E}" type="parTrans" cxnId="{B986F838-FAB0-4601-8B55-68E6FDE9D4A7}">
      <dgm:prSet/>
      <dgm:spPr/>
      <dgm:t>
        <a:bodyPr/>
        <a:lstStyle/>
        <a:p>
          <a:endParaRPr lang="en-US"/>
        </a:p>
      </dgm:t>
    </dgm:pt>
    <dgm:pt modelId="{99FE3A14-608C-462C-ABD5-7C568ED8B929}" type="sibTrans" cxnId="{B986F838-FAB0-4601-8B55-68E6FDE9D4A7}">
      <dgm:prSet/>
      <dgm:spPr/>
      <dgm:t>
        <a:bodyPr/>
        <a:lstStyle/>
        <a:p>
          <a:endParaRPr lang="en-US"/>
        </a:p>
      </dgm:t>
    </dgm:pt>
    <dgm:pt modelId="{D2974EC9-2F8F-45D9-924F-CF171E1C7065}">
      <dgm:prSet/>
      <dgm:spPr/>
      <dgm:t>
        <a:bodyPr/>
        <a:lstStyle/>
        <a:p>
          <a:r>
            <a:rPr lang="en-US" dirty="0"/>
            <a:t>Retrieve Assignments from MEM</a:t>
          </a:r>
        </a:p>
      </dgm:t>
    </dgm:pt>
    <dgm:pt modelId="{3742B135-DE58-42DF-AAD9-3882E6096048}" type="parTrans" cxnId="{30362BA3-66BA-4655-AB4B-A30ADC24205A}">
      <dgm:prSet/>
      <dgm:spPr/>
      <dgm:t>
        <a:bodyPr/>
        <a:lstStyle/>
        <a:p>
          <a:endParaRPr lang="en-US"/>
        </a:p>
      </dgm:t>
    </dgm:pt>
    <dgm:pt modelId="{F99F8992-8302-4DA0-A9CC-E8D98480AE5E}" type="sibTrans" cxnId="{30362BA3-66BA-4655-AB4B-A30ADC24205A}">
      <dgm:prSet/>
      <dgm:spPr/>
      <dgm:t>
        <a:bodyPr/>
        <a:lstStyle/>
        <a:p>
          <a:endParaRPr lang="en-US"/>
        </a:p>
      </dgm:t>
    </dgm:pt>
    <dgm:pt modelId="{CA40AD27-B4AB-4440-8055-E6C2B957B0A7}">
      <dgm:prSet/>
      <dgm:spPr/>
      <dgm:t>
        <a:bodyPr/>
        <a:lstStyle/>
        <a:p>
          <a:r>
            <a:rPr lang="en-US" dirty="0"/>
            <a:t>Assign Remaining Events</a:t>
          </a:r>
        </a:p>
      </dgm:t>
    </dgm:pt>
    <dgm:pt modelId="{A49DDC84-388D-4833-9CF5-264A1879B494}" type="parTrans" cxnId="{2064517A-7F5B-4232-B8F5-6263BF7E8F6E}">
      <dgm:prSet/>
      <dgm:spPr/>
      <dgm:t>
        <a:bodyPr/>
        <a:lstStyle/>
        <a:p>
          <a:endParaRPr lang="en-US"/>
        </a:p>
      </dgm:t>
    </dgm:pt>
    <dgm:pt modelId="{138FC39A-61C2-4453-A808-B6389871A580}" type="sibTrans" cxnId="{2064517A-7F5B-4232-B8F5-6263BF7E8F6E}">
      <dgm:prSet/>
      <dgm:spPr/>
      <dgm:t>
        <a:bodyPr/>
        <a:lstStyle/>
        <a:p>
          <a:endParaRPr lang="en-US"/>
        </a:p>
      </dgm:t>
    </dgm:pt>
    <dgm:pt modelId="{5027EF43-3296-4CF7-947C-C9DD77E84937}">
      <dgm:prSet/>
      <dgm:spPr/>
      <dgm:t>
        <a:bodyPr/>
        <a:lstStyle/>
        <a:p>
          <a:r>
            <a:rPr lang="en-US" dirty="0"/>
            <a:t>Generate Child</a:t>
          </a:r>
        </a:p>
      </dgm:t>
    </dgm:pt>
    <dgm:pt modelId="{F122AC02-93A2-40C2-BDF6-4F80BAF529F3}" type="parTrans" cxnId="{3A9F4572-8D72-4204-829C-44978724AEAF}">
      <dgm:prSet/>
      <dgm:spPr/>
      <dgm:t>
        <a:bodyPr/>
        <a:lstStyle/>
        <a:p>
          <a:endParaRPr lang="en-US"/>
        </a:p>
      </dgm:t>
    </dgm:pt>
    <dgm:pt modelId="{B3E0AEAA-4477-4D96-B2EF-44379D44F869}" type="sibTrans" cxnId="{3A9F4572-8D72-4204-829C-44978724AEAF}">
      <dgm:prSet/>
      <dgm:spPr/>
      <dgm:t>
        <a:bodyPr/>
        <a:lstStyle/>
        <a:p>
          <a:endParaRPr lang="en-US"/>
        </a:p>
      </dgm:t>
    </dgm:pt>
    <dgm:pt modelId="{AD7E06F9-B516-4378-A55C-87107F4A1A56}" type="pres">
      <dgm:prSet presAssocID="{4224F89A-5900-4048-8DF7-38063BB94692}" presName="hierChild1" presStyleCnt="0">
        <dgm:presLayoutVars>
          <dgm:chPref val="1"/>
          <dgm:dir/>
          <dgm:animOne val="branch"/>
          <dgm:animLvl val="lvl"/>
          <dgm:resizeHandles/>
        </dgm:presLayoutVars>
      </dgm:prSet>
      <dgm:spPr/>
    </dgm:pt>
    <dgm:pt modelId="{C1526DB5-8E09-4F28-AB33-B8AFFC2BADFE}" type="pres">
      <dgm:prSet presAssocID="{9142BF92-D25E-4C24-B538-6C9BED2CC61A}" presName="hierRoot1" presStyleCnt="0"/>
      <dgm:spPr/>
    </dgm:pt>
    <dgm:pt modelId="{010B6A4A-C6E5-4DE8-B92B-4098BC65B207}" type="pres">
      <dgm:prSet presAssocID="{9142BF92-D25E-4C24-B538-6C9BED2CC61A}" presName="composite" presStyleCnt="0"/>
      <dgm:spPr/>
    </dgm:pt>
    <dgm:pt modelId="{5759A74F-28CA-4CED-8616-B74E3589AE0E}" type="pres">
      <dgm:prSet presAssocID="{9142BF92-D25E-4C24-B538-6C9BED2CC61A}" presName="background" presStyleLbl="node0" presStyleIdx="0" presStyleCnt="5"/>
      <dgm:spPr/>
    </dgm:pt>
    <dgm:pt modelId="{965D2E61-8E5A-41A6-AC1F-A369E7FB579A}" type="pres">
      <dgm:prSet presAssocID="{9142BF92-D25E-4C24-B538-6C9BED2CC61A}" presName="text" presStyleLbl="fgAcc0" presStyleIdx="0" presStyleCnt="5">
        <dgm:presLayoutVars>
          <dgm:chPref val="3"/>
        </dgm:presLayoutVars>
      </dgm:prSet>
      <dgm:spPr/>
    </dgm:pt>
    <dgm:pt modelId="{37D2DBAB-E7D8-4455-B028-4A61386272C7}" type="pres">
      <dgm:prSet presAssocID="{9142BF92-D25E-4C24-B538-6C9BED2CC61A}" presName="hierChild2" presStyleCnt="0"/>
      <dgm:spPr/>
    </dgm:pt>
    <dgm:pt modelId="{3D2E5882-B353-4FAF-88F9-517538F4A05D}" type="pres">
      <dgm:prSet presAssocID="{B835F6E2-CD3E-4B5E-A2E0-3195C96EAEB0}" presName="hierRoot1" presStyleCnt="0"/>
      <dgm:spPr/>
    </dgm:pt>
    <dgm:pt modelId="{6F058B26-545E-48D0-B71C-23CF8733440D}" type="pres">
      <dgm:prSet presAssocID="{B835F6E2-CD3E-4B5E-A2E0-3195C96EAEB0}" presName="composite" presStyleCnt="0"/>
      <dgm:spPr/>
    </dgm:pt>
    <dgm:pt modelId="{8437FAE8-8817-4EA7-894B-357317527742}" type="pres">
      <dgm:prSet presAssocID="{B835F6E2-CD3E-4B5E-A2E0-3195C96EAEB0}" presName="background" presStyleLbl="node0" presStyleIdx="1" presStyleCnt="5"/>
      <dgm:spPr/>
    </dgm:pt>
    <dgm:pt modelId="{527B9F4B-30D1-4A26-80EC-90F0138B8378}" type="pres">
      <dgm:prSet presAssocID="{B835F6E2-CD3E-4B5E-A2E0-3195C96EAEB0}" presName="text" presStyleLbl="fgAcc0" presStyleIdx="1" presStyleCnt="5">
        <dgm:presLayoutVars>
          <dgm:chPref val="3"/>
        </dgm:presLayoutVars>
      </dgm:prSet>
      <dgm:spPr/>
    </dgm:pt>
    <dgm:pt modelId="{1D440996-BAF4-4972-9336-9F8D1DB92D35}" type="pres">
      <dgm:prSet presAssocID="{B835F6E2-CD3E-4B5E-A2E0-3195C96EAEB0}" presName="hierChild2" presStyleCnt="0"/>
      <dgm:spPr/>
    </dgm:pt>
    <dgm:pt modelId="{9D7B189F-59DF-4D2E-AA5F-64DF67D4C645}" type="pres">
      <dgm:prSet presAssocID="{D2974EC9-2F8F-45D9-924F-CF171E1C7065}" presName="hierRoot1" presStyleCnt="0"/>
      <dgm:spPr/>
    </dgm:pt>
    <dgm:pt modelId="{5EF13875-5E47-4A1F-A3BA-528B3362676D}" type="pres">
      <dgm:prSet presAssocID="{D2974EC9-2F8F-45D9-924F-CF171E1C7065}" presName="composite" presStyleCnt="0"/>
      <dgm:spPr/>
    </dgm:pt>
    <dgm:pt modelId="{63A53F45-F128-4EBB-9D19-28CDBE4EFE1C}" type="pres">
      <dgm:prSet presAssocID="{D2974EC9-2F8F-45D9-924F-CF171E1C7065}" presName="background" presStyleLbl="node0" presStyleIdx="2" presStyleCnt="5"/>
      <dgm:spPr/>
    </dgm:pt>
    <dgm:pt modelId="{9A3AEC63-7646-45CC-9B1F-5BC0B38B3ECB}" type="pres">
      <dgm:prSet presAssocID="{D2974EC9-2F8F-45D9-924F-CF171E1C7065}" presName="text" presStyleLbl="fgAcc0" presStyleIdx="2" presStyleCnt="5">
        <dgm:presLayoutVars>
          <dgm:chPref val="3"/>
        </dgm:presLayoutVars>
      </dgm:prSet>
      <dgm:spPr/>
    </dgm:pt>
    <dgm:pt modelId="{FFB7FB62-29EF-428B-B761-36A30F2AFC0B}" type="pres">
      <dgm:prSet presAssocID="{D2974EC9-2F8F-45D9-924F-CF171E1C7065}" presName="hierChild2" presStyleCnt="0"/>
      <dgm:spPr/>
    </dgm:pt>
    <dgm:pt modelId="{41B0F36E-D554-426A-8BE4-BE03841820E9}" type="pres">
      <dgm:prSet presAssocID="{CA40AD27-B4AB-4440-8055-E6C2B957B0A7}" presName="hierRoot1" presStyleCnt="0"/>
      <dgm:spPr/>
    </dgm:pt>
    <dgm:pt modelId="{8C406FF2-DD66-42B6-8A65-B1A2CBBD384B}" type="pres">
      <dgm:prSet presAssocID="{CA40AD27-B4AB-4440-8055-E6C2B957B0A7}" presName="composite" presStyleCnt="0"/>
      <dgm:spPr/>
    </dgm:pt>
    <dgm:pt modelId="{C27CBE20-6B38-4ABA-B75D-D46FD466A922}" type="pres">
      <dgm:prSet presAssocID="{CA40AD27-B4AB-4440-8055-E6C2B957B0A7}" presName="background" presStyleLbl="node0" presStyleIdx="3" presStyleCnt="5"/>
      <dgm:spPr/>
    </dgm:pt>
    <dgm:pt modelId="{B8397958-2507-4288-87C7-85CA608ADA96}" type="pres">
      <dgm:prSet presAssocID="{CA40AD27-B4AB-4440-8055-E6C2B957B0A7}" presName="text" presStyleLbl="fgAcc0" presStyleIdx="3" presStyleCnt="5">
        <dgm:presLayoutVars>
          <dgm:chPref val="3"/>
        </dgm:presLayoutVars>
      </dgm:prSet>
      <dgm:spPr/>
    </dgm:pt>
    <dgm:pt modelId="{7F4EE13A-45F7-4E21-BD15-E73B151D9BFB}" type="pres">
      <dgm:prSet presAssocID="{CA40AD27-B4AB-4440-8055-E6C2B957B0A7}" presName="hierChild2" presStyleCnt="0"/>
      <dgm:spPr/>
    </dgm:pt>
    <dgm:pt modelId="{8A743031-2CF5-40FB-84F1-3022E418C988}" type="pres">
      <dgm:prSet presAssocID="{5027EF43-3296-4CF7-947C-C9DD77E84937}" presName="hierRoot1" presStyleCnt="0"/>
      <dgm:spPr/>
    </dgm:pt>
    <dgm:pt modelId="{1F84AECE-F56D-433A-A208-D7BEC5CDD2DD}" type="pres">
      <dgm:prSet presAssocID="{5027EF43-3296-4CF7-947C-C9DD77E84937}" presName="composite" presStyleCnt="0"/>
      <dgm:spPr/>
    </dgm:pt>
    <dgm:pt modelId="{54FD7A6D-B4A2-4080-83B6-E68B8E212396}" type="pres">
      <dgm:prSet presAssocID="{5027EF43-3296-4CF7-947C-C9DD77E84937}" presName="background" presStyleLbl="node0" presStyleIdx="4" presStyleCnt="5"/>
      <dgm:spPr/>
    </dgm:pt>
    <dgm:pt modelId="{47011F13-F561-4CB0-BA8E-870A18D9EB98}" type="pres">
      <dgm:prSet presAssocID="{5027EF43-3296-4CF7-947C-C9DD77E84937}" presName="text" presStyleLbl="fgAcc0" presStyleIdx="4" presStyleCnt="5">
        <dgm:presLayoutVars>
          <dgm:chPref val="3"/>
        </dgm:presLayoutVars>
      </dgm:prSet>
      <dgm:spPr/>
    </dgm:pt>
    <dgm:pt modelId="{8BCDCE49-2C28-429B-A1AC-9760CBAC020C}" type="pres">
      <dgm:prSet presAssocID="{5027EF43-3296-4CF7-947C-C9DD77E84937}" presName="hierChild2" presStyleCnt="0"/>
      <dgm:spPr/>
    </dgm:pt>
  </dgm:ptLst>
  <dgm:cxnLst>
    <dgm:cxn modelId="{72C3A72D-5399-44A5-8DC7-88FF08BECE05}" type="presOf" srcId="{CA40AD27-B4AB-4440-8055-E6C2B957B0A7}" destId="{B8397958-2507-4288-87C7-85CA608ADA96}" srcOrd="0" destOrd="0" presId="urn:microsoft.com/office/officeart/2005/8/layout/hierarchy1"/>
    <dgm:cxn modelId="{B986F838-FAB0-4601-8B55-68E6FDE9D4A7}" srcId="{4224F89A-5900-4048-8DF7-38063BB94692}" destId="{B835F6E2-CD3E-4B5E-A2E0-3195C96EAEB0}" srcOrd="1" destOrd="0" parTransId="{D94856D5-C027-4323-B86D-9BC4CC57736E}" sibTransId="{99FE3A14-608C-462C-ABD5-7C568ED8B929}"/>
    <dgm:cxn modelId="{3A9F4572-8D72-4204-829C-44978724AEAF}" srcId="{4224F89A-5900-4048-8DF7-38063BB94692}" destId="{5027EF43-3296-4CF7-947C-C9DD77E84937}" srcOrd="4" destOrd="0" parTransId="{F122AC02-93A2-40C2-BDF6-4F80BAF529F3}" sibTransId="{B3E0AEAA-4477-4D96-B2EF-44379D44F869}"/>
    <dgm:cxn modelId="{3C27B276-C223-40DA-AB84-F92CF7E0595C}" type="presOf" srcId="{D2974EC9-2F8F-45D9-924F-CF171E1C7065}" destId="{9A3AEC63-7646-45CC-9B1F-5BC0B38B3ECB}" srcOrd="0" destOrd="0" presId="urn:microsoft.com/office/officeart/2005/8/layout/hierarchy1"/>
    <dgm:cxn modelId="{2064517A-7F5B-4232-B8F5-6263BF7E8F6E}" srcId="{4224F89A-5900-4048-8DF7-38063BB94692}" destId="{CA40AD27-B4AB-4440-8055-E6C2B957B0A7}" srcOrd="3" destOrd="0" parTransId="{A49DDC84-388D-4833-9CF5-264A1879B494}" sibTransId="{138FC39A-61C2-4453-A808-B6389871A580}"/>
    <dgm:cxn modelId="{8D8A0983-C143-4076-BE46-73344844E792}" type="presOf" srcId="{5027EF43-3296-4CF7-947C-C9DD77E84937}" destId="{47011F13-F561-4CB0-BA8E-870A18D9EB98}" srcOrd="0" destOrd="0" presId="urn:microsoft.com/office/officeart/2005/8/layout/hierarchy1"/>
    <dgm:cxn modelId="{30362BA3-66BA-4655-AB4B-A30ADC24205A}" srcId="{4224F89A-5900-4048-8DF7-38063BB94692}" destId="{D2974EC9-2F8F-45D9-924F-CF171E1C7065}" srcOrd="2" destOrd="0" parTransId="{3742B135-DE58-42DF-AAD9-3882E6096048}" sibTransId="{F99F8992-8302-4DA0-A9CC-E8D98480AE5E}"/>
    <dgm:cxn modelId="{6207CEBD-A5AE-4DC6-BCA8-5CE2F9729881}" type="presOf" srcId="{4224F89A-5900-4048-8DF7-38063BB94692}" destId="{AD7E06F9-B516-4378-A55C-87107F4A1A56}" srcOrd="0" destOrd="0" presId="urn:microsoft.com/office/officeart/2005/8/layout/hierarchy1"/>
    <dgm:cxn modelId="{39E55CC6-5283-4611-AF3B-7582E543B8E3}" type="presOf" srcId="{B835F6E2-CD3E-4B5E-A2E0-3195C96EAEB0}" destId="{527B9F4B-30D1-4A26-80EC-90F0138B8378}" srcOrd="0" destOrd="0" presId="urn:microsoft.com/office/officeart/2005/8/layout/hierarchy1"/>
    <dgm:cxn modelId="{3E9C9ACC-F044-44AB-B8A3-071CD268727B}" srcId="{4224F89A-5900-4048-8DF7-38063BB94692}" destId="{9142BF92-D25E-4C24-B538-6C9BED2CC61A}" srcOrd="0" destOrd="0" parTransId="{2646E2E0-F0D0-4101-85C7-71B9D648CC0F}" sibTransId="{F29FBF25-022F-4D98-9BBD-A29B55BC7B02}"/>
    <dgm:cxn modelId="{2C53BFDA-DFEB-4844-AF81-EF90E6CC7EB5}" type="presOf" srcId="{9142BF92-D25E-4C24-B538-6C9BED2CC61A}" destId="{965D2E61-8E5A-41A6-AC1F-A369E7FB579A}" srcOrd="0" destOrd="0" presId="urn:microsoft.com/office/officeart/2005/8/layout/hierarchy1"/>
    <dgm:cxn modelId="{9EB1C2C6-8B43-409F-9768-C1C42E0DB114}" type="presParOf" srcId="{AD7E06F9-B516-4378-A55C-87107F4A1A56}" destId="{C1526DB5-8E09-4F28-AB33-B8AFFC2BADFE}" srcOrd="0" destOrd="0" presId="urn:microsoft.com/office/officeart/2005/8/layout/hierarchy1"/>
    <dgm:cxn modelId="{BE13DE35-C143-4869-982F-C9F61B289FD1}" type="presParOf" srcId="{C1526DB5-8E09-4F28-AB33-B8AFFC2BADFE}" destId="{010B6A4A-C6E5-4DE8-B92B-4098BC65B207}" srcOrd="0" destOrd="0" presId="urn:microsoft.com/office/officeart/2005/8/layout/hierarchy1"/>
    <dgm:cxn modelId="{5F018470-2124-41E6-BEE2-DAF3620F3D8A}" type="presParOf" srcId="{010B6A4A-C6E5-4DE8-B92B-4098BC65B207}" destId="{5759A74F-28CA-4CED-8616-B74E3589AE0E}" srcOrd="0" destOrd="0" presId="urn:microsoft.com/office/officeart/2005/8/layout/hierarchy1"/>
    <dgm:cxn modelId="{6F064392-F2E8-4619-980E-B3D5F864D69E}" type="presParOf" srcId="{010B6A4A-C6E5-4DE8-B92B-4098BC65B207}" destId="{965D2E61-8E5A-41A6-AC1F-A369E7FB579A}" srcOrd="1" destOrd="0" presId="urn:microsoft.com/office/officeart/2005/8/layout/hierarchy1"/>
    <dgm:cxn modelId="{ADC68622-69D8-49F1-9C5B-2D1432F92F4C}" type="presParOf" srcId="{C1526DB5-8E09-4F28-AB33-B8AFFC2BADFE}" destId="{37D2DBAB-E7D8-4455-B028-4A61386272C7}" srcOrd="1" destOrd="0" presId="urn:microsoft.com/office/officeart/2005/8/layout/hierarchy1"/>
    <dgm:cxn modelId="{8FBE5E84-9AC8-42F5-9E70-CA594B1218A1}" type="presParOf" srcId="{AD7E06F9-B516-4378-A55C-87107F4A1A56}" destId="{3D2E5882-B353-4FAF-88F9-517538F4A05D}" srcOrd="1" destOrd="0" presId="urn:microsoft.com/office/officeart/2005/8/layout/hierarchy1"/>
    <dgm:cxn modelId="{9C605E45-23CD-442D-988B-77E34498B756}" type="presParOf" srcId="{3D2E5882-B353-4FAF-88F9-517538F4A05D}" destId="{6F058B26-545E-48D0-B71C-23CF8733440D}" srcOrd="0" destOrd="0" presId="urn:microsoft.com/office/officeart/2005/8/layout/hierarchy1"/>
    <dgm:cxn modelId="{14F71394-86A4-4DAB-95EF-D8E2A96C8B8D}" type="presParOf" srcId="{6F058B26-545E-48D0-B71C-23CF8733440D}" destId="{8437FAE8-8817-4EA7-894B-357317527742}" srcOrd="0" destOrd="0" presId="urn:microsoft.com/office/officeart/2005/8/layout/hierarchy1"/>
    <dgm:cxn modelId="{B1B8C934-F241-4EB9-97F2-465D1B5B2286}" type="presParOf" srcId="{6F058B26-545E-48D0-B71C-23CF8733440D}" destId="{527B9F4B-30D1-4A26-80EC-90F0138B8378}" srcOrd="1" destOrd="0" presId="urn:microsoft.com/office/officeart/2005/8/layout/hierarchy1"/>
    <dgm:cxn modelId="{EFFC0132-9E12-4394-987B-541D6820BB10}" type="presParOf" srcId="{3D2E5882-B353-4FAF-88F9-517538F4A05D}" destId="{1D440996-BAF4-4972-9336-9F8D1DB92D35}" srcOrd="1" destOrd="0" presId="urn:microsoft.com/office/officeart/2005/8/layout/hierarchy1"/>
    <dgm:cxn modelId="{221215F5-F933-4C4A-901C-93C005AD316E}" type="presParOf" srcId="{AD7E06F9-B516-4378-A55C-87107F4A1A56}" destId="{9D7B189F-59DF-4D2E-AA5F-64DF67D4C645}" srcOrd="2" destOrd="0" presId="urn:microsoft.com/office/officeart/2005/8/layout/hierarchy1"/>
    <dgm:cxn modelId="{698D56F5-FEF0-41D2-BCBF-665D115EB79A}" type="presParOf" srcId="{9D7B189F-59DF-4D2E-AA5F-64DF67D4C645}" destId="{5EF13875-5E47-4A1F-A3BA-528B3362676D}" srcOrd="0" destOrd="0" presId="urn:microsoft.com/office/officeart/2005/8/layout/hierarchy1"/>
    <dgm:cxn modelId="{AFD8538C-A8AD-405F-8278-DC565073C117}" type="presParOf" srcId="{5EF13875-5E47-4A1F-A3BA-528B3362676D}" destId="{63A53F45-F128-4EBB-9D19-28CDBE4EFE1C}" srcOrd="0" destOrd="0" presId="urn:microsoft.com/office/officeart/2005/8/layout/hierarchy1"/>
    <dgm:cxn modelId="{39A5081E-13CA-4203-A139-4A184FDD4D51}" type="presParOf" srcId="{5EF13875-5E47-4A1F-A3BA-528B3362676D}" destId="{9A3AEC63-7646-45CC-9B1F-5BC0B38B3ECB}" srcOrd="1" destOrd="0" presId="urn:microsoft.com/office/officeart/2005/8/layout/hierarchy1"/>
    <dgm:cxn modelId="{1E2DCD96-76F2-4057-B21A-3637FA9A69EC}" type="presParOf" srcId="{9D7B189F-59DF-4D2E-AA5F-64DF67D4C645}" destId="{FFB7FB62-29EF-428B-B761-36A30F2AFC0B}" srcOrd="1" destOrd="0" presId="urn:microsoft.com/office/officeart/2005/8/layout/hierarchy1"/>
    <dgm:cxn modelId="{D7664E45-4E68-4BB1-861A-B9A8C9668FE9}" type="presParOf" srcId="{AD7E06F9-B516-4378-A55C-87107F4A1A56}" destId="{41B0F36E-D554-426A-8BE4-BE03841820E9}" srcOrd="3" destOrd="0" presId="urn:microsoft.com/office/officeart/2005/8/layout/hierarchy1"/>
    <dgm:cxn modelId="{E3E67DAE-EA02-4FBF-B3A0-2C41B0968A86}" type="presParOf" srcId="{41B0F36E-D554-426A-8BE4-BE03841820E9}" destId="{8C406FF2-DD66-42B6-8A65-B1A2CBBD384B}" srcOrd="0" destOrd="0" presId="urn:microsoft.com/office/officeart/2005/8/layout/hierarchy1"/>
    <dgm:cxn modelId="{589060A7-556C-4206-A0C7-FBFE3A6A0318}" type="presParOf" srcId="{8C406FF2-DD66-42B6-8A65-B1A2CBBD384B}" destId="{C27CBE20-6B38-4ABA-B75D-D46FD466A922}" srcOrd="0" destOrd="0" presId="urn:microsoft.com/office/officeart/2005/8/layout/hierarchy1"/>
    <dgm:cxn modelId="{F884529D-1B31-4EFF-A923-D7C6AE8C0F5D}" type="presParOf" srcId="{8C406FF2-DD66-42B6-8A65-B1A2CBBD384B}" destId="{B8397958-2507-4288-87C7-85CA608ADA96}" srcOrd="1" destOrd="0" presId="urn:microsoft.com/office/officeart/2005/8/layout/hierarchy1"/>
    <dgm:cxn modelId="{1EEB2096-1C43-45C2-8D49-0BA6718E028B}" type="presParOf" srcId="{41B0F36E-D554-426A-8BE4-BE03841820E9}" destId="{7F4EE13A-45F7-4E21-BD15-E73B151D9BFB}" srcOrd="1" destOrd="0" presId="urn:microsoft.com/office/officeart/2005/8/layout/hierarchy1"/>
    <dgm:cxn modelId="{1BCAB3BD-1175-41FD-865A-49676D6F9139}" type="presParOf" srcId="{AD7E06F9-B516-4378-A55C-87107F4A1A56}" destId="{8A743031-2CF5-40FB-84F1-3022E418C988}" srcOrd="4" destOrd="0" presId="urn:microsoft.com/office/officeart/2005/8/layout/hierarchy1"/>
    <dgm:cxn modelId="{34D11881-5D88-41FB-959E-D1EB7351E8F4}" type="presParOf" srcId="{8A743031-2CF5-40FB-84F1-3022E418C988}" destId="{1F84AECE-F56D-433A-A208-D7BEC5CDD2DD}" srcOrd="0" destOrd="0" presId="urn:microsoft.com/office/officeart/2005/8/layout/hierarchy1"/>
    <dgm:cxn modelId="{BE61F2BC-F47D-4568-8F0E-D9BC7462016B}" type="presParOf" srcId="{1F84AECE-F56D-433A-A208-D7BEC5CDD2DD}" destId="{54FD7A6D-B4A2-4080-83B6-E68B8E212396}" srcOrd="0" destOrd="0" presId="urn:microsoft.com/office/officeart/2005/8/layout/hierarchy1"/>
    <dgm:cxn modelId="{6717A63F-E4C7-4713-9ED7-19CC3F6A08C8}" type="presParOf" srcId="{1F84AECE-F56D-433A-A208-D7BEC5CDD2DD}" destId="{47011F13-F561-4CB0-BA8E-870A18D9EB98}" srcOrd="1" destOrd="0" presId="urn:microsoft.com/office/officeart/2005/8/layout/hierarchy1"/>
    <dgm:cxn modelId="{C7D9BEAC-1BBD-4205-B322-FBB898261915}" type="presParOf" srcId="{8A743031-2CF5-40FB-84F1-3022E418C988}" destId="{8BCDCE49-2C28-429B-A1AC-9760CBAC020C}"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0149586-BBFE-4DD9-84D1-5CF6E814F4C1}" type="doc">
      <dgm:prSet loTypeId="urn:microsoft.com/office/officeart/2005/8/layout/cycle3" loCatId="cycle" qsTypeId="urn:microsoft.com/office/officeart/2005/8/quickstyle/simple1" qsCatId="simple" csTypeId="urn:microsoft.com/office/officeart/2005/8/colors/accent1_2" csCatId="accent1"/>
      <dgm:spPr/>
      <dgm:t>
        <a:bodyPr/>
        <a:lstStyle/>
        <a:p>
          <a:endParaRPr lang="en-US"/>
        </a:p>
      </dgm:t>
    </dgm:pt>
    <dgm:pt modelId="{8BFB7E59-DC60-424F-A55F-762A34774A49}">
      <dgm:prSet/>
      <dgm:spPr/>
      <dgm:t>
        <a:bodyPr/>
        <a:lstStyle/>
        <a:p>
          <a:r>
            <a:rPr lang="en-US" b="1" dirty="0"/>
            <a:t>Current Solution</a:t>
          </a:r>
          <a:endParaRPr lang="en-US" dirty="0"/>
        </a:p>
      </dgm:t>
    </dgm:pt>
    <dgm:pt modelId="{1AEFF22D-9302-4527-A7ED-32637643B058}" type="parTrans" cxnId="{9E1DE8B7-B168-41BD-B4A6-CAC5DEAE277D}">
      <dgm:prSet/>
      <dgm:spPr/>
      <dgm:t>
        <a:bodyPr/>
        <a:lstStyle/>
        <a:p>
          <a:endParaRPr lang="en-US"/>
        </a:p>
      </dgm:t>
    </dgm:pt>
    <dgm:pt modelId="{145ADC91-185F-4768-822E-210D1FFDC352}" type="sibTrans" cxnId="{9E1DE8B7-B168-41BD-B4A6-CAC5DEAE277D}">
      <dgm:prSet/>
      <dgm:spPr/>
      <dgm:t>
        <a:bodyPr/>
        <a:lstStyle/>
        <a:p>
          <a:endParaRPr lang="en-US"/>
        </a:p>
      </dgm:t>
    </dgm:pt>
    <dgm:pt modelId="{937BC826-20E4-459F-B396-904E79272C2E}">
      <dgm:prSet/>
      <dgm:spPr/>
      <dgm:t>
        <a:bodyPr/>
        <a:lstStyle/>
        <a:p>
          <a:r>
            <a:rPr lang="en-US" b="1" dirty="0"/>
            <a:t>Generate Neighbors</a:t>
          </a:r>
          <a:endParaRPr lang="en-US" dirty="0"/>
        </a:p>
      </dgm:t>
    </dgm:pt>
    <dgm:pt modelId="{48854C3E-96F8-48F2-9181-9D908B4D449B}" type="parTrans" cxnId="{2EA29F07-BB86-4907-A599-70C7AAA2F05B}">
      <dgm:prSet/>
      <dgm:spPr/>
      <dgm:t>
        <a:bodyPr/>
        <a:lstStyle/>
        <a:p>
          <a:endParaRPr lang="en-US"/>
        </a:p>
      </dgm:t>
    </dgm:pt>
    <dgm:pt modelId="{F2BC0BAB-3237-4DB3-B522-3EC8227B70AA}" type="sibTrans" cxnId="{2EA29F07-BB86-4907-A599-70C7AAA2F05B}">
      <dgm:prSet/>
      <dgm:spPr/>
      <dgm:t>
        <a:bodyPr/>
        <a:lstStyle/>
        <a:p>
          <a:endParaRPr lang="en-US"/>
        </a:p>
      </dgm:t>
    </dgm:pt>
    <dgm:pt modelId="{09001CAE-C4FF-4E31-9F38-28689C72203F}">
      <dgm:prSet/>
      <dgm:spPr/>
      <dgm:t>
        <a:bodyPr/>
        <a:lstStyle/>
        <a:p>
          <a:r>
            <a:rPr lang="en-US" b="1"/>
            <a:t>Evaluate Fitness</a:t>
          </a:r>
          <a:endParaRPr lang="en-US"/>
        </a:p>
      </dgm:t>
    </dgm:pt>
    <dgm:pt modelId="{E6B707A4-F6CC-4F24-A77F-B2249BE82DF7}" type="parTrans" cxnId="{642724DC-3D73-4ADB-88AB-84881E41DB14}">
      <dgm:prSet/>
      <dgm:spPr/>
      <dgm:t>
        <a:bodyPr/>
        <a:lstStyle/>
        <a:p>
          <a:endParaRPr lang="en-US"/>
        </a:p>
      </dgm:t>
    </dgm:pt>
    <dgm:pt modelId="{95933B45-2ADD-433B-9BE2-B19B7DE9640C}" type="sibTrans" cxnId="{642724DC-3D73-4ADB-88AB-84881E41DB14}">
      <dgm:prSet/>
      <dgm:spPr/>
      <dgm:t>
        <a:bodyPr/>
        <a:lstStyle/>
        <a:p>
          <a:endParaRPr lang="en-US"/>
        </a:p>
      </dgm:t>
    </dgm:pt>
    <dgm:pt modelId="{E8896915-1565-4FF0-A7CC-088518F91813}">
      <dgm:prSet/>
      <dgm:spPr/>
      <dgm:t>
        <a:bodyPr/>
        <a:lstStyle/>
        <a:p>
          <a:r>
            <a:rPr lang="en-US" b="1"/>
            <a:t>Best Non-Tabu Move</a:t>
          </a:r>
          <a:endParaRPr lang="en-US"/>
        </a:p>
      </dgm:t>
    </dgm:pt>
    <dgm:pt modelId="{0CBA7208-0398-44B7-A196-A3A0930F761F}" type="parTrans" cxnId="{D97BAF6C-EC47-451C-A01C-9692652552D6}">
      <dgm:prSet/>
      <dgm:spPr/>
      <dgm:t>
        <a:bodyPr/>
        <a:lstStyle/>
        <a:p>
          <a:endParaRPr lang="en-US"/>
        </a:p>
      </dgm:t>
    </dgm:pt>
    <dgm:pt modelId="{8EDE0B28-60D5-4046-BA31-24A720F1C082}" type="sibTrans" cxnId="{D97BAF6C-EC47-451C-A01C-9692652552D6}">
      <dgm:prSet/>
      <dgm:spPr/>
      <dgm:t>
        <a:bodyPr/>
        <a:lstStyle/>
        <a:p>
          <a:endParaRPr lang="en-US"/>
        </a:p>
      </dgm:t>
    </dgm:pt>
    <dgm:pt modelId="{4E46B529-CE79-426D-9DBB-904ED9E4FC61}">
      <dgm:prSet/>
      <dgm:spPr/>
      <dgm:t>
        <a:bodyPr/>
        <a:lstStyle/>
        <a:p>
          <a:r>
            <a:rPr lang="en-US" b="1"/>
            <a:t>Update Tabu List</a:t>
          </a:r>
          <a:endParaRPr lang="en-US"/>
        </a:p>
      </dgm:t>
    </dgm:pt>
    <dgm:pt modelId="{E1F6291A-A33E-44A0-8F5A-C8B04F4304E3}" type="parTrans" cxnId="{BDEC9A27-530D-4753-BA63-41D87ABB97F9}">
      <dgm:prSet/>
      <dgm:spPr/>
      <dgm:t>
        <a:bodyPr/>
        <a:lstStyle/>
        <a:p>
          <a:endParaRPr lang="en-US"/>
        </a:p>
      </dgm:t>
    </dgm:pt>
    <dgm:pt modelId="{395F159A-C4CC-4D04-AC8D-FA833B830EE8}" type="sibTrans" cxnId="{BDEC9A27-530D-4753-BA63-41D87ABB97F9}">
      <dgm:prSet/>
      <dgm:spPr/>
      <dgm:t>
        <a:bodyPr/>
        <a:lstStyle/>
        <a:p>
          <a:endParaRPr lang="en-US"/>
        </a:p>
      </dgm:t>
    </dgm:pt>
    <dgm:pt modelId="{A6C7B691-AA96-4B88-ACD2-189EFCD0C3CA}">
      <dgm:prSet/>
      <dgm:spPr/>
      <dgm:t>
        <a:bodyPr/>
        <a:lstStyle/>
        <a:p>
          <a:r>
            <a:rPr lang="en-US" b="1" dirty="0"/>
            <a:t>Repeat</a:t>
          </a:r>
          <a:endParaRPr lang="en-US" dirty="0"/>
        </a:p>
      </dgm:t>
    </dgm:pt>
    <dgm:pt modelId="{E26B37E2-E4DF-41BC-B79C-7FCC547EFCE9}" type="parTrans" cxnId="{1B96DDC0-95F4-430B-A8CB-442C3DD08CA3}">
      <dgm:prSet/>
      <dgm:spPr/>
      <dgm:t>
        <a:bodyPr/>
        <a:lstStyle/>
        <a:p>
          <a:endParaRPr lang="en-US"/>
        </a:p>
      </dgm:t>
    </dgm:pt>
    <dgm:pt modelId="{07B81D40-277A-4326-B641-BE16CB2BBAD7}" type="sibTrans" cxnId="{1B96DDC0-95F4-430B-A8CB-442C3DD08CA3}">
      <dgm:prSet/>
      <dgm:spPr/>
      <dgm:t>
        <a:bodyPr/>
        <a:lstStyle/>
        <a:p>
          <a:endParaRPr lang="en-US"/>
        </a:p>
      </dgm:t>
    </dgm:pt>
    <dgm:pt modelId="{F7B66647-F4AA-4749-AD08-86FDC4B16D17}" type="pres">
      <dgm:prSet presAssocID="{20149586-BBFE-4DD9-84D1-5CF6E814F4C1}" presName="Name0" presStyleCnt="0">
        <dgm:presLayoutVars>
          <dgm:dir/>
          <dgm:resizeHandles val="exact"/>
        </dgm:presLayoutVars>
      </dgm:prSet>
      <dgm:spPr/>
    </dgm:pt>
    <dgm:pt modelId="{7EF852B9-E619-429E-B287-0474FCFC568D}" type="pres">
      <dgm:prSet presAssocID="{20149586-BBFE-4DD9-84D1-5CF6E814F4C1}" presName="cycle" presStyleCnt="0"/>
      <dgm:spPr/>
    </dgm:pt>
    <dgm:pt modelId="{BDDA6753-F86B-4071-A85C-A8E931B3A844}" type="pres">
      <dgm:prSet presAssocID="{8BFB7E59-DC60-424F-A55F-762A34774A49}" presName="nodeFirstNode" presStyleLbl="node1" presStyleIdx="0" presStyleCnt="6">
        <dgm:presLayoutVars>
          <dgm:bulletEnabled val="1"/>
        </dgm:presLayoutVars>
      </dgm:prSet>
      <dgm:spPr/>
    </dgm:pt>
    <dgm:pt modelId="{91004412-B87A-4160-BF88-4D31E17E98DC}" type="pres">
      <dgm:prSet presAssocID="{145ADC91-185F-4768-822E-210D1FFDC352}" presName="sibTransFirstNode" presStyleLbl="bgShp" presStyleIdx="0" presStyleCnt="1"/>
      <dgm:spPr/>
    </dgm:pt>
    <dgm:pt modelId="{EB74EE82-B9D2-4FCF-8C97-E112C871A5E5}" type="pres">
      <dgm:prSet presAssocID="{937BC826-20E4-459F-B396-904E79272C2E}" presName="nodeFollowingNodes" presStyleLbl="node1" presStyleIdx="1" presStyleCnt="6">
        <dgm:presLayoutVars>
          <dgm:bulletEnabled val="1"/>
        </dgm:presLayoutVars>
      </dgm:prSet>
      <dgm:spPr/>
    </dgm:pt>
    <dgm:pt modelId="{614AA46A-847B-4F3F-9826-EF84022B7D6F}" type="pres">
      <dgm:prSet presAssocID="{09001CAE-C4FF-4E31-9F38-28689C72203F}" presName="nodeFollowingNodes" presStyleLbl="node1" presStyleIdx="2" presStyleCnt="6">
        <dgm:presLayoutVars>
          <dgm:bulletEnabled val="1"/>
        </dgm:presLayoutVars>
      </dgm:prSet>
      <dgm:spPr/>
    </dgm:pt>
    <dgm:pt modelId="{25497634-1D47-4C65-B7CB-7D7FFBDFCA92}" type="pres">
      <dgm:prSet presAssocID="{E8896915-1565-4FF0-A7CC-088518F91813}" presName="nodeFollowingNodes" presStyleLbl="node1" presStyleIdx="3" presStyleCnt="6">
        <dgm:presLayoutVars>
          <dgm:bulletEnabled val="1"/>
        </dgm:presLayoutVars>
      </dgm:prSet>
      <dgm:spPr/>
    </dgm:pt>
    <dgm:pt modelId="{C9871D2E-E738-44CE-B222-2BE132C366DD}" type="pres">
      <dgm:prSet presAssocID="{4E46B529-CE79-426D-9DBB-904ED9E4FC61}" presName="nodeFollowingNodes" presStyleLbl="node1" presStyleIdx="4" presStyleCnt="6">
        <dgm:presLayoutVars>
          <dgm:bulletEnabled val="1"/>
        </dgm:presLayoutVars>
      </dgm:prSet>
      <dgm:spPr/>
    </dgm:pt>
    <dgm:pt modelId="{ED3B2247-7D50-408E-9969-5632CAE21D9C}" type="pres">
      <dgm:prSet presAssocID="{A6C7B691-AA96-4B88-ACD2-189EFCD0C3CA}" presName="nodeFollowingNodes" presStyleLbl="node1" presStyleIdx="5" presStyleCnt="6">
        <dgm:presLayoutVars>
          <dgm:bulletEnabled val="1"/>
        </dgm:presLayoutVars>
      </dgm:prSet>
      <dgm:spPr/>
    </dgm:pt>
  </dgm:ptLst>
  <dgm:cxnLst>
    <dgm:cxn modelId="{2EA29F07-BB86-4907-A599-70C7AAA2F05B}" srcId="{20149586-BBFE-4DD9-84D1-5CF6E814F4C1}" destId="{937BC826-20E4-459F-B396-904E79272C2E}" srcOrd="1" destOrd="0" parTransId="{48854C3E-96F8-48F2-9181-9D908B4D449B}" sibTransId="{F2BC0BAB-3237-4DB3-B522-3EC8227B70AA}"/>
    <dgm:cxn modelId="{BDEC9A27-530D-4753-BA63-41D87ABB97F9}" srcId="{20149586-BBFE-4DD9-84D1-5CF6E814F4C1}" destId="{4E46B529-CE79-426D-9DBB-904ED9E4FC61}" srcOrd="4" destOrd="0" parTransId="{E1F6291A-A33E-44A0-8F5A-C8B04F4304E3}" sibTransId="{395F159A-C4CC-4D04-AC8D-FA833B830EE8}"/>
    <dgm:cxn modelId="{B0A1B52E-1A95-4617-8145-6C9318C88740}" type="presOf" srcId="{09001CAE-C4FF-4E31-9F38-28689C72203F}" destId="{614AA46A-847B-4F3F-9826-EF84022B7D6F}" srcOrd="0" destOrd="0" presId="urn:microsoft.com/office/officeart/2005/8/layout/cycle3"/>
    <dgm:cxn modelId="{58055A3A-C844-4B58-9A87-85169CB4A0D8}" type="presOf" srcId="{A6C7B691-AA96-4B88-ACD2-189EFCD0C3CA}" destId="{ED3B2247-7D50-408E-9969-5632CAE21D9C}" srcOrd="0" destOrd="0" presId="urn:microsoft.com/office/officeart/2005/8/layout/cycle3"/>
    <dgm:cxn modelId="{CB9BF046-5E29-40A3-96FD-24AE654FF950}" type="presOf" srcId="{937BC826-20E4-459F-B396-904E79272C2E}" destId="{EB74EE82-B9D2-4FCF-8C97-E112C871A5E5}" srcOrd="0" destOrd="0" presId="urn:microsoft.com/office/officeart/2005/8/layout/cycle3"/>
    <dgm:cxn modelId="{D97BAF6C-EC47-451C-A01C-9692652552D6}" srcId="{20149586-BBFE-4DD9-84D1-5CF6E814F4C1}" destId="{E8896915-1565-4FF0-A7CC-088518F91813}" srcOrd="3" destOrd="0" parTransId="{0CBA7208-0398-44B7-A196-A3A0930F761F}" sibTransId="{8EDE0B28-60D5-4046-BA31-24A720F1C082}"/>
    <dgm:cxn modelId="{BF6EB798-4685-44F5-9C08-D8353BEE72ED}" type="presOf" srcId="{20149586-BBFE-4DD9-84D1-5CF6E814F4C1}" destId="{F7B66647-F4AA-4749-AD08-86FDC4B16D17}" srcOrd="0" destOrd="0" presId="urn:microsoft.com/office/officeart/2005/8/layout/cycle3"/>
    <dgm:cxn modelId="{3C124EA4-3301-4491-83A2-DDEB5ECB9E5A}" type="presOf" srcId="{E8896915-1565-4FF0-A7CC-088518F91813}" destId="{25497634-1D47-4C65-B7CB-7D7FFBDFCA92}" srcOrd="0" destOrd="0" presId="urn:microsoft.com/office/officeart/2005/8/layout/cycle3"/>
    <dgm:cxn modelId="{DD4F85AC-2C0D-47D3-B531-66286CFF1EF8}" type="presOf" srcId="{145ADC91-185F-4768-822E-210D1FFDC352}" destId="{91004412-B87A-4160-BF88-4D31E17E98DC}" srcOrd="0" destOrd="0" presId="urn:microsoft.com/office/officeart/2005/8/layout/cycle3"/>
    <dgm:cxn modelId="{9E1DE8B7-B168-41BD-B4A6-CAC5DEAE277D}" srcId="{20149586-BBFE-4DD9-84D1-5CF6E814F4C1}" destId="{8BFB7E59-DC60-424F-A55F-762A34774A49}" srcOrd="0" destOrd="0" parTransId="{1AEFF22D-9302-4527-A7ED-32637643B058}" sibTransId="{145ADC91-185F-4768-822E-210D1FFDC352}"/>
    <dgm:cxn modelId="{1B96DDC0-95F4-430B-A8CB-442C3DD08CA3}" srcId="{20149586-BBFE-4DD9-84D1-5CF6E814F4C1}" destId="{A6C7B691-AA96-4B88-ACD2-189EFCD0C3CA}" srcOrd="5" destOrd="0" parTransId="{E26B37E2-E4DF-41BC-B79C-7FCC547EFCE9}" sibTransId="{07B81D40-277A-4326-B641-BE16CB2BBAD7}"/>
    <dgm:cxn modelId="{6606EBC1-9595-4794-AB66-86BD73E38814}" type="presOf" srcId="{8BFB7E59-DC60-424F-A55F-762A34774A49}" destId="{BDDA6753-F86B-4071-A85C-A8E931B3A844}" srcOrd="0" destOrd="0" presId="urn:microsoft.com/office/officeart/2005/8/layout/cycle3"/>
    <dgm:cxn modelId="{642724DC-3D73-4ADB-88AB-84881E41DB14}" srcId="{20149586-BBFE-4DD9-84D1-5CF6E814F4C1}" destId="{09001CAE-C4FF-4E31-9F38-28689C72203F}" srcOrd="2" destOrd="0" parTransId="{E6B707A4-F6CC-4F24-A77F-B2249BE82DF7}" sibTransId="{95933B45-2ADD-433B-9BE2-B19B7DE9640C}"/>
    <dgm:cxn modelId="{520402EB-3E37-4B82-A6DD-42E07F5F044E}" type="presOf" srcId="{4E46B529-CE79-426D-9DBB-904ED9E4FC61}" destId="{C9871D2E-E738-44CE-B222-2BE132C366DD}" srcOrd="0" destOrd="0" presId="urn:microsoft.com/office/officeart/2005/8/layout/cycle3"/>
    <dgm:cxn modelId="{55CDF190-1D5A-4154-8EDF-754E3A754E7B}" type="presParOf" srcId="{F7B66647-F4AA-4749-AD08-86FDC4B16D17}" destId="{7EF852B9-E619-429E-B287-0474FCFC568D}" srcOrd="0" destOrd="0" presId="urn:microsoft.com/office/officeart/2005/8/layout/cycle3"/>
    <dgm:cxn modelId="{ADB51283-E05D-4755-BB84-DC967EB1E7DE}" type="presParOf" srcId="{7EF852B9-E619-429E-B287-0474FCFC568D}" destId="{BDDA6753-F86B-4071-A85C-A8E931B3A844}" srcOrd="0" destOrd="0" presId="urn:microsoft.com/office/officeart/2005/8/layout/cycle3"/>
    <dgm:cxn modelId="{19B93811-921C-41F8-8D1B-68584A139790}" type="presParOf" srcId="{7EF852B9-E619-429E-B287-0474FCFC568D}" destId="{91004412-B87A-4160-BF88-4D31E17E98DC}" srcOrd="1" destOrd="0" presId="urn:microsoft.com/office/officeart/2005/8/layout/cycle3"/>
    <dgm:cxn modelId="{ED18CA46-3844-43B3-A66B-7A2F65044734}" type="presParOf" srcId="{7EF852B9-E619-429E-B287-0474FCFC568D}" destId="{EB74EE82-B9D2-4FCF-8C97-E112C871A5E5}" srcOrd="2" destOrd="0" presId="urn:microsoft.com/office/officeart/2005/8/layout/cycle3"/>
    <dgm:cxn modelId="{CB7AA6AE-F24F-4DAD-92D4-F80E2F6C21F4}" type="presParOf" srcId="{7EF852B9-E619-429E-B287-0474FCFC568D}" destId="{614AA46A-847B-4F3F-9826-EF84022B7D6F}" srcOrd="3" destOrd="0" presId="urn:microsoft.com/office/officeart/2005/8/layout/cycle3"/>
    <dgm:cxn modelId="{40E5CAB2-CBDE-4E6C-BB48-5820D30FC149}" type="presParOf" srcId="{7EF852B9-E619-429E-B287-0474FCFC568D}" destId="{25497634-1D47-4C65-B7CB-7D7FFBDFCA92}" srcOrd="4" destOrd="0" presId="urn:microsoft.com/office/officeart/2005/8/layout/cycle3"/>
    <dgm:cxn modelId="{852AD796-D14C-4D3C-9A35-EAD9B6E7BE34}" type="presParOf" srcId="{7EF852B9-E619-429E-B287-0474FCFC568D}" destId="{C9871D2E-E738-44CE-B222-2BE132C366DD}" srcOrd="5" destOrd="0" presId="urn:microsoft.com/office/officeart/2005/8/layout/cycle3"/>
    <dgm:cxn modelId="{E3CCEE5A-2F82-48B9-8586-29D946B37F4D}" type="presParOf" srcId="{7EF852B9-E619-429E-B287-0474FCFC568D}" destId="{ED3B2247-7D50-408E-9969-5632CAE21D9C}" srcOrd="6" destOrd="0" presId="urn:microsoft.com/office/officeart/2005/8/layout/cycle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58343F-5E81-43A3-BE44-46E9A86B4ED4}">
      <dsp:nvSpPr>
        <dsp:cNvPr id="0" name=""/>
        <dsp:cNvSpPr/>
      </dsp:nvSpPr>
      <dsp:spPr>
        <a:xfrm>
          <a:off x="0" y="54532"/>
          <a:ext cx="9161206" cy="4668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a:t>HGATS: Hybrid Guided Search Genetic Algorithm with Tabu Search</a:t>
          </a:r>
          <a:endParaRPr lang="en-US" sz="1900" kern="1200"/>
        </a:p>
      </dsp:txBody>
      <dsp:txXfrm>
        <a:off x="22789" y="77321"/>
        <a:ext cx="9115628" cy="421252"/>
      </dsp:txXfrm>
    </dsp:sp>
    <dsp:sp modelId="{7D89BEBF-5AE9-42D2-A7F2-F99672933BD9}">
      <dsp:nvSpPr>
        <dsp:cNvPr id="0" name=""/>
        <dsp:cNvSpPr/>
      </dsp:nvSpPr>
      <dsp:spPr>
        <a:xfrm>
          <a:off x="0" y="576082"/>
          <a:ext cx="9161206" cy="4668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HGATS</a:t>
          </a:r>
          <a:r>
            <a:rPr lang="ar-EG" sz="1900" kern="1200"/>
            <a:t> </a:t>
          </a:r>
          <a:r>
            <a:rPr lang="en-US" sz="1900" kern="1200"/>
            <a:t>=</a:t>
          </a:r>
          <a:r>
            <a:rPr lang="ar-EG" sz="1900" kern="1200"/>
            <a:t> </a:t>
          </a:r>
          <a:r>
            <a:rPr lang="en-US" sz="1900" kern="1200"/>
            <a:t>GSGA + TS</a:t>
          </a:r>
        </a:p>
      </dsp:txBody>
      <dsp:txXfrm>
        <a:off x="22789" y="598871"/>
        <a:ext cx="9115628" cy="421252"/>
      </dsp:txXfrm>
    </dsp:sp>
    <dsp:sp modelId="{80D9D4AE-BD82-47BE-BB2B-D2719B2D90D0}">
      <dsp:nvSpPr>
        <dsp:cNvPr id="0" name=""/>
        <dsp:cNvSpPr/>
      </dsp:nvSpPr>
      <dsp:spPr>
        <a:xfrm>
          <a:off x="0" y="1097632"/>
          <a:ext cx="9161206" cy="4668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Designed for the Post-Enrolment Course Timetabling Problem (PECTP). </a:t>
          </a:r>
        </a:p>
      </dsp:txBody>
      <dsp:txXfrm>
        <a:off x="22789" y="1120421"/>
        <a:ext cx="9115628" cy="421252"/>
      </dsp:txXfrm>
    </dsp:sp>
    <dsp:sp modelId="{00929271-7C1D-4C97-B110-9DF1EFC9BC2A}">
      <dsp:nvSpPr>
        <dsp:cNvPr id="0" name=""/>
        <dsp:cNvSpPr/>
      </dsp:nvSpPr>
      <dsp:spPr>
        <a:xfrm>
          <a:off x="0" y="1619182"/>
          <a:ext cx="9161206" cy="4668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Combines global exploration and local exploitation. </a:t>
          </a:r>
        </a:p>
      </dsp:txBody>
      <dsp:txXfrm>
        <a:off x="22789" y="1641971"/>
        <a:ext cx="9115628" cy="421252"/>
      </dsp:txXfrm>
    </dsp:sp>
    <dsp:sp modelId="{70D99967-C2C3-4E1D-92A8-DDF767EF1BFC}">
      <dsp:nvSpPr>
        <dsp:cNvPr id="0" name=""/>
        <dsp:cNvSpPr/>
      </dsp:nvSpPr>
      <dsp:spPr>
        <a:xfrm>
          <a:off x="0" y="2140732"/>
          <a:ext cx="9161206" cy="4668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Integrates: </a:t>
          </a:r>
        </a:p>
      </dsp:txBody>
      <dsp:txXfrm>
        <a:off x="22789" y="2163521"/>
        <a:ext cx="9115628" cy="421252"/>
      </dsp:txXfrm>
    </dsp:sp>
    <dsp:sp modelId="{DDA21B50-C62A-4501-ACEF-59FC74C31D57}">
      <dsp:nvSpPr>
        <dsp:cNvPr id="0" name=""/>
        <dsp:cNvSpPr/>
      </dsp:nvSpPr>
      <dsp:spPr>
        <a:xfrm>
          <a:off x="0" y="2607562"/>
          <a:ext cx="9161206" cy="7865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90868"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a:t>Guided Search Genetic Algorithm (GSGA) </a:t>
          </a:r>
        </a:p>
        <a:p>
          <a:pPr marL="114300" lvl="1" indent="-114300" algn="l" defTabSz="666750">
            <a:lnSpc>
              <a:spcPct val="90000"/>
            </a:lnSpc>
            <a:spcBef>
              <a:spcPct val="0"/>
            </a:spcBef>
            <a:spcAft>
              <a:spcPct val="20000"/>
            </a:spcAft>
            <a:buChar char="•"/>
          </a:pPr>
          <a:r>
            <a:rPr lang="en-US" sz="1500" kern="1200"/>
            <a:t>Local Search (LS3 &amp; LS4) </a:t>
          </a:r>
        </a:p>
        <a:p>
          <a:pPr marL="114300" lvl="1" indent="-114300" algn="l" defTabSz="666750">
            <a:lnSpc>
              <a:spcPct val="90000"/>
            </a:lnSpc>
            <a:spcBef>
              <a:spcPct val="0"/>
            </a:spcBef>
            <a:spcAft>
              <a:spcPct val="20000"/>
            </a:spcAft>
            <a:buChar char="•"/>
          </a:pPr>
          <a:r>
            <a:rPr lang="en-US" sz="1500" kern="1200"/>
            <a:t>Tabu Search (TS) </a:t>
          </a:r>
        </a:p>
      </dsp:txBody>
      <dsp:txXfrm>
        <a:off x="0" y="2607562"/>
        <a:ext cx="9161206" cy="786599"/>
      </dsp:txXfrm>
    </dsp:sp>
    <dsp:sp modelId="{B8D82BF7-73B5-4918-96E7-9E04E602B0E3}">
      <dsp:nvSpPr>
        <dsp:cNvPr id="0" name=""/>
        <dsp:cNvSpPr/>
      </dsp:nvSpPr>
      <dsp:spPr>
        <a:xfrm>
          <a:off x="0" y="3394162"/>
          <a:ext cx="9161206" cy="4668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Objective: </a:t>
          </a:r>
        </a:p>
      </dsp:txBody>
      <dsp:txXfrm>
        <a:off x="22789" y="3416951"/>
        <a:ext cx="9115628" cy="421252"/>
      </dsp:txXfrm>
    </dsp:sp>
    <dsp:sp modelId="{250170A0-7760-444E-85DA-F2E7627F885B}">
      <dsp:nvSpPr>
        <dsp:cNvPr id="0" name=""/>
        <dsp:cNvSpPr/>
      </dsp:nvSpPr>
      <dsp:spPr>
        <a:xfrm>
          <a:off x="0" y="3860992"/>
          <a:ext cx="9161206" cy="7865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90868"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a:t>Minimize hard constraint violations. </a:t>
          </a:r>
        </a:p>
        <a:p>
          <a:pPr marL="114300" lvl="1" indent="-114300" algn="l" defTabSz="666750">
            <a:lnSpc>
              <a:spcPct val="90000"/>
            </a:lnSpc>
            <a:spcBef>
              <a:spcPct val="0"/>
            </a:spcBef>
            <a:spcAft>
              <a:spcPct val="20000"/>
            </a:spcAft>
            <a:buChar char="•"/>
          </a:pPr>
          <a:r>
            <a:rPr lang="en-US" sz="1500" kern="1200"/>
            <a:t>Minimize soft constraint penalties. </a:t>
          </a:r>
        </a:p>
        <a:p>
          <a:pPr marL="114300" lvl="1" indent="-114300" algn="l" defTabSz="666750">
            <a:lnSpc>
              <a:spcPct val="90000"/>
            </a:lnSpc>
            <a:spcBef>
              <a:spcPct val="0"/>
            </a:spcBef>
            <a:spcAft>
              <a:spcPct val="20000"/>
            </a:spcAft>
            <a:buChar char="•"/>
          </a:pPr>
          <a:r>
            <a:rPr lang="en-US" sz="1500" kern="1200"/>
            <a:t>Generate high-quality feasible timetables.</a:t>
          </a:r>
        </a:p>
      </dsp:txBody>
      <dsp:txXfrm>
        <a:off x="0" y="3860992"/>
        <a:ext cx="9161206" cy="7865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B1584F-DF12-4944-9431-33C9B5242235}">
      <dsp:nvSpPr>
        <dsp:cNvPr id="0" name=""/>
        <dsp:cNvSpPr/>
      </dsp:nvSpPr>
      <dsp:spPr>
        <a:xfrm>
          <a:off x="1876881" y="0"/>
          <a:ext cx="4702124" cy="4702124"/>
        </a:xfrm>
        <a:prstGeom prst="triangle">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3B797577-9E6D-4487-8214-6235F0F47A7C}">
      <dsp:nvSpPr>
        <dsp:cNvPr id="0" name=""/>
        <dsp:cNvSpPr/>
      </dsp:nvSpPr>
      <dsp:spPr>
        <a:xfrm>
          <a:off x="4227943" y="470671"/>
          <a:ext cx="3056380" cy="417864"/>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Initialize Population</a:t>
          </a:r>
        </a:p>
      </dsp:txBody>
      <dsp:txXfrm>
        <a:off x="4248341" y="491069"/>
        <a:ext cx="3015584" cy="377068"/>
      </dsp:txXfrm>
    </dsp:sp>
    <dsp:sp modelId="{3DA0F8C6-917F-4416-832E-D00C8E6CC3BA}">
      <dsp:nvSpPr>
        <dsp:cNvPr id="0" name=""/>
        <dsp:cNvSpPr/>
      </dsp:nvSpPr>
      <dsp:spPr>
        <a:xfrm>
          <a:off x="4227943" y="940769"/>
          <a:ext cx="3056380" cy="417864"/>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GSGA</a:t>
          </a:r>
        </a:p>
      </dsp:txBody>
      <dsp:txXfrm>
        <a:off x="4248341" y="961167"/>
        <a:ext cx="3015584" cy="377068"/>
      </dsp:txXfrm>
    </dsp:sp>
    <dsp:sp modelId="{F18F5B72-CC9B-4690-BB1E-F556B6CD443B}">
      <dsp:nvSpPr>
        <dsp:cNvPr id="0" name=""/>
        <dsp:cNvSpPr/>
      </dsp:nvSpPr>
      <dsp:spPr>
        <a:xfrm>
          <a:off x="4227943" y="1410866"/>
          <a:ext cx="3056380" cy="417864"/>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Guided Search /Biased Crossover</a:t>
          </a:r>
        </a:p>
      </dsp:txBody>
      <dsp:txXfrm>
        <a:off x="4248341" y="1431264"/>
        <a:ext cx="3015584" cy="377068"/>
      </dsp:txXfrm>
    </dsp:sp>
    <dsp:sp modelId="{F0DE2713-E619-42BA-B442-5B8FDCC671B1}">
      <dsp:nvSpPr>
        <dsp:cNvPr id="0" name=""/>
        <dsp:cNvSpPr/>
      </dsp:nvSpPr>
      <dsp:spPr>
        <a:xfrm>
          <a:off x="4227943" y="1880964"/>
          <a:ext cx="3056380" cy="417864"/>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Mutation</a:t>
          </a:r>
        </a:p>
      </dsp:txBody>
      <dsp:txXfrm>
        <a:off x="4248341" y="1901362"/>
        <a:ext cx="3015584" cy="377068"/>
      </dsp:txXfrm>
    </dsp:sp>
    <dsp:sp modelId="{10C386EC-1B73-4C59-BBEA-77F9FF33DC64}">
      <dsp:nvSpPr>
        <dsp:cNvPr id="0" name=""/>
        <dsp:cNvSpPr/>
      </dsp:nvSpPr>
      <dsp:spPr>
        <a:xfrm>
          <a:off x="4227943" y="2351061"/>
          <a:ext cx="3056380" cy="417864"/>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LS3 + LS4</a:t>
          </a:r>
        </a:p>
      </dsp:txBody>
      <dsp:txXfrm>
        <a:off x="4248341" y="2371459"/>
        <a:ext cx="3015584" cy="377068"/>
      </dsp:txXfrm>
    </dsp:sp>
    <dsp:sp modelId="{B3794F94-29B1-4F1C-ADE7-DC7070665F1C}">
      <dsp:nvSpPr>
        <dsp:cNvPr id="0" name=""/>
        <dsp:cNvSpPr/>
      </dsp:nvSpPr>
      <dsp:spPr>
        <a:xfrm>
          <a:off x="4227943" y="2821159"/>
          <a:ext cx="3056380" cy="417864"/>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Best Solution</a:t>
          </a:r>
        </a:p>
      </dsp:txBody>
      <dsp:txXfrm>
        <a:off x="4248341" y="2841557"/>
        <a:ext cx="3015584" cy="377068"/>
      </dsp:txXfrm>
    </dsp:sp>
    <dsp:sp modelId="{B1154D5A-2787-4CAA-B99B-E192484D9272}">
      <dsp:nvSpPr>
        <dsp:cNvPr id="0" name=""/>
        <dsp:cNvSpPr/>
      </dsp:nvSpPr>
      <dsp:spPr>
        <a:xfrm>
          <a:off x="4227943" y="3291257"/>
          <a:ext cx="3056380" cy="417864"/>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Tabu Search</a:t>
          </a:r>
        </a:p>
      </dsp:txBody>
      <dsp:txXfrm>
        <a:off x="4248341" y="3311655"/>
        <a:ext cx="3015584" cy="377068"/>
      </dsp:txXfrm>
    </dsp:sp>
    <dsp:sp modelId="{668B3043-C3B2-42AA-937B-8842EC7BA359}">
      <dsp:nvSpPr>
        <dsp:cNvPr id="0" name=""/>
        <dsp:cNvSpPr/>
      </dsp:nvSpPr>
      <dsp:spPr>
        <a:xfrm>
          <a:off x="4227943" y="3761354"/>
          <a:ext cx="3056380" cy="417864"/>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Final Solution</a:t>
          </a:r>
        </a:p>
      </dsp:txBody>
      <dsp:txXfrm>
        <a:off x="4248341" y="3781752"/>
        <a:ext cx="3015584" cy="37706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59A74F-28CA-4CED-8616-B74E3589AE0E}">
      <dsp:nvSpPr>
        <dsp:cNvPr id="0" name=""/>
        <dsp:cNvSpPr/>
      </dsp:nvSpPr>
      <dsp:spPr>
        <a:xfrm>
          <a:off x="3067" y="549083"/>
          <a:ext cx="1494709" cy="949140"/>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965D2E61-8E5A-41A6-AC1F-A369E7FB579A}">
      <dsp:nvSpPr>
        <dsp:cNvPr id="0" name=""/>
        <dsp:cNvSpPr/>
      </dsp:nvSpPr>
      <dsp:spPr>
        <a:xfrm>
          <a:off x="169146" y="706858"/>
          <a:ext cx="1494709" cy="94914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Population</a:t>
          </a:r>
        </a:p>
      </dsp:txBody>
      <dsp:txXfrm>
        <a:off x="196945" y="734657"/>
        <a:ext cx="1439111" cy="893542"/>
      </dsp:txXfrm>
    </dsp:sp>
    <dsp:sp modelId="{8437FAE8-8817-4EA7-894B-357317527742}">
      <dsp:nvSpPr>
        <dsp:cNvPr id="0" name=""/>
        <dsp:cNvSpPr/>
      </dsp:nvSpPr>
      <dsp:spPr>
        <a:xfrm>
          <a:off x="1829935" y="549083"/>
          <a:ext cx="1494709" cy="949140"/>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527B9F4B-30D1-4A26-80EC-90F0138B8378}">
      <dsp:nvSpPr>
        <dsp:cNvPr id="0" name=""/>
        <dsp:cNvSpPr/>
      </dsp:nvSpPr>
      <dsp:spPr>
        <a:xfrm>
          <a:off x="1996013" y="706858"/>
          <a:ext cx="1494709" cy="94914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Select Top α%</a:t>
          </a:r>
        </a:p>
      </dsp:txBody>
      <dsp:txXfrm>
        <a:off x="2023812" y="734657"/>
        <a:ext cx="1439111" cy="893542"/>
      </dsp:txXfrm>
    </dsp:sp>
    <dsp:sp modelId="{63A53F45-F128-4EBB-9D19-28CDBE4EFE1C}">
      <dsp:nvSpPr>
        <dsp:cNvPr id="0" name=""/>
        <dsp:cNvSpPr/>
      </dsp:nvSpPr>
      <dsp:spPr>
        <a:xfrm>
          <a:off x="3656802" y="549083"/>
          <a:ext cx="1494709" cy="949140"/>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9A3AEC63-7646-45CC-9B1F-5BC0B38B3ECB}">
      <dsp:nvSpPr>
        <dsp:cNvPr id="0" name=""/>
        <dsp:cNvSpPr/>
      </dsp:nvSpPr>
      <dsp:spPr>
        <a:xfrm>
          <a:off x="3822881" y="706858"/>
          <a:ext cx="1494709" cy="94914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Evaluate Events</a:t>
          </a:r>
        </a:p>
      </dsp:txBody>
      <dsp:txXfrm>
        <a:off x="3850680" y="734657"/>
        <a:ext cx="1439111" cy="893542"/>
      </dsp:txXfrm>
    </dsp:sp>
    <dsp:sp modelId="{C27CBE20-6B38-4ABA-B75D-D46FD466A922}">
      <dsp:nvSpPr>
        <dsp:cNvPr id="0" name=""/>
        <dsp:cNvSpPr/>
      </dsp:nvSpPr>
      <dsp:spPr>
        <a:xfrm>
          <a:off x="5483670" y="549083"/>
          <a:ext cx="1494709" cy="949140"/>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B8397958-2507-4288-87C7-85CA608ADA96}">
      <dsp:nvSpPr>
        <dsp:cNvPr id="0" name=""/>
        <dsp:cNvSpPr/>
      </dsp:nvSpPr>
      <dsp:spPr>
        <a:xfrm>
          <a:off x="5649749" y="706858"/>
          <a:ext cx="1494709" cy="94914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Store Good Assignments</a:t>
          </a:r>
        </a:p>
      </dsp:txBody>
      <dsp:txXfrm>
        <a:off x="5677548" y="734657"/>
        <a:ext cx="1439111" cy="893542"/>
      </dsp:txXfrm>
    </dsp:sp>
    <dsp:sp modelId="{54FD7A6D-B4A2-4080-83B6-E68B8E212396}">
      <dsp:nvSpPr>
        <dsp:cNvPr id="0" name=""/>
        <dsp:cNvSpPr/>
      </dsp:nvSpPr>
      <dsp:spPr>
        <a:xfrm>
          <a:off x="7310537" y="549083"/>
          <a:ext cx="1494709" cy="949140"/>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47011F13-F561-4CB0-BA8E-870A18D9EB98}">
      <dsp:nvSpPr>
        <dsp:cNvPr id="0" name=""/>
        <dsp:cNvSpPr/>
      </dsp:nvSpPr>
      <dsp:spPr>
        <a:xfrm>
          <a:off x="7476616" y="706858"/>
          <a:ext cx="1494709" cy="94914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MEM</a:t>
          </a:r>
        </a:p>
      </dsp:txBody>
      <dsp:txXfrm>
        <a:off x="7504415" y="734657"/>
        <a:ext cx="1439111" cy="89354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59A74F-28CA-4CED-8616-B74E3589AE0E}">
      <dsp:nvSpPr>
        <dsp:cNvPr id="0" name=""/>
        <dsp:cNvSpPr/>
      </dsp:nvSpPr>
      <dsp:spPr>
        <a:xfrm>
          <a:off x="3067" y="620367"/>
          <a:ext cx="1494709" cy="949140"/>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965D2E61-8E5A-41A6-AC1F-A369E7FB579A}">
      <dsp:nvSpPr>
        <dsp:cNvPr id="0" name=""/>
        <dsp:cNvSpPr/>
      </dsp:nvSpPr>
      <dsp:spPr>
        <a:xfrm>
          <a:off x="169146" y="778142"/>
          <a:ext cx="1494709" cy="94914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Select Base Individual</a:t>
          </a:r>
        </a:p>
      </dsp:txBody>
      <dsp:txXfrm>
        <a:off x="196945" y="805941"/>
        <a:ext cx="1439111" cy="893542"/>
      </dsp:txXfrm>
    </dsp:sp>
    <dsp:sp modelId="{8437FAE8-8817-4EA7-894B-357317527742}">
      <dsp:nvSpPr>
        <dsp:cNvPr id="0" name=""/>
        <dsp:cNvSpPr/>
      </dsp:nvSpPr>
      <dsp:spPr>
        <a:xfrm>
          <a:off x="1829935" y="620367"/>
          <a:ext cx="1494709" cy="949140"/>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527B9F4B-30D1-4A26-80EC-90F0138B8378}">
      <dsp:nvSpPr>
        <dsp:cNvPr id="0" name=""/>
        <dsp:cNvSpPr/>
      </dsp:nvSpPr>
      <dsp:spPr>
        <a:xfrm>
          <a:off x="1996013" y="778142"/>
          <a:ext cx="1494709" cy="94914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Choose β × E0 Events</a:t>
          </a:r>
        </a:p>
      </dsp:txBody>
      <dsp:txXfrm>
        <a:off x="2023812" y="805941"/>
        <a:ext cx="1439111" cy="893542"/>
      </dsp:txXfrm>
    </dsp:sp>
    <dsp:sp modelId="{63A53F45-F128-4EBB-9D19-28CDBE4EFE1C}">
      <dsp:nvSpPr>
        <dsp:cNvPr id="0" name=""/>
        <dsp:cNvSpPr/>
      </dsp:nvSpPr>
      <dsp:spPr>
        <a:xfrm>
          <a:off x="3656802" y="620367"/>
          <a:ext cx="1494709" cy="949140"/>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9A3AEC63-7646-45CC-9B1F-5BC0B38B3ECB}">
      <dsp:nvSpPr>
        <dsp:cNvPr id="0" name=""/>
        <dsp:cNvSpPr/>
      </dsp:nvSpPr>
      <dsp:spPr>
        <a:xfrm>
          <a:off x="3822881" y="778142"/>
          <a:ext cx="1494709" cy="94914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Retrieve Assignments from MEM</a:t>
          </a:r>
        </a:p>
      </dsp:txBody>
      <dsp:txXfrm>
        <a:off x="3850680" y="805941"/>
        <a:ext cx="1439111" cy="893542"/>
      </dsp:txXfrm>
    </dsp:sp>
    <dsp:sp modelId="{C27CBE20-6B38-4ABA-B75D-D46FD466A922}">
      <dsp:nvSpPr>
        <dsp:cNvPr id="0" name=""/>
        <dsp:cNvSpPr/>
      </dsp:nvSpPr>
      <dsp:spPr>
        <a:xfrm>
          <a:off x="5483670" y="620367"/>
          <a:ext cx="1494709" cy="949140"/>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B8397958-2507-4288-87C7-85CA608ADA96}">
      <dsp:nvSpPr>
        <dsp:cNvPr id="0" name=""/>
        <dsp:cNvSpPr/>
      </dsp:nvSpPr>
      <dsp:spPr>
        <a:xfrm>
          <a:off x="5649749" y="778142"/>
          <a:ext cx="1494709" cy="94914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Assign Remaining Events</a:t>
          </a:r>
        </a:p>
      </dsp:txBody>
      <dsp:txXfrm>
        <a:off x="5677548" y="805941"/>
        <a:ext cx="1439111" cy="893542"/>
      </dsp:txXfrm>
    </dsp:sp>
    <dsp:sp modelId="{54FD7A6D-B4A2-4080-83B6-E68B8E212396}">
      <dsp:nvSpPr>
        <dsp:cNvPr id="0" name=""/>
        <dsp:cNvSpPr/>
      </dsp:nvSpPr>
      <dsp:spPr>
        <a:xfrm>
          <a:off x="7310537" y="620367"/>
          <a:ext cx="1494709" cy="949140"/>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47011F13-F561-4CB0-BA8E-870A18D9EB98}">
      <dsp:nvSpPr>
        <dsp:cNvPr id="0" name=""/>
        <dsp:cNvSpPr/>
      </dsp:nvSpPr>
      <dsp:spPr>
        <a:xfrm>
          <a:off x="7476616" y="778142"/>
          <a:ext cx="1494709" cy="94914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Generate Child</a:t>
          </a:r>
        </a:p>
      </dsp:txBody>
      <dsp:txXfrm>
        <a:off x="7504415" y="805941"/>
        <a:ext cx="1439111" cy="89354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004412-B87A-4160-BF88-4D31E17E98DC}">
      <dsp:nvSpPr>
        <dsp:cNvPr id="0" name=""/>
        <dsp:cNvSpPr/>
      </dsp:nvSpPr>
      <dsp:spPr>
        <a:xfrm>
          <a:off x="1170379" y="-3165"/>
          <a:ext cx="4076019" cy="4076019"/>
        </a:xfrm>
        <a:prstGeom prst="circularArrow">
          <a:avLst>
            <a:gd name="adj1" fmla="val 5274"/>
            <a:gd name="adj2" fmla="val 312630"/>
            <a:gd name="adj3" fmla="val 14256985"/>
            <a:gd name="adj4" fmla="val 17110154"/>
            <a:gd name="adj5" fmla="val 5477"/>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DA6753-F86B-4071-A85C-A8E931B3A844}">
      <dsp:nvSpPr>
        <dsp:cNvPr id="0" name=""/>
        <dsp:cNvSpPr/>
      </dsp:nvSpPr>
      <dsp:spPr>
        <a:xfrm>
          <a:off x="2446240" y="2232"/>
          <a:ext cx="1524298" cy="76214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dirty="0"/>
            <a:t>Current Solution</a:t>
          </a:r>
          <a:endParaRPr lang="en-US" sz="1900" kern="1200" dirty="0"/>
        </a:p>
      </dsp:txBody>
      <dsp:txXfrm>
        <a:off x="2483445" y="39437"/>
        <a:ext cx="1449888" cy="687739"/>
      </dsp:txXfrm>
    </dsp:sp>
    <dsp:sp modelId="{EB74EE82-B9D2-4FCF-8C97-E112C871A5E5}">
      <dsp:nvSpPr>
        <dsp:cNvPr id="0" name=""/>
        <dsp:cNvSpPr/>
      </dsp:nvSpPr>
      <dsp:spPr>
        <a:xfrm>
          <a:off x="3878263" y="829011"/>
          <a:ext cx="1524298" cy="76214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dirty="0"/>
            <a:t>Generate Neighbors</a:t>
          </a:r>
          <a:endParaRPr lang="en-US" sz="1900" kern="1200" dirty="0"/>
        </a:p>
      </dsp:txBody>
      <dsp:txXfrm>
        <a:off x="3915468" y="866216"/>
        <a:ext cx="1449888" cy="687739"/>
      </dsp:txXfrm>
    </dsp:sp>
    <dsp:sp modelId="{614AA46A-847B-4F3F-9826-EF84022B7D6F}">
      <dsp:nvSpPr>
        <dsp:cNvPr id="0" name=""/>
        <dsp:cNvSpPr/>
      </dsp:nvSpPr>
      <dsp:spPr>
        <a:xfrm>
          <a:off x="3878263" y="2482569"/>
          <a:ext cx="1524298" cy="76214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a:t>Evaluate Fitness</a:t>
          </a:r>
          <a:endParaRPr lang="en-US" sz="1900" kern="1200"/>
        </a:p>
      </dsp:txBody>
      <dsp:txXfrm>
        <a:off x="3915468" y="2519774"/>
        <a:ext cx="1449888" cy="687739"/>
      </dsp:txXfrm>
    </dsp:sp>
    <dsp:sp modelId="{25497634-1D47-4C65-B7CB-7D7FFBDFCA92}">
      <dsp:nvSpPr>
        <dsp:cNvPr id="0" name=""/>
        <dsp:cNvSpPr/>
      </dsp:nvSpPr>
      <dsp:spPr>
        <a:xfrm>
          <a:off x="2446240" y="3309347"/>
          <a:ext cx="1524298" cy="76214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a:t>Best Non-Tabu Move</a:t>
          </a:r>
          <a:endParaRPr lang="en-US" sz="1900" kern="1200"/>
        </a:p>
      </dsp:txBody>
      <dsp:txXfrm>
        <a:off x="2483445" y="3346552"/>
        <a:ext cx="1449888" cy="687739"/>
      </dsp:txXfrm>
    </dsp:sp>
    <dsp:sp modelId="{C9871D2E-E738-44CE-B222-2BE132C366DD}">
      <dsp:nvSpPr>
        <dsp:cNvPr id="0" name=""/>
        <dsp:cNvSpPr/>
      </dsp:nvSpPr>
      <dsp:spPr>
        <a:xfrm>
          <a:off x="1014217" y="2482569"/>
          <a:ext cx="1524298" cy="76214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a:t>Update Tabu List</a:t>
          </a:r>
          <a:endParaRPr lang="en-US" sz="1900" kern="1200"/>
        </a:p>
      </dsp:txBody>
      <dsp:txXfrm>
        <a:off x="1051422" y="2519774"/>
        <a:ext cx="1449888" cy="687739"/>
      </dsp:txXfrm>
    </dsp:sp>
    <dsp:sp modelId="{ED3B2247-7D50-408E-9969-5632CAE21D9C}">
      <dsp:nvSpPr>
        <dsp:cNvPr id="0" name=""/>
        <dsp:cNvSpPr/>
      </dsp:nvSpPr>
      <dsp:spPr>
        <a:xfrm>
          <a:off x="1014217" y="829011"/>
          <a:ext cx="1524298" cy="76214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dirty="0"/>
            <a:t>Repeat</a:t>
          </a:r>
          <a:endParaRPr lang="en-US" sz="1900" kern="1200" dirty="0"/>
        </a:p>
      </dsp:txBody>
      <dsp:txXfrm>
        <a:off x="1051422" y="866216"/>
        <a:ext cx="1449888" cy="68773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4172CF-D4E3-473E-90CF-6164875841E4}" type="datetimeFigureOut">
              <a:rPr lang="en-US" smtClean="0"/>
              <a:t>6/13/2026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65F059-DE4B-4D2F-8AFA-D9016ACB97AF}" type="slidenum">
              <a:rPr lang="en-US" smtClean="0"/>
              <a:t>‹#›</a:t>
            </a:fld>
            <a:endParaRPr lang="en-US"/>
          </a:p>
        </p:txBody>
      </p:sp>
    </p:spTree>
    <p:extLst>
      <p:ext uri="{BB962C8B-B14F-4D97-AF65-F5344CB8AC3E}">
        <p14:creationId xmlns:p14="http://schemas.microsoft.com/office/powerpoint/2010/main" val="21075545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65F059-DE4B-4D2F-8AFA-D9016ACB97AF}" type="slidenum">
              <a:rPr lang="en-US" smtClean="0"/>
              <a:t>53</a:t>
            </a:fld>
            <a:endParaRPr lang="en-US"/>
          </a:p>
        </p:txBody>
      </p:sp>
    </p:spTree>
    <p:extLst>
      <p:ext uri="{BB962C8B-B14F-4D97-AF65-F5344CB8AC3E}">
        <p14:creationId xmlns:p14="http://schemas.microsoft.com/office/powerpoint/2010/main" val="532050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65F059-DE4B-4D2F-8AFA-D9016ACB97AF}" type="slidenum">
              <a:rPr lang="en-US" smtClean="0"/>
              <a:t>79</a:t>
            </a:fld>
            <a:endParaRPr lang="en-US"/>
          </a:p>
        </p:txBody>
      </p:sp>
    </p:spTree>
    <p:extLst>
      <p:ext uri="{BB962C8B-B14F-4D97-AF65-F5344CB8AC3E}">
        <p14:creationId xmlns:p14="http://schemas.microsoft.com/office/powerpoint/2010/main" val="10249910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AD0CD-8408-FDC2-8080-37C66E4694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F8C397A-F73F-D803-C3D6-862489C7F7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40B72FE-A3CB-ACBF-1CC9-C8808AC3496B}"/>
              </a:ext>
            </a:extLst>
          </p:cNvPr>
          <p:cNvSpPr>
            <a:spLocks noGrp="1"/>
          </p:cNvSpPr>
          <p:nvPr>
            <p:ph type="dt" sz="half" idx="10"/>
          </p:nvPr>
        </p:nvSpPr>
        <p:spPr/>
        <p:txBody>
          <a:bodyPr/>
          <a:lstStyle/>
          <a:p>
            <a:fld id="{6A94BFD9-1B42-410F-8916-0392E9442F4B}" type="datetime1">
              <a:rPr lang="en-US" smtClean="0"/>
              <a:t>6/13/2026</a:t>
            </a:fld>
            <a:endParaRPr lang="en-US"/>
          </a:p>
        </p:txBody>
      </p:sp>
      <p:sp>
        <p:nvSpPr>
          <p:cNvPr id="5" name="Footer Placeholder 4">
            <a:extLst>
              <a:ext uri="{FF2B5EF4-FFF2-40B4-BE49-F238E27FC236}">
                <a16:creationId xmlns:a16="http://schemas.microsoft.com/office/drawing/2014/main" id="{54B0F2ED-03D3-CECB-010F-59E955B275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4F4441-1245-6894-CEDA-7A3B5DED79A3}"/>
              </a:ext>
            </a:extLst>
          </p:cNvPr>
          <p:cNvSpPr>
            <a:spLocks noGrp="1"/>
          </p:cNvSpPr>
          <p:nvPr>
            <p:ph type="sldNum" sz="quarter" idx="12"/>
          </p:nvPr>
        </p:nvSpPr>
        <p:spPr/>
        <p:txBody>
          <a:bodyPr/>
          <a:lstStyle/>
          <a:p>
            <a:fld id="{FA5D76E8-8AD6-443B-8B81-1688B2EC3502}" type="slidenum">
              <a:rPr lang="en-US" smtClean="0"/>
              <a:t>‹#›</a:t>
            </a:fld>
            <a:endParaRPr lang="en-US"/>
          </a:p>
        </p:txBody>
      </p:sp>
    </p:spTree>
    <p:extLst>
      <p:ext uri="{BB962C8B-B14F-4D97-AF65-F5344CB8AC3E}">
        <p14:creationId xmlns:p14="http://schemas.microsoft.com/office/powerpoint/2010/main" val="26010862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A04A2-A4DF-9835-1650-282923CCD8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F539FA-389F-2B18-582C-B86C8C22CC2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6A50F7-E55A-8D2C-580D-675B138C2787}"/>
              </a:ext>
            </a:extLst>
          </p:cNvPr>
          <p:cNvSpPr>
            <a:spLocks noGrp="1"/>
          </p:cNvSpPr>
          <p:nvPr>
            <p:ph type="dt" sz="half" idx="10"/>
          </p:nvPr>
        </p:nvSpPr>
        <p:spPr/>
        <p:txBody>
          <a:bodyPr/>
          <a:lstStyle/>
          <a:p>
            <a:fld id="{3805E861-CEF2-427C-B006-49B5282A6BFA}" type="datetime1">
              <a:rPr lang="en-US" smtClean="0"/>
              <a:t>6/13/2026</a:t>
            </a:fld>
            <a:endParaRPr lang="en-US"/>
          </a:p>
        </p:txBody>
      </p:sp>
      <p:sp>
        <p:nvSpPr>
          <p:cNvPr id="5" name="Footer Placeholder 4">
            <a:extLst>
              <a:ext uri="{FF2B5EF4-FFF2-40B4-BE49-F238E27FC236}">
                <a16:creationId xmlns:a16="http://schemas.microsoft.com/office/drawing/2014/main" id="{5B24E130-C0D4-361B-556E-B51B1E3AF2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42BA51-DE83-A73D-2918-A881A0D30114}"/>
              </a:ext>
            </a:extLst>
          </p:cNvPr>
          <p:cNvSpPr>
            <a:spLocks noGrp="1"/>
          </p:cNvSpPr>
          <p:nvPr>
            <p:ph type="sldNum" sz="quarter" idx="12"/>
          </p:nvPr>
        </p:nvSpPr>
        <p:spPr/>
        <p:txBody>
          <a:bodyPr/>
          <a:lstStyle/>
          <a:p>
            <a:fld id="{FA5D76E8-8AD6-443B-8B81-1688B2EC3502}" type="slidenum">
              <a:rPr lang="en-US" smtClean="0"/>
              <a:t>‹#›</a:t>
            </a:fld>
            <a:endParaRPr lang="en-US"/>
          </a:p>
        </p:txBody>
      </p:sp>
    </p:spTree>
    <p:extLst>
      <p:ext uri="{BB962C8B-B14F-4D97-AF65-F5344CB8AC3E}">
        <p14:creationId xmlns:p14="http://schemas.microsoft.com/office/powerpoint/2010/main" val="1022032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EC047-ECA3-8ED4-ACA3-8164C23187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1FE345C-0FA9-BCEF-C807-B7C634587DE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B3A0322-BDB7-0C87-2A76-11185FF2B205}"/>
              </a:ext>
            </a:extLst>
          </p:cNvPr>
          <p:cNvSpPr>
            <a:spLocks noGrp="1"/>
          </p:cNvSpPr>
          <p:nvPr>
            <p:ph type="dt" sz="half" idx="10"/>
          </p:nvPr>
        </p:nvSpPr>
        <p:spPr/>
        <p:txBody>
          <a:bodyPr/>
          <a:lstStyle/>
          <a:p>
            <a:fld id="{E621362E-D673-48C3-A95C-294919154E31}" type="datetime1">
              <a:rPr lang="en-US" smtClean="0"/>
              <a:t>6/13/2026</a:t>
            </a:fld>
            <a:endParaRPr lang="en-US"/>
          </a:p>
        </p:txBody>
      </p:sp>
      <p:sp>
        <p:nvSpPr>
          <p:cNvPr id="5" name="Footer Placeholder 4">
            <a:extLst>
              <a:ext uri="{FF2B5EF4-FFF2-40B4-BE49-F238E27FC236}">
                <a16:creationId xmlns:a16="http://schemas.microsoft.com/office/drawing/2014/main" id="{559D9D57-49C2-7137-995B-94BA128D6C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E7BCF3-D249-DB0B-3009-5F8A584014F7}"/>
              </a:ext>
            </a:extLst>
          </p:cNvPr>
          <p:cNvSpPr>
            <a:spLocks noGrp="1"/>
          </p:cNvSpPr>
          <p:nvPr>
            <p:ph type="sldNum" sz="quarter" idx="12"/>
          </p:nvPr>
        </p:nvSpPr>
        <p:spPr/>
        <p:txBody>
          <a:bodyPr/>
          <a:lstStyle/>
          <a:p>
            <a:fld id="{FA5D76E8-8AD6-443B-8B81-1688B2EC3502}" type="slidenum">
              <a:rPr lang="en-US" smtClean="0"/>
              <a:t>‹#›</a:t>
            </a:fld>
            <a:endParaRPr lang="en-US"/>
          </a:p>
        </p:txBody>
      </p:sp>
    </p:spTree>
    <p:extLst>
      <p:ext uri="{BB962C8B-B14F-4D97-AF65-F5344CB8AC3E}">
        <p14:creationId xmlns:p14="http://schemas.microsoft.com/office/powerpoint/2010/main" val="3338640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14320-988C-4D6C-398A-FDA46487C1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536422-BEEB-C54C-FED6-F5B1577D10B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D3D01A-0A7D-1440-B553-340F5FC2DC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1300BE6-25B7-E0D4-4334-8B83E949EC6A}"/>
              </a:ext>
            </a:extLst>
          </p:cNvPr>
          <p:cNvSpPr>
            <a:spLocks noGrp="1"/>
          </p:cNvSpPr>
          <p:nvPr>
            <p:ph type="dt" sz="half" idx="10"/>
          </p:nvPr>
        </p:nvSpPr>
        <p:spPr/>
        <p:txBody>
          <a:bodyPr/>
          <a:lstStyle/>
          <a:p>
            <a:fld id="{32AD707A-FE30-4544-ABAD-EC7318CA56BC}" type="datetime1">
              <a:rPr lang="en-US" smtClean="0"/>
              <a:t>6/13/2026</a:t>
            </a:fld>
            <a:endParaRPr lang="en-US"/>
          </a:p>
        </p:txBody>
      </p:sp>
      <p:sp>
        <p:nvSpPr>
          <p:cNvPr id="6" name="Footer Placeholder 5">
            <a:extLst>
              <a:ext uri="{FF2B5EF4-FFF2-40B4-BE49-F238E27FC236}">
                <a16:creationId xmlns:a16="http://schemas.microsoft.com/office/drawing/2014/main" id="{745C27CE-7360-089C-940D-7B0580E4D6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58CAAC-EDAB-63CF-19BC-93EDEA31618E}"/>
              </a:ext>
            </a:extLst>
          </p:cNvPr>
          <p:cNvSpPr>
            <a:spLocks noGrp="1"/>
          </p:cNvSpPr>
          <p:nvPr>
            <p:ph type="sldNum" sz="quarter" idx="12"/>
          </p:nvPr>
        </p:nvSpPr>
        <p:spPr/>
        <p:txBody>
          <a:bodyPr/>
          <a:lstStyle/>
          <a:p>
            <a:fld id="{FA5D76E8-8AD6-443B-8B81-1688B2EC3502}" type="slidenum">
              <a:rPr lang="en-US" smtClean="0"/>
              <a:t>‹#›</a:t>
            </a:fld>
            <a:endParaRPr lang="en-US"/>
          </a:p>
        </p:txBody>
      </p:sp>
    </p:spTree>
    <p:extLst>
      <p:ext uri="{BB962C8B-B14F-4D97-AF65-F5344CB8AC3E}">
        <p14:creationId xmlns:p14="http://schemas.microsoft.com/office/powerpoint/2010/main" val="2573400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32895-5510-6326-EFCD-0E2A0D6C533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4557D78-F436-BBDF-38C4-21CC850B09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3EFA18-EDCC-646E-0055-478B7B9F572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1DFE083-1E69-D61F-95C4-40CB3255B0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CB1C388-599F-FD4B-CDE6-76D19FBCC5F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D11F88-261D-6360-3143-172F8093E660}"/>
              </a:ext>
            </a:extLst>
          </p:cNvPr>
          <p:cNvSpPr>
            <a:spLocks noGrp="1"/>
          </p:cNvSpPr>
          <p:nvPr>
            <p:ph type="dt" sz="half" idx="10"/>
          </p:nvPr>
        </p:nvSpPr>
        <p:spPr/>
        <p:txBody>
          <a:bodyPr/>
          <a:lstStyle/>
          <a:p>
            <a:fld id="{CAB45C51-8C07-4718-BD26-383FC5BFE651}" type="datetime1">
              <a:rPr lang="en-US" smtClean="0"/>
              <a:t>6/13/2026</a:t>
            </a:fld>
            <a:endParaRPr lang="en-US"/>
          </a:p>
        </p:txBody>
      </p:sp>
      <p:sp>
        <p:nvSpPr>
          <p:cNvPr id="8" name="Footer Placeholder 7">
            <a:extLst>
              <a:ext uri="{FF2B5EF4-FFF2-40B4-BE49-F238E27FC236}">
                <a16:creationId xmlns:a16="http://schemas.microsoft.com/office/drawing/2014/main" id="{D87CB06C-8B17-C5A6-C872-AFA2B82180F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2FCB2BB-F2D3-F7C5-CBB2-5933DA98E6B3}"/>
              </a:ext>
            </a:extLst>
          </p:cNvPr>
          <p:cNvSpPr>
            <a:spLocks noGrp="1"/>
          </p:cNvSpPr>
          <p:nvPr>
            <p:ph type="sldNum" sz="quarter" idx="12"/>
          </p:nvPr>
        </p:nvSpPr>
        <p:spPr/>
        <p:txBody>
          <a:bodyPr/>
          <a:lstStyle/>
          <a:p>
            <a:fld id="{FA5D76E8-8AD6-443B-8B81-1688B2EC3502}" type="slidenum">
              <a:rPr lang="en-US" smtClean="0"/>
              <a:t>‹#›</a:t>
            </a:fld>
            <a:endParaRPr lang="en-US"/>
          </a:p>
        </p:txBody>
      </p:sp>
    </p:spTree>
    <p:extLst>
      <p:ext uri="{BB962C8B-B14F-4D97-AF65-F5344CB8AC3E}">
        <p14:creationId xmlns:p14="http://schemas.microsoft.com/office/powerpoint/2010/main" val="2066288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F2A1F-6E18-3243-0738-B3A3B1E04A5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4789A73-12E2-1F13-A32F-B3F85716C1FD}"/>
              </a:ext>
            </a:extLst>
          </p:cNvPr>
          <p:cNvSpPr>
            <a:spLocks noGrp="1"/>
          </p:cNvSpPr>
          <p:nvPr>
            <p:ph type="dt" sz="half" idx="10"/>
          </p:nvPr>
        </p:nvSpPr>
        <p:spPr/>
        <p:txBody>
          <a:bodyPr/>
          <a:lstStyle/>
          <a:p>
            <a:fld id="{81A665B3-D256-4682-8F98-EF7D178739E8}" type="datetime1">
              <a:rPr lang="en-US" smtClean="0"/>
              <a:t>6/13/2026</a:t>
            </a:fld>
            <a:endParaRPr lang="en-US"/>
          </a:p>
        </p:txBody>
      </p:sp>
      <p:sp>
        <p:nvSpPr>
          <p:cNvPr id="4" name="Footer Placeholder 3">
            <a:extLst>
              <a:ext uri="{FF2B5EF4-FFF2-40B4-BE49-F238E27FC236}">
                <a16:creationId xmlns:a16="http://schemas.microsoft.com/office/drawing/2014/main" id="{13AFFFE0-189F-7195-99EE-00B33A8FFF0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4A419D-4747-F47A-6AAB-A41E3FB88A60}"/>
              </a:ext>
            </a:extLst>
          </p:cNvPr>
          <p:cNvSpPr>
            <a:spLocks noGrp="1"/>
          </p:cNvSpPr>
          <p:nvPr>
            <p:ph type="sldNum" sz="quarter" idx="12"/>
          </p:nvPr>
        </p:nvSpPr>
        <p:spPr/>
        <p:txBody>
          <a:bodyPr/>
          <a:lstStyle/>
          <a:p>
            <a:fld id="{FA5D76E8-8AD6-443B-8B81-1688B2EC3502}" type="slidenum">
              <a:rPr lang="en-US" smtClean="0"/>
              <a:t>‹#›</a:t>
            </a:fld>
            <a:endParaRPr lang="en-US"/>
          </a:p>
        </p:txBody>
      </p:sp>
    </p:spTree>
    <p:extLst>
      <p:ext uri="{BB962C8B-B14F-4D97-AF65-F5344CB8AC3E}">
        <p14:creationId xmlns:p14="http://schemas.microsoft.com/office/powerpoint/2010/main" val="33838840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95AD87-EE35-CB58-6A78-5558C715C912}"/>
              </a:ext>
            </a:extLst>
          </p:cNvPr>
          <p:cNvSpPr>
            <a:spLocks noGrp="1"/>
          </p:cNvSpPr>
          <p:nvPr>
            <p:ph type="dt" sz="half" idx="10"/>
          </p:nvPr>
        </p:nvSpPr>
        <p:spPr/>
        <p:txBody>
          <a:bodyPr/>
          <a:lstStyle/>
          <a:p>
            <a:fld id="{95EF1550-B25E-4218-8099-C8B9A17C80EE}" type="datetime1">
              <a:rPr lang="en-US" smtClean="0"/>
              <a:t>6/13/2026</a:t>
            </a:fld>
            <a:endParaRPr lang="en-US"/>
          </a:p>
        </p:txBody>
      </p:sp>
      <p:sp>
        <p:nvSpPr>
          <p:cNvPr id="3" name="Footer Placeholder 2">
            <a:extLst>
              <a:ext uri="{FF2B5EF4-FFF2-40B4-BE49-F238E27FC236}">
                <a16:creationId xmlns:a16="http://schemas.microsoft.com/office/drawing/2014/main" id="{95A79211-7D5C-3AB3-C2BA-6FD750B7766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2B896B6-197D-832D-845F-AC6C90AEDB7E}"/>
              </a:ext>
            </a:extLst>
          </p:cNvPr>
          <p:cNvSpPr>
            <a:spLocks noGrp="1"/>
          </p:cNvSpPr>
          <p:nvPr>
            <p:ph type="sldNum" sz="quarter" idx="12"/>
          </p:nvPr>
        </p:nvSpPr>
        <p:spPr/>
        <p:txBody>
          <a:bodyPr/>
          <a:lstStyle/>
          <a:p>
            <a:fld id="{FA5D76E8-8AD6-443B-8B81-1688B2EC3502}" type="slidenum">
              <a:rPr lang="en-US" smtClean="0"/>
              <a:t>‹#›</a:t>
            </a:fld>
            <a:endParaRPr lang="en-US"/>
          </a:p>
        </p:txBody>
      </p:sp>
    </p:spTree>
    <p:extLst>
      <p:ext uri="{BB962C8B-B14F-4D97-AF65-F5344CB8AC3E}">
        <p14:creationId xmlns:p14="http://schemas.microsoft.com/office/powerpoint/2010/main" val="2880005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BD61A-7B3F-70D5-1CA1-EE335628FA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41DC6BA-1C5B-64E3-5518-6380A9A9BD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E20D8DE-C2CD-671E-DB5D-ACB20F6A97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4D0D97-9990-198F-8DFF-233AA6BC364C}"/>
              </a:ext>
            </a:extLst>
          </p:cNvPr>
          <p:cNvSpPr>
            <a:spLocks noGrp="1"/>
          </p:cNvSpPr>
          <p:nvPr>
            <p:ph type="dt" sz="half" idx="10"/>
          </p:nvPr>
        </p:nvSpPr>
        <p:spPr/>
        <p:txBody>
          <a:bodyPr/>
          <a:lstStyle/>
          <a:p>
            <a:fld id="{8CD78981-2152-4FC5-8E74-68628F1A902F}" type="datetime1">
              <a:rPr lang="en-US" smtClean="0"/>
              <a:t>6/13/2026</a:t>
            </a:fld>
            <a:endParaRPr lang="en-US"/>
          </a:p>
        </p:txBody>
      </p:sp>
      <p:sp>
        <p:nvSpPr>
          <p:cNvPr id="6" name="Footer Placeholder 5">
            <a:extLst>
              <a:ext uri="{FF2B5EF4-FFF2-40B4-BE49-F238E27FC236}">
                <a16:creationId xmlns:a16="http://schemas.microsoft.com/office/drawing/2014/main" id="{5499D6BE-A3E5-D572-9F16-1DB3038587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D6D495-6EBA-30F2-387C-DC19E58683F8}"/>
              </a:ext>
            </a:extLst>
          </p:cNvPr>
          <p:cNvSpPr>
            <a:spLocks noGrp="1"/>
          </p:cNvSpPr>
          <p:nvPr>
            <p:ph type="sldNum" sz="quarter" idx="12"/>
          </p:nvPr>
        </p:nvSpPr>
        <p:spPr/>
        <p:txBody>
          <a:bodyPr/>
          <a:lstStyle/>
          <a:p>
            <a:fld id="{FA5D76E8-8AD6-443B-8B81-1688B2EC3502}" type="slidenum">
              <a:rPr lang="en-US" smtClean="0"/>
              <a:t>‹#›</a:t>
            </a:fld>
            <a:endParaRPr lang="en-US"/>
          </a:p>
        </p:txBody>
      </p:sp>
    </p:spTree>
    <p:extLst>
      <p:ext uri="{BB962C8B-B14F-4D97-AF65-F5344CB8AC3E}">
        <p14:creationId xmlns:p14="http://schemas.microsoft.com/office/powerpoint/2010/main" val="3978285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74DDC-6B25-6ABE-66CF-FF5152F159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3E15833-DD99-C2ED-6577-02024B837A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46D414E-0BE9-0EB3-DA27-BC8AF51910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C95C13-1FB1-42C6-C8FD-B03859A2A532}"/>
              </a:ext>
            </a:extLst>
          </p:cNvPr>
          <p:cNvSpPr>
            <a:spLocks noGrp="1"/>
          </p:cNvSpPr>
          <p:nvPr>
            <p:ph type="dt" sz="half" idx="10"/>
          </p:nvPr>
        </p:nvSpPr>
        <p:spPr/>
        <p:txBody>
          <a:bodyPr/>
          <a:lstStyle/>
          <a:p>
            <a:fld id="{F11198F4-1433-4EFD-8B7E-1C5FA4D6F73B}" type="datetime1">
              <a:rPr lang="en-US" smtClean="0"/>
              <a:t>6/13/2026</a:t>
            </a:fld>
            <a:endParaRPr lang="en-US"/>
          </a:p>
        </p:txBody>
      </p:sp>
      <p:sp>
        <p:nvSpPr>
          <p:cNvPr id="6" name="Footer Placeholder 5">
            <a:extLst>
              <a:ext uri="{FF2B5EF4-FFF2-40B4-BE49-F238E27FC236}">
                <a16:creationId xmlns:a16="http://schemas.microsoft.com/office/drawing/2014/main" id="{130AD9E8-6502-FEF6-6192-B14D899D64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2A9EE8-B52B-E779-3C5A-86202D4C5F01}"/>
              </a:ext>
            </a:extLst>
          </p:cNvPr>
          <p:cNvSpPr>
            <a:spLocks noGrp="1"/>
          </p:cNvSpPr>
          <p:nvPr>
            <p:ph type="sldNum" sz="quarter" idx="12"/>
          </p:nvPr>
        </p:nvSpPr>
        <p:spPr/>
        <p:txBody>
          <a:bodyPr/>
          <a:lstStyle/>
          <a:p>
            <a:fld id="{FA5D76E8-8AD6-443B-8B81-1688B2EC3502}" type="slidenum">
              <a:rPr lang="en-US" smtClean="0"/>
              <a:t>‹#›</a:t>
            </a:fld>
            <a:endParaRPr lang="en-US"/>
          </a:p>
        </p:txBody>
      </p:sp>
    </p:spTree>
    <p:extLst>
      <p:ext uri="{BB962C8B-B14F-4D97-AF65-F5344CB8AC3E}">
        <p14:creationId xmlns:p14="http://schemas.microsoft.com/office/powerpoint/2010/main" val="2031879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B6CBF-EC6B-B307-205D-FD0C5A14092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6E711CF-B0BC-B307-20B2-3D976C1C7D9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97C91E-1942-93FB-4622-49D1063C5AD2}"/>
              </a:ext>
            </a:extLst>
          </p:cNvPr>
          <p:cNvSpPr>
            <a:spLocks noGrp="1"/>
          </p:cNvSpPr>
          <p:nvPr>
            <p:ph type="dt" sz="half" idx="10"/>
          </p:nvPr>
        </p:nvSpPr>
        <p:spPr/>
        <p:txBody>
          <a:bodyPr/>
          <a:lstStyle/>
          <a:p>
            <a:fld id="{5A66A41D-DCE0-40E3-88EF-49805C66E85E}" type="datetime1">
              <a:rPr lang="en-US" smtClean="0"/>
              <a:t>6/13/2026</a:t>
            </a:fld>
            <a:endParaRPr lang="en-US"/>
          </a:p>
        </p:txBody>
      </p:sp>
      <p:sp>
        <p:nvSpPr>
          <p:cNvPr id="5" name="Footer Placeholder 4">
            <a:extLst>
              <a:ext uri="{FF2B5EF4-FFF2-40B4-BE49-F238E27FC236}">
                <a16:creationId xmlns:a16="http://schemas.microsoft.com/office/drawing/2014/main" id="{5A9A937F-7075-51FF-FADE-EB2BEE65DB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24A2BA-FD49-357E-BC49-A3EBE68EACCE}"/>
              </a:ext>
            </a:extLst>
          </p:cNvPr>
          <p:cNvSpPr>
            <a:spLocks noGrp="1"/>
          </p:cNvSpPr>
          <p:nvPr>
            <p:ph type="sldNum" sz="quarter" idx="12"/>
          </p:nvPr>
        </p:nvSpPr>
        <p:spPr/>
        <p:txBody>
          <a:bodyPr/>
          <a:lstStyle/>
          <a:p>
            <a:fld id="{FA5D76E8-8AD6-443B-8B81-1688B2EC3502}" type="slidenum">
              <a:rPr lang="en-US" smtClean="0"/>
              <a:t>‹#›</a:t>
            </a:fld>
            <a:endParaRPr lang="en-US"/>
          </a:p>
        </p:txBody>
      </p:sp>
    </p:spTree>
    <p:extLst>
      <p:ext uri="{BB962C8B-B14F-4D97-AF65-F5344CB8AC3E}">
        <p14:creationId xmlns:p14="http://schemas.microsoft.com/office/powerpoint/2010/main" val="3843800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6916D0-322B-C372-C9BF-1B36C86115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AEAEDE0-842E-77C8-133D-F63DDA93A44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D07FD6-7A13-81B7-6977-11651FC22196}"/>
              </a:ext>
            </a:extLst>
          </p:cNvPr>
          <p:cNvSpPr>
            <a:spLocks noGrp="1"/>
          </p:cNvSpPr>
          <p:nvPr>
            <p:ph type="dt" sz="half" idx="10"/>
          </p:nvPr>
        </p:nvSpPr>
        <p:spPr/>
        <p:txBody>
          <a:bodyPr/>
          <a:lstStyle/>
          <a:p>
            <a:fld id="{31CA2CE6-FDEB-4DBF-BD6E-38D87A80ADDE}" type="datetime1">
              <a:rPr lang="en-US" smtClean="0"/>
              <a:t>6/13/2026</a:t>
            </a:fld>
            <a:endParaRPr lang="en-US"/>
          </a:p>
        </p:txBody>
      </p:sp>
      <p:sp>
        <p:nvSpPr>
          <p:cNvPr id="5" name="Footer Placeholder 4">
            <a:extLst>
              <a:ext uri="{FF2B5EF4-FFF2-40B4-BE49-F238E27FC236}">
                <a16:creationId xmlns:a16="http://schemas.microsoft.com/office/drawing/2014/main" id="{272216F4-73BB-FD19-2D74-D4119E6BCE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238908-AE6F-F82F-E4B0-A11F47E34AA9}"/>
              </a:ext>
            </a:extLst>
          </p:cNvPr>
          <p:cNvSpPr>
            <a:spLocks noGrp="1"/>
          </p:cNvSpPr>
          <p:nvPr>
            <p:ph type="sldNum" sz="quarter" idx="12"/>
          </p:nvPr>
        </p:nvSpPr>
        <p:spPr/>
        <p:txBody>
          <a:bodyPr/>
          <a:lstStyle/>
          <a:p>
            <a:fld id="{FA5D76E8-8AD6-443B-8B81-1688B2EC3502}" type="slidenum">
              <a:rPr lang="en-US" smtClean="0"/>
              <a:t>‹#›</a:t>
            </a:fld>
            <a:endParaRPr lang="en-US"/>
          </a:p>
        </p:txBody>
      </p:sp>
    </p:spTree>
    <p:extLst>
      <p:ext uri="{BB962C8B-B14F-4D97-AF65-F5344CB8AC3E}">
        <p14:creationId xmlns:p14="http://schemas.microsoft.com/office/powerpoint/2010/main" val="4188991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5CA869-AECB-5BCE-F312-1D59F253C9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569741-A5F5-CB19-4302-C793BCD61F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97DA8F-0270-FB32-9BE7-F0C06E2328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F60DDA6-A3DC-4000-8513-E977F0010E5D}" type="datetime1">
              <a:rPr lang="en-US" smtClean="0"/>
              <a:t>6/13/2026</a:t>
            </a:fld>
            <a:endParaRPr lang="en-US"/>
          </a:p>
        </p:txBody>
      </p:sp>
      <p:sp>
        <p:nvSpPr>
          <p:cNvPr id="5" name="Footer Placeholder 4">
            <a:extLst>
              <a:ext uri="{FF2B5EF4-FFF2-40B4-BE49-F238E27FC236}">
                <a16:creationId xmlns:a16="http://schemas.microsoft.com/office/drawing/2014/main" id="{298601E1-CBFE-7371-58A9-60FA467634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7E02374-DD5F-9D5A-BC75-952A32F2D5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A5D76E8-8AD6-443B-8B81-1688B2EC3502}" type="slidenum">
              <a:rPr lang="en-US" smtClean="0"/>
              <a:t>‹#›</a:t>
            </a:fld>
            <a:endParaRPr lang="en-US"/>
          </a:p>
        </p:txBody>
      </p:sp>
    </p:spTree>
    <p:extLst>
      <p:ext uri="{BB962C8B-B14F-4D97-AF65-F5344CB8AC3E}">
        <p14:creationId xmlns:p14="http://schemas.microsoft.com/office/powerpoint/2010/main" val="23429236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jpe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jpe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4.png"/><Relationship Id="rId7" Type="http://schemas.openxmlformats.org/officeDocument/2006/relationships/diagramColors" Target="../diagrams/colors3.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36.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4.png"/><Relationship Id="rId7" Type="http://schemas.openxmlformats.org/officeDocument/2006/relationships/diagramColors" Target="../diagrams/colors4.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4.png"/><Relationship Id="rId7" Type="http://schemas.openxmlformats.org/officeDocument/2006/relationships/diagramColors" Target="../diagrams/colors5.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00.png"/></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8.sv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png"/></Relationships>
</file>

<file path=ppt/slides/_rels/slide6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6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7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19.png"/></Relationships>
</file>

<file path=ppt/slides/_rels/slide7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7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7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7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7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7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1.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268D5-C2D1-16B8-42D7-2C1EA1C77D12}"/>
              </a:ext>
            </a:extLst>
          </p:cNvPr>
          <p:cNvSpPr>
            <a:spLocks noGrp="1"/>
          </p:cNvSpPr>
          <p:nvPr>
            <p:ph type="ctrTitle"/>
          </p:nvPr>
        </p:nvSpPr>
        <p:spPr>
          <a:xfrm>
            <a:off x="1524000" y="1600200"/>
            <a:ext cx="9144000" cy="2499851"/>
          </a:xfrm>
        </p:spPr>
        <p:txBody>
          <a:bodyPr>
            <a:noAutofit/>
          </a:bodyPr>
          <a:lstStyle/>
          <a:p>
            <a:r>
              <a:rPr lang="en-US" sz="3200" b="1" dirty="0"/>
              <a:t>A HYBRID WEB-BASED FRAMEWORK FOR UNIVERSITY COURSE TIMETABLING PROBLEM USING EVOLUTIONARY ALGORITHMS</a:t>
            </a:r>
            <a:br>
              <a:rPr lang="en-US" sz="3200" dirty="0"/>
            </a:br>
            <a:endParaRPr lang="en-US" sz="3200" dirty="0"/>
          </a:p>
        </p:txBody>
      </p:sp>
      <p:sp>
        <p:nvSpPr>
          <p:cNvPr id="3" name="Subtitle 2">
            <a:extLst>
              <a:ext uri="{FF2B5EF4-FFF2-40B4-BE49-F238E27FC236}">
                <a16:creationId xmlns:a16="http://schemas.microsoft.com/office/drawing/2014/main" id="{45998FC0-F775-5152-FE5C-185F0863D304}"/>
              </a:ext>
            </a:extLst>
          </p:cNvPr>
          <p:cNvSpPr>
            <a:spLocks noGrp="1"/>
          </p:cNvSpPr>
          <p:nvPr>
            <p:ph type="subTitle" idx="1"/>
          </p:nvPr>
        </p:nvSpPr>
        <p:spPr>
          <a:xfrm>
            <a:off x="1524000" y="4689988"/>
            <a:ext cx="9144000" cy="1406012"/>
          </a:xfrm>
        </p:spPr>
        <p:txBody>
          <a:bodyPr/>
          <a:lstStyle/>
          <a:p>
            <a:r>
              <a:rPr lang="en-US" b="1" dirty="0"/>
              <a:t>Supervised by:</a:t>
            </a:r>
            <a:endParaRPr lang="en-US" dirty="0"/>
          </a:p>
          <a:p>
            <a:r>
              <a:rPr lang="en-US" b="1" dirty="0"/>
              <a:t>Dr. Amr S. Ghoneim</a:t>
            </a:r>
            <a:endParaRPr lang="en-US" dirty="0"/>
          </a:p>
          <a:p>
            <a:r>
              <a:rPr lang="en-US" b="1" dirty="0"/>
              <a:t>June 2026</a:t>
            </a:r>
            <a:endParaRPr lang="en-US" dirty="0"/>
          </a:p>
          <a:p>
            <a:endParaRPr lang="en-US" dirty="0"/>
          </a:p>
        </p:txBody>
      </p:sp>
      <p:sp>
        <p:nvSpPr>
          <p:cNvPr id="10" name="Freeform: Shape 9">
            <a:extLst>
              <a:ext uri="{FF2B5EF4-FFF2-40B4-BE49-F238E27FC236}">
                <a16:creationId xmlns:a16="http://schemas.microsoft.com/office/drawing/2014/main" id="{2873BEB8-A849-1020-1F48-CF665B4138E1}"/>
              </a:ext>
            </a:extLst>
          </p:cNvPr>
          <p:cNvSpPr/>
          <p:nvPr/>
        </p:nvSpPr>
        <p:spPr>
          <a:xfrm>
            <a:off x="0" y="0"/>
            <a:ext cx="12192000" cy="1229032"/>
          </a:xfrm>
          <a:custGeom>
            <a:avLst/>
            <a:gdLst>
              <a:gd name="csX0" fmla="*/ 11189109 w 12192000"/>
              <a:gd name="csY0" fmla="*/ 0 h 1122363"/>
              <a:gd name="csX1" fmla="*/ 12192000 w 12192000"/>
              <a:gd name="csY1" fmla="*/ 0 h 1122363"/>
              <a:gd name="csX2" fmla="*/ 12192000 w 12192000"/>
              <a:gd name="csY2" fmla="*/ 1122363 h 1122363"/>
              <a:gd name="csX3" fmla="*/ 11189109 w 12192000"/>
              <a:gd name="csY3" fmla="*/ 1122363 h 1122363"/>
              <a:gd name="csX4" fmla="*/ 0 w 12192000"/>
              <a:gd name="csY4" fmla="*/ 0 h 1122363"/>
              <a:gd name="csX5" fmla="*/ 10156722 w 12192000"/>
              <a:gd name="csY5" fmla="*/ 0 h 1122363"/>
              <a:gd name="csX6" fmla="*/ 10156722 w 12192000"/>
              <a:gd name="csY6" fmla="*/ 1122363 h 1122363"/>
              <a:gd name="csX7" fmla="*/ 0 w 12192000"/>
              <a:gd name="csY7" fmla="*/ 1122363 h 11223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1122363">
                <a:moveTo>
                  <a:pt x="11189109" y="0"/>
                </a:moveTo>
                <a:lnTo>
                  <a:pt x="12192000" y="0"/>
                </a:lnTo>
                <a:lnTo>
                  <a:pt x="12192000" y="1122363"/>
                </a:lnTo>
                <a:lnTo>
                  <a:pt x="11189109" y="1122363"/>
                </a:lnTo>
                <a:close/>
                <a:moveTo>
                  <a:pt x="0" y="0"/>
                </a:moveTo>
                <a:lnTo>
                  <a:pt x="10156722" y="0"/>
                </a:lnTo>
                <a:lnTo>
                  <a:pt x="10156722" y="1122363"/>
                </a:lnTo>
                <a:lnTo>
                  <a:pt x="0" y="1122363"/>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2" name="Picture 11">
            <a:extLst>
              <a:ext uri="{FF2B5EF4-FFF2-40B4-BE49-F238E27FC236}">
                <a16:creationId xmlns:a16="http://schemas.microsoft.com/office/drawing/2014/main" id="{21A50B8E-F6AE-0DDE-EE03-60E227877A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82224" y="0"/>
            <a:ext cx="1006885" cy="1229032"/>
          </a:xfrm>
          <a:prstGeom prst="rect">
            <a:avLst/>
          </a:prstGeom>
        </p:spPr>
      </p:pic>
    </p:spTree>
    <p:extLst>
      <p:ext uri="{BB962C8B-B14F-4D97-AF65-F5344CB8AC3E}">
        <p14:creationId xmlns:p14="http://schemas.microsoft.com/office/powerpoint/2010/main" val="23364461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38AB6-999B-714A-0DD2-3BA0EBFBEE72}"/>
              </a:ext>
            </a:extLst>
          </p:cNvPr>
          <p:cNvSpPr>
            <a:spLocks noGrp="1"/>
          </p:cNvSpPr>
          <p:nvPr>
            <p:ph type="title"/>
          </p:nvPr>
        </p:nvSpPr>
        <p:spPr/>
        <p:txBody>
          <a:bodyPr>
            <a:normAutofit/>
          </a:bodyPr>
          <a:lstStyle/>
          <a:p>
            <a:r>
              <a:rPr lang="en-US" sz="3600" b="1" dirty="0"/>
              <a:t>Outlines:</a:t>
            </a:r>
          </a:p>
        </p:txBody>
      </p:sp>
      <p:pic>
        <p:nvPicPr>
          <p:cNvPr id="9" name="Picture Placeholder 8">
            <a:extLst>
              <a:ext uri="{FF2B5EF4-FFF2-40B4-BE49-F238E27FC236}">
                <a16:creationId xmlns:a16="http://schemas.microsoft.com/office/drawing/2014/main" id="{D47FA676-B5B0-B551-278D-23CCC4EB9FE5}"/>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190" r="190"/>
          <a:stretch>
            <a:fillRect/>
          </a:stretch>
        </p:blipFill>
        <p:spPr>
          <a:xfrm>
            <a:off x="7285702" y="2981496"/>
            <a:ext cx="4069685" cy="2879553"/>
          </a:xfrm>
          <a:prstGeom prst="rect">
            <a:avLst/>
          </a:prstGeom>
        </p:spPr>
      </p:pic>
      <p:sp>
        <p:nvSpPr>
          <p:cNvPr id="4" name="Text Placeholder 3">
            <a:extLst>
              <a:ext uri="{FF2B5EF4-FFF2-40B4-BE49-F238E27FC236}">
                <a16:creationId xmlns:a16="http://schemas.microsoft.com/office/drawing/2014/main" id="{6CB12F93-6671-B807-8EE8-D0138B11EC3F}"/>
              </a:ext>
            </a:extLst>
          </p:cNvPr>
          <p:cNvSpPr>
            <a:spLocks noGrp="1"/>
          </p:cNvSpPr>
          <p:nvPr>
            <p:ph type="body" sz="half" idx="2"/>
          </p:nvPr>
        </p:nvSpPr>
        <p:spPr>
          <a:xfrm>
            <a:off x="839788" y="2057399"/>
            <a:ext cx="6032960" cy="4225413"/>
          </a:xfrm>
        </p:spPr>
        <p:txBody>
          <a:bodyPr>
            <a:noAutofit/>
          </a:bodyPr>
          <a:lstStyle/>
          <a:p>
            <a:pPr marL="457200" indent="-457200">
              <a:buFont typeface="Arial" panose="020B0604020202020204" pitchFamily="34" charset="0"/>
              <a:buChar char="•"/>
            </a:pPr>
            <a:r>
              <a:rPr lang="en-US" sz="2400" b="1" dirty="0">
                <a:solidFill>
                  <a:schemeClr val="tx1">
                    <a:lumMod val="95000"/>
                    <a:lumOff val="5000"/>
                  </a:schemeClr>
                </a:solidFill>
              </a:rPr>
              <a:t>Introduction and background</a:t>
            </a:r>
          </a:p>
          <a:p>
            <a:pPr marL="457200" indent="-457200">
              <a:buFont typeface="Arial" panose="020B0604020202020204" pitchFamily="34" charset="0"/>
              <a:buChar char="•"/>
            </a:pPr>
            <a:r>
              <a:rPr lang="en-US" sz="2400" b="1" dirty="0">
                <a:solidFill>
                  <a:schemeClr val="tx1">
                    <a:lumMod val="95000"/>
                    <a:lumOff val="5000"/>
                  </a:schemeClr>
                </a:solidFill>
              </a:rPr>
              <a:t>Problem definition</a:t>
            </a:r>
          </a:p>
          <a:p>
            <a:pPr marL="457200" indent="-457200">
              <a:buFont typeface="Arial" panose="020B0604020202020204" pitchFamily="34" charset="0"/>
              <a:buChar char="•"/>
            </a:pPr>
            <a:r>
              <a:rPr lang="en-US" sz="2400" b="1" dirty="0">
                <a:solidFill>
                  <a:schemeClr val="tx1">
                    <a:lumMod val="95000"/>
                    <a:lumOff val="5000"/>
                  </a:schemeClr>
                </a:solidFill>
              </a:rPr>
              <a:t>Used datasets</a:t>
            </a:r>
          </a:p>
          <a:p>
            <a:pPr marL="457200" indent="-457200">
              <a:buFont typeface="Arial" panose="020B0604020202020204" pitchFamily="34" charset="0"/>
              <a:buChar char="•"/>
            </a:pPr>
            <a:r>
              <a:rPr lang="en-US" sz="2400" b="1" dirty="0">
                <a:solidFill>
                  <a:schemeClr val="tx1">
                    <a:lumMod val="95000"/>
                    <a:lumOff val="5000"/>
                  </a:schemeClr>
                </a:solidFill>
              </a:rPr>
              <a:t>The Proposed Memetic Algorithm (MA)</a:t>
            </a:r>
            <a:endParaRPr lang="ar-EG" sz="2400" b="1" dirty="0">
              <a:solidFill>
                <a:schemeClr val="tx1">
                  <a:lumMod val="95000"/>
                  <a:lumOff val="5000"/>
                </a:schemeClr>
              </a:solidFill>
            </a:endParaRPr>
          </a:p>
          <a:p>
            <a:pPr marL="457200" indent="-457200">
              <a:buFont typeface="Arial" panose="020B0604020202020204" pitchFamily="34" charset="0"/>
              <a:buChar char="•"/>
            </a:pPr>
            <a:r>
              <a:rPr lang="en-US" sz="2400" b="1" dirty="0"/>
              <a:t>Proposed Hybrid Methods</a:t>
            </a:r>
            <a:endParaRPr lang="en-US" sz="2400" b="1" dirty="0">
              <a:solidFill>
                <a:schemeClr val="tx1">
                  <a:lumMod val="95000"/>
                  <a:lumOff val="5000"/>
                </a:schemeClr>
              </a:solidFill>
            </a:endParaRPr>
          </a:p>
          <a:p>
            <a:pPr marL="457200" indent="-457200">
              <a:buFont typeface="Arial" panose="020B0604020202020204" pitchFamily="34" charset="0"/>
              <a:buChar char="•"/>
            </a:pPr>
            <a:r>
              <a:rPr lang="en-US" sz="2400" b="1" dirty="0">
                <a:solidFill>
                  <a:schemeClr val="tx1">
                    <a:lumMod val="95000"/>
                    <a:lumOff val="5000"/>
                  </a:schemeClr>
                </a:solidFill>
              </a:rPr>
              <a:t>Multi-Objective UCTP</a:t>
            </a:r>
          </a:p>
          <a:p>
            <a:pPr marL="457200" indent="-457200">
              <a:buFont typeface="Arial" panose="020B0604020202020204" pitchFamily="34" charset="0"/>
              <a:buChar char="•"/>
            </a:pPr>
            <a:r>
              <a:rPr lang="en-US" sz="2400" b="1" dirty="0"/>
              <a:t>Cultural Algorithm</a:t>
            </a:r>
            <a:endParaRPr lang="en-US" sz="2400" b="1" dirty="0">
              <a:solidFill>
                <a:schemeClr val="tx1">
                  <a:lumMod val="95000"/>
                  <a:lumOff val="5000"/>
                </a:schemeClr>
              </a:solidFill>
            </a:endParaRPr>
          </a:p>
          <a:p>
            <a:pPr marL="457200" indent="-457200">
              <a:buFont typeface="Arial" panose="020B0604020202020204" pitchFamily="34" charset="0"/>
              <a:buChar char="•"/>
            </a:pPr>
            <a:r>
              <a:rPr lang="en-US" sz="2400" b="1" dirty="0">
                <a:solidFill>
                  <a:schemeClr val="tx1">
                    <a:lumMod val="95000"/>
                    <a:lumOff val="5000"/>
                  </a:schemeClr>
                </a:solidFill>
              </a:rPr>
              <a:t>System Architecture</a:t>
            </a:r>
          </a:p>
          <a:p>
            <a:pPr marL="457200" indent="-457200">
              <a:buFont typeface="Arial" panose="020B0604020202020204" pitchFamily="34" charset="0"/>
              <a:buChar char="•"/>
            </a:pPr>
            <a:r>
              <a:rPr lang="en-US" sz="2400" b="1" dirty="0">
                <a:solidFill>
                  <a:schemeClr val="tx1">
                    <a:lumMod val="95000"/>
                    <a:lumOff val="5000"/>
                  </a:schemeClr>
                </a:solidFill>
              </a:rPr>
              <a:t>Conclusion and Future Work</a:t>
            </a:r>
          </a:p>
        </p:txBody>
      </p:sp>
      <p:sp>
        <p:nvSpPr>
          <p:cNvPr id="5" name="Slide Number Placeholder 4">
            <a:extLst>
              <a:ext uri="{FF2B5EF4-FFF2-40B4-BE49-F238E27FC236}">
                <a16:creationId xmlns:a16="http://schemas.microsoft.com/office/drawing/2014/main" id="{D89A5DEA-E8DF-3240-48EA-51DF0BEE004A}"/>
              </a:ext>
            </a:extLst>
          </p:cNvPr>
          <p:cNvSpPr>
            <a:spLocks noGrp="1"/>
          </p:cNvSpPr>
          <p:nvPr>
            <p:ph type="sldNum" sz="quarter" idx="12"/>
          </p:nvPr>
        </p:nvSpPr>
        <p:spPr/>
        <p:txBody>
          <a:bodyPr/>
          <a:lstStyle/>
          <a:p>
            <a:fld id="{FA5D76E8-8AD6-443B-8B81-1688B2EC3502}" type="slidenum">
              <a:rPr lang="en-US" smtClean="0"/>
              <a:t>2</a:t>
            </a:fld>
            <a:endParaRPr lang="en-US"/>
          </a:p>
        </p:txBody>
      </p:sp>
      <p:sp>
        <p:nvSpPr>
          <p:cNvPr id="6" name="Freeform: Shape 5">
            <a:extLst>
              <a:ext uri="{FF2B5EF4-FFF2-40B4-BE49-F238E27FC236}">
                <a16:creationId xmlns:a16="http://schemas.microsoft.com/office/drawing/2014/main" id="{F3E56FB6-A17C-9239-BFAF-E0DC31E6BC3D}"/>
              </a:ext>
            </a:extLst>
          </p:cNvPr>
          <p:cNvSpPr/>
          <p:nvPr/>
        </p:nvSpPr>
        <p:spPr>
          <a:xfrm>
            <a:off x="0" y="0"/>
            <a:ext cx="12192000" cy="1229032"/>
          </a:xfrm>
          <a:custGeom>
            <a:avLst/>
            <a:gdLst>
              <a:gd name="csX0" fmla="*/ 11189109 w 12192000"/>
              <a:gd name="csY0" fmla="*/ 0 h 1122363"/>
              <a:gd name="csX1" fmla="*/ 12192000 w 12192000"/>
              <a:gd name="csY1" fmla="*/ 0 h 1122363"/>
              <a:gd name="csX2" fmla="*/ 12192000 w 12192000"/>
              <a:gd name="csY2" fmla="*/ 1122363 h 1122363"/>
              <a:gd name="csX3" fmla="*/ 11189109 w 12192000"/>
              <a:gd name="csY3" fmla="*/ 1122363 h 1122363"/>
              <a:gd name="csX4" fmla="*/ 0 w 12192000"/>
              <a:gd name="csY4" fmla="*/ 0 h 1122363"/>
              <a:gd name="csX5" fmla="*/ 10156722 w 12192000"/>
              <a:gd name="csY5" fmla="*/ 0 h 1122363"/>
              <a:gd name="csX6" fmla="*/ 10156722 w 12192000"/>
              <a:gd name="csY6" fmla="*/ 1122363 h 1122363"/>
              <a:gd name="csX7" fmla="*/ 0 w 12192000"/>
              <a:gd name="csY7" fmla="*/ 1122363 h 11223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1122363">
                <a:moveTo>
                  <a:pt x="11189109" y="0"/>
                </a:moveTo>
                <a:lnTo>
                  <a:pt x="12192000" y="0"/>
                </a:lnTo>
                <a:lnTo>
                  <a:pt x="12192000" y="1122363"/>
                </a:lnTo>
                <a:lnTo>
                  <a:pt x="11189109" y="1122363"/>
                </a:lnTo>
                <a:close/>
                <a:moveTo>
                  <a:pt x="0" y="0"/>
                </a:moveTo>
                <a:lnTo>
                  <a:pt x="10156722" y="0"/>
                </a:lnTo>
                <a:lnTo>
                  <a:pt x="10156722" y="1122363"/>
                </a:lnTo>
                <a:lnTo>
                  <a:pt x="0" y="1122363"/>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Picture 6">
            <a:extLst>
              <a:ext uri="{FF2B5EF4-FFF2-40B4-BE49-F238E27FC236}">
                <a16:creationId xmlns:a16="http://schemas.microsoft.com/office/drawing/2014/main" id="{594E6B8D-77EA-6FE9-C708-55AB711631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82224" y="0"/>
            <a:ext cx="1006885" cy="1229032"/>
          </a:xfrm>
          <a:prstGeom prst="rect">
            <a:avLst/>
          </a:prstGeom>
        </p:spPr>
      </p:pic>
    </p:spTree>
    <p:extLst>
      <p:ext uri="{BB962C8B-B14F-4D97-AF65-F5344CB8AC3E}">
        <p14:creationId xmlns:p14="http://schemas.microsoft.com/office/powerpoint/2010/main" val="36491656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E2BF2-2217-AA4D-BAE0-4D72C3263191}"/>
              </a:ext>
            </a:extLst>
          </p:cNvPr>
          <p:cNvSpPr>
            <a:spLocks noGrp="1"/>
          </p:cNvSpPr>
          <p:nvPr>
            <p:ph type="title"/>
          </p:nvPr>
        </p:nvSpPr>
        <p:spPr>
          <a:xfrm>
            <a:off x="1935681" y="1487690"/>
            <a:ext cx="10232571" cy="725511"/>
          </a:xfrm>
        </p:spPr>
        <p:txBody>
          <a:bodyPr>
            <a:noAutofit/>
          </a:bodyPr>
          <a:lstStyle/>
          <a:p>
            <a:pPr algn="ctr"/>
            <a:r>
              <a:rPr lang="en-US" sz="3600" b="1" dirty="0">
                <a:solidFill>
                  <a:schemeClr val="tx1">
                    <a:lumMod val="95000"/>
                    <a:lumOff val="5000"/>
                  </a:schemeClr>
                </a:solidFill>
              </a:rPr>
              <a:t>Scheduling vs. Timetabling:</a:t>
            </a:r>
            <a:br>
              <a:rPr lang="en-US" sz="3600" b="1" dirty="0">
                <a:solidFill>
                  <a:schemeClr val="tx1">
                    <a:lumMod val="95000"/>
                    <a:lumOff val="5000"/>
                  </a:schemeClr>
                </a:solidFill>
              </a:rPr>
            </a:br>
            <a:endParaRPr lang="en-US" sz="3600" dirty="0"/>
          </a:p>
        </p:txBody>
      </p:sp>
      <p:sp>
        <p:nvSpPr>
          <p:cNvPr id="3" name="Text Placeholder 2">
            <a:extLst>
              <a:ext uri="{FF2B5EF4-FFF2-40B4-BE49-F238E27FC236}">
                <a16:creationId xmlns:a16="http://schemas.microsoft.com/office/drawing/2014/main" id="{CBC40BC4-FC1E-9631-DB56-7A445AE6A72B}"/>
              </a:ext>
            </a:extLst>
          </p:cNvPr>
          <p:cNvSpPr>
            <a:spLocks noGrp="1"/>
          </p:cNvSpPr>
          <p:nvPr>
            <p:ph type="body" idx="1"/>
          </p:nvPr>
        </p:nvSpPr>
        <p:spPr>
          <a:xfrm>
            <a:off x="1948542" y="2213201"/>
            <a:ext cx="4992914" cy="1215798"/>
          </a:xfrm>
        </p:spPr>
        <p:txBody>
          <a:bodyPr/>
          <a:lstStyle/>
          <a:p>
            <a:pPr algn="ctr"/>
            <a:r>
              <a:rPr lang="en-US" sz="3200" dirty="0">
                <a:solidFill>
                  <a:schemeClr val="tx1">
                    <a:lumMod val="95000"/>
                    <a:lumOff val="5000"/>
                  </a:schemeClr>
                </a:solidFill>
              </a:rPr>
              <a:t>Timetabling:</a:t>
            </a:r>
          </a:p>
          <a:p>
            <a:endParaRPr lang="en-US" dirty="0"/>
          </a:p>
        </p:txBody>
      </p:sp>
      <p:sp>
        <p:nvSpPr>
          <p:cNvPr id="4" name="Content Placeholder 3">
            <a:extLst>
              <a:ext uri="{FF2B5EF4-FFF2-40B4-BE49-F238E27FC236}">
                <a16:creationId xmlns:a16="http://schemas.microsoft.com/office/drawing/2014/main" id="{CBD1CBB7-657B-1F71-9A64-615E7A467ED4}"/>
              </a:ext>
            </a:extLst>
          </p:cNvPr>
          <p:cNvSpPr>
            <a:spLocks noGrp="1"/>
          </p:cNvSpPr>
          <p:nvPr>
            <p:ph sz="half" idx="2"/>
          </p:nvPr>
        </p:nvSpPr>
        <p:spPr>
          <a:xfrm>
            <a:off x="1848463" y="3179988"/>
            <a:ext cx="5036522" cy="3678012"/>
          </a:xfrm>
        </p:spPr>
        <p:txBody>
          <a:bodyPr/>
          <a:lstStyle/>
          <a:p>
            <a:r>
              <a:rPr lang="en-US" sz="2400" dirty="0"/>
              <a:t>Allocates available resources to predefined events. </a:t>
            </a:r>
          </a:p>
          <a:p>
            <a:r>
              <a:rPr lang="en-US" sz="2400" dirty="0"/>
              <a:t>Subject to various constraints. </a:t>
            </a:r>
          </a:p>
          <a:p>
            <a:r>
              <a:rPr lang="en-US" sz="2400" dirty="0"/>
              <a:t>Aims to satisfy objectives as effectively as possible. </a:t>
            </a:r>
          </a:p>
          <a:p>
            <a:r>
              <a:rPr lang="en-US" sz="2400" dirty="0"/>
              <a:t>Ensures availability of: </a:t>
            </a:r>
          </a:p>
          <a:p>
            <a:pPr lvl="1"/>
            <a:r>
              <a:rPr lang="en-US" dirty="0"/>
              <a:t>Personnel </a:t>
            </a:r>
          </a:p>
          <a:p>
            <a:pPr lvl="1"/>
            <a:r>
              <a:rPr lang="en-US" dirty="0"/>
              <a:t>Facilities </a:t>
            </a:r>
          </a:p>
          <a:p>
            <a:pPr lvl="1"/>
            <a:r>
              <a:rPr lang="en-US" dirty="0"/>
              <a:t>Equipment</a:t>
            </a:r>
          </a:p>
          <a:p>
            <a:endParaRPr lang="en-US" dirty="0"/>
          </a:p>
        </p:txBody>
      </p:sp>
      <p:sp>
        <p:nvSpPr>
          <p:cNvPr id="5" name="Text Placeholder 4">
            <a:extLst>
              <a:ext uri="{FF2B5EF4-FFF2-40B4-BE49-F238E27FC236}">
                <a16:creationId xmlns:a16="http://schemas.microsoft.com/office/drawing/2014/main" id="{E169499C-8E71-667E-3C0A-2EBBCDBCA5DE}"/>
              </a:ext>
            </a:extLst>
          </p:cNvPr>
          <p:cNvSpPr>
            <a:spLocks noGrp="1"/>
          </p:cNvSpPr>
          <p:nvPr>
            <p:ph type="body" sz="quarter" idx="3"/>
          </p:nvPr>
        </p:nvSpPr>
        <p:spPr>
          <a:xfrm>
            <a:off x="6985064" y="2213200"/>
            <a:ext cx="5183188" cy="1215799"/>
          </a:xfrm>
        </p:spPr>
        <p:txBody>
          <a:bodyPr/>
          <a:lstStyle/>
          <a:p>
            <a:pPr algn="ctr"/>
            <a:r>
              <a:rPr lang="en-US" sz="3200" dirty="0">
                <a:solidFill>
                  <a:schemeClr val="tx1">
                    <a:lumMod val="95000"/>
                    <a:lumOff val="5000"/>
                  </a:schemeClr>
                </a:solidFill>
              </a:rPr>
              <a:t>Scheduling</a:t>
            </a:r>
            <a:r>
              <a:rPr lang="en-US" sz="3200" dirty="0">
                <a:solidFill>
                  <a:schemeClr val="tx1">
                    <a:lumMod val="75000"/>
                    <a:lumOff val="25000"/>
                  </a:schemeClr>
                </a:solidFill>
              </a:rPr>
              <a:t>:</a:t>
            </a:r>
          </a:p>
          <a:p>
            <a:endParaRPr lang="en-US" dirty="0"/>
          </a:p>
        </p:txBody>
      </p:sp>
      <p:sp>
        <p:nvSpPr>
          <p:cNvPr id="6" name="Content Placeholder 5">
            <a:extLst>
              <a:ext uri="{FF2B5EF4-FFF2-40B4-BE49-F238E27FC236}">
                <a16:creationId xmlns:a16="http://schemas.microsoft.com/office/drawing/2014/main" id="{15C1DC93-6059-CE58-B597-35BA5E67F546}"/>
              </a:ext>
            </a:extLst>
          </p:cNvPr>
          <p:cNvSpPr>
            <a:spLocks noGrp="1"/>
          </p:cNvSpPr>
          <p:nvPr>
            <p:ph sz="quarter" idx="4"/>
          </p:nvPr>
        </p:nvSpPr>
        <p:spPr>
          <a:xfrm>
            <a:off x="6997926" y="3179988"/>
            <a:ext cx="5183188" cy="3678012"/>
          </a:xfrm>
        </p:spPr>
        <p:txBody>
          <a:bodyPr/>
          <a:lstStyle/>
          <a:p>
            <a:r>
              <a:rPr lang="en-US" sz="2400" dirty="0">
                <a:solidFill>
                  <a:schemeClr val="tx1">
                    <a:lumMod val="95000"/>
                    <a:lumOff val="5000"/>
                  </a:schemeClr>
                </a:solidFill>
              </a:rPr>
              <a:t>Allocates resources to tasks across time and space. </a:t>
            </a:r>
          </a:p>
          <a:p>
            <a:pPr marL="342900" indent="-342900"/>
            <a:r>
              <a:rPr lang="en-US" sz="2400" dirty="0">
                <a:solidFill>
                  <a:schemeClr val="tx1">
                    <a:lumMod val="95000"/>
                    <a:lumOff val="5000"/>
                  </a:schemeClr>
                </a:solidFill>
              </a:rPr>
              <a:t>Subject to operational constraints. </a:t>
            </a:r>
          </a:p>
          <a:p>
            <a:pPr marL="342900" indent="-342900"/>
            <a:r>
              <a:rPr lang="en-US" sz="2400" dirty="0">
                <a:solidFill>
                  <a:schemeClr val="tx1">
                    <a:lumMod val="95000"/>
                    <a:lumOff val="5000"/>
                  </a:schemeClr>
                </a:solidFill>
              </a:rPr>
              <a:t>Focuses on minimizing resource usage or total cost. </a:t>
            </a:r>
          </a:p>
          <a:p>
            <a:pPr marL="285750" indent="-285750"/>
            <a:r>
              <a:rPr lang="en-US" sz="2400" dirty="0">
                <a:solidFill>
                  <a:schemeClr val="tx1">
                    <a:lumMod val="95000"/>
                    <a:lumOff val="5000"/>
                  </a:schemeClr>
                </a:solidFill>
              </a:rPr>
              <a:t>Common applications: </a:t>
            </a:r>
          </a:p>
          <a:p>
            <a:pPr marL="742950" lvl="1" indent="-285750"/>
            <a:r>
              <a:rPr lang="en-US" dirty="0">
                <a:solidFill>
                  <a:schemeClr val="tx1">
                    <a:lumMod val="95000"/>
                    <a:lumOff val="5000"/>
                  </a:schemeClr>
                </a:solidFill>
              </a:rPr>
              <a:t>Production planning </a:t>
            </a:r>
          </a:p>
          <a:p>
            <a:pPr marL="742950" lvl="1" indent="-285750"/>
            <a:r>
              <a:rPr lang="en-US" dirty="0">
                <a:solidFill>
                  <a:schemeClr val="tx1">
                    <a:lumMod val="95000"/>
                    <a:lumOff val="5000"/>
                  </a:schemeClr>
                </a:solidFill>
              </a:rPr>
              <a:t>Employee shift scheduling </a:t>
            </a:r>
          </a:p>
          <a:p>
            <a:pPr marL="742950" lvl="1" indent="-285750"/>
            <a:r>
              <a:rPr lang="en-US" dirty="0">
                <a:solidFill>
                  <a:schemeClr val="tx1">
                    <a:lumMod val="95000"/>
                    <a:lumOff val="5000"/>
                  </a:schemeClr>
                </a:solidFill>
              </a:rPr>
              <a:t>Project management</a:t>
            </a:r>
          </a:p>
          <a:p>
            <a:endParaRPr lang="en-US" dirty="0"/>
          </a:p>
        </p:txBody>
      </p:sp>
      <p:sp>
        <p:nvSpPr>
          <p:cNvPr id="7" name="Slide Number Placeholder 6">
            <a:extLst>
              <a:ext uri="{FF2B5EF4-FFF2-40B4-BE49-F238E27FC236}">
                <a16:creationId xmlns:a16="http://schemas.microsoft.com/office/drawing/2014/main" id="{99CEC9DC-4627-CDA6-D02D-61BC51A1E270}"/>
              </a:ext>
            </a:extLst>
          </p:cNvPr>
          <p:cNvSpPr>
            <a:spLocks noGrp="1"/>
          </p:cNvSpPr>
          <p:nvPr>
            <p:ph type="sldNum" sz="quarter" idx="12"/>
          </p:nvPr>
        </p:nvSpPr>
        <p:spPr/>
        <p:txBody>
          <a:bodyPr/>
          <a:lstStyle/>
          <a:p>
            <a:fld id="{FA5D76E8-8AD6-443B-8B81-1688B2EC3502}" type="slidenum">
              <a:rPr lang="en-US" smtClean="0"/>
              <a:t>3</a:t>
            </a:fld>
            <a:endParaRPr lang="en-US"/>
          </a:p>
        </p:txBody>
      </p:sp>
      <p:sp>
        <p:nvSpPr>
          <p:cNvPr id="8" name="Rectangle 7">
            <a:extLst>
              <a:ext uri="{FF2B5EF4-FFF2-40B4-BE49-F238E27FC236}">
                <a16:creationId xmlns:a16="http://schemas.microsoft.com/office/drawing/2014/main" id="{E821F1AD-ADD9-43CB-FED3-8ED0071F75DF}"/>
              </a:ext>
            </a:extLst>
          </p:cNvPr>
          <p:cNvSpPr/>
          <p:nvPr/>
        </p:nvSpPr>
        <p:spPr>
          <a:xfrm>
            <a:off x="0" y="0"/>
            <a:ext cx="1848464" cy="6858000"/>
          </a:xfrm>
          <a:prstGeom prst="rect">
            <a:avLst/>
          </a:prstGeom>
          <a:ln>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20">
            <a:extLst>
              <a:ext uri="{FF2B5EF4-FFF2-40B4-BE49-F238E27FC236}">
                <a16:creationId xmlns:a16="http://schemas.microsoft.com/office/drawing/2014/main" id="{155A0078-2557-FA62-0E41-2ED1EC16DE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0" name="Picture 9">
            <a:extLst>
              <a:ext uri="{FF2B5EF4-FFF2-40B4-BE49-F238E27FC236}">
                <a16:creationId xmlns:a16="http://schemas.microsoft.com/office/drawing/2014/main" id="{E14ED6EF-5B97-4EC6-6032-C322557995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1" name="TextBox 10">
            <a:extLst>
              <a:ext uri="{FF2B5EF4-FFF2-40B4-BE49-F238E27FC236}">
                <a16:creationId xmlns:a16="http://schemas.microsoft.com/office/drawing/2014/main" id="{0ADCA62F-30A1-2D0C-6F84-3CAB59A0AB42}"/>
              </a:ext>
            </a:extLst>
          </p:cNvPr>
          <p:cNvSpPr txBox="1"/>
          <p:nvPr/>
        </p:nvSpPr>
        <p:spPr>
          <a:xfrm>
            <a:off x="3124110" y="355493"/>
            <a:ext cx="7634691" cy="769441"/>
          </a:xfrm>
          <a:prstGeom prst="rect">
            <a:avLst/>
          </a:prstGeom>
          <a:noFill/>
        </p:spPr>
        <p:txBody>
          <a:bodyPr wrap="square" rtlCol="0">
            <a:spAutoFit/>
          </a:bodyPr>
          <a:lstStyle/>
          <a:p>
            <a:pPr algn="ctr"/>
            <a:r>
              <a:rPr lang="en-US" sz="4400" b="1" dirty="0">
                <a:solidFill>
                  <a:srgbClr val="156082"/>
                </a:solidFill>
              </a:rPr>
              <a:t>Introduction and Background</a:t>
            </a:r>
            <a:endParaRPr lang="en-US" sz="4400" b="1" dirty="0"/>
          </a:p>
        </p:txBody>
      </p:sp>
    </p:spTree>
    <p:extLst>
      <p:ext uri="{BB962C8B-B14F-4D97-AF65-F5344CB8AC3E}">
        <p14:creationId xmlns:p14="http://schemas.microsoft.com/office/powerpoint/2010/main" val="349388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fade">
                                      <p:cBhvr>
                                        <p:cTn id="17" dur="500"/>
                                        <p:tgtEl>
                                          <p:spTgt spid="4">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4">
                                            <p:txEl>
                                              <p:pRg st="1" end="1"/>
                                            </p:txEl>
                                          </p:spTgt>
                                        </p:tgtEl>
                                        <p:attrNameLst>
                                          <p:attrName>style.visibility</p:attrName>
                                        </p:attrNameLst>
                                      </p:cBhvr>
                                      <p:to>
                                        <p:strVal val="visible"/>
                                      </p:to>
                                    </p:set>
                                    <p:animEffect transition="in" filter="fade">
                                      <p:cBhvr>
                                        <p:cTn id="20" dur="500"/>
                                        <p:tgtEl>
                                          <p:spTgt spid="4">
                                            <p:txEl>
                                              <p:p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animEffect transition="in" filter="fade">
                                      <p:cBhvr>
                                        <p:cTn id="23" dur="500"/>
                                        <p:tgtEl>
                                          <p:spTgt spid="4">
                                            <p:txEl>
                                              <p:pRg st="2" end="2"/>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4">
                                            <p:txEl>
                                              <p:pRg st="3" end="3"/>
                                            </p:txEl>
                                          </p:spTgt>
                                        </p:tgtEl>
                                        <p:attrNameLst>
                                          <p:attrName>style.visibility</p:attrName>
                                        </p:attrNameLst>
                                      </p:cBhvr>
                                      <p:to>
                                        <p:strVal val="visible"/>
                                      </p:to>
                                    </p:set>
                                    <p:animEffect transition="in" filter="fade">
                                      <p:cBhvr>
                                        <p:cTn id="26" dur="500"/>
                                        <p:tgtEl>
                                          <p:spTgt spid="4">
                                            <p:txEl>
                                              <p:pRg st="3" end="3"/>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animEffect transition="in" filter="fade">
                                      <p:cBhvr>
                                        <p:cTn id="29" dur="500"/>
                                        <p:tgtEl>
                                          <p:spTgt spid="4">
                                            <p:txEl>
                                              <p:pRg st="4" end="4"/>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animEffect transition="in" filter="fade">
                                      <p:cBhvr>
                                        <p:cTn id="35" dur="500"/>
                                        <p:tgtEl>
                                          <p:spTgt spid="4">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5">
                                            <p:txEl>
                                              <p:pRg st="0" end="0"/>
                                            </p:txEl>
                                          </p:spTgt>
                                        </p:tgtEl>
                                        <p:attrNameLst>
                                          <p:attrName>style.visibility</p:attrName>
                                        </p:attrNameLst>
                                      </p:cBhvr>
                                      <p:to>
                                        <p:strVal val="visible"/>
                                      </p:to>
                                    </p:set>
                                    <p:animEffect transition="in" filter="fade">
                                      <p:cBhvr>
                                        <p:cTn id="40" dur="500"/>
                                        <p:tgtEl>
                                          <p:spTgt spid="5">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6">
                                            <p:txEl>
                                              <p:pRg st="0" end="0"/>
                                            </p:txEl>
                                          </p:spTgt>
                                        </p:tgtEl>
                                        <p:attrNameLst>
                                          <p:attrName>style.visibility</p:attrName>
                                        </p:attrNameLst>
                                      </p:cBhvr>
                                      <p:to>
                                        <p:strVal val="visible"/>
                                      </p:to>
                                    </p:set>
                                    <p:animEffect transition="in" filter="fade">
                                      <p:cBhvr>
                                        <p:cTn id="45" dur="500"/>
                                        <p:tgtEl>
                                          <p:spTgt spid="6">
                                            <p:txEl>
                                              <p:pRg st="0" end="0"/>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6">
                                            <p:txEl>
                                              <p:pRg st="1" end="1"/>
                                            </p:txEl>
                                          </p:spTgt>
                                        </p:tgtEl>
                                        <p:attrNameLst>
                                          <p:attrName>style.visibility</p:attrName>
                                        </p:attrNameLst>
                                      </p:cBhvr>
                                      <p:to>
                                        <p:strVal val="visible"/>
                                      </p:to>
                                    </p:set>
                                    <p:animEffect transition="in" filter="fade">
                                      <p:cBhvr>
                                        <p:cTn id="48" dur="500"/>
                                        <p:tgtEl>
                                          <p:spTgt spid="6">
                                            <p:txEl>
                                              <p:pRg st="1" end="1"/>
                                            </p:txEl>
                                          </p:spTgt>
                                        </p:tgtEl>
                                      </p:cBhvr>
                                    </p:animEffect>
                                  </p:childTnLst>
                                </p:cTn>
                              </p:par>
                              <p:par>
                                <p:cTn id="49" presetID="10" presetClass="entr" presetSubtype="0" fill="hold" nodeType="withEffect">
                                  <p:stCondLst>
                                    <p:cond delay="0"/>
                                  </p:stCondLst>
                                  <p:childTnLst>
                                    <p:set>
                                      <p:cBhvr>
                                        <p:cTn id="50" dur="1" fill="hold">
                                          <p:stCondLst>
                                            <p:cond delay="0"/>
                                          </p:stCondLst>
                                        </p:cTn>
                                        <p:tgtEl>
                                          <p:spTgt spid="6">
                                            <p:txEl>
                                              <p:pRg st="2" end="2"/>
                                            </p:txEl>
                                          </p:spTgt>
                                        </p:tgtEl>
                                        <p:attrNameLst>
                                          <p:attrName>style.visibility</p:attrName>
                                        </p:attrNameLst>
                                      </p:cBhvr>
                                      <p:to>
                                        <p:strVal val="visible"/>
                                      </p:to>
                                    </p:set>
                                    <p:animEffect transition="in" filter="fade">
                                      <p:cBhvr>
                                        <p:cTn id="51" dur="500"/>
                                        <p:tgtEl>
                                          <p:spTgt spid="6">
                                            <p:txEl>
                                              <p:pRg st="2" end="2"/>
                                            </p:txEl>
                                          </p:spTgt>
                                        </p:tgtEl>
                                      </p:cBhvr>
                                    </p:animEffect>
                                  </p:childTnLst>
                                </p:cTn>
                              </p:par>
                              <p:par>
                                <p:cTn id="52" presetID="10" presetClass="entr" presetSubtype="0" fill="hold" nodeType="withEffect">
                                  <p:stCondLst>
                                    <p:cond delay="0"/>
                                  </p:stCondLst>
                                  <p:childTnLst>
                                    <p:set>
                                      <p:cBhvr>
                                        <p:cTn id="53" dur="1" fill="hold">
                                          <p:stCondLst>
                                            <p:cond delay="0"/>
                                          </p:stCondLst>
                                        </p:cTn>
                                        <p:tgtEl>
                                          <p:spTgt spid="6">
                                            <p:txEl>
                                              <p:pRg st="3" end="3"/>
                                            </p:txEl>
                                          </p:spTgt>
                                        </p:tgtEl>
                                        <p:attrNameLst>
                                          <p:attrName>style.visibility</p:attrName>
                                        </p:attrNameLst>
                                      </p:cBhvr>
                                      <p:to>
                                        <p:strVal val="visible"/>
                                      </p:to>
                                    </p:set>
                                    <p:animEffect transition="in" filter="fade">
                                      <p:cBhvr>
                                        <p:cTn id="54" dur="500"/>
                                        <p:tgtEl>
                                          <p:spTgt spid="6">
                                            <p:txEl>
                                              <p:pRg st="3" end="3"/>
                                            </p:txEl>
                                          </p:spTgt>
                                        </p:tgtEl>
                                      </p:cBhvr>
                                    </p:animEffect>
                                  </p:childTnLst>
                                </p:cTn>
                              </p:par>
                              <p:par>
                                <p:cTn id="55" presetID="10" presetClass="entr" presetSubtype="0" fill="hold" nodeType="withEffect">
                                  <p:stCondLst>
                                    <p:cond delay="0"/>
                                  </p:stCondLst>
                                  <p:childTnLst>
                                    <p:set>
                                      <p:cBhvr>
                                        <p:cTn id="56" dur="1" fill="hold">
                                          <p:stCondLst>
                                            <p:cond delay="0"/>
                                          </p:stCondLst>
                                        </p:cTn>
                                        <p:tgtEl>
                                          <p:spTgt spid="6">
                                            <p:txEl>
                                              <p:pRg st="4" end="4"/>
                                            </p:txEl>
                                          </p:spTgt>
                                        </p:tgtEl>
                                        <p:attrNameLst>
                                          <p:attrName>style.visibility</p:attrName>
                                        </p:attrNameLst>
                                      </p:cBhvr>
                                      <p:to>
                                        <p:strVal val="visible"/>
                                      </p:to>
                                    </p:set>
                                    <p:animEffect transition="in" filter="fade">
                                      <p:cBhvr>
                                        <p:cTn id="57" dur="500"/>
                                        <p:tgtEl>
                                          <p:spTgt spid="6">
                                            <p:txEl>
                                              <p:pRg st="4" end="4"/>
                                            </p:txEl>
                                          </p:spTgt>
                                        </p:tgtEl>
                                      </p:cBhvr>
                                    </p:animEffect>
                                  </p:childTnLst>
                                </p:cTn>
                              </p:par>
                              <p:par>
                                <p:cTn id="58" presetID="10" presetClass="entr" presetSubtype="0" fill="hold" nodeType="withEffect">
                                  <p:stCondLst>
                                    <p:cond delay="0"/>
                                  </p:stCondLst>
                                  <p:childTnLst>
                                    <p:set>
                                      <p:cBhvr>
                                        <p:cTn id="59" dur="1" fill="hold">
                                          <p:stCondLst>
                                            <p:cond delay="0"/>
                                          </p:stCondLst>
                                        </p:cTn>
                                        <p:tgtEl>
                                          <p:spTgt spid="6">
                                            <p:txEl>
                                              <p:pRg st="5" end="5"/>
                                            </p:txEl>
                                          </p:spTgt>
                                        </p:tgtEl>
                                        <p:attrNameLst>
                                          <p:attrName>style.visibility</p:attrName>
                                        </p:attrNameLst>
                                      </p:cBhvr>
                                      <p:to>
                                        <p:strVal val="visible"/>
                                      </p:to>
                                    </p:set>
                                    <p:animEffect transition="in" filter="fade">
                                      <p:cBhvr>
                                        <p:cTn id="60" dur="500"/>
                                        <p:tgtEl>
                                          <p:spTgt spid="6">
                                            <p:txEl>
                                              <p:pRg st="5" end="5"/>
                                            </p:txEl>
                                          </p:spTgt>
                                        </p:tgtEl>
                                      </p:cBhvr>
                                    </p:animEffect>
                                  </p:childTnLst>
                                </p:cTn>
                              </p:par>
                              <p:par>
                                <p:cTn id="61" presetID="10" presetClass="entr" presetSubtype="0" fill="hold" nodeType="withEffect">
                                  <p:stCondLst>
                                    <p:cond delay="0"/>
                                  </p:stCondLst>
                                  <p:childTnLst>
                                    <p:set>
                                      <p:cBhvr>
                                        <p:cTn id="62" dur="1" fill="hold">
                                          <p:stCondLst>
                                            <p:cond delay="0"/>
                                          </p:stCondLst>
                                        </p:cTn>
                                        <p:tgtEl>
                                          <p:spTgt spid="6">
                                            <p:txEl>
                                              <p:pRg st="6" end="6"/>
                                            </p:txEl>
                                          </p:spTgt>
                                        </p:tgtEl>
                                        <p:attrNameLst>
                                          <p:attrName>style.visibility</p:attrName>
                                        </p:attrNameLst>
                                      </p:cBhvr>
                                      <p:to>
                                        <p:strVal val="visible"/>
                                      </p:to>
                                    </p:set>
                                    <p:animEffect transition="in" filter="fade">
                                      <p:cBhvr>
                                        <p:cTn id="63"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3A5BE-F62E-67B8-993D-260C345030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B897CD-81FA-6CC6-8A13-E0C5BD5386E8}"/>
              </a:ext>
            </a:extLst>
          </p:cNvPr>
          <p:cNvSpPr>
            <a:spLocks noGrp="1"/>
          </p:cNvSpPr>
          <p:nvPr>
            <p:ph type="title"/>
          </p:nvPr>
        </p:nvSpPr>
        <p:spPr>
          <a:xfrm>
            <a:off x="3470787" y="0"/>
            <a:ext cx="7039898" cy="1209368"/>
          </a:xfrm>
        </p:spPr>
        <p:txBody>
          <a:bodyPr>
            <a:normAutofit/>
          </a:bodyPr>
          <a:lstStyle/>
          <a:p>
            <a:r>
              <a:rPr lang="en-US" b="1" dirty="0">
                <a:solidFill>
                  <a:srgbClr val="156082"/>
                </a:solidFill>
              </a:rPr>
              <a:t>Introduction and Background</a:t>
            </a:r>
          </a:p>
        </p:txBody>
      </p:sp>
      <p:sp>
        <p:nvSpPr>
          <p:cNvPr id="11" name="Rectangle 10">
            <a:extLst>
              <a:ext uri="{FF2B5EF4-FFF2-40B4-BE49-F238E27FC236}">
                <a16:creationId xmlns:a16="http://schemas.microsoft.com/office/drawing/2014/main" id="{6C601F6D-EB47-5EFE-F1D5-5D732E479CEE}"/>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04CEFAF8-5E28-33BB-A986-7FC8E0423D09}"/>
              </a:ext>
            </a:extLst>
          </p:cNvPr>
          <p:cNvSpPr txBox="1"/>
          <p:nvPr/>
        </p:nvSpPr>
        <p:spPr>
          <a:xfrm>
            <a:off x="2005779" y="1126038"/>
            <a:ext cx="6941576" cy="584775"/>
          </a:xfrm>
          <a:prstGeom prst="rect">
            <a:avLst/>
          </a:prstGeom>
          <a:noFill/>
        </p:spPr>
        <p:txBody>
          <a:bodyPr wrap="square" rtlCol="0">
            <a:spAutoFit/>
          </a:bodyPr>
          <a:lstStyle/>
          <a:p>
            <a:r>
              <a:rPr lang="en-US" sz="3200" b="1" dirty="0">
                <a:solidFill>
                  <a:schemeClr val="tx1">
                    <a:lumMod val="95000"/>
                    <a:lumOff val="5000"/>
                  </a:schemeClr>
                </a:solidFill>
              </a:rPr>
              <a:t>Educational Timetabling Problems:</a:t>
            </a:r>
          </a:p>
        </p:txBody>
      </p:sp>
      <p:sp>
        <p:nvSpPr>
          <p:cNvPr id="3" name="TextBox 2">
            <a:extLst>
              <a:ext uri="{FF2B5EF4-FFF2-40B4-BE49-F238E27FC236}">
                <a16:creationId xmlns:a16="http://schemas.microsoft.com/office/drawing/2014/main" id="{81B3B689-7BCF-9E12-192E-C8C42E85FDDB}"/>
              </a:ext>
            </a:extLst>
          </p:cNvPr>
          <p:cNvSpPr txBox="1"/>
          <p:nvPr/>
        </p:nvSpPr>
        <p:spPr>
          <a:xfrm>
            <a:off x="3706761" y="2369574"/>
            <a:ext cx="184731" cy="369332"/>
          </a:xfrm>
          <a:prstGeom prst="rect">
            <a:avLst/>
          </a:prstGeom>
          <a:noFill/>
        </p:spPr>
        <p:txBody>
          <a:bodyPr wrap="square" rtlCol="0">
            <a:spAutoFit/>
          </a:bodyPr>
          <a:lstStyle/>
          <a:p>
            <a:endParaRPr lang="en-US" dirty="0"/>
          </a:p>
        </p:txBody>
      </p:sp>
      <p:sp>
        <p:nvSpPr>
          <p:cNvPr id="19" name="Content Placeholder 18">
            <a:extLst>
              <a:ext uri="{FF2B5EF4-FFF2-40B4-BE49-F238E27FC236}">
                <a16:creationId xmlns:a16="http://schemas.microsoft.com/office/drawing/2014/main" id="{1952A032-755A-3127-55F8-39DA01ECD74A}"/>
              </a:ext>
            </a:extLst>
          </p:cNvPr>
          <p:cNvSpPr>
            <a:spLocks noGrp="1"/>
          </p:cNvSpPr>
          <p:nvPr>
            <p:ph idx="1"/>
          </p:nvPr>
        </p:nvSpPr>
        <p:spPr>
          <a:xfrm>
            <a:off x="2045108" y="1611086"/>
            <a:ext cx="10027149" cy="3283599"/>
          </a:xfrm>
        </p:spPr>
        <p:txBody>
          <a:bodyPr>
            <a:normAutofit lnSpcReduction="10000"/>
          </a:bodyPr>
          <a:lstStyle/>
          <a:p>
            <a:pPr marL="0" lvl="0" indent="0" eaLnBrk="0" fontAlgn="base" hangingPunct="0">
              <a:lnSpc>
                <a:spcPct val="100000"/>
              </a:lnSpc>
              <a:spcBef>
                <a:spcPct val="0"/>
              </a:spcBef>
              <a:spcAft>
                <a:spcPct val="0"/>
              </a:spcAft>
              <a:buNone/>
            </a:pPr>
            <a:endParaRPr kumimoji="0" lang="en-US" altLang="en-US" sz="2400" b="0" i="0" u="none" strike="noStrike" cap="none" normalizeH="0" baseline="0" dirty="0">
              <a:ln>
                <a:noFill/>
              </a:ln>
              <a:solidFill>
                <a:schemeClr val="bg2">
                  <a:lumMod val="25000"/>
                </a:schemeClr>
              </a:solidFill>
              <a:effectLst/>
              <a:latin typeface="Arial" panose="020B0604020202020204" pitchFamily="34" charset="0"/>
            </a:endParaRPr>
          </a:p>
          <a:p>
            <a:pPr marL="342900" lvl="0" indent="-342900"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lumMod val="95000"/>
                    <a:lumOff val="5000"/>
                  </a:schemeClr>
                </a:solidFill>
                <a:effectLst/>
                <a:latin typeface="Arial" panose="020B0604020202020204" pitchFamily="34" charset="0"/>
              </a:rPr>
              <a:t>Involves assigning educational events to limited resources while satisfying a set of constraints.</a:t>
            </a:r>
          </a:p>
          <a:p>
            <a:pPr marL="342900" lvl="0" indent="-342900" eaLnBrk="0" fontAlgn="base" hangingPunct="0">
              <a:lnSpc>
                <a:spcPct val="100000"/>
              </a:lnSpc>
              <a:spcBef>
                <a:spcPct val="0"/>
              </a:spcBef>
              <a:spcAft>
                <a:spcPct val="0"/>
              </a:spcAft>
            </a:pPr>
            <a:endParaRPr kumimoji="0" lang="en-US" altLang="en-US" sz="2400" b="0" i="0" u="none" strike="noStrike" cap="none" normalizeH="0" baseline="0" dirty="0">
              <a:ln>
                <a:noFill/>
              </a:ln>
              <a:solidFill>
                <a:schemeClr val="tx1">
                  <a:lumMod val="95000"/>
                  <a:lumOff val="5000"/>
                </a:schemeClr>
              </a:solidFill>
              <a:effectLst/>
              <a:latin typeface="Arial" panose="020B0604020202020204" pitchFamily="34" charset="0"/>
            </a:endParaRPr>
          </a:p>
          <a:p>
            <a:pPr marL="342900" lvl="0" indent="-342900"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lumMod val="95000"/>
                    <a:lumOff val="5000"/>
                  </a:schemeClr>
                </a:solidFill>
                <a:effectLst/>
                <a:latin typeface="Arial" panose="020B0604020202020204" pitchFamily="34" charset="0"/>
              </a:rPr>
              <a:t>Events may include: </a:t>
            </a:r>
          </a:p>
          <a:p>
            <a:pPr marL="1257300" lvl="2" indent="-342900" eaLnBrk="0" fontAlgn="base" hangingPunct="0">
              <a:spcBef>
                <a:spcPct val="0"/>
              </a:spcBef>
              <a:spcAft>
                <a:spcPct val="0"/>
              </a:spcAft>
            </a:pPr>
            <a:r>
              <a:rPr kumimoji="0" lang="en-US" altLang="en-US" sz="2400" b="0" i="0" u="none" strike="noStrike" cap="none" normalizeH="0" baseline="0" dirty="0">
                <a:ln>
                  <a:noFill/>
                </a:ln>
                <a:solidFill>
                  <a:schemeClr val="tx1">
                    <a:lumMod val="95000"/>
                    <a:lumOff val="5000"/>
                  </a:schemeClr>
                </a:solidFill>
                <a:effectLst/>
                <a:latin typeface="Arial" panose="020B0604020202020204" pitchFamily="34" charset="0"/>
              </a:rPr>
              <a:t>Lectures </a:t>
            </a:r>
          </a:p>
          <a:p>
            <a:pPr marL="1257300" lvl="2" indent="-342900" eaLnBrk="0" fontAlgn="base" hangingPunct="0">
              <a:spcBef>
                <a:spcPct val="0"/>
              </a:spcBef>
              <a:spcAft>
                <a:spcPct val="0"/>
              </a:spcAft>
            </a:pPr>
            <a:r>
              <a:rPr kumimoji="0" lang="en-US" altLang="en-US" sz="2400" b="0" i="0" u="none" strike="noStrike" cap="none" normalizeH="0" baseline="0" dirty="0">
                <a:ln>
                  <a:noFill/>
                </a:ln>
                <a:solidFill>
                  <a:schemeClr val="tx1">
                    <a:lumMod val="95000"/>
                    <a:lumOff val="5000"/>
                  </a:schemeClr>
                </a:solidFill>
                <a:effectLst/>
                <a:latin typeface="Arial" panose="020B0604020202020204" pitchFamily="34" charset="0"/>
              </a:rPr>
              <a:t>Examinations </a:t>
            </a:r>
          </a:p>
          <a:p>
            <a:pPr marL="1257300" lvl="2" indent="-342900" eaLnBrk="0" fontAlgn="base" hangingPunct="0">
              <a:spcBef>
                <a:spcPct val="0"/>
              </a:spcBef>
              <a:spcAft>
                <a:spcPct val="0"/>
              </a:spcAft>
            </a:pPr>
            <a:r>
              <a:rPr kumimoji="0" lang="en-US" altLang="en-US" sz="2400" b="0" i="0" u="none" strike="noStrike" cap="none" normalizeH="0" baseline="0" dirty="0">
                <a:ln>
                  <a:noFill/>
                </a:ln>
                <a:solidFill>
                  <a:schemeClr val="tx1">
                    <a:lumMod val="95000"/>
                    <a:lumOff val="5000"/>
                  </a:schemeClr>
                </a:solidFill>
                <a:effectLst/>
                <a:latin typeface="Arial" panose="020B0604020202020204" pitchFamily="34" charset="0"/>
              </a:rPr>
              <a:t>Meetings </a:t>
            </a:r>
          </a:p>
          <a:p>
            <a:pPr lvl="2" eaLnBrk="0" fontAlgn="base" hangingPunct="0">
              <a:spcBef>
                <a:spcPct val="0"/>
              </a:spcBef>
              <a:spcAft>
                <a:spcPct val="0"/>
              </a:spcAft>
            </a:pPr>
            <a:endParaRPr kumimoji="0" lang="en-US" altLang="en-US" sz="2400" b="0" i="0" u="none" strike="noStrike" cap="none" normalizeH="0" baseline="0" dirty="0">
              <a:ln>
                <a:noFill/>
              </a:ln>
              <a:solidFill>
                <a:schemeClr val="tx1">
                  <a:lumMod val="95000"/>
                  <a:lumOff val="5000"/>
                </a:schemeClr>
              </a:solidFill>
              <a:effectLst/>
              <a:latin typeface="Arial" panose="020B0604020202020204" pitchFamily="34" charset="0"/>
            </a:endParaRPr>
          </a:p>
          <a:p>
            <a:pPr marL="342900" lvl="0" indent="-342900"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lumMod val="95000"/>
                    <a:lumOff val="5000"/>
                  </a:schemeClr>
                </a:solidFill>
                <a:effectLst/>
                <a:latin typeface="Arial" panose="020B0604020202020204" pitchFamily="34" charset="0"/>
              </a:rPr>
              <a:t>Goal: Create a conflict-free and feasible timetable. </a:t>
            </a:r>
          </a:p>
          <a:p>
            <a:endParaRPr lang="en-US" dirty="0"/>
          </a:p>
        </p:txBody>
      </p:sp>
      <p:pic>
        <p:nvPicPr>
          <p:cNvPr id="20" name="Content Placeholder 20">
            <a:extLst>
              <a:ext uri="{FF2B5EF4-FFF2-40B4-BE49-F238E27FC236}">
                <a16:creationId xmlns:a16="http://schemas.microsoft.com/office/drawing/2014/main" id="{983ABCBC-0D08-BE3B-B3B6-C28709B38A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21" name="Picture 20">
            <a:extLst>
              <a:ext uri="{FF2B5EF4-FFF2-40B4-BE49-F238E27FC236}">
                <a16:creationId xmlns:a16="http://schemas.microsoft.com/office/drawing/2014/main" id="{EE4DB86A-A437-A96E-8705-938C53FC99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22" name="Slide Number Placeholder 21">
            <a:extLst>
              <a:ext uri="{FF2B5EF4-FFF2-40B4-BE49-F238E27FC236}">
                <a16:creationId xmlns:a16="http://schemas.microsoft.com/office/drawing/2014/main" id="{84065C09-D4F9-D387-959E-BAA6064DCA12}"/>
              </a:ext>
            </a:extLst>
          </p:cNvPr>
          <p:cNvSpPr>
            <a:spLocks noGrp="1"/>
          </p:cNvSpPr>
          <p:nvPr>
            <p:ph type="sldNum" sz="quarter" idx="12"/>
          </p:nvPr>
        </p:nvSpPr>
        <p:spPr/>
        <p:txBody>
          <a:bodyPr/>
          <a:lstStyle/>
          <a:p>
            <a:fld id="{FA5D76E8-8AD6-443B-8B81-1688B2EC3502}" type="slidenum">
              <a:rPr lang="en-US" smtClean="0"/>
              <a:t>4</a:t>
            </a:fld>
            <a:endParaRPr lang="en-US"/>
          </a:p>
        </p:txBody>
      </p:sp>
    </p:spTree>
    <p:extLst>
      <p:ext uri="{BB962C8B-B14F-4D97-AF65-F5344CB8AC3E}">
        <p14:creationId xmlns:p14="http://schemas.microsoft.com/office/powerpoint/2010/main" val="1950200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92F00-0C14-5BF9-D161-FCB70577F2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9E53F5-F2BC-A4F0-B880-9D9F9C709C3F}"/>
              </a:ext>
            </a:extLst>
          </p:cNvPr>
          <p:cNvSpPr>
            <a:spLocks noGrp="1"/>
          </p:cNvSpPr>
          <p:nvPr>
            <p:ph type="title"/>
          </p:nvPr>
        </p:nvSpPr>
        <p:spPr>
          <a:xfrm>
            <a:off x="3470787" y="0"/>
            <a:ext cx="7039898" cy="1209368"/>
          </a:xfrm>
        </p:spPr>
        <p:txBody>
          <a:bodyPr>
            <a:normAutofit/>
          </a:bodyPr>
          <a:lstStyle/>
          <a:p>
            <a:r>
              <a:rPr lang="en-US" b="1" dirty="0">
                <a:solidFill>
                  <a:srgbClr val="156082"/>
                </a:solidFill>
              </a:rPr>
              <a:t>Introduction and Background</a:t>
            </a:r>
          </a:p>
        </p:txBody>
      </p:sp>
      <p:sp>
        <p:nvSpPr>
          <p:cNvPr id="11" name="Rectangle 10">
            <a:extLst>
              <a:ext uri="{FF2B5EF4-FFF2-40B4-BE49-F238E27FC236}">
                <a16:creationId xmlns:a16="http://schemas.microsoft.com/office/drawing/2014/main" id="{F6D39B44-120D-6CFF-8D45-8B13E188EEF4}"/>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C75D3A83-C2EA-DFD6-E151-6950DD95BA21}"/>
              </a:ext>
            </a:extLst>
          </p:cNvPr>
          <p:cNvSpPr txBox="1"/>
          <p:nvPr/>
        </p:nvSpPr>
        <p:spPr>
          <a:xfrm>
            <a:off x="2005779" y="1126038"/>
            <a:ext cx="8386918" cy="584775"/>
          </a:xfrm>
          <a:prstGeom prst="rect">
            <a:avLst/>
          </a:prstGeom>
          <a:noFill/>
        </p:spPr>
        <p:txBody>
          <a:bodyPr wrap="square" rtlCol="0">
            <a:spAutoFit/>
          </a:bodyPr>
          <a:lstStyle/>
          <a:p>
            <a:r>
              <a:rPr lang="en-US" sz="3200" b="1" dirty="0">
                <a:solidFill>
                  <a:schemeClr val="tx1">
                    <a:lumMod val="95000"/>
                    <a:lumOff val="5000"/>
                  </a:schemeClr>
                </a:solidFill>
              </a:rPr>
              <a:t>Main Categories of Educational Timetabling:</a:t>
            </a:r>
          </a:p>
        </p:txBody>
      </p:sp>
      <p:sp>
        <p:nvSpPr>
          <p:cNvPr id="3" name="TextBox 2">
            <a:extLst>
              <a:ext uri="{FF2B5EF4-FFF2-40B4-BE49-F238E27FC236}">
                <a16:creationId xmlns:a16="http://schemas.microsoft.com/office/drawing/2014/main" id="{709DD050-7C2C-230F-A1E8-8384FE64D8F1}"/>
              </a:ext>
            </a:extLst>
          </p:cNvPr>
          <p:cNvSpPr txBox="1"/>
          <p:nvPr/>
        </p:nvSpPr>
        <p:spPr>
          <a:xfrm>
            <a:off x="3706761" y="2369574"/>
            <a:ext cx="184731" cy="369332"/>
          </a:xfrm>
          <a:prstGeom prst="rect">
            <a:avLst/>
          </a:prstGeom>
          <a:noFill/>
        </p:spPr>
        <p:txBody>
          <a:bodyPr wrap="square" rtlCol="0">
            <a:spAutoFit/>
          </a:bodyPr>
          <a:lstStyle/>
          <a:p>
            <a:endParaRPr lang="en-US" dirty="0"/>
          </a:p>
        </p:txBody>
      </p:sp>
      <p:sp>
        <p:nvSpPr>
          <p:cNvPr id="7" name="Content Placeholder 6">
            <a:extLst>
              <a:ext uri="{FF2B5EF4-FFF2-40B4-BE49-F238E27FC236}">
                <a16:creationId xmlns:a16="http://schemas.microsoft.com/office/drawing/2014/main" id="{00B95821-704C-76B8-38FC-A4A0DDEE367F}"/>
              </a:ext>
            </a:extLst>
          </p:cNvPr>
          <p:cNvSpPr>
            <a:spLocks noGrp="1"/>
          </p:cNvSpPr>
          <p:nvPr>
            <p:ph idx="1"/>
          </p:nvPr>
        </p:nvSpPr>
        <p:spPr>
          <a:xfrm>
            <a:off x="2005779" y="1209368"/>
            <a:ext cx="10186221" cy="3786755"/>
          </a:xfrm>
        </p:spPr>
        <p:txBody>
          <a:bodyPr>
            <a:noAutofit/>
          </a:bodyPr>
          <a:lstStyle/>
          <a:p>
            <a:pPr marL="0" lvl="0" indent="0" eaLnBrk="0" fontAlgn="base" hangingPunct="0">
              <a:lnSpc>
                <a:spcPct val="100000"/>
              </a:lnSpc>
              <a:spcBef>
                <a:spcPct val="0"/>
              </a:spcBef>
              <a:spcAft>
                <a:spcPct val="0"/>
              </a:spcAft>
              <a:buNone/>
            </a:pPr>
            <a:endParaRPr kumimoji="0" lang="en-US" altLang="en-US" sz="2400" b="0" i="0" u="none" strike="noStrike" cap="none" normalizeH="0" baseline="0" dirty="0">
              <a:ln>
                <a:noFill/>
              </a:ln>
              <a:solidFill>
                <a:schemeClr val="bg2">
                  <a:lumMod val="25000"/>
                </a:schemeClr>
              </a:solidFill>
              <a:effectLst/>
              <a:latin typeface="Arial" panose="020B0604020202020204" pitchFamily="34" charset="0"/>
            </a:endParaRPr>
          </a:p>
          <a:p>
            <a:pPr marL="457200" indent="-457200">
              <a:buFont typeface="+mj-lt"/>
              <a:buAutoNum type="arabicPeriod"/>
            </a:pPr>
            <a:r>
              <a:rPr lang="en-US" sz="2400" b="1" dirty="0">
                <a:solidFill>
                  <a:schemeClr val="tx1">
                    <a:lumMod val="95000"/>
                    <a:lumOff val="5000"/>
                  </a:schemeClr>
                </a:solidFill>
              </a:rPr>
              <a:t>School Timetabling </a:t>
            </a:r>
            <a:r>
              <a:rPr lang="en-US" sz="2400" b="1" dirty="0"/>
              <a:t>Context</a:t>
            </a:r>
            <a:r>
              <a:rPr lang="en-US" sz="2400" dirty="0"/>
              <a:t> </a:t>
            </a:r>
            <a:endParaRPr lang="en-US" sz="2400" dirty="0">
              <a:solidFill>
                <a:schemeClr val="tx1">
                  <a:lumMod val="95000"/>
                  <a:lumOff val="5000"/>
                </a:schemeClr>
              </a:solidFill>
            </a:endParaRPr>
          </a:p>
          <a:p>
            <a:pPr lvl="1"/>
            <a:r>
              <a:rPr lang="en-US" dirty="0"/>
              <a:t>Weekly scheduling of school classes. </a:t>
            </a:r>
          </a:p>
          <a:p>
            <a:pPr lvl="1"/>
            <a:r>
              <a:rPr lang="en-US" dirty="0"/>
              <a:t>Ensures no teacher is assigned to multiple classes at the same time. </a:t>
            </a:r>
          </a:p>
          <a:p>
            <a:pPr lvl="1"/>
            <a:r>
              <a:rPr lang="en-US" dirty="0"/>
              <a:t>Prevents teacher and class conflicts. </a:t>
            </a:r>
          </a:p>
          <a:p>
            <a:pPr marL="457200" indent="-457200">
              <a:buFont typeface="+mj-lt"/>
              <a:buAutoNum type="arabicPeriod"/>
            </a:pPr>
            <a:r>
              <a:rPr lang="en-US" sz="2400" b="1" dirty="0">
                <a:solidFill>
                  <a:schemeClr val="tx1">
                    <a:lumMod val="95000"/>
                    <a:lumOff val="5000"/>
                  </a:schemeClr>
                </a:solidFill>
              </a:rPr>
              <a:t>Examination Timetabling </a:t>
            </a:r>
            <a:endParaRPr lang="en-US" sz="2400" dirty="0">
              <a:solidFill>
                <a:schemeClr val="tx1">
                  <a:lumMod val="95000"/>
                  <a:lumOff val="5000"/>
                </a:schemeClr>
              </a:solidFill>
            </a:endParaRPr>
          </a:p>
          <a:p>
            <a:pPr lvl="1"/>
            <a:r>
              <a:rPr lang="en-US" dirty="0"/>
              <a:t>Assigns exams to available rooms and time periods. </a:t>
            </a:r>
          </a:p>
          <a:p>
            <a:pPr lvl="1"/>
            <a:r>
              <a:rPr lang="en-US" dirty="0"/>
              <a:t>Avoids student examination clashes. </a:t>
            </a:r>
          </a:p>
          <a:p>
            <a:pPr lvl="1"/>
            <a:r>
              <a:rPr lang="en-US" dirty="0"/>
              <a:t>Ensures efficient use of resources. </a:t>
            </a:r>
          </a:p>
          <a:p>
            <a:pPr marL="457200" indent="-457200">
              <a:buFont typeface="+mj-lt"/>
              <a:buAutoNum type="arabicPeriod"/>
            </a:pPr>
            <a:r>
              <a:rPr lang="en-US" sz="2400" b="1" dirty="0">
                <a:solidFill>
                  <a:schemeClr val="tx1">
                    <a:lumMod val="95000"/>
                    <a:lumOff val="5000"/>
                  </a:schemeClr>
                </a:solidFill>
              </a:rPr>
              <a:t>University Course Timetabling (UCTP)</a:t>
            </a:r>
            <a:endParaRPr lang="en-US" sz="2400" dirty="0">
              <a:solidFill>
                <a:schemeClr val="tx1">
                  <a:lumMod val="95000"/>
                  <a:lumOff val="5000"/>
                </a:schemeClr>
              </a:solidFill>
            </a:endParaRPr>
          </a:p>
          <a:p>
            <a:pPr lvl="1"/>
            <a:r>
              <a:rPr lang="en-US" dirty="0"/>
              <a:t>Assigns courses, lecturers, students, rooms, and timeslots. </a:t>
            </a:r>
          </a:p>
          <a:p>
            <a:pPr lvl="1"/>
            <a:r>
              <a:rPr lang="en-US" dirty="0"/>
              <a:t>Prevents scheduling conflicts. </a:t>
            </a:r>
          </a:p>
          <a:p>
            <a:pPr lvl="1"/>
            <a:r>
              <a:rPr lang="en-US" dirty="0"/>
              <a:t>Ensures appropriate learning environments. </a:t>
            </a:r>
          </a:p>
          <a:p>
            <a:pPr lvl="1"/>
            <a:r>
              <a:rPr lang="en-US" dirty="0"/>
              <a:t>Considered a complex multi-dimensional optimization problem.</a:t>
            </a:r>
          </a:p>
          <a:p>
            <a:endParaRPr lang="en-US" sz="2400" dirty="0"/>
          </a:p>
        </p:txBody>
      </p:sp>
      <p:pic>
        <p:nvPicPr>
          <p:cNvPr id="8" name="Content Placeholder 20">
            <a:extLst>
              <a:ext uri="{FF2B5EF4-FFF2-40B4-BE49-F238E27FC236}">
                <a16:creationId xmlns:a16="http://schemas.microsoft.com/office/drawing/2014/main" id="{D7932C61-8D8C-CCD8-D019-9786764311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9" name="Picture 8">
            <a:extLst>
              <a:ext uri="{FF2B5EF4-FFF2-40B4-BE49-F238E27FC236}">
                <a16:creationId xmlns:a16="http://schemas.microsoft.com/office/drawing/2014/main" id="{C052A101-1717-3FFC-FCC2-DD1634F3F0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0" name="Slide Number Placeholder 9">
            <a:extLst>
              <a:ext uri="{FF2B5EF4-FFF2-40B4-BE49-F238E27FC236}">
                <a16:creationId xmlns:a16="http://schemas.microsoft.com/office/drawing/2014/main" id="{8A55FF7B-92A5-D594-D8AA-33F83E9567E5}"/>
              </a:ext>
            </a:extLst>
          </p:cNvPr>
          <p:cNvSpPr>
            <a:spLocks noGrp="1"/>
          </p:cNvSpPr>
          <p:nvPr>
            <p:ph type="sldNum" sz="quarter" idx="12"/>
          </p:nvPr>
        </p:nvSpPr>
        <p:spPr/>
        <p:txBody>
          <a:bodyPr/>
          <a:lstStyle/>
          <a:p>
            <a:fld id="{FA5D76E8-8AD6-443B-8B81-1688B2EC3502}" type="slidenum">
              <a:rPr lang="en-US" smtClean="0"/>
              <a:t>5</a:t>
            </a:fld>
            <a:endParaRPr lang="en-US"/>
          </a:p>
        </p:txBody>
      </p:sp>
    </p:spTree>
    <p:extLst>
      <p:ext uri="{BB962C8B-B14F-4D97-AF65-F5344CB8AC3E}">
        <p14:creationId xmlns:p14="http://schemas.microsoft.com/office/powerpoint/2010/main" val="439388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8EEC5-A459-1F1B-01E9-90B89CDFE7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C717B5-41AA-A990-066E-53C253B2D654}"/>
              </a:ext>
            </a:extLst>
          </p:cNvPr>
          <p:cNvSpPr>
            <a:spLocks noGrp="1"/>
          </p:cNvSpPr>
          <p:nvPr>
            <p:ph type="title"/>
          </p:nvPr>
        </p:nvSpPr>
        <p:spPr>
          <a:xfrm>
            <a:off x="3470787" y="0"/>
            <a:ext cx="7039898" cy="1209368"/>
          </a:xfrm>
        </p:spPr>
        <p:txBody>
          <a:bodyPr>
            <a:normAutofit/>
          </a:bodyPr>
          <a:lstStyle/>
          <a:p>
            <a:r>
              <a:rPr lang="en-US" b="1" dirty="0">
                <a:solidFill>
                  <a:srgbClr val="156082"/>
                </a:solidFill>
              </a:rPr>
              <a:t>Introduction and Background</a:t>
            </a:r>
          </a:p>
        </p:txBody>
      </p:sp>
      <p:sp>
        <p:nvSpPr>
          <p:cNvPr id="11" name="Rectangle 10">
            <a:extLst>
              <a:ext uri="{FF2B5EF4-FFF2-40B4-BE49-F238E27FC236}">
                <a16:creationId xmlns:a16="http://schemas.microsoft.com/office/drawing/2014/main" id="{DE25E07F-CC9B-2E89-AC31-2FE4B60826EE}"/>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5DE8C0A7-E78E-FC29-1C7D-E1105AE8A306}"/>
              </a:ext>
            </a:extLst>
          </p:cNvPr>
          <p:cNvSpPr txBox="1"/>
          <p:nvPr/>
        </p:nvSpPr>
        <p:spPr>
          <a:xfrm>
            <a:off x="2005779" y="1126038"/>
            <a:ext cx="8386918" cy="584775"/>
          </a:xfrm>
          <a:prstGeom prst="rect">
            <a:avLst/>
          </a:prstGeom>
          <a:noFill/>
        </p:spPr>
        <p:txBody>
          <a:bodyPr wrap="square" rtlCol="0">
            <a:spAutoFit/>
          </a:bodyPr>
          <a:lstStyle/>
          <a:p>
            <a:r>
              <a:rPr lang="en-US" sz="3200" b="1" dirty="0">
                <a:solidFill>
                  <a:schemeClr val="tx1">
                    <a:lumMod val="95000"/>
                    <a:lumOff val="5000"/>
                  </a:schemeClr>
                </a:solidFill>
              </a:rPr>
              <a:t>Constraint Modeling and Solution Quality:</a:t>
            </a:r>
          </a:p>
        </p:txBody>
      </p:sp>
      <p:sp>
        <p:nvSpPr>
          <p:cNvPr id="3" name="TextBox 2">
            <a:extLst>
              <a:ext uri="{FF2B5EF4-FFF2-40B4-BE49-F238E27FC236}">
                <a16:creationId xmlns:a16="http://schemas.microsoft.com/office/drawing/2014/main" id="{97EA0168-1270-FA28-F994-A9965D9EB35A}"/>
              </a:ext>
            </a:extLst>
          </p:cNvPr>
          <p:cNvSpPr txBox="1"/>
          <p:nvPr/>
        </p:nvSpPr>
        <p:spPr>
          <a:xfrm>
            <a:off x="3706761" y="2369574"/>
            <a:ext cx="184731" cy="369332"/>
          </a:xfrm>
          <a:prstGeom prst="rect">
            <a:avLst/>
          </a:prstGeom>
          <a:noFill/>
        </p:spPr>
        <p:txBody>
          <a:bodyPr wrap="square" rtlCol="0">
            <a:spAutoFit/>
          </a:bodyPr>
          <a:lstStyle/>
          <a:p>
            <a:endParaRPr lang="en-US" dirty="0"/>
          </a:p>
        </p:txBody>
      </p:sp>
      <p:sp>
        <p:nvSpPr>
          <p:cNvPr id="17" name="Rectangle 8">
            <a:extLst>
              <a:ext uri="{FF2B5EF4-FFF2-40B4-BE49-F238E27FC236}">
                <a16:creationId xmlns:a16="http://schemas.microsoft.com/office/drawing/2014/main" id="{814D3C7A-268D-0799-7B96-29F1D3771751}"/>
              </a:ext>
            </a:extLst>
          </p:cNvPr>
          <p:cNvSpPr>
            <a:spLocks noChangeArrowheads="1"/>
          </p:cNvSpPr>
          <p:nvPr/>
        </p:nvSpPr>
        <p:spPr bwMode="auto">
          <a:xfrm rot="10800000" flipV="1">
            <a:off x="2005779" y="3608304"/>
            <a:ext cx="1018622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bg2">
                  <a:lumMod val="25000"/>
                </a:schemeClr>
              </a:solidFill>
              <a:effectLst/>
              <a:latin typeface="Arial" panose="020B0604020202020204" pitchFamily="34" charset="0"/>
            </a:endParaRPr>
          </a:p>
          <a:p>
            <a:pPr marL="457200" indent="-457200">
              <a:buFont typeface="+mj-lt"/>
              <a:buAutoNum type="arabicPeriod"/>
            </a:pPr>
            <a:endParaRPr lang="en-US" sz="2400" dirty="0"/>
          </a:p>
        </p:txBody>
      </p:sp>
      <p:sp>
        <p:nvSpPr>
          <p:cNvPr id="7" name="Rectangle 1">
            <a:extLst>
              <a:ext uri="{FF2B5EF4-FFF2-40B4-BE49-F238E27FC236}">
                <a16:creationId xmlns:a16="http://schemas.microsoft.com/office/drawing/2014/main" id="{FC782842-F0E9-C0E3-4E07-6B210467A450}"/>
              </a:ext>
            </a:extLst>
          </p:cNvPr>
          <p:cNvSpPr>
            <a:spLocks noChangeArrowheads="1"/>
          </p:cNvSpPr>
          <p:nvPr/>
        </p:nvSpPr>
        <p:spPr bwMode="auto">
          <a:xfrm>
            <a:off x="2233247" y="1391510"/>
            <a:ext cx="9958753"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lumMod val="95000"/>
                    <a:lumOff val="5000"/>
                  </a:schemeClr>
                </a:solidFill>
                <a:effectLst/>
                <a:latin typeface="Arial" panose="020B0604020202020204" pitchFamily="34" charset="0"/>
              </a:rPr>
              <a:t>UCTP is a highly constrained combinatorial optimization problem.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lumMod val="95000"/>
                    <a:lumOff val="5000"/>
                  </a:schemeClr>
                </a:solidFill>
                <a:effectLst/>
                <a:latin typeface="Arial" panose="020B0604020202020204" pitchFamily="34" charset="0"/>
              </a:rPr>
              <a:t>A valid timetable is evaluated using two types of constraints: </a:t>
            </a:r>
          </a:p>
          <a:p>
            <a:pPr marL="800100" lvl="1" indent="-342900" eaLnBrk="0" fontAlgn="base" hangingPunct="0">
              <a:spcBef>
                <a:spcPct val="0"/>
              </a:spcBef>
              <a:spcAft>
                <a:spcPct val="0"/>
              </a:spcAft>
              <a:buFont typeface="Arial" panose="020B0604020202020204" pitchFamily="34" charset="0"/>
              <a:buChar char="•"/>
            </a:pPr>
            <a:r>
              <a:rPr kumimoji="0" lang="en-US" altLang="en-US" sz="2400" i="0" u="none" strike="noStrike" cap="none" normalizeH="0" baseline="0" dirty="0">
                <a:ln>
                  <a:noFill/>
                </a:ln>
                <a:solidFill>
                  <a:schemeClr val="tx1">
                    <a:lumMod val="95000"/>
                    <a:lumOff val="5000"/>
                  </a:schemeClr>
                </a:solidFill>
                <a:effectLst/>
                <a:latin typeface="Arial" panose="020B0604020202020204" pitchFamily="34" charset="0"/>
              </a:rPr>
              <a:t>Hard Constraints </a:t>
            </a:r>
          </a:p>
          <a:p>
            <a:pPr marL="800100" lvl="1" indent="-342900" eaLnBrk="0" fontAlgn="base" hangingPunct="0">
              <a:spcBef>
                <a:spcPct val="0"/>
              </a:spcBef>
              <a:spcAft>
                <a:spcPct val="0"/>
              </a:spcAft>
              <a:buFont typeface="Arial" panose="020B0604020202020204" pitchFamily="34" charset="0"/>
              <a:buChar char="•"/>
            </a:pPr>
            <a:r>
              <a:rPr kumimoji="0" lang="en-US" altLang="en-US" sz="2400" i="0" u="none" strike="noStrike" cap="none" normalizeH="0" baseline="0" dirty="0">
                <a:ln>
                  <a:noFill/>
                </a:ln>
                <a:solidFill>
                  <a:schemeClr val="tx1">
                    <a:lumMod val="95000"/>
                    <a:lumOff val="5000"/>
                  </a:schemeClr>
                </a:solidFill>
                <a:effectLst/>
                <a:latin typeface="Arial" panose="020B0604020202020204" pitchFamily="34" charset="0"/>
              </a:rPr>
              <a:t>Soft Constraints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Content Placeholder 14">
            <a:extLst>
              <a:ext uri="{FF2B5EF4-FFF2-40B4-BE49-F238E27FC236}">
                <a16:creationId xmlns:a16="http://schemas.microsoft.com/office/drawing/2014/main" id="{D5A43B79-E973-7169-1445-1A08BEB4137F}"/>
              </a:ext>
            </a:extLst>
          </p:cNvPr>
          <p:cNvSpPr>
            <a:spLocks noGrp="1"/>
          </p:cNvSpPr>
          <p:nvPr>
            <p:ph idx="1"/>
          </p:nvPr>
        </p:nvSpPr>
        <p:spPr>
          <a:xfrm>
            <a:off x="2233247" y="3249697"/>
            <a:ext cx="10515600" cy="2661795"/>
          </a:xfrm>
        </p:spPr>
        <p:txBody>
          <a:bodyPr>
            <a:noAutofit/>
          </a:bodyPr>
          <a:lstStyle/>
          <a:p>
            <a:pPr marL="0" indent="0">
              <a:buNone/>
            </a:pPr>
            <a:r>
              <a:rPr lang="en-US" sz="2400" b="1" dirty="0"/>
              <a:t>Hard Constraints (Mandatory):</a:t>
            </a:r>
          </a:p>
          <a:p>
            <a:pPr marL="285750" indent="-285750"/>
            <a:r>
              <a:rPr lang="en-US" sz="2400" dirty="0"/>
              <a:t>Must be satisfied completely. </a:t>
            </a:r>
          </a:p>
          <a:p>
            <a:pPr marL="285750" indent="-285750"/>
            <a:r>
              <a:rPr lang="en-US" sz="2400" dirty="0"/>
              <a:t>Any violation makes the timetable infeasible. </a:t>
            </a:r>
          </a:p>
          <a:p>
            <a:pPr marL="0" indent="0">
              <a:buNone/>
            </a:pPr>
            <a:r>
              <a:rPr lang="en-US" sz="2400" b="1" dirty="0">
                <a:solidFill>
                  <a:schemeClr val="tx1">
                    <a:lumMod val="95000"/>
                    <a:lumOff val="5000"/>
                  </a:schemeClr>
                </a:solidFill>
              </a:rPr>
              <a:t>Examples:</a:t>
            </a:r>
          </a:p>
          <a:p>
            <a:pPr marL="342900" indent="-342900"/>
            <a:r>
              <a:rPr lang="en-US" sz="2400" dirty="0"/>
              <a:t>Lectures with common students cannot occur simultaneously</a:t>
            </a:r>
          </a:p>
          <a:p>
            <a:pPr marL="285750" indent="-285750"/>
            <a:r>
              <a:rPr lang="en-US" sz="2400" dirty="0"/>
              <a:t>Rooms must satisfy capacity and facility requirements. </a:t>
            </a:r>
          </a:p>
          <a:p>
            <a:pPr marL="285750" indent="-285750"/>
            <a:r>
              <a:rPr lang="en-US" sz="2400" dirty="0"/>
              <a:t>Two lectures cannot use the same room at the same time. </a:t>
            </a:r>
          </a:p>
          <a:p>
            <a:pPr marL="285750" indent="-285750"/>
            <a:r>
              <a:rPr lang="en-US" sz="2400" dirty="0"/>
              <a:t>A faculty member cannot teach multiple lectures simultaneously. </a:t>
            </a:r>
          </a:p>
          <a:p>
            <a:pPr marL="285750" indent="-285750"/>
            <a:r>
              <a:rPr lang="en-US" sz="2400" dirty="0"/>
              <a:t>Daily teaching load must not exceed the allowed limit.</a:t>
            </a:r>
          </a:p>
          <a:p>
            <a:endParaRPr lang="en-US" sz="2400" dirty="0"/>
          </a:p>
          <a:p>
            <a:endParaRPr lang="en-US" sz="2400" dirty="0"/>
          </a:p>
        </p:txBody>
      </p:sp>
      <p:pic>
        <p:nvPicPr>
          <p:cNvPr id="16" name="Content Placeholder 20">
            <a:extLst>
              <a:ext uri="{FF2B5EF4-FFF2-40B4-BE49-F238E27FC236}">
                <a16:creationId xmlns:a16="http://schemas.microsoft.com/office/drawing/2014/main" id="{D7C7E080-4C0D-12B0-8219-D0075B4FA9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8" name="Picture 17">
            <a:extLst>
              <a:ext uri="{FF2B5EF4-FFF2-40B4-BE49-F238E27FC236}">
                <a16:creationId xmlns:a16="http://schemas.microsoft.com/office/drawing/2014/main" id="{137D97C2-9314-4BB3-BEF7-2F282A5BB1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9" name="Slide Number Placeholder 18">
            <a:extLst>
              <a:ext uri="{FF2B5EF4-FFF2-40B4-BE49-F238E27FC236}">
                <a16:creationId xmlns:a16="http://schemas.microsoft.com/office/drawing/2014/main" id="{90573FAF-8C37-3D37-C9E1-1E7562F517C6}"/>
              </a:ext>
            </a:extLst>
          </p:cNvPr>
          <p:cNvSpPr>
            <a:spLocks noGrp="1"/>
          </p:cNvSpPr>
          <p:nvPr>
            <p:ph type="sldNum" sz="quarter" idx="12"/>
          </p:nvPr>
        </p:nvSpPr>
        <p:spPr/>
        <p:txBody>
          <a:bodyPr/>
          <a:lstStyle/>
          <a:p>
            <a:fld id="{FA5D76E8-8AD6-443B-8B81-1688B2EC3502}" type="slidenum">
              <a:rPr lang="en-US" smtClean="0"/>
              <a:t>6</a:t>
            </a:fld>
            <a:endParaRPr lang="en-US"/>
          </a:p>
        </p:txBody>
      </p:sp>
    </p:spTree>
    <p:extLst>
      <p:ext uri="{BB962C8B-B14F-4D97-AF65-F5344CB8AC3E}">
        <p14:creationId xmlns:p14="http://schemas.microsoft.com/office/powerpoint/2010/main" val="2185062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C79D3-8E33-C33B-0E6B-5556AC93A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ADECD4-4FAC-2EA4-A045-7C4AA86DE147}"/>
              </a:ext>
            </a:extLst>
          </p:cNvPr>
          <p:cNvSpPr>
            <a:spLocks noGrp="1"/>
          </p:cNvSpPr>
          <p:nvPr>
            <p:ph type="title"/>
          </p:nvPr>
        </p:nvSpPr>
        <p:spPr>
          <a:xfrm>
            <a:off x="3470787" y="0"/>
            <a:ext cx="7039898" cy="1209368"/>
          </a:xfrm>
        </p:spPr>
        <p:txBody>
          <a:bodyPr>
            <a:normAutofit/>
          </a:bodyPr>
          <a:lstStyle/>
          <a:p>
            <a:r>
              <a:rPr lang="en-US" b="1" dirty="0">
                <a:solidFill>
                  <a:srgbClr val="156082"/>
                </a:solidFill>
              </a:rPr>
              <a:t>Introduction and Background</a:t>
            </a:r>
          </a:p>
        </p:txBody>
      </p:sp>
      <p:sp>
        <p:nvSpPr>
          <p:cNvPr id="11" name="Rectangle 10">
            <a:extLst>
              <a:ext uri="{FF2B5EF4-FFF2-40B4-BE49-F238E27FC236}">
                <a16:creationId xmlns:a16="http://schemas.microsoft.com/office/drawing/2014/main" id="{66BC9B7D-774A-7FAC-4336-F7B5EB3E04D9}"/>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CD32CB59-DC63-13E3-5E1B-15A7E68FB213}"/>
              </a:ext>
            </a:extLst>
          </p:cNvPr>
          <p:cNvSpPr txBox="1"/>
          <p:nvPr/>
        </p:nvSpPr>
        <p:spPr>
          <a:xfrm>
            <a:off x="2005779" y="1126038"/>
            <a:ext cx="8386918" cy="584775"/>
          </a:xfrm>
          <a:prstGeom prst="rect">
            <a:avLst/>
          </a:prstGeom>
          <a:noFill/>
        </p:spPr>
        <p:txBody>
          <a:bodyPr wrap="square" rtlCol="0">
            <a:spAutoFit/>
          </a:bodyPr>
          <a:lstStyle/>
          <a:p>
            <a:r>
              <a:rPr lang="en-US" sz="3200" b="1" dirty="0">
                <a:solidFill>
                  <a:schemeClr val="tx1">
                    <a:lumMod val="95000"/>
                    <a:lumOff val="5000"/>
                  </a:schemeClr>
                </a:solidFill>
              </a:rPr>
              <a:t>Constraint Modeling and Solution Quality:</a:t>
            </a:r>
          </a:p>
        </p:txBody>
      </p:sp>
      <p:sp>
        <p:nvSpPr>
          <p:cNvPr id="3" name="TextBox 2">
            <a:extLst>
              <a:ext uri="{FF2B5EF4-FFF2-40B4-BE49-F238E27FC236}">
                <a16:creationId xmlns:a16="http://schemas.microsoft.com/office/drawing/2014/main" id="{0B895B4B-605A-5C96-BF35-755746068E99}"/>
              </a:ext>
            </a:extLst>
          </p:cNvPr>
          <p:cNvSpPr txBox="1"/>
          <p:nvPr/>
        </p:nvSpPr>
        <p:spPr>
          <a:xfrm>
            <a:off x="3706761" y="2369574"/>
            <a:ext cx="184731" cy="369332"/>
          </a:xfrm>
          <a:prstGeom prst="rect">
            <a:avLst/>
          </a:prstGeom>
          <a:noFill/>
        </p:spPr>
        <p:txBody>
          <a:bodyPr wrap="square" rtlCol="0">
            <a:spAutoFit/>
          </a:bodyPr>
          <a:lstStyle/>
          <a:p>
            <a:endParaRPr lang="en-US" dirty="0"/>
          </a:p>
        </p:txBody>
      </p:sp>
      <p:sp>
        <p:nvSpPr>
          <p:cNvPr id="17" name="Rectangle 8">
            <a:extLst>
              <a:ext uri="{FF2B5EF4-FFF2-40B4-BE49-F238E27FC236}">
                <a16:creationId xmlns:a16="http://schemas.microsoft.com/office/drawing/2014/main" id="{CD22026F-49A6-00BE-5B51-27460393083D}"/>
              </a:ext>
            </a:extLst>
          </p:cNvPr>
          <p:cNvSpPr>
            <a:spLocks noChangeArrowheads="1"/>
          </p:cNvSpPr>
          <p:nvPr/>
        </p:nvSpPr>
        <p:spPr bwMode="auto">
          <a:xfrm rot="10800000" flipV="1">
            <a:off x="2005779" y="3608304"/>
            <a:ext cx="1018622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bg2">
                  <a:lumMod val="25000"/>
                </a:schemeClr>
              </a:solidFill>
              <a:effectLst/>
              <a:latin typeface="Arial" panose="020B0604020202020204" pitchFamily="34" charset="0"/>
            </a:endParaRPr>
          </a:p>
          <a:p>
            <a:pPr marL="457200" indent="-457200">
              <a:buFont typeface="+mj-lt"/>
              <a:buAutoNum type="arabicPeriod"/>
            </a:pPr>
            <a:endParaRPr lang="en-US" sz="2400" dirty="0"/>
          </a:p>
        </p:txBody>
      </p:sp>
      <p:sp>
        <p:nvSpPr>
          <p:cNvPr id="7" name="Rectangle 1">
            <a:extLst>
              <a:ext uri="{FF2B5EF4-FFF2-40B4-BE49-F238E27FC236}">
                <a16:creationId xmlns:a16="http://schemas.microsoft.com/office/drawing/2014/main" id="{1570D7F9-D3B7-4A9E-0E30-FBF5679AF770}"/>
              </a:ext>
            </a:extLst>
          </p:cNvPr>
          <p:cNvSpPr>
            <a:spLocks noChangeArrowheads="1"/>
          </p:cNvSpPr>
          <p:nvPr/>
        </p:nvSpPr>
        <p:spPr bwMode="auto">
          <a:xfrm>
            <a:off x="2233247" y="1391510"/>
            <a:ext cx="9958753"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lumMod val="95000"/>
                    <a:lumOff val="5000"/>
                  </a:schemeClr>
                </a:solidFill>
                <a:effectLst/>
                <a:latin typeface="Arial" panose="020B0604020202020204" pitchFamily="34" charset="0"/>
              </a:rPr>
              <a:t>UCTP is a highly constrained combinatorial optimization problem.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lumMod val="95000"/>
                    <a:lumOff val="5000"/>
                  </a:schemeClr>
                </a:solidFill>
                <a:effectLst/>
                <a:latin typeface="Arial" panose="020B0604020202020204" pitchFamily="34" charset="0"/>
              </a:rPr>
              <a:t>A valid timetable is evaluated using two types of constraints: </a:t>
            </a:r>
          </a:p>
          <a:p>
            <a:pPr marL="800100" lvl="1" indent="-342900" eaLnBrk="0" fontAlgn="base" hangingPunct="0">
              <a:spcBef>
                <a:spcPct val="0"/>
              </a:spcBef>
              <a:spcAft>
                <a:spcPct val="0"/>
              </a:spcAft>
              <a:buFont typeface="Arial" panose="020B0604020202020204" pitchFamily="34" charset="0"/>
              <a:buChar char="•"/>
            </a:pPr>
            <a:r>
              <a:rPr kumimoji="0" lang="en-US" altLang="en-US" sz="2400" i="0" u="none" strike="noStrike" cap="none" normalizeH="0" baseline="0" dirty="0">
                <a:ln>
                  <a:noFill/>
                </a:ln>
                <a:solidFill>
                  <a:schemeClr val="tx1">
                    <a:lumMod val="95000"/>
                    <a:lumOff val="5000"/>
                  </a:schemeClr>
                </a:solidFill>
                <a:effectLst/>
                <a:latin typeface="Arial" panose="020B0604020202020204" pitchFamily="34" charset="0"/>
              </a:rPr>
              <a:t>Hard Constraints </a:t>
            </a:r>
          </a:p>
          <a:p>
            <a:pPr marL="800100" lvl="1" indent="-342900" eaLnBrk="0" fontAlgn="base" hangingPunct="0">
              <a:spcBef>
                <a:spcPct val="0"/>
              </a:spcBef>
              <a:spcAft>
                <a:spcPct val="0"/>
              </a:spcAft>
              <a:buFont typeface="Arial" panose="020B0604020202020204" pitchFamily="34" charset="0"/>
              <a:buChar char="•"/>
            </a:pPr>
            <a:r>
              <a:rPr kumimoji="0" lang="en-US" altLang="en-US" sz="2400" i="0" u="none" strike="noStrike" cap="none" normalizeH="0" baseline="0" dirty="0">
                <a:ln>
                  <a:noFill/>
                </a:ln>
                <a:solidFill>
                  <a:schemeClr val="tx1">
                    <a:lumMod val="95000"/>
                    <a:lumOff val="5000"/>
                  </a:schemeClr>
                </a:solidFill>
                <a:effectLst/>
                <a:latin typeface="Arial" panose="020B0604020202020204" pitchFamily="34" charset="0"/>
              </a:rPr>
              <a:t>Soft Constraints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Content Placeholder 8">
            <a:extLst>
              <a:ext uri="{FF2B5EF4-FFF2-40B4-BE49-F238E27FC236}">
                <a16:creationId xmlns:a16="http://schemas.microsoft.com/office/drawing/2014/main" id="{09459680-0CD5-5987-E7B0-560AF2EA9191}"/>
              </a:ext>
            </a:extLst>
          </p:cNvPr>
          <p:cNvSpPr>
            <a:spLocks noGrp="1"/>
          </p:cNvSpPr>
          <p:nvPr>
            <p:ph idx="1"/>
          </p:nvPr>
        </p:nvSpPr>
        <p:spPr>
          <a:xfrm>
            <a:off x="2233247" y="3397667"/>
            <a:ext cx="9801573" cy="3423880"/>
          </a:xfrm>
        </p:spPr>
        <p:txBody>
          <a:bodyPr>
            <a:normAutofit fontScale="92500" lnSpcReduction="20000"/>
          </a:bodyPr>
          <a:lstStyle/>
          <a:p>
            <a:pPr marL="0" indent="0">
              <a:buNone/>
            </a:pPr>
            <a:r>
              <a:rPr lang="en-US" b="1" dirty="0">
                <a:solidFill>
                  <a:schemeClr val="tx1">
                    <a:lumMod val="95000"/>
                    <a:lumOff val="5000"/>
                  </a:schemeClr>
                </a:solidFill>
              </a:rPr>
              <a:t>Soft Constraints (Quality Preferences)</a:t>
            </a:r>
          </a:p>
          <a:p>
            <a:pPr marL="342900" indent="-342900"/>
            <a:r>
              <a:rPr lang="en-US" dirty="0"/>
              <a:t>Improve timetable quality and user satisfaction. </a:t>
            </a:r>
          </a:p>
          <a:p>
            <a:pPr marL="342900" indent="-342900"/>
            <a:r>
              <a:rPr lang="en-US" dirty="0"/>
              <a:t>Violations are allowed but should be minimized. </a:t>
            </a:r>
          </a:p>
          <a:p>
            <a:pPr marL="0" indent="0">
              <a:buNone/>
            </a:pPr>
            <a:r>
              <a:rPr lang="en-US" b="1" dirty="0"/>
              <a:t>Examples:</a:t>
            </a:r>
            <a:endParaRPr lang="en-US" dirty="0"/>
          </a:p>
          <a:p>
            <a:pPr marL="342900" indent="-342900"/>
            <a:r>
              <a:rPr lang="en-US" dirty="0"/>
              <a:t>Accommodate faculty preferred teaching times. </a:t>
            </a:r>
          </a:p>
          <a:p>
            <a:pPr marL="342900" indent="-342900"/>
            <a:r>
              <a:rPr lang="en-US" dirty="0"/>
              <a:t>Distribute lectures evenly throughout the week. </a:t>
            </a:r>
          </a:p>
          <a:p>
            <a:pPr marL="342900" indent="-342900"/>
            <a:r>
              <a:rPr lang="en-US" dirty="0"/>
              <a:t>Avoid more than two consecutive lectures without breaks. </a:t>
            </a:r>
          </a:p>
          <a:p>
            <a:pPr marL="342900" indent="-342900"/>
            <a:r>
              <a:rPr lang="en-US" dirty="0"/>
              <a:t>Minimize isolated lectures during a day. </a:t>
            </a:r>
          </a:p>
          <a:p>
            <a:endParaRPr lang="en-US" dirty="0"/>
          </a:p>
        </p:txBody>
      </p:sp>
      <p:pic>
        <p:nvPicPr>
          <p:cNvPr id="10" name="Content Placeholder 20">
            <a:extLst>
              <a:ext uri="{FF2B5EF4-FFF2-40B4-BE49-F238E27FC236}">
                <a16:creationId xmlns:a16="http://schemas.microsoft.com/office/drawing/2014/main" id="{9C853F7B-9C9F-8D6C-E46A-57F983E9BF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2" name="Picture 11">
            <a:extLst>
              <a:ext uri="{FF2B5EF4-FFF2-40B4-BE49-F238E27FC236}">
                <a16:creationId xmlns:a16="http://schemas.microsoft.com/office/drawing/2014/main" id="{1FAB2807-4DE5-4FCF-FD67-C96E02BDE1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3" name="Slide Number Placeholder 12">
            <a:extLst>
              <a:ext uri="{FF2B5EF4-FFF2-40B4-BE49-F238E27FC236}">
                <a16:creationId xmlns:a16="http://schemas.microsoft.com/office/drawing/2014/main" id="{402C5D9A-8FAE-C5C7-5EB9-A087891F913F}"/>
              </a:ext>
            </a:extLst>
          </p:cNvPr>
          <p:cNvSpPr>
            <a:spLocks noGrp="1"/>
          </p:cNvSpPr>
          <p:nvPr>
            <p:ph type="sldNum" sz="quarter" idx="12"/>
          </p:nvPr>
        </p:nvSpPr>
        <p:spPr/>
        <p:txBody>
          <a:bodyPr/>
          <a:lstStyle/>
          <a:p>
            <a:fld id="{FA5D76E8-8AD6-443B-8B81-1688B2EC3502}" type="slidenum">
              <a:rPr lang="en-US" smtClean="0"/>
              <a:t>7</a:t>
            </a:fld>
            <a:endParaRPr lang="en-US"/>
          </a:p>
        </p:txBody>
      </p:sp>
    </p:spTree>
    <p:extLst>
      <p:ext uri="{BB962C8B-B14F-4D97-AF65-F5344CB8AC3E}">
        <p14:creationId xmlns:p14="http://schemas.microsoft.com/office/powerpoint/2010/main" val="3407324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C2567-360E-D676-BDE6-E8D1B46FEC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975793-AE74-4ABC-4644-FB5308BABBC1}"/>
              </a:ext>
            </a:extLst>
          </p:cNvPr>
          <p:cNvSpPr>
            <a:spLocks noGrp="1"/>
          </p:cNvSpPr>
          <p:nvPr>
            <p:ph type="title"/>
          </p:nvPr>
        </p:nvSpPr>
        <p:spPr>
          <a:xfrm>
            <a:off x="3470787" y="0"/>
            <a:ext cx="7039898" cy="1209368"/>
          </a:xfrm>
        </p:spPr>
        <p:txBody>
          <a:bodyPr>
            <a:normAutofit/>
          </a:bodyPr>
          <a:lstStyle/>
          <a:p>
            <a:r>
              <a:rPr lang="en-US" b="1" dirty="0">
                <a:solidFill>
                  <a:srgbClr val="156082"/>
                </a:solidFill>
              </a:rPr>
              <a:t>Introduction and Background</a:t>
            </a:r>
          </a:p>
        </p:txBody>
      </p:sp>
      <p:sp>
        <p:nvSpPr>
          <p:cNvPr id="11" name="Rectangle 10">
            <a:extLst>
              <a:ext uri="{FF2B5EF4-FFF2-40B4-BE49-F238E27FC236}">
                <a16:creationId xmlns:a16="http://schemas.microsoft.com/office/drawing/2014/main" id="{DA2F7447-56FD-9DD9-4798-87E3E62240BF}"/>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F638DC31-08E3-BA09-1A7E-36921A6FC55B}"/>
              </a:ext>
            </a:extLst>
          </p:cNvPr>
          <p:cNvSpPr txBox="1"/>
          <p:nvPr/>
        </p:nvSpPr>
        <p:spPr>
          <a:xfrm>
            <a:off x="2005779" y="1126038"/>
            <a:ext cx="8386918" cy="584775"/>
          </a:xfrm>
          <a:prstGeom prst="rect">
            <a:avLst/>
          </a:prstGeom>
          <a:noFill/>
        </p:spPr>
        <p:txBody>
          <a:bodyPr wrap="square" rtlCol="0">
            <a:spAutoFit/>
          </a:bodyPr>
          <a:lstStyle/>
          <a:p>
            <a:r>
              <a:rPr lang="en-US" sz="3200" b="1" dirty="0">
                <a:solidFill>
                  <a:schemeClr val="tx1">
                    <a:lumMod val="95000"/>
                    <a:lumOff val="5000"/>
                  </a:schemeClr>
                </a:solidFill>
              </a:rPr>
              <a:t>Evaluating Solution Quality:</a:t>
            </a:r>
          </a:p>
        </p:txBody>
      </p:sp>
      <p:sp>
        <p:nvSpPr>
          <p:cNvPr id="3" name="TextBox 2">
            <a:extLst>
              <a:ext uri="{FF2B5EF4-FFF2-40B4-BE49-F238E27FC236}">
                <a16:creationId xmlns:a16="http://schemas.microsoft.com/office/drawing/2014/main" id="{68DB3BFD-AD45-6CAC-DFAC-C0EE0A7B279B}"/>
              </a:ext>
            </a:extLst>
          </p:cNvPr>
          <p:cNvSpPr txBox="1"/>
          <p:nvPr/>
        </p:nvSpPr>
        <p:spPr>
          <a:xfrm>
            <a:off x="3706761" y="2369574"/>
            <a:ext cx="184731" cy="369332"/>
          </a:xfrm>
          <a:prstGeom prst="rect">
            <a:avLst/>
          </a:prstGeom>
          <a:noFill/>
        </p:spPr>
        <p:txBody>
          <a:bodyPr wrap="square" rtlCol="0">
            <a:spAutoFit/>
          </a:bodyPr>
          <a:lstStyle/>
          <a:p>
            <a:endParaRPr lang="en-US" dirty="0"/>
          </a:p>
        </p:txBody>
      </p:sp>
      <p:sp>
        <p:nvSpPr>
          <p:cNvPr id="17" name="Rectangle 8">
            <a:extLst>
              <a:ext uri="{FF2B5EF4-FFF2-40B4-BE49-F238E27FC236}">
                <a16:creationId xmlns:a16="http://schemas.microsoft.com/office/drawing/2014/main" id="{E771D590-2F4A-1D85-7AEE-FB8DEF33B21A}"/>
              </a:ext>
            </a:extLst>
          </p:cNvPr>
          <p:cNvSpPr>
            <a:spLocks noChangeArrowheads="1"/>
          </p:cNvSpPr>
          <p:nvPr/>
        </p:nvSpPr>
        <p:spPr bwMode="auto">
          <a:xfrm rot="10800000" flipV="1">
            <a:off x="2005779" y="3608304"/>
            <a:ext cx="1018622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bg2">
                  <a:lumMod val="25000"/>
                </a:schemeClr>
              </a:solidFill>
              <a:effectLst/>
              <a:latin typeface="Arial" panose="020B0604020202020204" pitchFamily="34" charset="0"/>
            </a:endParaRPr>
          </a:p>
          <a:p>
            <a:pPr marL="457200" indent="-457200">
              <a:buFont typeface="+mj-lt"/>
              <a:buAutoNum type="arabicPeriod"/>
            </a:pPr>
            <a:endParaRPr lang="en-US" sz="2400" dirty="0"/>
          </a:p>
        </p:txBody>
      </p:sp>
      <p:sp>
        <p:nvSpPr>
          <p:cNvPr id="9" name="Content Placeholder 8">
            <a:extLst>
              <a:ext uri="{FF2B5EF4-FFF2-40B4-BE49-F238E27FC236}">
                <a16:creationId xmlns:a16="http://schemas.microsoft.com/office/drawing/2014/main" id="{E965BB0E-5CB2-596B-5846-C00A2502899B}"/>
              </a:ext>
            </a:extLst>
          </p:cNvPr>
          <p:cNvSpPr>
            <a:spLocks noGrp="1"/>
          </p:cNvSpPr>
          <p:nvPr>
            <p:ph idx="1"/>
          </p:nvPr>
        </p:nvSpPr>
        <p:spPr>
          <a:xfrm flipH="1">
            <a:off x="2031066" y="1450448"/>
            <a:ext cx="10047199" cy="4605925"/>
          </a:xfrm>
        </p:spPr>
        <p:txBody>
          <a:bodyPr>
            <a:noAutofit/>
          </a:bodyPr>
          <a:lstStyle/>
          <a:p>
            <a:pPr marL="0" lvl="0" indent="0" eaLnBrk="0" fontAlgn="base" hangingPunct="0">
              <a:lnSpc>
                <a:spcPct val="100000"/>
              </a:lnSpc>
              <a:spcBef>
                <a:spcPct val="0"/>
              </a:spcBef>
              <a:spcAft>
                <a:spcPct val="0"/>
              </a:spcAft>
              <a:buNone/>
            </a:pPr>
            <a:endParaRPr kumimoji="0" lang="en-US" altLang="en-US" sz="2400" b="0" i="0" u="none" strike="noStrike" cap="none" normalizeH="0" baseline="0" dirty="0">
              <a:ln>
                <a:noFill/>
              </a:ln>
              <a:solidFill>
                <a:schemeClr val="tx1"/>
              </a:solidFill>
              <a:effectLst/>
              <a:latin typeface="Arial" panose="020B0604020202020204" pitchFamily="34" charset="0"/>
            </a:endParaRPr>
          </a:p>
          <a:p>
            <a:r>
              <a:rPr lang="en-US" sz="2400" dirty="0">
                <a:solidFill>
                  <a:schemeClr val="tx1">
                    <a:lumMod val="95000"/>
                    <a:lumOff val="5000"/>
                  </a:schemeClr>
                </a:solidFill>
              </a:rPr>
              <a:t>Based on the satisfaction of these constraints(</a:t>
            </a:r>
            <a:r>
              <a:rPr lang="en-US" sz="2400" dirty="0"/>
              <a:t>hard and soft constraints.</a:t>
            </a:r>
            <a:r>
              <a:rPr lang="en-US" sz="2400" dirty="0">
                <a:solidFill>
                  <a:schemeClr val="tx1">
                    <a:lumMod val="95000"/>
                    <a:lumOff val="5000"/>
                  </a:schemeClr>
                </a:solidFill>
              </a:rPr>
              <a:t>), the quality of an algorithmic output is classified into three tiers:</a:t>
            </a:r>
          </a:p>
          <a:p>
            <a:endParaRPr lang="en-US" sz="2400" dirty="0">
              <a:solidFill>
                <a:schemeClr val="tx1">
                  <a:lumMod val="95000"/>
                  <a:lumOff val="5000"/>
                </a:schemeClr>
              </a:solidFill>
            </a:endParaRPr>
          </a:p>
          <a:p>
            <a:pPr marL="342900" lvl="0" indent="-342900">
              <a:buFont typeface="+mj-lt"/>
              <a:buAutoNum type="arabicPeriod"/>
            </a:pPr>
            <a:r>
              <a:rPr lang="en-US" sz="2400" b="1" dirty="0">
                <a:solidFill>
                  <a:schemeClr val="tx1">
                    <a:lumMod val="95000"/>
                    <a:lumOff val="5000"/>
                  </a:schemeClr>
                </a:solidFill>
              </a:rPr>
              <a:t>Infeasible Solution:</a:t>
            </a:r>
            <a:r>
              <a:rPr lang="en-US" sz="2400" dirty="0">
                <a:solidFill>
                  <a:schemeClr val="tx1">
                    <a:lumMod val="95000"/>
                    <a:lumOff val="5000"/>
                  </a:schemeClr>
                </a:solidFill>
              </a:rPr>
              <a:t> A schedule that fails to satisfy one or more hard constraints.</a:t>
            </a:r>
          </a:p>
          <a:p>
            <a:pPr marL="342900" lvl="0" indent="-342900">
              <a:buFont typeface="+mj-lt"/>
              <a:buAutoNum type="arabicPeriod"/>
            </a:pPr>
            <a:r>
              <a:rPr lang="en-US" sz="2400" b="1" dirty="0">
                <a:solidFill>
                  <a:schemeClr val="tx1">
                    <a:lumMod val="95000"/>
                    <a:lumOff val="5000"/>
                  </a:schemeClr>
                </a:solidFill>
              </a:rPr>
              <a:t>Feasible Solution:</a:t>
            </a:r>
            <a:r>
              <a:rPr lang="en-US" sz="2400" dirty="0">
                <a:solidFill>
                  <a:schemeClr val="tx1">
                    <a:lumMod val="95000"/>
                    <a:lumOff val="5000"/>
                  </a:schemeClr>
                </a:solidFill>
              </a:rPr>
              <a:t> A schedule that successfully satisfies 100% of the hard constraints, regardless of the number of soft constraint violations.</a:t>
            </a:r>
          </a:p>
          <a:p>
            <a:pPr marL="342900" lvl="0" indent="-342900">
              <a:buFont typeface="+mj-lt"/>
              <a:buAutoNum type="arabicPeriod"/>
            </a:pPr>
            <a:r>
              <a:rPr lang="en-US" sz="2400" b="1" dirty="0">
                <a:solidFill>
                  <a:schemeClr val="tx1">
                    <a:lumMod val="95000"/>
                    <a:lumOff val="5000"/>
                  </a:schemeClr>
                </a:solidFill>
              </a:rPr>
              <a:t>Optimal Solution:</a:t>
            </a:r>
            <a:r>
              <a:rPr lang="en-US" sz="2400" dirty="0">
                <a:solidFill>
                  <a:schemeClr val="tx1">
                    <a:lumMod val="95000"/>
                    <a:lumOff val="5000"/>
                  </a:schemeClr>
                </a:solidFill>
              </a:rPr>
              <a:t> A theoretical ideal where a feasible schedule simultaneously achieves zero soft constraint violations.</a:t>
            </a:r>
          </a:p>
          <a:p>
            <a:pPr marL="0" lvl="0" indent="0" eaLnBrk="0" fontAlgn="base" hangingPunct="0">
              <a:lnSpc>
                <a:spcPct val="100000"/>
              </a:lnSpc>
              <a:spcBef>
                <a:spcPct val="0"/>
              </a:spcBef>
              <a:spcAft>
                <a:spcPct val="0"/>
              </a:spcAft>
              <a:buNone/>
            </a:pPr>
            <a:endParaRPr kumimoji="0" lang="en-US" altLang="en-US" sz="2400" b="0" i="0" u="none" strike="noStrike" cap="none" normalizeH="0" baseline="0" dirty="0">
              <a:ln>
                <a:noFill/>
              </a:ln>
              <a:solidFill>
                <a:schemeClr val="tx1"/>
              </a:solidFill>
              <a:effectLst/>
              <a:latin typeface="Arial" panose="020B0604020202020204" pitchFamily="34" charset="0"/>
            </a:endParaRPr>
          </a:p>
          <a:p>
            <a:endParaRPr lang="en-US" sz="2400" dirty="0"/>
          </a:p>
        </p:txBody>
      </p:sp>
      <p:pic>
        <p:nvPicPr>
          <p:cNvPr id="10" name="Content Placeholder 20">
            <a:extLst>
              <a:ext uri="{FF2B5EF4-FFF2-40B4-BE49-F238E27FC236}">
                <a16:creationId xmlns:a16="http://schemas.microsoft.com/office/drawing/2014/main" id="{03A711FE-8D57-65E2-F374-5876EAE719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2" name="Picture 11">
            <a:extLst>
              <a:ext uri="{FF2B5EF4-FFF2-40B4-BE49-F238E27FC236}">
                <a16:creationId xmlns:a16="http://schemas.microsoft.com/office/drawing/2014/main" id="{4B42F0CB-DC43-F337-40AB-273A006DE9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3" name="Slide Number Placeholder 12">
            <a:extLst>
              <a:ext uri="{FF2B5EF4-FFF2-40B4-BE49-F238E27FC236}">
                <a16:creationId xmlns:a16="http://schemas.microsoft.com/office/drawing/2014/main" id="{BB0A474E-FE39-7E28-FCBB-6F7FC325C4E7}"/>
              </a:ext>
            </a:extLst>
          </p:cNvPr>
          <p:cNvSpPr>
            <a:spLocks noGrp="1"/>
          </p:cNvSpPr>
          <p:nvPr>
            <p:ph type="sldNum" sz="quarter" idx="12"/>
          </p:nvPr>
        </p:nvSpPr>
        <p:spPr/>
        <p:txBody>
          <a:bodyPr/>
          <a:lstStyle/>
          <a:p>
            <a:fld id="{FA5D76E8-8AD6-443B-8B81-1688B2EC3502}" type="slidenum">
              <a:rPr lang="en-US" smtClean="0"/>
              <a:t>8</a:t>
            </a:fld>
            <a:endParaRPr lang="en-US"/>
          </a:p>
        </p:txBody>
      </p:sp>
    </p:spTree>
    <p:extLst>
      <p:ext uri="{BB962C8B-B14F-4D97-AF65-F5344CB8AC3E}">
        <p14:creationId xmlns:p14="http://schemas.microsoft.com/office/powerpoint/2010/main" val="18395729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B6501-3CBD-697E-3C21-F9178F2B5B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6CDCBD-58B1-C4FE-5CE9-F773941736AD}"/>
              </a:ext>
            </a:extLst>
          </p:cNvPr>
          <p:cNvSpPr>
            <a:spLocks noGrp="1"/>
          </p:cNvSpPr>
          <p:nvPr>
            <p:ph type="title"/>
          </p:nvPr>
        </p:nvSpPr>
        <p:spPr>
          <a:xfrm>
            <a:off x="3470787" y="0"/>
            <a:ext cx="7039898" cy="1209368"/>
          </a:xfrm>
        </p:spPr>
        <p:txBody>
          <a:bodyPr>
            <a:normAutofit/>
          </a:bodyPr>
          <a:lstStyle/>
          <a:p>
            <a:r>
              <a:rPr lang="en-US" b="1" dirty="0">
                <a:solidFill>
                  <a:srgbClr val="156082"/>
                </a:solidFill>
              </a:rPr>
              <a:t>Introduction and Background</a:t>
            </a:r>
          </a:p>
        </p:txBody>
      </p:sp>
      <p:sp>
        <p:nvSpPr>
          <p:cNvPr id="11" name="Rectangle 10">
            <a:extLst>
              <a:ext uri="{FF2B5EF4-FFF2-40B4-BE49-F238E27FC236}">
                <a16:creationId xmlns:a16="http://schemas.microsoft.com/office/drawing/2014/main" id="{C9E03CA6-C11A-6A32-5DD8-B8FA098350E2}"/>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48DBB259-4380-66AA-49A1-6D3D558D41BF}"/>
              </a:ext>
            </a:extLst>
          </p:cNvPr>
          <p:cNvSpPr txBox="1"/>
          <p:nvPr/>
        </p:nvSpPr>
        <p:spPr>
          <a:xfrm>
            <a:off x="2005779" y="1126038"/>
            <a:ext cx="10186220" cy="1077218"/>
          </a:xfrm>
          <a:prstGeom prst="rect">
            <a:avLst/>
          </a:prstGeom>
          <a:noFill/>
        </p:spPr>
        <p:txBody>
          <a:bodyPr wrap="square" rtlCol="0">
            <a:spAutoFit/>
          </a:bodyPr>
          <a:lstStyle/>
          <a:p>
            <a:r>
              <a:rPr lang="en-US" sz="3200" b="1" dirty="0">
                <a:solidFill>
                  <a:schemeClr val="tx1">
                    <a:lumMod val="95000"/>
                    <a:lumOff val="5000"/>
                  </a:schemeClr>
                </a:solidFill>
              </a:rPr>
              <a:t>Variants of University Course Timetabling Problems (UCTP):</a:t>
            </a:r>
          </a:p>
        </p:txBody>
      </p:sp>
      <p:sp>
        <p:nvSpPr>
          <p:cNvPr id="3" name="TextBox 2">
            <a:extLst>
              <a:ext uri="{FF2B5EF4-FFF2-40B4-BE49-F238E27FC236}">
                <a16:creationId xmlns:a16="http://schemas.microsoft.com/office/drawing/2014/main" id="{120FEFA7-367C-CCE2-1602-0D14C4D53F61}"/>
              </a:ext>
            </a:extLst>
          </p:cNvPr>
          <p:cNvSpPr txBox="1"/>
          <p:nvPr/>
        </p:nvSpPr>
        <p:spPr>
          <a:xfrm>
            <a:off x="3706761" y="2369574"/>
            <a:ext cx="184731" cy="369332"/>
          </a:xfrm>
          <a:prstGeom prst="rect">
            <a:avLst/>
          </a:prstGeom>
          <a:noFill/>
        </p:spPr>
        <p:txBody>
          <a:bodyPr wrap="square" rtlCol="0">
            <a:spAutoFit/>
          </a:bodyPr>
          <a:lstStyle/>
          <a:p>
            <a:endParaRPr lang="en-US" dirty="0"/>
          </a:p>
        </p:txBody>
      </p:sp>
      <p:sp>
        <p:nvSpPr>
          <p:cNvPr id="17" name="Rectangle 8">
            <a:extLst>
              <a:ext uri="{FF2B5EF4-FFF2-40B4-BE49-F238E27FC236}">
                <a16:creationId xmlns:a16="http://schemas.microsoft.com/office/drawing/2014/main" id="{BA09F447-C420-FC86-28E5-3D8C777D2C2F}"/>
              </a:ext>
            </a:extLst>
          </p:cNvPr>
          <p:cNvSpPr>
            <a:spLocks noChangeArrowheads="1"/>
          </p:cNvSpPr>
          <p:nvPr/>
        </p:nvSpPr>
        <p:spPr bwMode="auto">
          <a:xfrm rot="10800000" flipV="1">
            <a:off x="2005779" y="3608304"/>
            <a:ext cx="1018622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bg2">
                  <a:lumMod val="25000"/>
                </a:schemeClr>
              </a:solidFill>
              <a:effectLst/>
              <a:latin typeface="Arial" panose="020B0604020202020204" pitchFamily="34" charset="0"/>
            </a:endParaRPr>
          </a:p>
          <a:p>
            <a:pPr marL="457200" indent="-457200">
              <a:buFont typeface="+mj-lt"/>
              <a:buAutoNum type="arabicPeriod"/>
            </a:pPr>
            <a:endParaRPr lang="en-US" sz="2400" dirty="0"/>
          </a:p>
        </p:txBody>
      </p:sp>
      <p:sp>
        <p:nvSpPr>
          <p:cNvPr id="8" name="Content Placeholder 7">
            <a:extLst>
              <a:ext uri="{FF2B5EF4-FFF2-40B4-BE49-F238E27FC236}">
                <a16:creationId xmlns:a16="http://schemas.microsoft.com/office/drawing/2014/main" id="{B74F8793-BAEB-478A-83EC-386EACA12F09}"/>
              </a:ext>
            </a:extLst>
          </p:cNvPr>
          <p:cNvSpPr>
            <a:spLocks noGrp="1"/>
          </p:cNvSpPr>
          <p:nvPr>
            <p:ph idx="1"/>
          </p:nvPr>
        </p:nvSpPr>
        <p:spPr>
          <a:xfrm>
            <a:off x="2109721" y="1771678"/>
            <a:ext cx="10082278" cy="3673249"/>
          </a:xfrm>
        </p:spPr>
        <p:txBody>
          <a:bodyPr>
            <a:noAutofit/>
          </a:bodyPr>
          <a:lstStyle/>
          <a:p>
            <a:pPr marL="0" lvl="0" indent="0" eaLnBrk="0" fontAlgn="base" hangingPunct="0">
              <a:lnSpc>
                <a:spcPct val="100000"/>
              </a:lnSpc>
              <a:spcBef>
                <a:spcPct val="0"/>
              </a:spcBef>
              <a:spcAft>
                <a:spcPct val="0"/>
              </a:spcAft>
              <a:buNone/>
            </a:pPr>
            <a:endParaRPr lang="en-US" altLang="en-US" sz="2400" dirty="0">
              <a:latin typeface="Arial" panose="020B0604020202020204" pitchFamily="34" charset="0"/>
            </a:endParaRPr>
          </a:p>
          <a:p>
            <a:r>
              <a:rPr lang="en-US" sz="2400" dirty="0"/>
              <a:t>UCTPs are commonly classified into two main categories based on the rules defined by the </a:t>
            </a:r>
            <a:r>
              <a:rPr lang="en-US" sz="2400" b="1" dirty="0"/>
              <a:t>International Timetabling Competition (ITC)</a:t>
            </a:r>
            <a:r>
              <a:rPr lang="en-US" sz="2400" dirty="0"/>
              <a:t>.</a:t>
            </a:r>
          </a:p>
          <a:p>
            <a:pPr marL="0" indent="0">
              <a:buNone/>
            </a:pPr>
            <a:r>
              <a:rPr lang="en-US" sz="2400" b="1" dirty="0"/>
              <a:t>1. Curriculum-Based Course Timetabling (CBCTP):</a:t>
            </a:r>
          </a:p>
          <a:p>
            <a:pPr marL="342900" indent="-342900"/>
            <a:r>
              <a:rPr lang="en-US" sz="2400" dirty="0"/>
              <a:t>Conflicts are determined by the predefined university curriculum. </a:t>
            </a:r>
          </a:p>
          <a:p>
            <a:pPr marL="342900" indent="-342900"/>
            <a:r>
              <a:rPr lang="en-US" sz="2400" dirty="0"/>
              <a:t>Scheduling is based on curriculum requirements rather than individual student choices. </a:t>
            </a:r>
          </a:p>
          <a:p>
            <a:pPr marL="0" indent="0">
              <a:buNone/>
            </a:pPr>
            <a:r>
              <a:rPr lang="en-US" sz="2400" b="1" dirty="0"/>
              <a:t>2. Post Enrolment-Based Course Timetabling (PECTP):</a:t>
            </a:r>
          </a:p>
          <a:p>
            <a:pPr marL="342900" indent="-342900"/>
            <a:r>
              <a:rPr lang="en-US" sz="2400" dirty="0"/>
              <a:t>Timetable is generated after student enrollment using actual course selections. </a:t>
            </a:r>
          </a:p>
          <a:p>
            <a:pPr marL="342900" indent="-342900"/>
            <a:r>
              <a:rPr lang="en-US" sz="2400" dirty="0"/>
              <a:t>Ensures conflict-free schedules for students, making it more realistic and complex.</a:t>
            </a:r>
          </a:p>
          <a:p>
            <a:endParaRPr lang="en-US" altLang="en-US" sz="2400" dirty="0">
              <a:latin typeface="Arial" panose="020B0604020202020204" pitchFamily="34" charset="0"/>
            </a:endParaRPr>
          </a:p>
          <a:p>
            <a:endParaRPr lang="en-US" sz="2400" dirty="0"/>
          </a:p>
        </p:txBody>
      </p:sp>
      <p:pic>
        <p:nvPicPr>
          <p:cNvPr id="9" name="Content Placeholder 20">
            <a:extLst>
              <a:ext uri="{FF2B5EF4-FFF2-40B4-BE49-F238E27FC236}">
                <a16:creationId xmlns:a16="http://schemas.microsoft.com/office/drawing/2014/main" id="{3423571B-8C19-804F-F04C-D7F64EFFDC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0" name="Picture 9">
            <a:extLst>
              <a:ext uri="{FF2B5EF4-FFF2-40B4-BE49-F238E27FC236}">
                <a16:creationId xmlns:a16="http://schemas.microsoft.com/office/drawing/2014/main" id="{357AA2D9-F1AA-F2CE-9AC3-3E113CB81B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2" name="Slide Number Placeholder 11">
            <a:extLst>
              <a:ext uri="{FF2B5EF4-FFF2-40B4-BE49-F238E27FC236}">
                <a16:creationId xmlns:a16="http://schemas.microsoft.com/office/drawing/2014/main" id="{3019FC97-0A77-0797-8772-86E89A651D32}"/>
              </a:ext>
            </a:extLst>
          </p:cNvPr>
          <p:cNvSpPr>
            <a:spLocks noGrp="1"/>
          </p:cNvSpPr>
          <p:nvPr>
            <p:ph type="sldNum" sz="quarter" idx="12"/>
          </p:nvPr>
        </p:nvSpPr>
        <p:spPr/>
        <p:txBody>
          <a:bodyPr/>
          <a:lstStyle/>
          <a:p>
            <a:fld id="{FA5D76E8-8AD6-443B-8B81-1688B2EC3502}" type="slidenum">
              <a:rPr lang="en-US" smtClean="0"/>
              <a:t>9</a:t>
            </a:fld>
            <a:endParaRPr lang="en-US"/>
          </a:p>
        </p:txBody>
      </p:sp>
    </p:spTree>
    <p:extLst>
      <p:ext uri="{BB962C8B-B14F-4D97-AF65-F5344CB8AC3E}">
        <p14:creationId xmlns:p14="http://schemas.microsoft.com/office/powerpoint/2010/main" val="101992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500"/>
                                        <p:tgtEl>
                                          <p:spTgt spid="8">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xEl>
                                              <p:pRg st="3" end="3"/>
                                            </p:txEl>
                                          </p:spTgt>
                                        </p:tgtEl>
                                        <p:attrNameLst>
                                          <p:attrName>style.visibility</p:attrName>
                                        </p:attrNameLst>
                                      </p:cBhvr>
                                      <p:to>
                                        <p:strVal val="visible"/>
                                      </p:to>
                                    </p:set>
                                    <p:animEffect transition="in" filter="fade">
                                      <p:cBhvr>
                                        <p:cTn id="10" dur="500"/>
                                        <p:tgtEl>
                                          <p:spTgt spid="8">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8">
                                            <p:txEl>
                                              <p:pRg st="4" end="4"/>
                                            </p:txEl>
                                          </p:spTgt>
                                        </p:tgtEl>
                                        <p:attrNameLst>
                                          <p:attrName>style.visibility</p:attrName>
                                        </p:attrNameLst>
                                      </p:cBhvr>
                                      <p:to>
                                        <p:strVal val="visible"/>
                                      </p:to>
                                    </p:set>
                                    <p:animEffect transition="in" filter="fade">
                                      <p:cBhvr>
                                        <p:cTn id="13" dur="500"/>
                                        <p:tgtEl>
                                          <p:spTgt spid="8">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
                                            <p:txEl>
                                              <p:pRg st="5" end="5"/>
                                            </p:txEl>
                                          </p:spTgt>
                                        </p:tgtEl>
                                        <p:attrNameLst>
                                          <p:attrName>style.visibility</p:attrName>
                                        </p:attrNameLst>
                                      </p:cBhvr>
                                      <p:to>
                                        <p:strVal val="visible"/>
                                      </p:to>
                                    </p:set>
                                    <p:animEffect transition="in" filter="fade">
                                      <p:cBhvr>
                                        <p:cTn id="18" dur="500"/>
                                        <p:tgtEl>
                                          <p:spTgt spid="8">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8">
                                            <p:txEl>
                                              <p:pRg st="6" end="6"/>
                                            </p:txEl>
                                          </p:spTgt>
                                        </p:tgtEl>
                                        <p:attrNameLst>
                                          <p:attrName>style.visibility</p:attrName>
                                        </p:attrNameLst>
                                      </p:cBhvr>
                                      <p:to>
                                        <p:strVal val="visible"/>
                                      </p:to>
                                    </p:set>
                                    <p:animEffect transition="in" filter="fade">
                                      <p:cBhvr>
                                        <p:cTn id="21" dur="500"/>
                                        <p:tgtEl>
                                          <p:spTgt spid="8">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8">
                                            <p:txEl>
                                              <p:pRg st="7" end="7"/>
                                            </p:txEl>
                                          </p:spTgt>
                                        </p:tgtEl>
                                        <p:attrNameLst>
                                          <p:attrName>style.visibility</p:attrName>
                                        </p:attrNameLst>
                                      </p:cBhvr>
                                      <p:to>
                                        <p:strVal val="visible"/>
                                      </p:to>
                                    </p:set>
                                    <p:animEffect transition="in" filter="fade">
                                      <p:cBhvr>
                                        <p:cTn id="24" dur="500"/>
                                        <p:tgtEl>
                                          <p:spTgt spid="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F9832-4778-5DAD-0194-3438E565DB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E4CB0F-2E56-0272-E507-E469618F9F55}"/>
              </a:ext>
            </a:extLst>
          </p:cNvPr>
          <p:cNvSpPr>
            <a:spLocks noGrp="1"/>
          </p:cNvSpPr>
          <p:nvPr>
            <p:ph type="title"/>
          </p:nvPr>
        </p:nvSpPr>
        <p:spPr>
          <a:xfrm>
            <a:off x="4423286" y="18255"/>
            <a:ext cx="4699821" cy="1325563"/>
          </a:xfrm>
        </p:spPr>
        <p:txBody>
          <a:bodyPr/>
          <a:lstStyle/>
          <a:p>
            <a:r>
              <a:rPr lang="en-US" b="1" dirty="0">
                <a:solidFill>
                  <a:srgbClr val="156082"/>
                </a:solidFill>
              </a:rPr>
              <a:t>Problem Definition</a:t>
            </a:r>
          </a:p>
        </p:txBody>
      </p:sp>
      <p:sp>
        <p:nvSpPr>
          <p:cNvPr id="3" name="Content Placeholder 2">
            <a:extLst>
              <a:ext uri="{FF2B5EF4-FFF2-40B4-BE49-F238E27FC236}">
                <a16:creationId xmlns:a16="http://schemas.microsoft.com/office/drawing/2014/main" id="{3013FA87-F51C-DE35-CE8E-B18050DED7BB}"/>
              </a:ext>
            </a:extLst>
          </p:cNvPr>
          <p:cNvSpPr>
            <a:spLocks noGrp="1"/>
          </p:cNvSpPr>
          <p:nvPr>
            <p:ph idx="1"/>
          </p:nvPr>
        </p:nvSpPr>
        <p:spPr>
          <a:xfrm>
            <a:off x="2192592" y="1343817"/>
            <a:ext cx="9842227" cy="5416212"/>
          </a:xfrm>
        </p:spPr>
        <p:txBody>
          <a:bodyPr>
            <a:normAutofit fontScale="77500" lnSpcReduction="20000"/>
          </a:bodyPr>
          <a:lstStyle/>
          <a:p>
            <a:pPr marL="0" indent="0">
              <a:buNone/>
            </a:pPr>
            <a:r>
              <a:rPr lang="en-US" sz="3800" b="1" dirty="0"/>
              <a:t>University Course Timetabling Problem (UCTP):</a:t>
            </a:r>
          </a:p>
          <a:p>
            <a:r>
              <a:rPr lang="en-US" dirty="0"/>
              <a:t>Assign events (lectures/courses) to available timeslots and rooms. </a:t>
            </a:r>
          </a:p>
          <a:p>
            <a:r>
              <a:rPr lang="en-US" dirty="0"/>
              <a:t>Allocate resources such as students and classrooms without conflicts. </a:t>
            </a:r>
          </a:p>
          <a:p>
            <a:r>
              <a:rPr lang="en-US" dirty="0"/>
              <a:t>Generate a valid and efficient timetable.</a:t>
            </a:r>
          </a:p>
          <a:p>
            <a:endParaRPr lang="en-US" dirty="0"/>
          </a:p>
          <a:p>
            <a:pPr marL="0" indent="0">
              <a:buNone/>
            </a:pPr>
            <a:r>
              <a:rPr lang="en-US" sz="3800" b="1" dirty="0"/>
              <a:t>Objective:</a:t>
            </a:r>
          </a:p>
          <a:p>
            <a:r>
              <a:rPr lang="en-US" dirty="0"/>
              <a:t>Satisfy all hard constraints. </a:t>
            </a:r>
          </a:p>
          <a:p>
            <a:r>
              <a:rPr lang="en-US" dirty="0"/>
              <a:t>Minimize soft constraint violations. </a:t>
            </a:r>
          </a:p>
          <a:p>
            <a:r>
              <a:rPr lang="en-US" dirty="0"/>
              <a:t>Produce a high-quality timetable.</a:t>
            </a:r>
          </a:p>
          <a:p>
            <a:endParaRPr lang="en-US" dirty="0"/>
          </a:p>
          <a:p>
            <a:pPr marL="0" indent="0">
              <a:buNone/>
            </a:pPr>
            <a:r>
              <a:rPr lang="en-US" sz="3800" b="1" dirty="0"/>
              <a:t>Solution Types:</a:t>
            </a:r>
          </a:p>
          <a:p>
            <a:r>
              <a:rPr lang="en-US" b="1" dirty="0"/>
              <a:t>Feasible Solution:</a:t>
            </a:r>
            <a:r>
              <a:rPr lang="en-US" dirty="0"/>
              <a:t> Satisfies all hard constraints. </a:t>
            </a:r>
          </a:p>
          <a:p>
            <a:r>
              <a:rPr lang="en-US" b="1" dirty="0"/>
              <a:t>Optimal Solution:</a:t>
            </a:r>
            <a:r>
              <a:rPr lang="en-US" dirty="0"/>
              <a:t> Feasible solution with minimal or zero soft constraint violations.</a:t>
            </a:r>
          </a:p>
          <a:p>
            <a:endParaRPr lang="en-US" dirty="0"/>
          </a:p>
          <a:p>
            <a:endParaRPr lang="en-US" dirty="0"/>
          </a:p>
          <a:p>
            <a:endParaRPr lang="en-US" dirty="0"/>
          </a:p>
          <a:p>
            <a:pPr marL="0" indent="0">
              <a:buNone/>
            </a:pPr>
            <a:endParaRPr lang="en-US" dirty="0"/>
          </a:p>
        </p:txBody>
      </p:sp>
      <p:sp>
        <p:nvSpPr>
          <p:cNvPr id="9" name="Rectangle 8">
            <a:extLst>
              <a:ext uri="{FF2B5EF4-FFF2-40B4-BE49-F238E27FC236}">
                <a16:creationId xmlns:a16="http://schemas.microsoft.com/office/drawing/2014/main" id="{C1F10D14-5765-4114-9F44-CA0DEFAF7D1C}"/>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Content Placeholder 20">
            <a:extLst>
              <a:ext uri="{FF2B5EF4-FFF2-40B4-BE49-F238E27FC236}">
                <a16:creationId xmlns:a16="http://schemas.microsoft.com/office/drawing/2014/main" id="{AF5EA8D1-46F1-E752-FE1C-7F7419D3D7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2" name="Picture 11">
            <a:extLst>
              <a:ext uri="{FF2B5EF4-FFF2-40B4-BE49-F238E27FC236}">
                <a16:creationId xmlns:a16="http://schemas.microsoft.com/office/drawing/2014/main" id="{826D7154-3B68-DB9F-2D25-E790ECDB30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4" name="Slide Number Placeholder 3">
            <a:extLst>
              <a:ext uri="{FF2B5EF4-FFF2-40B4-BE49-F238E27FC236}">
                <a16:creationId xmlns:a16="http://schemas.microsoft.com/office/drawing/2014/main" id="{13F2AC74-5BED-8C89-7237-DCE535233D8F}"/>
              </a:ext>
            </a:extLst>
          </p:cNvPr>
          <p:cNvSpPr>
            <a:spLocks noGrp="1"/>
          </p:cNvSpPr>
          <p:nvPr>
            <p:ph type="sldNum" sz="quarter" idx="12"/>
          </p:nvPr>
        </p:nvSpPr>
        <p:spPr/>
        <p:txBody>
          <a:bodyPr/>
          <a:lstStyle/>
          <a:p>
            <a:fld id="{FA5D76E8-8AD6-443B-8B81-1688B2EC3502}" type="slidenum">
              <a:rPr lang="en-US" smtClean="0"/>
              <a:t>10</a:t>
            </a:fld>
            <a:endParaRPr lang="en-US"/>
          </a:p>
        </p:txBody>
      </p:sp>
    </p:spTree>
    <p:extLst>
      <p:ext uri="{BB962C8B-B14F-4D97-AF65-F5344CB8AC3E}">
        <p14:creationId xmlns:p14="http://schemas.microsoft.com/office/powerpoint/2010/main" val="30355929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57842-C370-2BF5-2B58-B3D5C9C6E5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E97B59-E4CD-FB2E-289B-AFC62EFF105A}"/>
              </a:ext>
            </a:extLst>
          </p:cNvPr>
          <p:cNvSpPr>
            <a:spLocks noGrp="1"/>
          </p:cNvSpPr>
          <p:nvPr>
            <p:ph type="title"/>
          </p:nvPr>
        </p:nvSpPr>
        <p:spPr>
          <a:xfrm>
            <a:off x="4423286" y="18255"/>
            <a:ext cx="4699821" cy="1325563"/>
          </a:xfrm>
        </p:spPr>
        <p:txBody>
          <a:bodyPr/>
          <a:lstStyle/>
          <a:p>
            <a:r>
              <a:rPr lang="en-US" b="1" dirty="0">
                <a:solidFill>
                  <a:srgbClr val="156082"/>
                </a:solidFill>
              </a:rPr>
              <a:t>Problem Definition</a:t>
            </a:r>
          </a:p>
        </p:txBody>
      </p:sp>
      <p:sp>
        <p:nvSpPr>
          <p:cNvPr id="3" name="Content Placeholder 2">
            <a:extLst>
              <a:ext uri="{FF2B5EF4-FFF2-40B4-BE49-F238E27FC236}">
                <a16:creationId xmlns:a16="http://schemas.microsoft.com/office/drawing/2014/main" id="{AB3269E3-373F-476D-0559-107FB2C2DAAF}"/>
              </a:ext>
            </a:extLst>
          </p:cNvPr>
          <p:cNvSpPr>
            <a:spLocks noGrp="1"/>
          </p:cNvSpPr>
          <p:nvPr>
            <p:ph idx="1"/>
          </p:nvPr>
        </p:nvSpPr>
        <p:spPr>
          <a:xfrm>
            <a:off x="2192592" y="1343817"/>
            <a:ext cx="9842227" cy="4218783"/>
          </a:xfrm>
        </p:spPr>
        <p:txBody>
          <a:bodyPr>
            <a:normAutofit/>
          </a:bodyPr>
          <a:lstStyle/>
          <a:p>
            <a:pPr marL="0" indent="0">
              <a:buNone/>
            </a:pPr>
            <a:r>
              <a:rPr lang="en-US" sz="3200" b="1" dirty="0"/>
              <a:t>Constraints:</a:t>
            </a:r>
          </a:p>
          <a:p>
            <a:pPr marL="0" indent="0">
              <a:buNone/>
            </a:pPr>
            <a:r>
              <a:rPr lang="en-US" sz="2400" b="1" dirty="0"/>
              <a:t>Hard Constraints (Must Be Satisfied)</a:t>
            </a:r>
          </a:p>
          <a:p>
            <a:r>
              <a:rPr lang="en-US" sz="2400" b="1" dirty="0"/>
              <a:t>H1:</a:t>
            </a:r>
            <a:r>
              <a:rPr lang="en-US" sz="2400" dirty="0"/>
              <a:t> Students cannot attend multiple events simultaneously. </a:t>
            </a:r>
          </a:p>
          <a:p>
            <a:r>
              <a:rPr lang="en-US" sz="2400" b="1" dirty="0"/>
              <a:t>H2:</a:t>
            </a:r>
            <a:r>
              <a:rPr lang="en-US" sz="2400" dirty="0"/>
              <a:t> Assigned room must satisfy capacity and feature requirements. </a:t>
            </a:r>
          </a:p>
          <a:p>
            <a:r>
              <a:rPr lang="en-US" sz="2400" b="1" dirty="0"/>
              <a:t>H3:</a:t>
            </a:r>
            <a:r>
              <a:rPr lang="en-US" sz="2400" dirty="0"/>
              <a:t> Only one event can occupy a room at a given timeslot. </a:t>
            </a:r>
          </a:p>
          <a:p>
            <a:pPr marL="0" indent="0">
              <a:buNone/>
            </a:pPr>
            <a:r>
              <a:rPr lang="en-US" sz="2400" b="1" dirty="0"/>
              <a:t>Soft Constraints (Preferred)</a:t>
            </a:r>
          </a:p>
          <a:p>
            <a:r>
              <a:rPr lang="en-US" sz="2400" b="1" dirty="0"/>
              <a:t>S1:</a:t>
            </a:r>
            <a:r>
              <a:rPr lang="en-US" sz="2400" dirty="0"/>
              <a:t> Avoid scheduling events in the last timeslot of the day. </a:t>
            </a:r>
          </a:p>
          <a:p>
            <a:r>
              <a:rPr lang="en-US" sz="2400" b="1" dirty="0"/>
              <a:t>S2:</a:t>
            </a:r>
            <a:r>
              <a:rPr lang="en-US" sz="2400" dirty="0"/>
              <a:t> Avoid more than two consecutive events. </a:t>
            </a:r>
          </a:p>
          <a:p>
            <a:r>
              <a:rPr lang="en-US" sz="2400" b="1" dirty="0"/>
              <a:t>S3:</a:t>
            </a:r>
            <a:r>
              <a:rPr lang="en-US" sz="2400" dirty="0"/>
              <a:t> Avoid having only one event in a day.</a:t>
            </a:r>
          </a:p>
        </p:txBody>
      </p:sp>
      <p:sp>
        <p:nvSpPr>
          <p:cNvPr id="9" name="Rectangle 8">
            <a:extLst>
              <a:ext uri="{FF2B5EF4-FFF2-40B4-BE49-F238E27FC236}">
                <a16:creationId xmlns:a16="http://schemas.microsoft.com/office/drawing/2014/main" id="{75FFB05D-4FE0-99DB-0A64-631A242A83D6}"/>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Content Placeholder 20">
            <a:extLst>
              <a:ext uri="{FF2B5EF4-FFF2-40B4-BE49-F238E27FC236}">
                <a16:creationId xmlns:a16="http://schemas.microsoft.com/office/drawing/2014/main" id="{17011DA5-7039-E012-965C-EFAF4C1731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2" name="Picture 11">
            <a:extLst>
              <a:ext uri="{FF2B5EF4-FFF2-40B4-BE49-F238E27FC236}">
                <a16:creationId xmlns:a16="http://schemas.microsoft.com/office/drawing/2014/main" id="{DF1308AC-D5F4-4CDD-93B1-C9979D393E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4" name="Slide Number Placeholder 3">
            <a:extLst>
              <a:ext uri="{FF2B5EF4-FFF2-40B4-BE49-F238E27FC236}">
                <a16:creationId xmlns:a16="http://schemas.microsoft.com/office/drawing/2014/main" id="{6430C791-05AF-0F11-867A-B7450A110370}"/>
              </a:ext>
            </a:extLst>
          </p:cNvPr>
          <p:cNvSpPr>
            <a:spLocks noGrp="1"/>
          </p:cNvSpPr>
          <p:nvPr>
            <p:ph type="sldNum" sz="quarter" idx="12"/>
          </p:nvPr>
        </p:nvSpPr>
        <p:spPr/>
        <p:txBody>
          <a:bodyPr/>
          <a:lstStyle/>
          <a:p>
            <a:fld id="{FA5D76E8-8AD6-443B-8B81-1688B2EC3502}" type="slidenum">
              <a:rPr lang="en-US" smtClean="0"/>
              <a:t>11</a:t>
            </a:fld>
            <a:endParaRPr lang="en-US"/>
          </a:p>
        </p:txBody>
      </p:sp>
    </p:spTree>
    <p:extLst>
      <p:ext uri="{BB962C8B-B14F-4D97-AF65-F5344CB8AC3E}">
        <p14:creationId xmlns:p14="http://schemas.microsoft.com/office/powerpoint/2010/main" val="3604602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animEffect transition="in" filter="fade">
                                      <p:cBhvr>
                                        <p:cTn id="30"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3EB79-30B9-73E4-734C-1C4F899012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52369B-CCAE-419B-2C8E-3281EBAA1E3F}"/>
              </a:ext>
            </a:extLst>
          </p:cNvPr>
          <p:cNvSpPr>
            <a:spLocks noGrp="1"/>
          </p:cNvSpPr>
          <p:nvPr>
            <p:ph type="title"/>
          </p:nvPr>
        </p:nvSpPr>
        <p:spPr>
          <a:xfrm>
            <a:off x="4423286" y="18255"/>
            <a:ext cx="4699821" cy="1325563"/>
          </a:xfrm>
        </p:spPr>
        <p:txBody>
          <a:bodyPr/>
          <a:lstStyle/>
          <a:p>
            <a:r>
              <a:rPr lang="en-US" b="1" dirty="0">
                <a:solidFill>
                  <a:srgbClr val="156082"/>
                </a:solidFill>
              </a:rPr>
              <a:t>Problem Definition</a:t>
            </a:r>
          </a:p>
        </p:txBody>
      </p:sp>
      <p:sp>
        <p:nvSpPr>
          <p:cNvPr id="3" name="Content Placeholder 2">
            <a:extLst>
              <a:ext uri="{FF2B5EF4-FFF2-40B4-BE49-F238E27FC236}">
                <a16:creationId xmlns:a16="http://schemas.microsoft.com/office/drawing/2014/main" id="{15BBE312-8751-36EC-22F9-4D3950AB103F}"/>
              </a:ext>
            </a:extLst>
          </p:cNvPr>
          <p:cNvSpPr>
            <a:spLocks noGrp="1"/>
          </p:cNvSpPr>
          <p:nvPr>
            <p:ph idx="1"/>
          </p:nvPr>
        </p:nvSpPr>
        <p:spPr>
          <a:xfrm>
            <a:off x="2192592" y="1343817"/>
            <a:ext cx="9842227" cy="5495928"/>
          </a:xfrm>
        </p:spPr>
        <p:txBody>
          <a:bodyPr>
            <a:normAutofit lnSpcReduction="10000"/>
          </a:bodyPr>
          <a:lstStyle/>
          <a:p>
            <a:pPr marL="0" indent="0">
              <a:buNone/>
            </a:pPr>
            <a:r>
              <a:rPr lang="en-US" sz="3200" b="1" dirty="0"/>
              <a:t>Problem Components:</a:t>
            </a:r>
          </a:p>
          <a:p>
            <a:pPr marL="0" indent="0">
              <a:buNone/>
            </a:pPr>
            <a:r>
              <a:rPr lang="en-US" sz="2400" b="1" dirty="0"/>
              <a:t>Main Sets:</a:t>
            </a:r>
          </a:p>
          <a:p>
            <a:r>
              <a:rPr lang="en-US" sz="2400" b="1" dirty="0"/>
              <a:t>Events (E):</a:t>
            </a:r>
            <a:r>
              <a:rPr lang="en-US" sz="2400" dirty="0"/>
              <a:t> Courses or lectures. </a:t>
            </a:r>
          </a:p>
          <a:p>
            <a:r>
              <a:rPr lang="en-US" sz="2400" b="1" dirty="0"/>
              <a:t>Timeslots (T):</a:t>
            </a:r>
            <a:r>
              <a:rPr lang="en-US" sz="2400" dirty="0"/>
              <a:t> 45 timeslots (9 hours × 5 days). </a:t>
            </a:r>
          </a:p>
          <a:p>
            <a:r>
              <a:rPr lang="en-US" sz="2400" b="1" dirty="0"/>
              <a:t>Rooms (R):</a:t>
            </a:r>
            <a:r>
              <a:rPr lang="en-US" sz="2400" dirty="0"/>
              <a:t> Available classrooms. </a:t>
            </a:r>
          </a:p>
          <a:p>
            <a:r>
              <a:rPr lang="en-US" sz="2400" b="1" dirty="0"/>
              <a:t>Students (S):</a:t>
            </a:r>
            <a:r>
              <a:rPr lang="en-US" sz="2400" dirty="0"/>
              <a:t> Students attending events. </a:t>
            </a:r>
          </a:p>
          <a:p>
            <a:r>
              <a:rPr lang="en-US" sz="2400" b="1" dirty="0"/>
              <a:t>Features (F):</a:t>
            </a:r>
            <a:r>
              <a:rPr lang="en-US" sz="2400" dirty="0"/>
              <a:t> Room facilities required by events. </a:t>
            </a:r>
          </a:p>
          <a:p>
            <a:pPr marL="0" indent="0">
              <a:buNone/>
            </a:pPr>
            <a:r>
              <a:rPr lang="en-US" sz="2400" b="1" dirty="0"/>
              <a:t>Goal:</a:t>
            </a:r>
          </a:p>
          <a:p>
            <a:r>
              <a:rPr lang="en-US" sz="2400" dirty="0"/>
              <a:t>Assign each event to:</a:t>
            </a:r>
          </a:p>
          <a:p>
            <a:r>
              <a:rPr lang="en-US" sz="2400" dirty="0"/>
              <a:t>A suitable room. </a:t>
            </a:r>
          </a:p>
          <a:p>
            <a:r>
              <a:rPr lang="en-US" sz="2400" dirty="0"/>
              <a:t>A suitable timeslot. </a:t>
            </a:r>
          </a:p>
          <a:p>
            <a:r>
              <a:rPr lang="en-US" sz="2400" dirty="0"/>
              <a:t>While satisfying all constraints.</a:t>
            </a:r>
          </a:p>
        </p:txBody>
      </p:sp>
      <p:sp>
        <p:nvSpPr>
          <p:cNvPr id="9" name="Rectangle 8">
            <a:extLst>
              <a:ext uri="{FF2B5EF4-FFF2-40B4-BE49-F238E27FC236}">
                <a16:creationId xmlns:a16="http://schemas.microsoft.com/office/drawing/2014/main" id="{B2BAC091-961E-7E31-36DB-695D36E3648F}"/>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Content Placeholder 20">
            <a:extLst>
              <a:ext uri="{FF2B5EF4-FFF2-40B4-BE49-F238E27FC236}">
                <a16:creationId xmlns:a16="http://schemas.microsoft.com/office/drawing/2014/main" id="{CFABCA91-E36A-BD1B-A043-C17CE00504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2" name="Picture 11">
            <a:extLst>
              <a:ext uri="{FF2B5EF4-FFF2-40B4-BE49-F238E27FC236}">
                <a16:creationId xmlns:a16="http://schemas.microsoft.com/office/drawing/2014/main" id="{0A84C812-124A-1FCE-8B24-2810E9B9ED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6" name="Slide Number Placeholder 5">
            <a:extLst>
              <a:ext uri="{FF2B5EF4-FFF2-40B4-BE49-F238E27FC236}">
                <a16:creationId xmlns:a16="http://schemas.microsoft.com/office/drawing/2014/main" id="{014B6FB6-90AF-C0DB-9488-EC3F11290085}"/>
              </a:ext>
            </a:extLst>
          </p:cNvPr>
          <p:cNvSpPr>
            <a:spLocks noGrp="1"/>
          </p:cNvSpPr>
          <p:nvPr>
            <p:ph type="sldNum" sz="quarter" idx="12"/>
          </p:nvPr>
        </p:nvSpPr>
        <p:spPr/>
        <p:txBody>
          <a:bodyPr/>
          <a:lstStyle/>
          <a:p>
            <a:fld id="{FA5D76E8-8AD6-443B-8B81-1688B2EC3502}" type="slidenum">
              <a:rPr lang="en-US" smtClean="0"/>
              <a:t>12</a:t>
            </a:fld>
            <a:endParaRPr lang="en-US"/>
          </a:p>
        </p:txBody>
      </p:sp>
    </p:spTree>
    <p:extLst>
      <p:ext uri="{BB962C8B-B14F-4D97-AF65-F5344CB8AC3E}">
        <p14:creationId xmlns:p14="http://schemas.microsoft.com/office/powerpoint/2010/main" val="31916544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8D218-0070-A8C1-5D0E-7C14560686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EF09C1-DE92-E723-831C-D83D4D2D1192}"/>
              </a:ext>
            </a:extLst>
          </p:cNvPr>
          <p:cNvSpPr>
            <a:spLocks noGrp="1"/>
          </p:cNvSpPr>
          <p:nvPr>
            <p:ph type="title"/>
          </p:nvPr>
        </p:nvSpPr>
        <p:spPr>
          <a:xfrm>
            <a:off x="4423286" y="18255"/>
            <a:ext cx="4699821" cy="1325563"/>
          </a:xfrm>
        </p:spPr>
        <p:txBody>
          <a:bodyPr/>
          <a:lstStyle/>
          <a:p>
            <a:r>
              <a:rPr lang="en-US" b="1" dirty="0">
                <a:solidFill>
                  <a:srgbClr val="156082"/>
                </a:solidFill>
              </a:rPr>
              <a:t>Problem Definition</a:t>
            </a:r>
          </a:p>
        </p:txBody>
      </p:sp>
      <p:sp>
        <p:nvSpPr>
          <p:cNvPr id="3" name="Content Placeholder 2">
            <a:extLst>
              <a:ext uri="{FF2B5EF4-FFF2-40B4-BE49-F238E27FC236}">
                <a16:creationId xmlns:a16="http://schemas.microsoft.com/office/drawing/2014/main" id="{03686A0D-FEC3-97AC-2501-47ABC3D8A810}"/>
              </a:ext>
            </a:extLst>
          </p:cNvPr>
          <p:cNvSpPr>
            <a:spLocks noGrp="1"/>
          </p:cNvSpPr>
          <p:nvPr>
            <p:ph idx="1"/>
          </p:nvPr>
        </p:nvSpPr>
        <p:spPr>
          <a:xfrm>
            <a:off x="2192592" y="1175657"/>
            <a:ext cx="9842227" cy="5664088"/>
          </a:xfrm>
        </p:spPr>
        <p:txBody>
          <a:bodyPr>
            <a:normAutofit fontScale="85000" lnSpcReduction="20000"/>
          </a:bodyPr>
          <a:lstStyle/>
          <a:p>
            <a:pPr marL="0" indent="0">
              <a:buNone/>
            </a:pPr>
            <a:r>
              <a:rPr lang="en-US" sz="3800" b="1" dirty="0"/>
              <a:t>Data Representation:</a:t>
            </a:r>
          </a:p>
          <a:p>
            <a:pPr marL="0" indent="0">
              <a:buNone/>
            </a:pPr>
            <a:r>
              <a:rPr lang="en-US" b="1" dirty="0"/>
              <a:t>Core Matrices:</a:t>
            </a:r>
          </a:p>
          <a:p>
            <a:r>
              <a:rPr lang="en-US" b="1" dirty="0"/>
              <a:t>Student–Event Matrix (A)</a:t>
            </a:r>
            <a:r>
              <a:rPr lang="en-US" dirty="0"/>
              <a:t> </a:t>
            </a:r>
          </a:p>
          <a:p>
            <a:pPr lvl="1"/>
            <a:r>
              <a:rPr lang="en-US" sz="2800" dirty="0"/>
              <a:t>Indicates which students attend each event. </a:t>
            </a:r>
          </a:p>
          <a:p>
            <a:r>
              <a:rPr lang="en-US" b="1" dirty="0"/>
              <a:t>Event–Conflict Matrix (B)</a:t>
            </a:r>
            <a:r>
              <a:rPr lang="en-US" dirty="0"/>
              <a:t> </a:t>
            </a:r>
          </a:p>
          <a:p>
            <a:pPr lvl="1"/>
            <a:r>
              <a:rPr lang="en-US" sz="2800" dirty="0"/>
              <a:t>Identifies events that cannot occur simultaneously. </a:t>
            </a:r>
          </a:p>
          <a:p>
            <a:r>
              <a:rPr lang="en-US" b="1" dirty="0"/>
              <a:t>Room–Features Matrix (C)</a:t>
            </a:r>
            <a:r>
              <a:rPr lang="en-US" dirty="0"/>
              <a:t> </a:t>
            </a:r>
          </a:p>
          <a:p>
            <a:pPr lvl="1"/>
            <a:r>
              <a:rPr lang="en-US" sz="2800" dirty="0"/>
              <a:t>Describes facilities available in each room. </a:t>
            </a:r>
          </a:p>
          <a:p>
            <a:r>
              <a:rPr lang="en-US" b="1" dirty="0"/>
              <a:t>Event–Features Matrix (D)</a:t>
            </a:r>
            <a:r>
              <a:rPr lang="en-US" dirty="0"/>
              <a:t> </a:t>
            </a:r>
          </a:p>
          <a:p>
            <a:pPr lvl="1"/>
            <a:r>
              <a:rPr lang="en-US" sz="2800" dirty="0"/>
              <a:t>Specifies facilities required by each event. </a:t>
            </a:r>
          </a:p>
          <a:p>
            <a:r>
              <a:rPr lang="en-US" b="1" dirty="0"/>
              <a:t>Event–Room Matrix (G)</a:t>
            </a:r>
            <a:r>
              <a:rPr lang="en-US" dirty="0"/>
              <a:t> </a:t>
            </a:r>
          </a:p>
          <a:p>
            <a:pPr lvl="1"/>
            <a:r>
              <a:rPr lang="en-US" sz="2800" dirty="0"/>
              <a:t>Lists all suitable rooms for each event. </a:t>
            </a:r>
          </a:p>
          <a:p>
            <a:pPr marL="0" indent="0">
              <a:buNone/>
            </a:pPr>
            <a:r>
              <a:rPr lang="en-US" sz="3100" b="1" dirty="0"/>
              <a:t>Solution Representation:</a:t>
            </a:r>
          </a:p>
          <a:p>
            <a:r>
              <a:rPr lang="en-US" sz="3100" dirty="0"/>
              <a:t>Each event is assigned a </a:t>
            </a:r>
            <a:r>
              <a:rPr lang="en-US" sz="3100" b="1" dirty="0"/>
              <a:t>(Room, Timeslot)</a:t>
            </a:r>
            <a:r>
              <a:rPr lang="en-US" sz="3100" dirty="0"/>
              <a:t> pair. </a:t>
            </a:r>
          </a:p>
          <a:p>
            <a:r>
              <a:rPr lang="en-US" sz="3100" dirty="0"/>
              <a:t>Empty room-timeslot pairs are represented by </a:t>
            </a:r>
            <a:r>
              <a:rPr lang="en-US" sz="3100" b="1" dirty="0"/>
              <a:t>-1</a:t>
            </a:r>
            <a:r>
              <a:rPr lang="en-US" sz="3100" dirty="0"/>
              <a:t>. </a:t>
            </a:r>
          </a:p>
        </p:txBody>
      </p:sp>
      <p:sp>
        <p:nvSpPr>
          <p:cNvPr id="9" name="Rectangle 8">
            <a:extLst>
              <a:ext uri="{FF2B5EF4-FFF2-40B4-BE49-F238E27FC236}">
                <a16:creationId xmlns:a16="http://schemas.microsoft.com/office/drawing/2014/main" id="{7F1FD288-08B0-183D-49C0-F51AD58CF4E3}"/>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Content Placeholder 20">
            <a:extLst>
              <a:ext uri="{FF2B5EF4-FFF2-40B4-BE49-F238E27FC236}">
                <a16:creationId xmlns:a16="http://schemas.microsoft.com/office/drawing/2014/main" id="{761362CB-9B31-BB01-43C0-432F94DA23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2" name="Picture 11">
            <a:extLst>
              <a:ext uri="{FF2B5EF4-FFF2-40B4-BE49-F238E27FC236}">
                <a16:creationId xmlns:a16="http://schemas.microsoft.com/office/drawing/2014/main" id="{28594332-BAE7-0812-887B-34721B8409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4" name="Slide Number Placeholder 3">
            <a:extLst>
              <a:ext uri="{FF2B5EF4-FFF2-40B4-BE49-F238E27FC236}">
                <a16:creationId xmlns:a16="http://schemas.microsoft.com/office/drawing/2014/main" id="{5147AAA3-3F60-AECD-88F6-A5CF98A651CE}"/>
              </a:ext>
            </a:extLst>
          </p:cNvPr>
          <p:cNvSpPr>
            <a:spLocks noGrp="1"/>
          </p:cNvSpPr>
          <p:nvPr>
            <p:ph type="sldNum" sz="quarter" idx="12"/>
          </p:nvPr>
        </p:nvSpPr>
        <p:spPr/>
        <p:txBody>
          <a:bodyPr/>
          <a:lstStyle/>
          <a:p>
            <a:fld id="{FA5D76E8-8AD6-443B-8B81-1688B2EC3502}" type="slidenum">
              <a:rPr lang="en-US" smtClean="0"/>
              <a:t>13</a:t>
            </a:fld>
            <a:endParaRPr lang="en-US"/>
          </a:p>
        </p:txBody>
      </p:sp>
    </p:spTree>
    <p:extLst>
      <p:ext uri="{BB962C8B-B14F-4D97-AF65-F5344CB8AC3E}">
        <p14:creationId xmlns:p14="http://schemas.microsoft.com/office/powerpoint/2010/main" val="3757135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fade">
                                      <p:cBhvr>
                                        <p:cTn id="31" dur="500"/>
                                        <p:tgtEl>
                                          <p:spTgt spid="3">
                                            <p:txEl>
                                              <p:pRg st="8" end="8"/>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9" end="9"/>
                                            </p:txEl>
                                          </p:spTgt>
                                        </p:tgtEl>
                                        <p:attrNameLst>
                                          <p:attrName>style.visibility</p:attrName>
                                        </p:attrNameLst>
                                      </p:cBhvr>
                                      <p:to>
                                        <p:strVal val="visible"/>
                                      </p:to>
                                    </p:set>
                                    <p:animEffect transition="in" filter="fade">
                                      <p:cBhvr>
                                        <p:cTn id="34" dur="500"/>
                                        <p:tgtEl>
                                          <p:spTgt spid="3">
                                            <p:txEl>
                                              <p:pRg st="9" end="9"/>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animEffect transition="in" filter="fade">
                                      <p:cBhvr>
                                        <p:cTn id="39" dur="500"/>
                                        <p:tgtEl>
                                          <p:spTgt spid="3">
                                            <p:txEl>
                                              <p:pRg st="10" end="10"/>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3">
                                            <p:txEl>
                                              <p:pRg st="11" end="11"/>
                                            </p:txEl>
                                          </p:spTgt>
                                        </p:tgtEl>
                                        <p:attrNameLst>
                                          <p:attrName>style.visibility</p:attrName>
                                        </p:attrNameLst>
                                      </p:cBhvr>
                                      <p:to>
                                        <p:strVal val="visible"/>
                                      </p:to>
                                    </p:set>
                                    <p:animEffect transition="in" filter="fade">
                                      <p:cBhvr>
                                        <p:cTn id="4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689FD-6A85-0BEE-0CB1-DED1F5B9D5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1B6454-D2E5-C0AC-9439-5C05CBE2C39F}"/>
              </a:ext>
            </a:extLst>
          </p:cNvPr>
          <p:cNvSpPr>
            <a:spLocks noGrp="1"/>
          </p:cNvSpPr>
          <p:nvPr>
            <p:ph type="title"/>
          </p:nvPr>
        </p:nvSpPr>
        <p:spPr>
          <a:xfrm>
            <a:off x="4423286" y="18255"/>
            <a:ext cx="4699821" cy="1325563"/>
          </a:xfrm>
        </p:spPr>
        <p:txBody>
          <a:bodyPr/>
          <a:lstStyle/>
          <a:p>
            <a:r>
              <a:rPr lang="en-US" b="1" dirty="0">
                <a:solidFill>
                  <a:srgbClr val="156082"/>
                </a:solidFill>
              </a:rPr>
              <a:t>Problem Definition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F3917FA-F7B7-7ED7-BBC5-EA5B8C888807}"/>
                  </a:ext>
                </a:extLst>
              </p:cNvPr>
              <p:cNvSpPr>
                <a:spLocks noGrp="1"/>
              </p:cNvSpPr>
              <p:nvPr>
                <p:ph idx="1"/>
              </p:nvPr>
            </p:nvSpPr>
            <p:spPr>
              <a:xfrm>
                <a:off x="2031066" y="1175657"/>
                <a:ext cx="10003754" cy="5664088"/>
              </a:xfrm>
            </p:spPr>
            <p:txBody>
              <a:bodyPr>
                <a:normAutofit fontScale="25000" lnSpcReduction="20000"/>
              </a:bodyPr>
              <a:lstStyle/>
              <a:p>
                <a:pPr marL="0" indent="0">
                  <a:buNone/>
                </a:pPr>
                <a:r>
                  <a:rPr lang="en-US" sz="9800" b="1" dirty="0"/>
                  <a:t>Room Assignment &amp; Objective Function</a:t>
                </a:r>
              </a:p>
              <a:p>
                <a:pPr marL="0" indent="0">
                  <a:buNone/>
                </a:pPr>
                <a:r>
                  <a:rPr lang="en-US" sz="9600" b="1" dirty="0"/>
                  <a:t>Room Assignment:</a:t>
                </a:r>
              </a:p>
              <a:p>
                <a:r>
                  <a:rPr lang="en-US" sz="9600" dirty="0"/>
                  <a:t>Uses a </a:t>
                </a:r>
                <a:r>
                  <a:rPr lang="en-US" sz="9600" b="1" dirty="0"/>
                  <a:t>matching algorithm</a:t>
                </a:r>
                <a:r>
                  <a:rPr lang="en-US" sz="9600" dirty="0"/>
                  <a:t> based on network flow. </a:t>
                </a:r>
              </a:p>
              <a:p>
                <a:r>
                  <a:rPr lang="en-US" sz="9600" dirty="0"/>
                  <a:t>Assigns events to the most suitable rooms. </a:t>
                </a:r>
              </a:p>
              <a:p>
                <a:r>
                  <a:rPr lang="en-US" sz="9600" dirty="0"/>
                  <a:t>Maximizes valid event-room assignments. </a:t>
                </a:r>
              </a:p>
              <a:p>
                <a:pPr marL="0" indent="0">
                  <a:buNone/>
                </a:pPr>
                <a:r>
                  <a:rPr lang="en-US" sz="9600" b="1" dirty="0"/>
                  <a:t>Objective Function:</a:t>
                </a:r>
              </a:p>
              <a:p>
                <a:pPr marL="0" indent="0">
                  <a:buNone/>
                </a:pPr>
                <a14:m>
                  <m:oMathPara xmlns:m="http://schemas.openxmlformats.org/officeDocument/2006/math">
                    <m:oMathParaPr>
                      <m:jc m:val="centerGroup"/>
                    </m:oMathParaPr>
                    <m:oMath xmlns:m="http://schemas.openxmlformats.org/officeDocument/2006/math">
                      <m:r>
                        <a:rPr lang="en-US" sz="9600" b="1" i="1" smtClean="0">
                          <a:latin typeface="Cambria Math" panose="02040503050406030204" pitchFamily="18" charset="0"/>
                        </a:rPr>
                        <m:t>𝒇</m:t>
                      </m:r>
                      <m:d>
                        <m:dPr>
                          <m:ctrlPr>
                            <a:rPr lang="en-US" sz="9600" b="1" i="1" smtClean="0">
                              <a:latin typeface="Cambria Math" panose="02040503050406030204" pitchFamily="18" charset="0"/>
                            </a:rPr>
                          </m:ctrlPr>
                        </m:dPr>
                        <m:e>
                          <m:r>
                            <a:rPr lang="en-US" sz="9600" b="1" i="1" smtClean="0">
                              <a:latin typeface="Cambria Math" panose="02040503050406030204" pitchFamily="18" charset="0"/>
                            </a:rPr>
                            <m:t>𝒔</m:t>
                          </m:r>
                        </m:e>
                      </m:d>
                      <m:r>
                        <a:rPr lang="en-US" sz="9600" b="1" i="1" smtClean="0">
                          <a:latin typeface="Cambria Math" panose="02040503050406030204" pitchFamily="18" charset="0"/>
                          <a:ea typeface="Cambria Math" panose="02040503050406030204" pitchFamily="18" charset="0"/>
                        </a:rPr>
                        <m:t>=</m:t>
                      </m:r>
                      <m:r>
                        <a:rPr lang="en-US" sz="9600" b="1" i="1" smtClean="0">
                          <a:latin typeface="Cambria Math" panose="02040503050406030204" pitchFamily="18" charset="0"/>
                          <a:ea typeface="Cambria Math" panose="02040503050406030204" pitchFamily="18" charset="0"/>
                        </a:rPr>
                        <m:t>𝒄</m:t>
                      </m:r>
                      <m:r>
                        <a:rPr lang="en-US" sz="9600" b="1" i="1" smtClean="0">
                          <a:latin typeface="Cambria Math" panose="02040503050406030204" pitchFamily="18" charset="0"/>
                          <a:ea typeface="Cambria Math" panose="02040503050406030204" pitchFamily="18" charset="0"/>
                        </a:rPr>
                        <m:t>∗#</m:t>
                      </m:r>
                      <m:r>
                        <a:rPr lang="en-US" sz="9600" b="1" i="1" smtClean="0">
                          <a:latin typeface="Cambria Math" panose="02040503050406030204" pitchFamily="18" charset="0"/>
                          <a:ea typeface="Cambria Math" panose="02040503050406030204" pitchFamily="18" charset="0"/>
                        </a:rPr>
                        <m:t>𝒉𝒄𝒗</m:t>
                      </m:r>
                      <m:r>
                        <a:rPr lang="en-US" sz="9600" b="1" i="1" smtClean="0">
                          <a:latin typeface="Cambria Math" panose="02040503050406030204" pitchFamily="18" charset="0"/>
                          <a:ea typeface="Cambria Math" panose="02040503050406030204" pitchFamily="18" charset="0"/>
                        </a:rPr>
                        <m:t> +#</m:t>
                      </m:r>
                      <m:r>
                        <a:rPr lang="en-US" sz="9600" b="1" i="1" smtClean="0">
                          <a:latin typeface="Cambria Math" panose="02040503050406030204" pitchFamily="18" charset="0"/>
                          <a:ea typeface="Cambria Math" panose="02040503050406030204" pitchFamily="18" charset="0"/>
                        </a:rPr>
                        <m:t>𝒔𝒄𝒗</m:t>
                      </m:r>
                    </m:oMath>
                  </m:oMathPara>
                </a14:m>
                <a:endParaRPr lang="en-US" sz="9600" b="1" dirty="0"/>
              </a:p>
              <a:p>
                <a:pPr marL="0" indent="0">
                  <a:buNone/>
                </a:pPr>
                <a:r>
                  <a:rPr lang="en-US" sz="9600" b="1" dirty="0"/>
                  <a:t>Where:</a:t>
                </a:r>
              </a:p>
              <a:p>
                <a:r>
                  <a:rPr lang="en-US" sz="9600" b="1" dirty="0"/>
                  <a:t>#hcv:</a:t>
                </a:r>
                <a:r>
                  <a:rPr lang="en-US" sz="9600" dirty="0"/>
                  <a:t> Number of hard constraint violations. </a:t>
                </a:r>
              </a:p>
              <a:p>
                <a:r>
                  <a:rPr lang="en-US" sz="9600" b="1" dirty="0"/>
                  <a:t>#scv:</a:t>
                </a:r>
                <a:r>
                  <a:rPr lang="en-US" sz="9600" dirty="0"/>
                  <a:t> Number of soft constraint violations. </a:t>
                </a:r>
              </a:p>
              <a:p>
                <a:r>
                  <a:rPr lang="en-US" sz="9600" b="1" dirty="0"/>
                  <a:t>C = 10⁶</a:t>
                </a:r>
                <a:r>
                  <a:rPr lang="en-US" sz="9600" dirty="0"/>
                  <a:t> to heavily penalize hard constraint violations. </a:t>
                </a:r>
              </a:p>
              <a:p>
                <a:pPr marL="0" indent="0">
                  <a:buNone/>
                </a:pPr>
                <a:r>
                  <a:rPr lang="en-US" sz="9600" b="1" dirty="0"/>
                  <a:t>Optimization Goal:</a:t>
                </a:r>
              </a:p>
              <a:p>
                <a:r>
                  <a:rPr lang="en-US" sz="9600" dirty="0"/>
                  <a:t>Eliminate all hard constraint violations. </a:t>
                </a:r>
              </a:p>
              <a:p>
                <a:r>
                  <a:rPr lang="en-US" sz="9600" dirty="0"/>
                  <a:t>Minimize soft constraint violations. </a:t>
                </a:r>
              </a:p>
              <a:p>
                <a:r>
                  <a:rPr lang="en-US" sz="9600" dirty="0"/>
                  <a:t>Achieve the best feasible timetable.</a:t>
                </a:r>
              </a:p>
            </p:txBody>
          </p:sp>
        </mc:Choice>
        <mc:Fallback xmlns="">
          <p:sp>
            <p:nvSpPr>
              <p:cNvPr id="3" name="Content Placeholder 2">
                <a:extLst>
                  <a:ext uri="{FF2B5EF4-FFF2-40B4-BE49-F238E27FC236}">
                    <a16:creationId xmlns:a16="http://schemas.microsoft.com/office/drawing/2014/main" id="{3F3917FA-F7B7-7ED7-BBC5-EA5B8C888807}"/>
                  </a:ext>
                </a:extLst>
              </p:cNvPr>
              <p:cNvSpPr>
                <a:spLocks noGrp="1" noRot="1" noChangeAspect="1" noMove="1" noResize="1" noEditPoints="1" noAdjustHandles="1" noChangeArrowheads="1" noChangeShapeType="1" noTextEdit="1"/>
              </p:cNvSpPr>
              <p:nvPr>
                <p:ph idx="1"/>
              </p:nvPr>
            </p:nvSpPr>
            <p:spPr>
              <a:xfrm>
                <a:off x="2031066" y="1175657"/>
                <a:ext cx="10003754" cy="5664088"/>
              </a:xfrm>
              <a:blipFill>
                <a:blip r:embed="rId2"/>
                <a:stretch>
                  <a:fillRect l="-975" t="-2476" b="-2906"/>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7541A954-A1FB-5A9F-AC02-6797F8B56FEC}"/>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Content Placeholder 20">
            <a:extLst>
              <a:ext uri="{FF2B5EF4-FFF2-40B4-BE49-F238E27FC236}">
                <a16:creationId xmlns:a16="http://schemas.microsoft.com/office/drawing/2014/main" id="{D938F57F-37D9-CDF0-7558-629100D596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2" name="Picture 11">
            <a:extLst>
              <a:ext uri="{FF2B5EF4-FFF2-40B4-BE49-F238E27FC236}">
                <a16:creationId xmlns:a16="http://schemas.microsoft.com/office/drawing/2014/main" id="{38EB1C92-E77C-78A3-81F7-AFF7C7FCDD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4" name="Slide Number Placeholder 3">
            <a:extLst>
              <a:ext uri="{FF2B5EF4-FFF2-40B4-BE49-F238E27FC236}">
                <a16:creationId xmlns:a16="http://schemas.microsoft.com/office/drawing/2014/main" id="{D0ECF09E-1F61-48DF-D24E-146F02D15C23}"/>
              </a:ext>
            </a:extLst>
          </p:cNvPr>
          <p:cNvSpPr>
            <a:spLocks noGrp="1"/>
          </p:cNvSpPr>
          <p:nvPr>
            <p:ph type="sldNum" sz="quarter" idx="12"/>
          </p:nvPr>
        </p:nvSpPr>
        <p:spPr/>
        <p:txBody>
          <a:bodyPr/>
          <a:lstStyle/>
          <a:p>
            <a:fld id="{FA5D76E8-8AD6-443B-8B81-1688B2EC3502}" type="slidenum">
              <a:rPr lang="en-US" smtClean="0"/>
              <a:t>14</a:t>
            </a:fld>
            <a:endParaRPr lang="en-US"/>
          </a:p>
        </p:txBody>
      </p:sp>
    </p:spTree>
    <p:extLst>
      <p:ext uri="{BB962C8B-B14F-4D97-AF65-F5344CB8AC3E}">
        <p14:creationId xmlns:p14="http://schemas.microsoft.com/office/powerpoint/2010/main" val="28572921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09BC9-C69D-3F37-29E0-498F072CE0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A333E4-756C-2CB0-F71D-C723DB60C960}"/>
              </a:ext>
            </a:extLst>
          </p:cNvPr>
          <p:cNvSpPr>
            <a:spLocks noGrp="1"/>
          </p:cNvSpPr>
          <p:nvPr>
            <p:ph type="title"/>
          </p:nvPr>
        </p:nvSpPr>
        <p:spPr>
          <a:xfrm>
            <a:off x="4423286" y="18255"/>
            <a:ext cx="4699821" cy="1325563"/>
          </a:xfrm>
        </p:spPr>
        <p:txBody>
          <a:bodyPr/>
          <a:lstStyle/>
          <a:p>
            <a:r>
              <a:rPr lang="en-US" b="1" dirty="0">
                <a:solidFill>
                  <a:srgbClr val="156082"/>
                </a:solidFill>
              </a:rPr>
              <a:t>Problem Definition</a:t>
            </a:r>
          </a:p>
        </p:txBody>
      </p:sp>
      <p:sp>
        <p:nvSpPr>
          <p:cNvPr id="3" name="Content Placeholder 2">
            <a:extLst>
              <a:ext uri="{FF2B5EF4-FFF2-40B4-BE49-F238E27FC236}">
                <a16:creationId xmlns:a16="http://schemas.microsoft.com/office/drawing/2014/main" id="{4A1DAB5C-A578-2A4C-45D0-40EE13A7151A}"/>
              </a:ext>
            </a:extLst>
          </p:cNvPr>
          <p:cNvSpPr>
            <a:spLocks noGrp="1"/>
          </p:cNvSpPr>
          <p:nvPr>
            <p:ph idx="1"/>
          </p:nvPr>
        </p:nvSpPr>
        <p:spPr>
          <a:xfrm>
            <a:off x="2031066" y="1175657"/>
            <a:ext cx="10160934" cy="5497920"/>
          </a:xfrm>
        </p:spPr>
        <p:txBody>
          <a:bodyPr>
            <a:normAutofit fontScale="92500" lnSpcReduction="10000"/>
          </a:bodyPr>
          <a:lstStyle/>
          <a:p>
            <a:pPr marL="0" indent="0">
              <a:buNone/>
            </a:pPr>
            <a:r>
              <a:rPr lang="en-US" sz="3500" b="1" dirty="0"/>
              <a:t>Formulation of the Post Enrolment-Based Course Timetabling Problem (PECTP):</a:t>
            </a:r>
          </a:p>
          <a:p>
            <a:r>
              <a:rPr lang="en-US" sz="2600" dirty="0"/>
              <a:t>PECTP is defined as assigning events (lectures/courses) to timeslots and rooms while satisfying strict constraints derived from real student enrollment data.</a:t>
            </a:r>
          </a:p>
          <a:p>
            <a:endParaRPr lang="en-US" sz="2600" dirty="0"/>
          </a:p>
          <a:p>
            <a:pPr marL="0" indent="0">
              <a:buNone/>
            </a:pPr>
            <a:r>
              <a:rPr lang="en-US" sz="2600" b="1" dirty="0"/>
              <a:t>Hard Constraints:</a:t>
            </a:r>
          </a:p>
          <a:p>
            <a:r>
              <a:rPr lang="en-US" sz="2600" b="1" dirty="0"/>
              <a:t>H1:</a:t>
            </a:r>
            <a:r>
              <a:rPr lang="en-US" sz="2600" dirty="0"/>
              <a:t> A student cannot attend more than one event at the same time. </a:t>
            </a:r>
          </a:p>
          <a:p>
            <a:r>
              <a:rPr lang="en-US" sz="2600" b="1" dirty="0"/>
              <a:t>H2:</a:t>
            </a:r>
            <a:r>
              <a:rPr lang="en-US" sz="2600" dirty="0"/>
              <a:t> Rooms must have sufficient capacity and required features for each event. </a:t>
            </a:r>
          </a:p>
          <a:p>
            <a:r>
              <a:rPr lang="en-US" sz="2600" b="1" dirty="0"/>
              <a:t>H3:</a:t>
            </a:r>
            <a:r>
              <a:rPr lang="en-US" sz="2600" dirty="0"/>
              <a:t> Only one event can be assigned to a room in a given timeslot. </a:t>
            </a:r>
          </a:p>
          <a:p>
            <a:r>
              <a:rPr lang="en-US" sz="2600" b="1" dirty="0"/>
              <a:t>H4:</a:t>
            </a:r>
            <a:r>
              <a:rPr lang="en-US" sz="2600" dirty="0"/>
              <a:t> Events can only be scheduled in predefined available timeslots. </a:t>
            </a:r>
          </a:p>
          <a:p>
            <a:r>
              <a:rPr lang="en-US" sz="2600" b="1" dirty="0"/>
              <a:t>H5:</a:t>
            </a:r>
            <a:r>
              <a:rPr lang="en-US" sz="2600" dirty="0"/>
              <a:t> Events must follow required ordering/precedence constraints.</a:t>
            </a:r>
          </a:p>
          <a:p>
            <a:endParaRPr lang="en-US" sz="3800" dirty="0"/>
          </a:p>
        </p:txBody>
      </p:sp>
      <p:sp>
        <p:nvSpPr>
          <p:cNvPr id="9" name="Rectangle 8">
            <a:extLst>
              <a:ext uri="{FF2B5EF4-FFF2-40B4-BE49-F238E27FC236}">
                <a16:creationId xmlns:a16="http://schemas.microsoft.com/office/drawing/2014/main" id="{40BB0009-26FA-35D5-8FC8-0742FC9CAA5D}"/>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Content Placeholder 20">
            <a:extLst>
              <a:ext uri="{FF2B5EF4-FFF2-40B4-BE49-F238E27FC236}">
                <a16:creationId xmlns:a16="http://schemas.microsoft.com/office/drawing/2014/main" id="{5095D721-3C00-BF78-5333-7F2970A1BA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2" name="Picture 11">
            <a:extLst>
              <a:ext uri="{FF2B5EF4-FFF2-40B4-BE49-F238E27FC236}">
                <a16:creationId xmlns:a16="http://schemas.microsoft.com/office/drawing/2014/main" id="{4EE2F638-8CA9-01AF-8FF6-97640CEDE1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4" name="Slide Number Placeholder 3">
            <a:extLst>
              <a:ext uri="{FF2B5EF4-FFF2-40B4-BE49-F238E27FC236}">
                <a16:creationId xmlns:a16="http://schemas.microsoft.com/office/drawing/2014/main" id="{B023D352-5E76-17E3-4148-2EE97849B85D}"/>
              </a:ext>
            </a:extLst>
          </p:cNvPr>
          <p:cNvSpPr>
            <a:spLocks noGrp="1"/>
          </p:cNvSpPr>
          <p:nvPr>
            <p:ph type="sldNum" sz="quarter" idx="12"/>
          </p:nvPr>
        </p:nvSpPr>
        <p:spPr/>
        <p:txBody>
          <a:bodyPr/>
          <a:lstStyle/>
          <a:p>
            <a:fld id="{FA5D76E8-8AD6-443B-8B81-1688B2EC3502}" type="slidenum">
              <a:rPr lang="en-US" smtClean="0"/>
              <a:t>15</a:t>
            </a:fld>
            <a:endParaRPr lang="en-US"/>
          </a:p>
        </p:txBody>
      </p:sp>
    </p:spTree>
    <p:extLst>
      <p:ext uri="{BB962C8B-B14F-4D97-AF65-F5344CB8AC3E}">
        <p14:creationId xmlns:p14="http://schemas.microsoft.com/office/powerpoint/2010/main" val="3489545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fade">
                                      <p:cBhvr>
                                        <p:cTn id="13" dur="500"/>
                                        <p:tgtEl>
                                          <p:spTgt spid="3">
                                            <p:txEl>
                                              <p:pRg st="6" end="6"/>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7" end="7"/>
                                            </p:txEl>
                                          </p:spTgt>
                                        </p:tgtEl>
                                        <p:attrNameLst>
                                          <p:attrName>style.visibility</p:attrName>
                                        </p:attrNameLst>
                                      </p:cBhvr>
                                      <p:to>
                                        <p:strVal val="visible"/>
                                      </p:to>
                                    </p:set>
                                    <p:animEffect transition="in" filter="fade">
                                      <p:cBhvr>
                                        <p:cTn id="16" dur="500"/>
                                        <p:tgtEl>
                                          <p:spTgt spid="3">
                                            <p:txEl>
                                              <p:pRg st="7" end="7"/>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Effect transition="in" filter="fade">
                                      <p:cBhvr>
                                        <p:cTn id="19"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BE193-5E00-3F44-59CE-78D5B978A5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421E21-C397-BEC9-3813-E2BF39206892}"/>
              </a:ext>
            </a:extLst>
          </p:cNvPr>
          <p:cNvSpPr>
            <a:spLocks noGrp="1"/>
          </p:cNvSpPr>
          <p:nvPr>
            <p:ph type="title"/>
          </p:nvPr>
        </p:nvSpPr>
        <p:spPr>
          <a:xfrm>
            <a:off x="4423286" y="18255"/>
            <a:ext cx="4699821" cy="1325563"/>
          </a:xfrm>
        </p:spPr>
        <p:txBody>
          <a:bodyPr/>
          <a:lstStyle/>
          <a:p>
            <a:r>
              <a:rPr lang="en-US" b="1" dirty="0">
                <a:solidFill>
                  <a:srgbClr val="156082"/>
                </a:solidFill>
              </a:rPr>
              <a:t>Problem Definition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39BAA5E-CA6C-F353-9613-ACB431C9487C}"/>
                  </a:ext>
                </a:extLst>
              </p:cNvPr>
              <p:cNvSpPr>
                <a:spLocks noGrp="1"/>
              </p:cNvSpPr>
              <p:nvPr>
                <p:ph idx="1"/>
              </p:nvPr>
            </p:nvSpPr>
            <p:spPr>
              <a:xfrm>
                <a:off x="2031066" y="1175657"/>
                <a:ext cx="10160934" cy="5664088"/>
              </a:xfrm>
            </p:spPr>
            <p:txBody>
              <a:bodyPr>
                <a:noAutofit/>
              </a:bodyPr>
              <a:lstStyle/>
              <a:p>
                <a:pPr marL="0" indent="0">
                  <a:buNone/>
                </a:pPr>
                <a:r>
                  <a:rPr lang="en-US" sz="2400" b="1" dirty="0"/>
                  <a:t>Soft Constraints:</a:t>
                </a:r>
              </a:p>
              <a:p>
                <a:r>
                  <a:rPr lang="en-US" sz="2400" b="1" dirty="0"/>
                  <a:t>S1:</a:t>
                </a:r>
                <a:r>
                  <a:rPr lang="en-US" sz="2400" dirty="0"/>
                  <a:t> Avoid scheduling events in the last timeslot of a day. </a:t>
                </a:r>
              </a:p>
              <a:p>
                <a:r>
                  <a:rPr lang="en-US" sz="2400" b="1" dirty="0"/>
                  <a:t>S2:</a:t>
                </a:r>
                <a:r>
                  <a:rPr lang="en-US" sz="2400" dirty="0"/>
                  <a:t> Avoid more than two consecutive events for any student. </a:t>
                </a:r>
              </a:p>
              <a:p>
                <a:r>
                  <a:rPr lang="en-US" sz="2400" b="1" dirty="0"/>
                  <a:t>S3:</a:t>
                </a:r>
                <a:r>
                  <a:rPr lang="en-US" sz="2400" dirty="0"/>
                  <a:t> Avoid assigning only a single event to a student in a day.</a:t>
                </a:r>
              </a:p>
              <a:p>
                <a:pPr marL="0" indent="0">
                  <a:buNone/>
                </a:pPr>
                <a:r>
                  <a:rPr lang="en-US" sz="2400" b="1" dirty="0"/>
                  <a:t>Additional Matrices:</a:t>
                </a:r>
              </a:p>
              <a:p>
                <a:pPr marL="0" indent="0">
                  <a:buNone/>
                </a:pPr>
                <a:r>
                  <a:rPr lang="en-US" sz="2400" b="1" dirty="0"/>
                  <a:t>Event–Availability Matrix (Hₙₜ)</a:t>
                </a:r>
                <a:r>
                  <a:rPr lang="en-US" sz="2400" dirty="0"/>
                  <a:t> </a:t>
                </a:r>
              </a:p>
              <a:p>
                <a:pPr lvl="1"/>
                <a:r>
                  <a:rPr lang="en-US" dirty="0"/>
                  <a:t>Indicates allowed timeslots for each event. </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𝑖</m:t>
                        </m:r>
                        <m:r>
                          <a:rPr lang="en-US">
                            <a:latin typeface="Cambria Math" panose="02040503050406030204" pitchFamily="18" charset="0"/>
                          </a:rPr>
                          <m:t>,</m:t>
                        </m:r>
                        <m:r>
                          <a:rPr lang="en-US" i="1">
                            <a:latin typeface="Cambria Math" panose="02040503050406030204" pitchFamily="18" charset="0"/>
                          </a:rPr>
                          <m:t>𝑗</m:t>
                        </m:r>
                      </m:sub>
                    </m:sSub>
                    <m:r>
                      <a:rPr lang="en-US">
                        <a:latin typeface="Cambria Math" panose="02040503050406030204" pitchFamily="18" charset="0"/>
                      </a:rPr>
                      <m:t>=1</m:t>
                    </m:r>
                  </m:oMath>
                </a14:m>
                <a:r>
                  <a:rPr lang="en-US" dirty="0"/>
                  <a:t>if event </a:t>
                </a:r>
                <a:r>
                  <a:rPr lang="en-US" i="1" dirty="0" err="1"/>
                  <a:t>i</a:t>
                </a:r>
                <a:r>
                  <a:rPr lang="en-US" dirty="0"/>
                  <a:t> can be scheduled in timeslot </a:t>
                </a:r>
                <a:r>
                  <a:rPr lang="en-US" i="1" dirty="0"/>
                  <a:t>j</a:t>
                </a:r>
                <a:r>
                  <a:rPr lang="en-US" dirty="0"/>
                  <a:t>, otherwise 0. </a:t>
                </a:r>
              </a:p>
              <a:p>
                <a:pPr marL="0" indent="0">
                  <a:buNone/>
                </a:pPr>
                <a:r>
                  <a:rPr lang="en-US" sz="2400" b="1" dirty="0"/>
                  <a:t>Event–Preference Matrix (Iₙₙ)</a:t>
                </a:r>
                <a:r>
                  <a:rPr lang="en-US" sz="2400" dirty="0"/>
                  <a:t> </a:t>
                </a:r>
              </a:p>
              <a:p>
                <a:pPr lvl="1"/>
                <a:r>
                  <a:rPr lang="en-US" dirty="0"/>
                  <a:t>Defines ordering constraints between events. </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𝑖</m:t>
                        </m:r>
                        <m:r>
                          <a:rPr lang="en-US">
                            <a:latin typeface="Cambria Math" panose="02040503050406030204" pitchFamily="18" charset="0"/>
                          </a:rPr>
                          <m:t>,</m:t>
                        </m:r>
                        <m:r>
                          <a:rPr lang="en-US" i="1">
                            <a:latin typeface="Cambria Math" panose="02040503050406030204" pitchFamily="18" charset="0"/>
                          </a:rPr>
                          <m:t>𝑗</m:t>
                        </m:r>
                      </m:sub>
                    </m:sSub>
                    <m:r>
                      <a:rPr lang="en-US">
                        <a:latin typeface="Cambria Math" panose="02040503050406030204" pitchFamily="18" charset="0"/>
                      </a:rPr>
                      <m:t>=1</m:t>
                    </m:r>
                  </m:oMath>
                </a14:m>
                <a:r>
                  <a:rPr lang="en-US" dirty="0"/>
                  <a:t>: event </a:t>
                </a:r>
                <a:r>
                  <a:rPr lang="en-US" i="1" dirty="0" err="1"/>
                  <a:t>i</a:t>
                </a:r>
                <a:r>
                  <a:rPr lang="en-US" dirty="0"/>
                  <a:t> must be before event </a:t>
                </a:r>
                <a:r>
                  <a:rPr lang="en-US" i="1" dirty="0"/>
                  <a:t>j</a:t>
                </a:r>
                <a:r>
                  <a:rPr lang="en-US" dirty="0"/>
                  <a:t> </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𝑖</m:t>
                        </m:r>
                        <m:r>
                          <a:rPr lang="en-US">
                            <a:latin typeface="Cambria Math" panose="02040503050406030204" pitchFamily="18" charset="0"/>
                          </a:rPr>
                          <m:t>,</m:t>
                        </m:r>
                        <m:r>
                          <a:rPr lang="en-US" i="1">
                            <a:latin typeface="Cambria Math" panose="02040503050406030204" pitchFamily="18" charset="0"/>
                          </a:rPr>
                          <m:t>𝑗</m:t>
                        </m:r>
                      </m:sub>
                    </m:sSub>
                    <m:r>
                      <a:rPr lang="en-US">
                        <a:latin typeface="Cambria Math" panose="02040503050406030204" pitchFamily="18" charset="0"/>
                      </a:rPr>
                      <m:t>=−1</m:t>
                    </m:r>
                  </m:oMath>
                </a14:m>
                <a:r>
                  <a:rPr lang="en-US" dirty="0"/>
                  <a:t>: event </a:t>
                </a:r>
                <a:r>
                  <a:rPr lang="en-US" i="1" dirty="0" err="1"/>
                  <a:t>i</a:t>
                </a:r>
                <a:r>
                  <a:rPr lang="en-US" dirty="0"/>
                  <a:t> must be after event </a:t>
                </a:r>
                <a:r>
                  <a:rPr lang="en-US" i="1" dirty="0"/>
                  <a:t>j</a:t>
                </a:r>
                <a:r>
                  <a:rPr lang="en-US" dirty="0"/>
                  <a:t> </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𝑖</m:t>
                        </m:r>
                        <m:r>
                          <a:rPr lang="en-US">
                            <a:latin typeface="Cambria Math" panose="02040503050406030204" pitchFamily="18" charset="0"/>
                          </a:rPr>
                          <m:t>,</m:t>
                        </m:r>
                        <m:r>
                          <a:rPr lang="en-US" i="1">
                            <a:latin typeface="Cambria Math" panose="02040503050406030204" pitchFamily="18" charset="0"/>
                          </a:rPr>
                          <m:t>𝑗</m:t>
                        </m:r>
                      </m:sub>
                    </m:sSub>
                    <m:r>
                      <a:rPr lang="en-US">
                        <a:latin typeface="Cambria Math" panose="02040503050406030204" pitchFamily="18" charset="0"/>
                      </a:rPr>
                      <m:t>=0</m:t>
                    </m:r>
                  </m:oMath>
                </a14:m>
                <a:r>
                  <a:rPr lang="en-US" dirty="0"/>
                  <a:t>: no precedence constraint</a:t>
                </a:r>
              </a:p>
              <a:p>
                <a:endParaRPr lang="en-US" sz="2400" dirty="0"/>
              </a:p>
              <a:p>
                <a:endParaRPr lang="en-US" sz="2400" dirty="0"/>
              </a:p>
            </p:txBody>
          </p:sp>
        </mc:Choice>
        <mc:Fallback xmlns="">
          <p:sp>
            <p:nvSpPr>
              <p:cNvPr id="3" name="Content Placeholder 2">
                <a:extLst>
                  <a:ext uri="{FF2B5EF4-FFF2-40B4-BE49-F238E27FC236}">
                    <a16:creationId xmlns:a16="http://schemas.microsoft.com/office/drawing/2014/main" id="{739BAA5E-CA6C-F353-9613-ACB431C9487C}"/>
                  </a:ext>
                </a:extLst>
              </p:cNvPr>
              <p:cNvSpPr>
                <a:spLocks noGrp="1" noRot="1" noChangeAspect="1" noMove="1" noResize="1" noEditPoints="1" noAdjustHandles="1" noChangeArrowheads="1" noChangeShapeType="1" noTextEdit="1"/>
              </p:cNvSpPr>
              <p:nvPr>
                <p:ph idx="1"/>
              </p:nvPr>
            </p:nvSpPr>
            <p:spPr>
              <a:xfrm>
                <a:off x="2031066" y="1175657"/>
                <a:ext cx="10160934" cy="5664088"/>
              </a:xfrm>
              <a:blipFill>
                <a:blip r:embed="rId2"/>
                <a:stretch>
                  <a:fillRect l="-900" t="-1399" b="-1722"/>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CC0D26CA-60C8-2C93-EE5D-32D82F330A47}"/>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Content Placeholder 20">
            <a:extLst>
              <a:ext uri="{FF2B5EF4-FFF2-40B4-BE49-F238E27FC236}">
                <a16:creationId xmlns:a16="http://schemas.microsoft.com/office/drawing/2014/main" id="{1CCEBC5F-5E1D-4FB3-1E58-FABD67D6DA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2" name="Picture 11">
            <a:extLst>
              <a:ext uri="{FF2B5EF4-FFF2-40B4-BE49-F238E27FC236}">
                <a16:creationId xmlns:a16="http://schemas.microsoft.com/office/drawing/2014/main" id="{A067EFC8-45BF-14F4-74EC-5570386D71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4" name="Slide Number Placeholder 3">
            <a:extLst>
              <a:ext uri="{FF2B5EF4-FFF2-40B4-BE49-F238E27FC236}">
                <a16:creationId xmlns:a16="http://schemas.microsoft.com/office/drawing/2014/main" id="{B500CBCE-481F-676E-0D99-E04CCE93901C}"/>
              </a:ext>
            </a:extLst>
          </p:cNvPr>
          <p:cNvSpPr>
            <a:spLocks noGrp="1"/>
          </p:cNvSpPr>
          <p:nvPr>
            <p:ph type="sldNum" sz="quarter" idx="12"/>
          </p:nvPr>
        </p:nvSpPr>
        <p:spPr/>
        <p:txBody>
          <a:bodyPr/>
          <a:lstStyle/>
          <a:p>
            <a:fld id="{FA5D76E8-8AD6-443B-8B81-1688B2EC3502}" type="slidenum">
              <a:rPr lang="en-US" smtClean="0"/>
              <a:t>16</a:t>
            </a:fld>
            <a:endParaRPr lang="en-US"/>
          </a:p>
        </p:txBody>
      </p:sp>
    </p:spTree>
    <p:extLst>
      <p:ext uri="{BB962C8B-B14F-4D97-AF65-F5344CB8AC3E}">
        <p14:creationId xmlns:p14="http://schemas.microsoft.com/office/powerpoint/2010/main" val="1634287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Effect transition="in" filter="fade">
                                      <p:cBhvr>
                                        <p:cTn id="43" dur="500"/>
                                        <p:tgtEl>
                                          <p:spTgt spid="3">
                                            <p:txEl>
                                              <p:pRg st="8" end="8"/>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3">
                                            <p:txEl>
                                              <p:pRg st="9" end="9"/>
                                            </p:txEl>
                                          </p:spTgt>
                                        </p:tgtEl>
                                        <p:attrNameLst>
                                          <p:attrName>style.visibility</p:attrName>
                                        </p:attrNameLst>
                                      </p:cBhvr>
                                      <p:to>
                                        <p:strVal val="visible"/>
                                      </p:to>
                                    </p:set>
                                    <p:animEffect transition="in" filter="fade">
                                      <p:cBhvr>
                                        <p:cTn id="46" dur="500"/>
                                        <p:tgtEl>
                                          <p:spTgt spid="3">
                                            <p:txEl>
                                              <p:pRg st="9" end="9"/>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3">
                                            <p:txEl>
                                              <p:pRg st="10" end="10"/>
                                            </p:txEl>
                                          </p:spTgt>
                                        </p:tgtEl>
                                        <p:attrNameLst>
                                          <p:attrName>style.visibility</p:attrName>
                                        </p:attrNameLst>
                                      </p:cBhvr>
                                      <p:to>
                                        <p:strVal val="visible"/>
                                      </p:to>
                                    </p:set>
                                    <p:animEffect transition="in" filter="fade">
                                      <p:cBhvr>
                                        <p:cTn id="49" dur="500"/>
                                        <p:tgtEl>
                                          <p:spTgt spid="3">
                                            <p:txEl>
                                              <p:pRg st="10" end="10"/>
                                            </p:txEl>
                                          </p:spTgt>
                                        </p:tgtEl>
                                      </p:cBhvr>
                                    </p:animEffect>
                                  </p:childTnLst>
                                </p:cTn>
                              </p:par>
                              <p:par>
                                <p:cTn id="50" presetID="10" presetClass="entr" presetSubtype="0" fill="hold" nodeType="with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fade">
                                      <p:cBhvr>
                                        <p:cTn id="52" dur="500"/>
                                        <p:tgtEl>
                                          <p:spTgt spid="3">
                                            <p:txEl>
                                              <p:pRg st="11" end="11"/>
                                            </p:txEl>
                                          </p:spTgt>
                                        </p:tgtEl>
                                      </p:cBhvr>
                                    </p:animEffect>
                                  </p:childTnLst>
                                </p:cTn>
                              </p:par>
                              <p:par>
                                <p:cTn id="53" presetID="10" presetClass="entr" presetSubtype="0" fill="hold" nodeType="with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animEffect transition="in" filter="fade">
                                      <p:cBhvr>
                                        <p:cTn id="55"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65F90-EE78-8B20-86A8-F0C0A45A0B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6E2230-33BC-A6B2-926B-60846C4E754D}"/>
              </a:ext>
            </a:extLst>
          </p:cNvPr>
          <p:cNvSpPr>
            <a:spLocks noGrp="1"/>
          </p:cNvSpPr>
          <p:nvPr>
            <p:ph type="title"/>
          </p:nvPr>
        </p:nvSpPr>
        <p:spPr>
          <a:xfrm>
            <a:off x="5043949" y="18255"/>
            <a:ext cx="3716594" cy="1325563"/>
          </a:xfrm>
        </p:spPr>
        <p:txBody>
          <a:bodyPr/>
          <a:lstStyle/>
          <a:p>
            <a:r>
              <a:rPr lang="en-US" b="1" dirty="0">
                <a:solidFill>
                  <a:srgbClr val="156082"/>
                </a:solidFill>
              </a:rPr>
              <a:t>Used Datasets</a:t>
            </a:r>
            <a:endParaRPr lang="en-US" dirty="0">
              <a:solidFill>
                <a:srgbClr val="156082"/>
              </a:solidFill>
            </a:endParaRPr>
          </a:p>
        </p:txBody>
      </p:sp>
      <p:pic>
        <p:nvPicPr>
          <p:cNvPr id="16" name="Content Placeholder 15">
            <a:extLst>
              <a:ext uri="{FF2B5EF4-FFF2-40B4-BE49-F238E27FC236}">
                <a16:creationId xmlns:a16="http://schemas.microsoft.com/office/drawing/2014/main" id="{51A746D4-0749-316B-64BB-CD3F66F3B36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54692" y="1121229"/>
            <a:ext cx="5295107" cy="2547257"/>
          </a:xfrm>
          <a:prstGeom prst="rect">
            <a:avLst/>
          </a:prstGeom>
        </p:spPr>
      </p:pic>
      <p:sp>
        <p:nvSpPr>
          <p:cNvPr id="11" name="Rectangle 10">
            <a:extLst>
              <a:ext uri="{FF2B5EF4-FFF2-40B4-BE49-F238E27FC236}">
                <a16:creationId xmlns:a16="http://schemas.microsoft.com/office/drawing/2014/main" id="{35D46C74-4DF1-1AD4-08F8-3A91308EB102}"/>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Content Placeholder 20">
            <a:extLst>
              <a:ext uri="{FF2B5EF4-FFF2-40B4-BE49-F238E27FC236}">
                <a16:creationId xmlns:a16="http://schemas.microsoft.com/office/drawing/2014/main" id="{A04FB412-A621-3384-B054-9C0191AE69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4" name="Picture 13">
            <a:extLst>
              <a:ext uri="{FF2B5EF4-FFF2-40B4-BE49-F238E27FC236}">
                <a16:creationId xmlns:a16="http://schemas.microsoft.com/office/drawing/2014/main" id="{395C0537-50ED-2587-45D6-28258215F5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7" name="TextBox 16">
            <a:extLst>
              <a:ext uri="{FF2B5EF4-FFF2-40B4-BE49-F238E27FC236}">
                <a16:creationId xmlns:a16="http://schemas.microsoft.com/office/drawing/2014/main" id="{0B3109E9-C686-E7DA-43AF-74F33C8BCAE4}"/>
              </a:ext>
            </a:extLst>
          </p:cNvPr>
          <p:cNvSpPr txBox="1"/>
          <p:nvPr/>
        </p:nvSpPr>
        <p:spPr>
          <a:xfrm>
            <a:off x="2005644" y="3912499"/>
            <a:ext cx="10110156" cy="2554545"/>
          </a:xfrm>
          <a:prstGeom prst="rect">
            <a:avLst/>
          </a:prstGeom>
          <a:noFill/>
        </p:spPr>
        <p:txBody>
          <a:bodyPr wrap="square" rtlCol="0">
            <a:spAutoFit/>
          </a:bodyPr>
          <a:lstStyle/>
          <a:p>
            <a:r>
              <a:rPr lang="en-US" sz="2000" dirty="0">
                <a:solidFill>
                  <a:schemeClr val="tx1">
                    <a:lumMod val="95000"/>
                    <a:lumOff val="5000"/>
                  </a:schemeClr>
                </a:solidFill>
              </a:rPr>
              <a:t>We need to schedule 100-400 events/courses into 45 timeslots, corresponding to 5 days of 9 hours each day. By assigning events, we have to satisfy room constraints and student constraints. These eleven problem instances are divided into three groups: five small instances, five medium instances, and one large instance. In the experimental studies to be carried out in the following chapters on this dataset, we use “S1” to “S5” to represent small instance 1 to small instance 5, respectively, “M1” to “M5” to represent medium instance 1 to medium instance 5, respectively, and “L” to represent the large instance.</a:t>
            </a:r>
          </a:p>
          <a:p>
            <a:endParaRPr lang="en-US" sz="2000" dirty="0">
              <a:solidFill>
                <a:schemeClr val="tx1">
                  <a:lumMod val="95000"/>
                  <a:lumOff val="5000"/>
                </a:schemeClr>
              </a:solidFill>
            </a:endParaRPr>
          </a:p>
        </p:txBody>
      </p:sp>
      <p:sp>
        <p:nvSpPr>
          <p:cNvPr id="18" name="Slide Number Placeholder 17">
            <a:extLst>
              <a:ext uri="{FF2B5EF4-FFF2-40B4-BE49-F238E27FC236}">
                <a16:creationId xmlns:a16="http://schemas.microsoft.com/office/drawing/2014/main" id="{08813CAE-120F-18FE-0833-7B5C90F1518A}"/>
              </a:ext>
            </a:extLst>
          </p:cNvPr>
          <p:cNvSpPr>
            <a:spLocks noGrp="1"/>
          </p:cNvSpPr>
          <p:nvPr>
            <p:ph type="sldNum" sz="quarter" idx="12"/>
          </p:nvPr>
        </p:nvSpPr>
        <p:spPr/>
        <p:txBody>
          <a:bodyPr/>
          <a:lstStyle/>
          <a:p>
            <a:fld id="{FA5D76E8-8AD6-443B-8B81-1688B2EC3502}" type="slidenum">
              <a:rPr lang="en-US" smtClean="0"/>
              <a:t>17</a:t>
            </a:fld>
            <a:endParaRPr lang="en-US"/>
          </a:p>
        </p:txBody>
      </p:sp>
      <p:sp>
        <p:nvSpPr>
          <p:cNvPr id="4" name="TextBox 3">
            <a:extLst>
              <a:ext uri="{FF2B5EF4-FFF2-40B4-BE49-F238E27FC236}">
                <a16:creationId xmlns:a16="http://schemas.microsoft.com/office/drawing/2014/main" id="{AFC7C76A-E6E2-5167-F952-F10F3181FF68}"/>
              </a:ext>
            </a:extLst>
          </p:cNvPr>
          <p:cNvSpPr txBox="1"/>
          <p:nvPr/>
        </p:nvSpPr>
        <p:spPr>
          <a:xfrm>
            <a:off x="2179074" y="1096493"/>
            <a:ext cx="6100916" cy="584775"/>
          </a:xfrm>
          <a:prstGeom prst="rect">
            <a:avLst/>
          </a:prstGeom>
          <a:noFill/>
        </p:spPr>
        <p:txBody>
          <a:bodyPr wrap="square">
            <a:spAutoFit/>
          </a:bodyPr>
          <a:lstStyle/>
          <a:p>
            <a:r>
              <a:rPr lang="en-US" sz="3200" b="1" dirty="0"/>
              <a:t>ITC-2002:</a:t>
            </a:r>
          </a:p>
        </p:txBody>
      </p:sp>
    </p:spTree>
    <p:extLst>
      <p:ext uri="{BB962C8B-B14F-4D97-AF65-F5344CB8AC3E}">
        <p14:creationId xmlns:p14="http://schemas.microsoft.com/office/powerpoint/2010/main" val="5205478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56487-673E-E380-B509-9349A8BC37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9E4593-A7B8-CCA2-0B6D-4CF36E519DD6}"/>
              </a:ext>
            </a:extLst>
          </p:cNvPr>
          <p:cNvSpPr>
            <a:spLocks noGrp="1"/>
          </p:cNvSpPr>
          <p:nvPr>
            <p:ph type="title"/>
          </p:nvPr>
        </p:nvSpPr>
        <p:spPr>
          <a:xfrm>
            <a:off x="5043949" y="18255"/>
            <a:ext cx="3716594" cy="1325563"/>
          </a:xfrm>
        </p:spPr>
        <p:txBody>
          <a:bodyPr/>
          <a:lstStyle/>
          <a:p>
            <a:r>
              <a:rPr lang="en-US" b="1" dirty="0">
                <a:solidFill>
                  <a:srgbClr val="156082"/>
                </a:solidFill>
              </a:rPr>
              <a:t>Used Datasets</a:t>
            </a:r>
            <a:endParaRPr lang="en-US" dirty="0">
              <a:solidFill>
                <a:srgbClr val="156082"/>
              </a:solidFill>
            </a:endParaRPr>
          </a:p>
        </p:txBody>
      </p:sp>
      <p:sp>
        <p:nvSpPr>
          <p:cNvPr id="11" name="Rectangle 10">
            <a:extLst>
              <a:ext uri="{FF2B5EF4-FFF2-40B4-BE49-F238E27FC236}">
                <a16:creationId xmlns:a16="http://schemas.microsoft.com/office/drawing/2014/main" id="{CEF1715E-1C50-DF5E-53A0-0CEEE96EA973}"/>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Content Placeholder 20">
            <a:extLst>
              <a:ext uri="{FF2B5EF4-FFF2-40B4-BE49-F238E27FC236}">
                <a16:creationId xmlns:a16="http://schemas.microsoft.com/office/drawing/2014/main" id="{2F3A5F23-4A68-9728-FE2B-8C6CD338D5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4" name="Picture 13">
            <a:extLst>
              <a:ext uri="{FF2B5EF4-FFF2-40B4-BE49-F238E27FC236}">
                <a16:creationId xmlns:a16="http://schemas.microsoft.com/office/drawing/2014/main" id="{21FC4D2B-1F1E-370B-62A0-CF6460E12D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pic>
        <p:nvPicPr>
          <p:cNvPr id="6" name="Content Placeholder 5">
            <a:extLst>
              <a:ext uri="{FF2B5EF4-FFF2-40B4-BE49-F238E27FC236}">
                <a16:creationId xmlns:a16="http://schemas.microsoft.com/office/drawing/2014/main" id="{8C08D458-11A1-029B-FDC6-68C75CFF3C48}"/>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3272892" y="1757474"/>
            <a:ext cx="7258708" cy="4708639"/>
          </a:xfrm>
          <a:prstGeom prst="rect">
            <a:avLst/>
          </a:prstGeom>
        </p:spPr>
      </p:pic>
      <p:sp>
        <p:nvSpPr>
          <p:cNvPr id="7" name="TextBox 6">
            <a:extLst>
              <a:ext uri="{FF2B5EF4-FFF2-40B4-BE49-F238E27FC236}">
                <a16:creationId xmlns:a16="http://schemas.microsoft.com/office/drawing/2014/main" id="{BB1187B8-C3A4-4E26-05EA-C6EAFF909B47}"/>
              </a:ext>
            </a:extLst>
          </p:cNvPr>
          <p:cNvSpPr txBox="1"/>
          <p:nvPr/>
        </p:nvSpPr>
        <p:spPr>
          <a:xfrm>
            <a:off x="3272892" y="1172699"/>
            <a:ext cx="1939762" cy="584775"/>
          </a:xfrm>
          <a:prstGeom prst="rect">
            <a:avLst/>
          </a:prstGeom>
          <a:noFill/>
        </p:spPr>
        <p:txBody>
          <a:bodyPr wrap="none" rtlCol="0">
            <a:spAutoFit/>
          </a:bodyPr>
          <a:lstStyle/>
          <a:p>
            <a:r>
              <a:rPr lang="en-US" sz="3200" b="1" dirty="0"/>
              <a:t>ITC-2007:</a:t>
            </a:r>
          </a:p>
        </p:txBody>
      </p:sp>
      <p:sp>
        <p:nvSpPr>
          <p:cNvPr id="8" name="Slide Number Placeholder 7">
            <a:extLst>
              <a:ext uri="{FF2B5EF4-FFF2-40B4-BE49-F238E27FC236}">
                <a16:creationId xmlns:a16="http://schemas.microsoft.com/office/drawing/2014/main" id="{61513E87-23B7-1A75-CD7F-CB38C9A446F5}"/>
              </a:ext>
            </a:extLst>
          </p:cNvPr>
          <p:cNvSpPr>
            <a:spLocks noGrp="1"/>
          </p:cNvSpPr>
          <p:nvPr>
            <p:ph type="sldNum" sz="quarter" idx="12"/>
          </p:nvPr>
        </p:nvSpPr>
        <p:spPr/>
        <p:txBody>
          <a:bodyPr/>
          <a:lstStyle/>
          <a:p>
            <a:fld id="{FA5D76E8-8AD6-443B-8B81-1688B2EC3502}" type="slidenum">
              <a:rPr lang="en-US" smtClean="0"/>
              <a:t>18</a:t>
            </a:fld>
            <a:endParaRPr lang="en-US"/>
          </a:p>
        </p:txBody>
      </p:sp>
    </p:spTree>
    <p:extLst>
      <p:ext uri="{BB962C8B-B14F-4D97-AF65-F5344CB8AC3E}">
        <p14:creationId xmlns:p14="http://schemas.microsoft.com/office/powerpoint/2010/main" val="27950204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BC53C-40B6-5800-F362-F8C04C8BC6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5F8DBD-D3AC-97DA-5BEE-D7F01600ABFE}"/>
              </a:ext>
            </a:extLst>
          </p:cNvPr>
          <p:cNvSpPr>
            <a:spLocks noGrp="1"/>
          </p:cNvSpPr>
          <p:nvPr>
            <p:ph type="title"/>
          </p:nvPr>
        </p:nvSpPr>
        <p:spPr>
          <a:xfrm>
            <a:off x="2097958" y="18255"/>
            <a:ext cx="9350478" cy="1325563"/>
          </a:xfrm>
        </p:spPr>
        <p:txBody>
          <a:bodyPr/>
          <a:lstStyle/>
          <a:p>
            <a:r>
              <a:rPr lang="en-US" b="1" dirty="0">
                <a:solidFill>
                  <a:srgbClr val="0E0912"/>
                </a:solidFill>
              </a:rPr>
              <a:t>The Proposed </a:t>
            </a:r>
            <a:r>
              <a:rPr lang="en-US" b="1" dirty="0">
                <a:solidFill>
                  <a:srgbClr val="156082"/>
                </a:solidFill>
              </a:rPr>
              <a:t>Memetic</a:t>
            </a:r>
            <a:r>
              <a:rPr lang="en-US" b="1" dirty="0">
                <a:solidFill>
                  <a:srgbClr val="0E0912"/>
                </a:solidFill>
              </a:rPr>
              <a:t> Algorithm (MA)</a:t>
            </a:r>
          </a:p>
        </p:txBody>
      </p:sp>
      <p:sp>
        <p:nvSpPr>
          <p:cNvPr id="3" name="Content Placeholder 2">
            <a:extLst>
              <a:ext uri="{FF2B5EF4-FFF2-40B4-BE49-F238E27FC236}">
                <a16:creationId xmlns:a16="http://schemas.microsoft.com/office/drawing/2014/main" id="{754E2299-5BFE-A486-978D-70FF071563BE}"/>
              </a:ext>
            </a:extLst>
          </p:cNvPr>
          <p:cNvSpPr>
            <a:spLocks noGrp="1"/>
          </p:cNvSpPr>
          <p:nvPr>
            <p:ph idx="1"/>
          </p:nvPr>
        </p:nvSpPr>
        <p:spPr>
          <a:xfrm>
            <a:off x="2192595" y="1825625"/>
            <a:ext cx="5141656" cy="1325563"/>
          </a:xfrm>
        </p:spPr>
        <p:txBody>
          <a:bodyPr>
            <a:normAutofit fontScale="77500" lnSpcReduction="20000"/>
          </a:bodyPr>
          <a:lstStyle/>
          <a:p>
            <a:pPr marL="0" indent="0">
              <a:buNone/>
            </a:pPr>
            <a:r>
              <a:rPr lang="en-US" dirty="0"/>
              <a:t>Memetic Algorithms (MA) integrate population-based global search with individual local refinement. Our framework utilizes a Steady-State Genetic Algorithm (SSGA) model:</a:t>
            </a:r>
          </a:p>
        </p:txBody>
      </p:sp>
      <p:sp>
        <p:nvSpPr>
          <p:cNvPr id="7" name="Rectangle 6">
            <a:extLst>
              <a:ext uri="{FF2B5EF4-FFF2-40B4-BE49-F238E27FC236}">
                <a16:creationId xmlns:a16="http://schemas.microsoft.com/office/drawing/2014/main" id="{6A32EA53-5345-CCCD-CABC-FE2FBD51ED8C}"/>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20">
            <a:extLst>
              <a:ext uri="{FF2B5EF4-FFF2-40B4-BE49-F238E27FC236}">
                <a16:creationId xmlns:a16="http://schemas.microsoft.com/office/drawing/2014/main" id="{CE435A3C-B6EB-0380-8B35-D18611356A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0" name="Picture 9">
            <a:extLst>
              <a:ext uri="{FF2B5EF4-FFF2-40B4-BE49-F238E27FC236}">
                <a16:creationId xmlns:a16="http://schemas.microsoft.com/office/drawing/2014/main" id="{D40671F0-3BF3-936B-55E8-177A46051E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1" name="Slide Number Placeholder 10">
            <a:extLst>
              <a:ext uri="{FF2B5EF4-FFF2-40B4-BE49-F238E27FC236}">
                <a16:creationId xmlns:a16="http://schemas.microsoft.com/office/drawing/2014/main" id="{0CF4086B-4C45-0BAC-3021-E8AC651F9D74}"/>
              </a:ext>
            </a:extLst>
          </p:cNvPr>
          <p:cNvSpPr>
            <a:spLocks noGrp="1"/>
          </p:cNvSpPr>
          <p:nvPr>
            <p:ph type="sldNum" sz="quarter" idx="12"/>
          </p:nvPr>
        </p:nvSpPr>
        <p:spPr/>
        <p:txBody>
          <a:bodyPr/>
          <a:lstStyle/>
          <a:p>
            <a:fld id="{FA5D76E8-8AD6-443B-8B81-1688B2EC3502}" type="slidenum">
              <a:rPr lang="en-US" smtClean="0"/>
              <a:t>19</a:t>
            </a:fld>
            <a:endParaRPr lang="en-US"/>
          </a:p>
        </p:txBody>
      </p:sp>
      <p:pic>
        <p:nvPicPr>
          <p:cNvPr id="1026" name="Picture 2" descr="Evolutionary Algorithm Process Diagram">
            <a:extLst>
              <a:ext uri="{FF2B5EF4-FFF2-40B4-BE49-F238E27FC236}">
                <a16:creationId xmlns:a16="http://schemas.microsoft.com/office/drawing/2014/main" id="{450D3F82-C0F4-B635-83A0-CAE024562B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07477" y="1343818"/>
            <a:ext cx="3344740" cy="376197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3E66F016-F480-86CF-5EBF-4FFCFBD652A8}"/>
              </a:ext>
            </a:extLst>
          </p:cNvPr>
          <p:cNvSpPr txBox="1"/>
          <p:nvPr/>
        </p:nvSpPr>
        <p:spPr>
          <a:xfrm>
            <a:off x="2812256" y="3324060"/>
            <a:ext cx="4293395" cy="646331"/>
          </a:xfrm>
          <a:prstGeom prst="rect">
            <a:avLst/>
          </a:prstGeom>
          <a:noFill/>
        </p:spPr>
        <p:txBody>
          <a:bodyPr wrap="square">
            <a:spAutoFit/>
          </a:bodyPr>
          <a:lstStyle/>
          <a:p>
            <a:r>
              <a:rPr lang="en-US" dirty="0"/>
              <a:t>SSGA Model: Overlapping population ensures stability and diversity.</a:t>
            </a:r>
          </a:p>
        </p:txBody>
      </p:sp>
      <p:pic>
        <p:nvPicPr>
          <p:cNvPr id="13" name="Picture 12">
            <a:extLst>
              <a:ext uri="{FF2B5EF4-FFF2-40B4-BE49-F238E27FC236}">
                <a16:creationId xmlns:a16="http://schemas.microsoft.com/office/drawing/2014/main" id="{B66418B6-F220-8B10-F709-D7F65677B668}"/>
              </a:ext>
            </a:extLst>
          </p:cNvPr>
          <p:cNvPicPr>
            <a:picLocks noChangeAspect="1"/>
          </p:cNvPicPr>
          <p:nvPr/>
        </p:nvPicPr>
        <p:blipFill>
          <a:blip r:embed="rId5"/>
          <a:stretch>
            <a:fillRect/>
          </a:stretch>
        </p:blipFill>
        <p:spPr>
          <a:xfrm>
            <a:off x="2273548" y="3426688"/>
            <a:ext cx="441077" cy="441077"/>
          </a:xfrm>
          <a:prstGeom prst="rect">
            <a:avLst/>
          </a:prstGeom>
        </p:spPr>
      </p:pic>
      <p:pic>
        <p:nvPicPr>
          <p:cNvPr id="15" name="Picture 14">
            <a:extLst>
              <a:ext uri="{FF2B5EF4-FFF2-40B4-BE49-F238E27FC236}">
                <a16:creationId xmlns:a16="http://schemas.microsoft.com/office/drawing/2014/main" id="{ECEC8287-AC8B-79F1-E764-6F2138322F73}"/>
              </a:ext>
            </a:extLst>
          </p:cNvPr>
          <p:cNvPicPr>
            <a:picLocks noChangeAspect="1"/>
          </p:cNvPicPr>
          <p:nvPr/>
        </p:nvPicPr>
        <p:blipFill>
          <a:blip r:embed="rId6"/>
          <a:stretch>
            <a:fillRect/>
          </a:stretch>
        </p:blipFill>
        <p:spPr>
          <a:xfrm>
            <a:off x="2273548" y="4447765"/>
            <a:ext cx="314325" cy="314325"/>
          </a:xfrm>
          <a:prstGeom prst="rect">
            <a:avLst/>
          </a:prstGeom>
        </p:spPr>
      </p:pic>
      <p:sp>
        <p:nvSpPr>
          <p:cNvPr id="19" name="TextBox 18">
            <a:extLst>
              <a:ext uri="{FF2B5EF4-FFF2-40B4-BE49-F238E27FC236}">
                <a16:creationId xmlns:a16="http://schemas.microsoft.com/office/drawing/2014/main" id="{58589BF1-8818-7E3D-0D42-CD48F2BA4DC8}"/>
              </a:ext>
            </a:extLst>
          </p:cNvPr>
          <p:cNvSpPr txBox="1"/>
          <p:nvPr/>
        </p:nvSpPr>
        <p:spPr>
          <a:xfrm>
            <a:off x="2812256" y="4143263"/>
            <a:ext cx="3686539" cy="923330"/>
          </a:xfrm>
          <a:prstGeom prst="rect">
            <a:avLst/>
          </a:prstGeom>
          <a:noFill/>
        </p:spPr>
        <p:txBody>
          <a:bodyPr wrap="square">
            <a:spAutoFit/>
          </a:bodyPr>
          <a:lstStyle/>
          <a:p>
            <a:r>
              <a:rPr lang="en-US" dirty="0"/>
              <a:t>Local Refinement: LS1 and LS2 are applied to every child for intensification.</a:t>
            </a:r>
          </a:p>
        </p:txBody>
      </p:sp>
      <p:pic>
        <p:nvPicPr>
          <p:cNvPr id="21" name="Picture 20">
            <a:extLst>
              <a:ext uri="{FF2B5EF4-FFF2-40B4-BE49-F238E27FC236}">
                <a16:creationId xmlns:a16="http://schemas.microsoft.com/office/drawing/2014/main" id="{E553D921-BADD-C0AF-D61A-8F4906A983DA}"/>
              </a:ext>
            </a:extLst>
          </p:cNvPr>
          <p:cNvPicPr>
            <a:picLocks noChangeAspect="1"/>
          </p:cNvPicPr>
          <p:nvPr/>
        </p:nvPicPr>
        <p:blipFill>
          <a:blip r:embed="rId7"/>
          <a:stretch>
            <a:fillRect/>
          </a:stretch>
        </p:blipFill>
        <p:spPr>
          <a:xfrm>
            <a:off x="2273548" y="5342090"/>
            <a:ext cx="438150" cy="438150"/>
          </a:xfrm>
          <a:prstGeom prst="rect">
            <a:avLst/>
          </a:prstGeom>
        </p:spPr>
      </p:pic>
      <p:sp>
        <p:nvSpPr>
          <p:cNvPr id="25" name="TextBox 24">
            <a:extLst>
              <a:ext uri="{FF2B5EF4-FFF2-40B4-BE49-F238E27FC236}">
                <a16:creationId xmlns:a16="http://schemas.microsoft.com/office/drawing/2014/main" id="{90F184AB-957C-F052-9E65-37786DAD38B9}"/>
              </a:ext>
            </a:extLst>
          </p:cNvPr>
          <p:cNvSpPr txBox="1"/>
          <p:nvPr/>
        </p:nvSpPr>
        <p:spPr>
          <a:xfrm>
            <a:off x="2812256" y="5237999"/>
            <a:ext cx="3457939" cy="646331"/>
          </a:xfrm>
          <a:prstGeom prst="rect">
            <a:avLst/>
          </a:prstGeom>
          <a:noFill/>
        </p:spPr>
        <p:txBody>
          <a:bodyPr wrap="square">
            <a:spAutoFit/>
          </a:bodyPr>
          <a:lstStyle/>
          <a:p>
            <a:r>
              <a:rPr lang="en-US" dirty="0"/>
              <a:t>Performance: Zero-allocation C++ engine for maximum speed.</a:t>
            </a:r>
          </a:p>
        </p:txBody>
      </p:sp>
    </p:spTree>
    <p:extLst>
      <p:ext uri="{BB962C8B-B14F-4D97-AF65-F5344CB8AC3E}">
        <p14:creationId xmlns:p14="http://schemas.microsoft.com/office/powerpoint/2010/main" val="18780977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BC53C-40B6-5800-F362-F8C04C8BC6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5F8DBD-D3AC-97DA-5BEE-D7F01600ABFE}"/>
              </a:ext>
            </a:extLst>
          </p:cNvPr>
          <p:cNvSpPr>
            <a:spLocks noGrp="1"/>
          </p:cNvSpPr>
          <p:nvPr>
            <p:ph type="title"/>
          </p:nvPr>
        </p:nvSpPr>
        <p:spPr>
          <a:xfrm>
            <a:off x="2097958" y="18255"/>
            <a:ext cx="9350478" cy="1325563"/>
          </a:xfrm>
        </p:spPr>
        <p:txBody>
          <a:bodyPr/>
          <a:lstStyle/>
          <a:p>
            <a:r>
              <a:rPr lang="en-US" b="1" dirty="0">
                <a:solidFill>
                  <a:srgbClr val="156082"/>
                </a:solidFill>
              </a:rPr>
              <a:t>Advanced Neighborhood Search</a:t>
            </a:r>
          </a:p>
        </p:txBody>
      </p:sp>
      <p:sp>
        <p:nvSpPr>
          <p:cNvPr id="7" name="Rectangle 6">
            <a:extLst>
              <a:ext uri="{FF2B5EF4-FFF2-40B4-BE49-F238E27FC236}">
                <a16:creationId xmlns:a16="http://schemas.microsoft.com/office/drawing/2014/main" id="{6A32EA53-5345-CCCD-CABC-FE2FBD51ED8C}"/>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20">
            <a:extLst>
              <a:ext uri="{FF2B5EF4-FFF2-40B4-BE49-F238E27FC236}">
                <a16:creationId xmlns:a16="http://schemas.microsoft.com/office/drawing/2014/main" id="{CE435A3C-B6EB-0380-8B35-D18611356A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0" name="Picture 9">
            <a:extLst>
              <a:ext uri="{FF2B5EF4-FFF2-40B4-BE49-F238E27FC236}">
                <a16:creationId xmlns:a16="http://schemas.microsoft.com/office/drawing/2014/main" id="{D40671F0-3BF3-936B-55E8-177A46051E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1" name="Slide Number Placeholder 10">
            <a:extLst>
              <a:ext uri="{FF2B5EF4-FFF2-40B4-BE49-F238E27FC236}">
                <a16:creationId xmlns:a16="http://schemas.microsoft.com/office/drawing/2014/main" id="{0CF4086B-4C45-0BAC-3021-E8AC651F9D74}"/>
              </a:ext>
            </a:extLst>
          </p:cNvPr>
          <p:cNvSpPr>
            <a:spLocks noGrp="1"/>
          </p:cNvSpPr>
          <p:nvPr>
            <p:ph type="sldNum" sz="quarter" idx="12"/>
          </p:nvPr>
        </p:nvSpPr>
        <p:spPr/>
        <p:txBody>
          <a:bodyPr/>
          <a:lstStyle/>
          <a:p>
            <a:fld id="{FA5D76E8-8AD6-443B-8B81-1688B2EC3502}" type="slidenum">
              <a:rPr lang="en-US" smtClean="0"/>
              <a:t>20</a:t>
            </a:fld>
            <a:endParaRPr lang="en-US"/>
          </a:p>
        </p:txBody>
      </p:sp>
      <p:sp>
        <p:nvSpPr>
          <p:cNvPr id="22" name="TextBox 21">
            <a:extLst>
              <a:ext uri="{FF2B5EF4-FFF2-40B4-BE49-F238E27FC236}">
                <a16:creationId xmlns:a16="http://schemas.microsoft.com/office/drawing/2014/main" id="{2DA11F04-EB2F-949C-19F4-C680FA617D07}"/>
              </a:ext>
            </a:extLst>
          </p:cNvPr>
          <p:cNvSpPr txBox="1"/>
          <p:nvPr/>
        </p:nvSpPr>
        <p:spPr>
          <a:xfrm>
            <a:off x="3392092" y="3177659"/>
            <a:ext cx="2144161" cy="369332"/>
          </a:xfrm>
          <a:prstGeom prst="rect">
            <a:avLst/>
          </a:prstGeom>
          <a:noFill/>
        </p:spPr>
        <p:txBody>
          <a:bodyPr wrap="square">
            <a:spAutoFit/>
          </a:bodyPr>
          <a:lstStyle/>
          <a:p>
            <a:pPr algn="ctr"/>
            <a:r>
              <a:rPr lang="en-US" b="1" dirty="0">
                <a:solidFill>
                  <a:srgbClr val="156082"/>
                </a:solidFill>
              </a:rPr>
              <a:t>N1: Displacement</a:t>
            </a:r>
          </a:p>
        </p:txBody>
      </p:sp>
      <p:sp>
        <p:nvSpPr>
          <p:cNvPr id="27" name="TextBox 26">
            <a:extLst>
              <a:ext uri="{FF2B5EF4-FFF2-40B4-BE49-F238E27FC236}">
                <a16:creationId xmlns:a16="http://schemas.microsoft.com/office/drawing/2014/main" id="{713459F1-0E5E-7E24-1400-BE1EB40F5AFC}"/>
              </a:ext>
            </a:extLst>
          </p:cNvPr>
          <p:cNvSpPr txBox="1"/>
          <p:nvPr/>
        </p:nvSpPr>
        <p:spPr>
          <a:xfrm>
            <a:off x="3273183" y="3601524"/>
            <a:ext cx="2254737" cy="1231106"/>
          </a:xfrm>
          <a:prstGeom prst="rect">
            <a:avLst/>
          </a:prstGeom>
          <a:noFill/>
        </p:spPr>
        <p:txBody>
          <a:bodyPr wrap="square">
            <a:spAutoFit/>
          </a:bodyPr>
          <a:lstStyle/>
          <a:p>
            <a:pPr algn="ctr"/>
            <a:r>
              <a:rPr lang="en-US" sz="1400" dirty="0"/>
              <a:t>Moves exactly one event from its current timeslot to a different, more favorable timeslot.</a:t>
            </a:r>
          </a:p>
          <a:p>
            <a:endParaRPr lang="en-US" dirty="0"/>
          </a:p>
        </p:txBody>
      </p:sp>
      <p:sp>
        <p:nvSpPr>
          <p:cNvPr id="28" name="TextBox 27">
            <a:extLst>
              <a:ext uri="{FF2B5EF4-FFF2-40B4-BE49-F238E27FC236}">
                <a16:creationId xmlns:a16="http://schemas.microsoft.com/office/drawing/2014/main" id="{A3C29E45-705B-27D2-BCF0-E595351E2D8C}"/>
              </a:ext>
            </a:extLst>
          </p:cNvPr>
          <p:cNvSpPr txBox="1"/>
          <p:nvPr/>
        </p:nvSpPr>
        <p:spPr>
          <a:xfrm>
            <a:off x="6087666" y="3177659"/>
            <a:ext cx="2135828" cy="369332"/>
          </a:xfrm>
          <a:prstGeom prst="rect">
            <a:avLst/>
          </a:prstGeom>
          <a:noFill/>
        </p:spPr>
        <p:txBody>
          <a:bodyPr wrap="square">
            <a:spAutoFit/>
          </a:bodyPr>
          <a:lstStyle/>
          <a:p>
            <a:pPr algn="ctr"/>
            <a:r>
              <a:rPr lang="en-US" b="1" dirty="0">
                <a:solidFill>
                  <a:srgbClr val="156082"/>
                </a:solidFill>
              </a:rPr>
              <a:t>N2: Pairwise Swap</a:t>
            </a:r>
          </a:p>
        </p:txBody>
      </p:sp>
      <p:sp>
        <p:nvSpPr>
          <p:cNvPr id="29" name="TextBox 28">
            <a:extLst>
              <a:ext uri="{FF2B5EF4-FFF2-40B4-BE49-F238E27FC236}">
                <a16:creationId xmlns:a16="http://schemas.microsoft.com/office/drawing/2014/main" id="{89B4CDC6-B4BE-A842-FF67-2564131794F7}"/>
              </a:ext>
            </a:extLst>
          </p:cNvPr>
          <p:cNvSpPr txBox="1"/>
          <p:nvPr/>
        </p:nvSpPr>
        <p:spPr>
          <a:xfrm>
            <a:off x="5968757" y="3601524"/>
            <a:ext cx="2254737" cy="954107"/>
          </a:xfrm>
          <a:prstGeom prst="rect">
            <a:avLst/>
          </a:prstGeom>
          <a:noFill/>
        </p:spPr>
        <p:txBody>
          <a:bodyPr wrap="square">
            <a:spAutoFit/>
          </a:bodyPr>
          <a:lstStyle/>
          <a:p>
            <a:pPr algn="ctr"/>
            <a:r>
              <a:rPr lang="en-US" sz="1400" dirty="0"/>
              <a:t>Exchanges the timeslots of two distinct events to resolve complex student overlaps.</a:t>
            </a:r>
          </a:p>
        </p:txBody>
      </p:sp>
      <p:sp>
        <p:nvSpPr>
          <p:cNvPr id="30" name="TextBox 29">
            <a:extLst>
              <a:ext uri="{FF2B5EF4-FFF2-40B4-BE49-F238E27FC236}">
                <a16:creationId xmlns:a16="http://schemas.microsoft.com/office/drawing/2014/main" id="{1B2D930D-EB3E-C94D-F2D9-07CE5A2FC660}"/>
              </a:ext>
            </a:extLst>
          </p:cNvPr>
          <p:cNvSpPr txBox="1"/>
          <p:nvPr/>
        </p:nvSpPr>
        <p:spPr>
          <a:xfrm>
            <a:off x="8729509" y="3177659"/>
            <a:ext cx="2016919" cy="369332"/>
          </a:xfrm>
          <a:prstGeom prst="rect">
            <a:avLst/>
          </a:prstGeom>
          <a:noFill/>
        </p:spPr>
        <p:txBody>
          <a:bodyPr wrap="square">
            <a:spAutoFit/>
          </a:bodyPr>
          <a:lstStyle/>
          <a:p>
            <a:pPr algn="ctr"/>
            <a:r>
              <a:rPr lang="en-US" b="1" dirty="0">
                <a:solidFill>
                  <a:srgbClr val="156082"/>
                </a:solidFill>
              </a:rPr>
              <a:t>N3: 3-Cycle</a:t>
            </a:r>
          </a:p>
        </p:txBody>
      </p:sp>
      <p:sp>
        <p:nvSpPr>
          <p:cNvPr id="31" name="TextBox 30">
            <a:extLst>
              <a:ext uri="{FF2B5EF4-FFF2-40B4-BE49-F238E27FC236}">
                <a16:creationId xmlns:a16="http://schemas.microsoft.com/office/drawing/2014/main" id="{326EE018-8038-67EA-ECC1-53C48E474647}"/>
              </a:ext>
            </a:extLst>
          </p:cNvPr>
          <p:cNvSpPr txBox="1"/>
          <p:nvPr/>
        </p:nvSpPr>
        <p:spPr>
          <a:xfrm>
            <a:off x="8610600" y="3601524"/>
            <a:ext cx="2254737" cy="954107"/>
          </a:xfrm>
          <a:prstGeom prst="rect">
            <a:avLst/>
          </a:prstGeom>
          <a:noFill/>
        </p:spPr>
        <p:txBody>
          <a:bodyPr wrap="square">
            <a:spAutoFit/>
          </a:bodyPr>
          <a:lstStyle/>
          <a:p>
            <a:pPr algn="ctr"/>
            <a:r>
              <a:rPr lang="en-US" sz="1400" dirty="0"/>
              <a:t>Permutes three events across distinct slots to escape deep local optima in the fitness landscape.</a:t>
            </a:r>
          </a:p>
        </p:txBody>
      </p:sp>
      <p:pic>
        <p:nvPicPr>
          <p:cNvPr id="33" name="Picture 32">
            <a:extLst>
              <a:ext uri="{FF2B5EF4-FFF2-40B4-BE49-F238E27FC236}">
                <a16:creationId xmlns:a16="http://schemas.microsoft.com/office/drawing/2014/main" id="{75C0E3AD-EBEB-FE81-04DF-27ACE4003EAD}"/>
              </a:ext>
            </a:extLst>
          </p:cNvPr>
          <p:cNvPicPr>
            <a:picLocks noChangeAspect="1"/>
          </p:cNvPicPr>
          <p:nvPr/>
        </p:nvPicPr>
        <p:blipFill>
          <a:blip r:embed="rId4"/>
          <a:stretch>
            <a:fillRect/>
          </a:stretch>
        </p:blipFill>
        <p:spPr>
          <a:xfrm flipH="1">
            <a:off x="4183811" y="2619625"/>
            <a:ext cx="444970" cy="444970"/>
          </a:xfrm>
          <a:prstGeom prst="rect">
            <a:avLst/>
          </a:prstGeom>
        </p:spPr>
      </p:pic>
      <p:pic>
        <p:nvPicPr>
          <p:cNvPr id="35" name="Picture 34">
            <a:extLst>
              <a:ext uri="{FF2B5EF4-FFF2-40B4-BE49-F238E27FC236}">
                <a16:creationId xmlns:a16="http://schemas.microsoft.com/office/drawing/2014/main" id="{BB1B8801-E88B-862F-A303-672FC22837FD}"/>
              </a:ext>
            </a:extLst>
          </p:cNvPr>
          <p:cNvPicPr>
            <a:picLocks noChangeAspect="1"/>
          </p:cNvPicPr>
          <p:nvPr/>
        </p:nvPicPr>
        <p:blipFill>
          <a:blip r:embed="rId5"/>
          <a:stretch>
            <a:fillRect/>
          </a:stretch>
        </p:blipFill>
        <p:spPr>
          <a:xfrm>
            <a:off x="6873640" y="2619625"/>
            <a:ext cx="444971" cy="444971"/>
          </a:xfrm>
          <a:prstGeom prst="rect">
            <a:avLst/>
          </a:prstGeom>
        </p:spPr>
      </p:pic>
      <p:pic>
        <p:nvPicPr>
          <p:cNvPr id="37" name="Picture 36">
            <a:extLst>
              <a:ext uri="{FF2B5EF4-FFF2-40B4-BE49-F238E27FC236}">
                <a16:creationId xmlns:a16="http://schemas.microsoft.com/office/drawing/2014/main" id="{64AD82CF-39A9-6463-DA65-4F9FF25ADBF6}"/>
              </a:ext>
            </a:extLst>
          </p:cNvPr>
          <p:cNvPicPr>
            <a:picLocks noChangeAspect="1"/>
          </p:cNvPicPr>
          <p:nvPr/>
        </p:nvPicPr>
        <p:blipFill>
          <a:blip r:embed="rId6"/>
          <a:stretch>
            <a:fillRect/>
          </a:stretch>
        </p:blipFill>
        <p:spPr>
          <a:xfrm>
            <a:off x="9457893" y="2562035"/>
            <a:ext cx="560150" cy="560150"/>
          </a:xfrm>
          <a:prstGeom prst="rect">
            <a:avLst/>
          </a:prstGeom>
        </p:spPr>
      </p:pic>
      <p:sp>
        <p:nvSpPr>
          <p:cNvPr id="39" name="TextBox 38">
            <a:extLst>
              <a:ext uri="{FF2B5EF4-FFF2-40B4-BE49-F238E27FC236}">
                <a16:creationId xmlns:a16="http://schemas.microsoft.com/office/drawing/2014/main" id="{0D787CA3-C896-AD11-0BAC-AAA2A9872F45}"/>
              </a:ext>
            </a:extLst>
          </p:cNvPr>
          <p:cNvSpPr txBox="1"/>
          <p:nvPr/>
        </p:nvSpPr>
        <p:spPr>
          <a:xfrm>
            <a:off x="3352592" y="4590873"/>
            <a:ext cx="2016919" cy="369332"/>
          </a:xfrm>
          <a:prstGeom prst="rect">
            <a:avLst/>
          </a:prstGeom>
          <a:noFill/>
        </p:spPr>
        <p:txBody>
          <a:bodyPr wrap="square" lIns="91440" tIns="45720" rIns="91440" bIns="45720" anchor="t">
            <a:spAutoFit/>
          </a:bodyPr>
          <a:lstStyle/>
          <a:p>
            <a:pPr algn="ctr"/>
            <a:r>
              <a:rPr lang="en-US" b="0" i="0">
                <a:solidFill>
                  <a:srgbClr val="EF4444"/>
                </a:solidFill>
                <a:effectLst/>
                <a:latin typeface="JetBrains Mono"/>
              </a:rPr>
              <a:t>O(|E| × |T|)</a:t>
            </a:r>
            <a:endParaRPr lang="en-US"/>
          </a:p>
        </p:txBody>
      </p:sp>
      <p:sp>
        <p:nvSpPr>
          <p:cNvPr id="41" name="TextBox 40">
            <a:extLst>
              <a:ext uri="{FF2B5EF4-FFF2-40B4-BE49-F238E27FC236}">
                <a16:creationId xmlns:a16="http://schemas.microsoft.com/office/drawing/2014/main" id="{652064C9-9F68-AC75-B964-B3DC2EEF1B0A}"/>
              </a:ext>
            </a:extLst>
          </p:cNvPr>
          <p:cNvSpPr txBox="1"/>
          <p:nvPr/>
        </p:nvSpPr>
        <p:spPr>
          <a:xfrm>
            <a:off x="6443071" y="4616007"/>
            <a:ext cx="1425017" cy="369332"/>
          </a:xfrm>
          <a:prstGeom prst="rect">
            <a:avLst/>
          </a:prstGeom>
          <a:noFill/>
        </p:spPr>
        <p:txBody>
          <a:bodyPr wrap="square" lIns="91440" tIns="45720" rIns="91440" bIns="45720" anchor="t">
            <a:spAutoFit/>
          </a:bodyPr>
          <a:lstStyle/>
          <a:p>
            <a:pPr algn="ctr"/>
            <a:r>
              <a:rPr lang="en-US" b="0" i="0">
                <a:solidFill>
                  <a:srgbClr val="EF4444"/>
                </a:solidFill>
                <a:effectLst/>
                <a:latin typeface="JetBrains Mono"/>
              </a:rPr>
              <a:t>O(|E|²)</a:t>
            </a:r>
            <a:endParaRPr lang="en-US"/>
          </a:p>
        </p:txBody>
      </p:sp>
      <p:sp>
        <p:nvSpPr>
          <p:cNvPr id="43" name="TextBox 42">
            <a:extLst>
              <a:ext uri="{FF2B5EF4-FFF2-40B4-BE49-F238E27FC236}">
                <a16:creationId xmlns:a16="http://schemas.microsoft.com/office/drawing/2014/main" id="{542B5E78-11A9-0EA8-2153-B14995AF1F88}"/>
              </a:ext>
            </a:extLst>
          </p:cNvPr>
          <p:cNvSpPr txBox="1"/>
          <p:nvPr/>
        </p:nvSpPr>
        <p:spPr>
          <a:xfrm>
            <a:off x="9166490" y="4616007"/>
            <a:ext cx="1142955" cy="369332"/>
          </a:xfrm>
          <a:prstGeom prst="rect">
            <a:avLst/>
          </a:prstGeom>
          <a:noFill/>
        </p:spPr>
        <p:txBody>
          <a:bodyPr wrap="square" lIns="91440" tIns="45720" rIns="91440" bIns="45720" anchor="t">
            <a:spAutoFit/>
          </a:bodyPr>
          <a:lstStyle/>
          <a:p>
            <a:pPr algn="ctr"/>
            <a:r>
              <a:rPr lang="en-US" b="0" i="0">
                <a:solidFill>
                  <a:srgbClr val="EF4444"/>
                </a:solidFill>
                <a:effectLst/>
                <a:latin typeface="JetBrains Mono"/>
              </a:rPr>
              <a:t>O(|E|³)</a:t>
            </a:r>
            <a:endParaRPr lang="en-US"/>
          </a:p>
        </p:txBody>
      </p:sp>
    </p:spTree>
    <p:extLst>
      <p:ext uri="{BB962C8B-B14F-4D97-AF65-F5344CB8AC3E}">
        <p14:creationId xmlns:p14="http://schemas.microsoft.com/office/powerpoint/2010/main" val="28276838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BC53C-40B6-5800-F362-F8C04C8BC6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5F8DBD-D3AC-97DA-5BEE-D7F01600ABFE}"/>
              </a:ext>
            </a:extLst>
          </p:cNvPr>
          <p:cNvSpPr>
            <a:spLocks noGrp="1"/>
          </p:cNvSpPr>
          <p:nvPr>
            <p:ph type="title"/>
          </p:nvPr>
        </p:nvSpPr>
        <p:spPr>
          <a:xfrm>
            <a:off x="2097958" y="18255"/>
            <a:ext cx="9350478" cy="1325563"/>
          </a:xfrm>
        </p:spPr>
        <p:txBody>
          <a:bodyPr/>
          <a:lstStyle/>
          <a:p>
            <a:r>
              <a:rPr lang="en-US" b="1" dirty="0">
                <a:solidFill>
                  <a:srgbClr val="156082"/>
                </a:solidFill>
              </a:rPr>
              <a:t>Bipartite Room Allocation</a:t>
            </a:r>
          </a:p>
        </p:txBody>
      </p:sp>
      <p:sp>
        <p:nvSpPr>
          <p:cNvPr id="7" name="Rectangle 6">
            <a:extLst>
              <a:ext uri="{FF2B5EF4-FFF2-40B4-BE49-F238E27FC236}">
                <a16:creationId xmlns:a16="http://schemas.microsoft.com/office/drawing/2014/main" id="{6A32EA53-5345-CCCD-CABC-FE2FBD51ED8C}"/>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20">
            <a:extLst>
              <a:ext uri="{FF2B5EF4-FFF2-40B4-BE49-F238E27FC236}">
                <a16:creationId xmlns:a16="http://schemas.microsoft.com/office/drawing/2014/main" id="{CE435A3C-B6EB-0380-8B35-D18611356A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0" name="Picture 9">
            <a:extLst>
              <a:ext uri="{FF2B5EF4-FFF2-40B4-BE49-F238E27FC236}">
                <a16:creationId xmlns:a16="http://schemas.microsoft.com/office/drawing/2014/main" id="{D40671F0-3BF3-936B-55E8-177A46051E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1" name="Slide Number Placeholder 10">
            <a:extLst>
              <a:ext uri="{FF2B5EF4-FFF2-40B4-BE49-F238E27FC236}">
                <a16:creationId xmlns:a16="http://schemas.microsoft.com/office/drawing/2014/main" id="{0CF4086B-4C45-0BAC-3021-E8AC651F9D74}"/>
              </a:ext>
            </a:extLst>
          </p:cNvPr>
          <p:cNvSpPr>
            <a:spLocks noGrp="1"/>
          </p:cNvSpPr>
          <p:nvPr>
            <p:ph type="sldNum" sz="quarter" idx="12"/>
          </p:nvPr>
        </p:nvSpPr>
        <p:spPr/>
        <p:txBody>
          <a:bodyPr/>
          <a:lstStyle/>
          <a:p>
            <a:fld id="{FA5D76E8-8AD6-443B-8B81-1688B2EC3502}" type="slidenum">
              <a:rPr lang="en-US" smtClean="0"/>
              <a:t>21</a:t>
            </a:fld>
            <a:endParaRPr lang="en-US"/>
          </a:p>
        </p:txBody>
      </p:sp>
      <p:sp>
        <p:nvSpPr>
          <p:cNvPr id="4" name="TextBox 3">
            <a:extLst>
              <a:ext uri="{FF2B5EF4-FFF2-40B4-BE49-F238E27FC236}">
                <a16:creationId xmlns:a16="http://schemas.microsoft.com/office/drawing/2014/main" id="{3D1D9CC4-5616-53B4-577B-7ABA6B2F787E}"/>
              </a:ext>
            </a:extLst>
          </p:cNvPr>
          <p:cNvSpPr txBox="1"/>
          <p:nvPr/>
        </p:nvSpPr>
        <p:spPr>
          <a:xfrm>
            <a:off x="2307431" y="1126037"/>
            <a:ext cx="9350478" cy="954107"/>
          </a:xfrm>
          <a:prstGeom prst="rect">
            <a:avLst/>
          </a:prstGeom>
          <a:noFill/>
        </p:spPr>
        <p:txBody>
          <a:bodyPr wrap="square" lIns="91440" tIns="45720" rIns="91440" bIns="45720" anchor="t">
            <a:spAutoFit/>
          </a:bodyPr>
          <a:lstStyle/>
          <a:p>
            <a:pPr algn="l"/>
            <a:r>
              <a:rPr lang="en-US" sz="2800" b="0" i="0" dirty="0">
                <a:solidFill>
                  <a:srgbClr val="475569"/>
                </a:solidFill>
                <a:effectLst/>
                <a:latin typeface="Urbanist"/>
              </a:rPr>
              <a:t>Room allocation is treated as a </a:t>
            </a:r>
            <a:r>
              <a:rPr lang="en-US" sz="2800" b="1" i="0" dirty="0">
                <a:solidFill>
                  <a:srgbClr val="0F172A"/>
                </a:solidFill>
                <a:effectLst/>
                <a:latin typeface="Urbanist"/>
              </a:rPr>
              <a:t>Maximum Cardinality Bipartite </a:t>
            </a:r>
            <a:r>
              <a:rPr lang="en-US" sz="2800" b="1" i="0">
                <a:solidFill>
                  <a:srgbClr val="0F172A"/>
                </a:solidFill>
                <a:effectLst/>
                <a:latin typeface="Urbanist"/>
              </a:rPr>
              <a:t>Matching</a:t>
            </a:r>
            <a:r>
              <a:rPr lang="en-US" sz="2800" b="0" i="0">
                <a:solidFill>
                  <a:srgbClr val="475569"/>
                </a:solidFill>
                <a:effectLst/>
                <a:latin typeface="Urbanist"/>
              </a:rPr>
              <a:t> problem.</a:t>
            </a:r>
            <a:endParaRPr lang="en-US"/>
          </a:p>
        </p:txBody>
      </p:sp>
      <p:sp>
        <p:nvSpPr>
          <p:cNvPr id="6" name="TextBox 5">
            <a:extLst>
              <a:ext uri="{FF2B5EF4-FFF2-40B4-BE49-F238E27FC236}">
                <a16:creationId xmlns:a16="http://schemas.microsoft.com/office/drawing/2014/main" id="{A9B2AE7C-A2FE-D8C6-641F-A16FC31DD462}"/>
              </a:ext>
            </a:extLst>
          </p:cNvPr>
          <p:cNvSpPr txBox="1"/>
          <p:nvPr/>
        </p:nvSpPr>
        <p:spPr>
          <a:xfrm>
            <a:off x="2307431" y="2810380"/>
            <a:ext cx="5689487" cy="523220"/>
          </a:xfrm>
          <a:prstGeom prst="rect">
            <a:avLst/>
          </a:prstGeom>
          <a:noFill/>
        </p:spPr>
        <p:txBody>
          <a:bodyPr wrap="square" lIns="91440" tIns="45720" rIns="91440" bIns="45720" anchor="t">
            <a:spAutoFit/>
          </a:bodyPr>
          <a:lstStyle/>
          <a:p>
            <a:pPr>
              <a:buFont typeface="Arial" panose="020B0604020202020204" pitchFamily="34" charset="0"/>
              <a:buChar char="•"/>
            </a:pPr>
            <a:r>
              <a:rPr lang="en-US" sz="2800" b="0" i="0" dirty="0">
                <a:solidFill>
                  <a:srgbClr val="475569"/>
                </a:solidFill>
                <a:effectLst/>
                <a:latin typeface="Urbanist"/>
              </a:rPr>
              <a:t> </a:t>
            </a:r>
            <a:r>
              <a:rPr lang="en-US" sz="2800" b="1" i="0" dirty="0">
                <a:solidFill>
                  <a:srgbClr val="0F172A"/>
                </a:solidFill>
                <a:effectLst/>
                <a:latin typeface="Urbanist"/>
              </a:rPr>
              <a:t>Partition U:</a:t>
            </a:r>
            <a:r>
              <a:rPr lang="en-US" sz="2800" b="0" i="0">
                <a:solidFill>
                  <a:srgbClr val="475569"/>
                </a:solidFill>
                <a:effectLst/>
                <a:latin typeface="Urbanist"/>
              </a:rPr>
              <a:t> Events </a:t>
            </a:r>
            <a:r>
              <a:rPr lang="en-US" sz="2800">
                <a:solidFill>
                  <a:srgbClr val="475569"/>
                </a:solidFill>
                <a:latin typeface="Urbanist"/>
              </a:rPr>
              <a:t>in timeslot</a:t>
            </a:r>
            <a:r>
              <a:rPr lang="en-US" sz="2800" b="0" i="0">
                <a:solidFill>
                  <a:srgbClr val="475569"/>
                </a:solidFill>
                <a:effectLst/>
                <a:latin typeface="Urbanist"/>
              </a:rPr>
              <a:t> </a:t>
            </a:r>
            <a:r>
              <a:rPr lang="en-US" sz="2800" b="0" i="1">
                <a:solidFill>
                  <a:srgbClr val="475569"/>
                </a:solidFill>
                <a:effectLst/>
                <a:latin typeface="Urbanist"/>
              </a:rPr>
              <a:t>t</a:t>
            </a:r>
            <a:r>
              <a:rPr lang="en-US" sz="2800" b="0" i="1" baseline="-25000">
                <a:solidFill>
                  <a:srgbClr val="475569"/>
                </a:solidFill>
                <a:effectLst/>
                <a:latin typeface="Urbanist"/>
              </a:rPr>
              <a:t>j</a:t>
            </a:r>
            <a:endParaRPr lang="en-US" sz="2800"/>
          </a:p>
        </p:txBody>
      </p:sp>
      <p:sp>
        <p:nvSpPr>
          <p:cNvPr id="12" name="TextBox 11">
            <a:extLst>
              <a:ext uri="{FF2B5EF4-FFF2-40B4-BE49-F238E27FC236}">
                <a16:creationId xmlns:a16="http://schemas.microsoft.com/office/drawing/2014/main" id="{1A14705F-0916-F157-AC15-BFA4C7929851}"/>
              </a:ext>
            </a:extLst>
          </p:cNvPr>
          <p:cNvSpPr txBox="1"/>
          <p:nvPr/>
        </p:nvSpPr>
        <p:spPr>
          <a:xfrm>
            <a:off x="2307431" y="3242770"/>
            <a:ext cx="6118814" cy="523220"/>
          </a:xfrm>
          <a:prstGeom prst="rect">
            <a:avLst/>
          </a:prstGeom>
          <a:noFill/>
        </p:spPr>
        <p:txBody>
          <a:bodyPr wrap="square" lIns="91440" tIns="45720" rIns="91440" bIns="45720" anchor="t">
            <a:spAutoFit/>
          </a:bodyPr>
          <a:lstStyle/>
          <a:p>
            <a:pPr algn="l">
              <a:buFont typeface="Arial" panose="020B0604020202020204" pitchFamily="34" charset="0"/>
              <a:buChar char="•"/>
            </a:pPr>
            <a:r>
              <a:rPr lang="fr-FR" sz="2800" b="0" i="0" dirty="0">
                <a:solidFill>
                  <a:srgbClr val="475569"/>
                </a:solidFill>
                <a:effectLst/>
                <a:latin typeface="Urbanist"/>
              </a:rPr>
              <a:t> </a:t>
            </a:r>
            <a:r>
              <a:rPr lang="fr-FR" sz="2800" b="1" i="0" dirty="0">
                <a:solidFill>
                  <a:srgbClr val="0F172A"/>
                </a:solidFill>
                <a:effectLst/>
                <a:latin typeface="Urbanist"/>
              </a:rPr>
              <a:t>Partition V:</a:t>
            </a:r>
            <a:r>
              <a:rPr lang="fr-FR" sz="2800" b="0" i="0" dirty="0">
                <a:solidFill>
                  <a:srgbClr val="475569"/>
                </a:solidFill>
                <a:effectLst/>
                <a:latin typeface="Urbanist"/>
              </a:rPr>
              <a:t> </a:t>
            </a:r>
            <a:r>
              <a:rPr lang="fr-FR" sz="2800" b="0" i="0" dirty="0" err="1">
                <a:solidFill>
                  <a:srgbClr val="475569"/>
                </a:solidFill>
                <a:effectLst/>
                <a:latin typeface="Urbanist"/>
              </a:rPr>
              <a:t>Available</a:t>
            </a:r>
            <a:r>
              <a:rPr lang="fr-FR" sz="2800" b="0" i="0" dirty="0">
                <a:solidFill>
                  <a:srgbClr val="475569"/>
                </a:solidFill>
                <a:effectLst/>
                <a:latin typeface="Urbanist"/>
              </a:rPr>
              <a:t> </a:t>
            </a:r>
            <a:r>
              <a:rPr lang="fr-FR" sz="2800" b="0" i="0" dirty="0" err="1">
                <a:solidFill>
                  <a:srgbClr val="475569"/>
                </a:solidFill>
                <a:effectLst/>
                <a:latin typeface="Urbanist"/>
              </a:rPr>
              <a:t>Rooms</a:t>
            </a:r>
            <a:r>
              <a:rPr lang="fr-FR" sz="2800" b="0" i="0" dirty="0">
                <a:solidFill>
                  <a:srgbClr val="475569"/>
                </a:solidFill>
                <a:effectLst/>
                <a:latin typeface="Urbanist"/>
              </a:rPr>
              <a:t> </a:t>
            </a:r>
            <a:r>
              <a:rPr lang="fr-FR" sz="2800" b="0" i="1" dirty="0">
                <a:solidFill>
                  <a:srgbClr val="475569"/>
                </a:solidFill>
                <a:effectLst/>
                <a:latin typeface="Urbanist"/>
              </a:rPr>
              <a:t>R</a:t>
            </a:r>
            <a:endParaRPr lang="fr-FR" sz="2800" dirty="0"/>
          </a:p>
        </p:txBody>
      </p:sp>
      <p:sp>
        <p:nvSpPr>
          <p:cNvPr id="14" name="TextBox 13">
            <a:extLst>
              <a:ext uri="{FF2B5EF4-FFF2-40B4-BE49-F238E27FC236}">
                <a16:creationId xmlns:a16="http://schemas.microsoft.com/office/drawing/2014/main" id="{B60932B8-04DC-855B-4074-D235A1C10F3A}"/>
              </a:ext>
            </a:extLst>
          </p:cNvPr>
          <p:cNvSpPr txBox="1"/>
          <p:nvPr/>
        </p:nvSpPr>
        <p:spPr>
          <a:xfrm>
            <a:off x="2307431" y="3751226"/>
            <a:ext cx="7260410" cy="523220"/>
          </a:xfrm>
          <a:prstGeom prst="rect">
            <a:avLst/>
          </a:prstGeom>
          <a:noFill/>
        </p:spPr>
        <p:txBody>
          <a:bodyPr wrap="square" lIns="91440" tIns="45720" rIns="91440" bIns="45720" anchor="t">
            <a:spAutoFit/>
          </a:bodyPr>
          <a:lstStyle/>
          <a:p>
            <a:pPr algn="l">
              <a:buFont typeface="Arial" panose="020B0604020202020204" pitchFamily="34" charset="0"/>
              <a:buChar char="•"/>
            </a:pPr>
            <a:r>
              <a:rPr lang="en-US" sz="2800" b="0" i="0" dirty="0">
                <a:solidFill>
                  <a:srgbClr val="475569"/>
                </a:solidFill>
                <a:effectLst/>
                <a:latin typeface="Urbanist"/>
              </a:rPr>
              <a:t> </a:t>
            </a:r>
            <a:r>
              <a:rPr lang="en-US" sz="2800" b="1" i="0" dirty="0">
                <a:solidFill>
                  <a:srgbClr val="0F172A"/>
                </a:solidFill>
                <a:effectLst/>
                <a:latin typeface="Urbanist"/>
              </a:rPr>
              <a:t>Edges E:</a:t>
            </a:r>
            <a:r>
              <a:rPr lang="en-US" sz="2800" b="0" i="0">
                <a:solidFill>
                  <a:srgbClr val="475569"/>
                </a:solidFill>
                <a:effectLst/>
                <a:latin typeface="Urbanist"/>
              </a:rPr>
              <a:t> Suitability (Capacity &amp; Features)</a:t>
            </a:r>
            <a:endParaRPr lang="en-US"/>
          </a:p>
        </p:txBody>
      </p:sp>
    </p:spTree>
    <p:extLst>
      <p:ext uri="{BB962C8B-B14F-4D97-AF65-F5344CB8AC3E}">
        <p14:creationId xmlns:p14="http://schemas.microsoft.com/office/powerpoint/2010/main" val="41479327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BC53C-40B6-5800-F362-F8C04C8BC6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5F8DBD-D3AC-97DA-5BEE-D7F01600ABFE}"/>
              </a:ext>
            </a:extLst>
          </p:cNvPr>
          <p:cNvSpPr>
            <a:spLocks noGrp="1"/>
          </p:cNvSpPr>
          <p:nvPr>
            <p:ph type="title"/>
          </p:nvPr>
        </p:nvSpPr>
        <p:spPr>
          <a:xfrm>
            <a:off x="2097958" y="18255"/>
            <a:ext cx="9350478" cy="1325563"/>
          </a:xfrm>
        </p:spPr>
        <p:txBody>
          <a:bodyPr/>
          <a:lstStyle/>
          <a:p>
            <a:r>
              <a:rPr lang="en-US" b="1" dirty="0">
                <a:solidFill>
                  <a:srgbClr val="156082"/>
                </a:solidFill>
              </a:rPr>
              <a:t>Network Flow Transformation</a:t>
            </a:r>
          </a:p>
        </p:txBody>
      </p:sp>
      <p:sp>
        <p:nvSpPr>
          <p:cNvPr id="7" name="Rectangle 6">
            <a:extLst>
              <a:ext uri="{FF2B5EF4-FFF2-40B4-BE49-F238E27FC236}">
                <a16:creationId xmlns:a16="http://schemas.microsoft.com/office/drawing/2014/main" id="{6A32EA53-5345-CCCD-CABC-FE2FBD51ED8C}"/>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20">
            <a:extLst>
              <a:ext uri="{FF2B5EF4-FFF2-40B4-BE49-F238E27FC236}">
                <a16:creationId xmlns:a16="http://schemas.microsoft.com/office/drawing/2014/main" id="{CE435A3C-B6EB-0380-8B35-D18611356A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0" name="Picture 9">
            <a:extLst>
              <a:ext uri="{FF2B5EF4-FFF2-40B4-BE49-F238E27FC236}">
                <a16:creationId xmlns:a16="http://schemas.microsoft.com/office/drawing/2014/main" id="{D40671F0-3BF3-936B-55E8-177A46051E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1" name="Slide Number Placeholder 10">
            <a:extLst>
              <a:ext uri="{FF2B5EF4-FFF2-40B4-BE49-F238E27FC236}">
                <a16:creationId xmlns:a16="http://schemas.microsoft.com/office/drawing/2014/main" id="{0CF4086B-4C45-0BAC-3021-E8AC651F9D74}"/>
              </a:ext>
            </a:extLst>
          </p:cNvPr>
          <p:cNvSpPr>
            <a:spLocks noGrp="1"/>
          </p:cNvSpPr>
          <p:nvPr>
            <p:ph type="sldNum" sz="quarter" idx="12"/>
          </p:nvPr>
        </p:nvSpPr>
        <p:spPr/>
        <p:txBody>
          <a:bodyPr/>
          <a:lstStyle/>
          <a:p>
            <a:fld id="{FA5D76E8-8AD6-443B-8B81-1688B2EC3502}" type="slidenum">
              <a:rPr lang="en-US" smtClean="0"/>
              <a:t>22</a:t>
            </a:fld>
            <a:endParaRPr lang="en-US"/>
          </a:p>
        </p:txBody>
      </p:sp>
      <p:sp>
        <p:nvSpPr>
          <p:cNvPr id="5" name="TextBox 4">
            <a:extLst>
              <a:ext uri="{FF2B5EF4-FFF2-40B4-BE49-F238E27FC236}">
                <a16:creationId xmlns:a16="http://schemas.microsoft.com/office/drawing/2014/main" id="{9DAE2FBF-370C-453B-129D-1BE0BAE41302}"/>
              </a:ext>
            </a:extLst>
          </p:cNvPr>
          <p:cNvSpPr txBox="1"/>
          <p:nvPr/>
        </p:nvSpPr>
        <p:spPr>
          <a:xfrm>
            <a:off x="2574607" y="1529043"/>
            <a:ext cx="3702844" cy="523220"/>
          </a:xfrm>
          <a:prstGeom prst="rect">
            <a:avLst/>
          </a:prstGeom>
          <a:noFill/>
        </p:spPr>
        <p:txBody>
          <a:bodyPr wrap="square" lIns="91440" tIns="45720" rIns="91440" bIns="45720" anchor="t">
            <a:spAutoFit/>
          </a:bodyPr>
          <a:lstStyle/>
          <a:p>
            <a:pPr algn="l"/>
            <a:r>
              <a:rPr lang="en-US" sz="2800" b="1" i="0" dirty="0">
                <a:solidFill>
                  <a:srgbClr val="0F172A"/>
                </a:solidFill>
                <a:effectLst/>
                <a:latin typeface="Urbanist"/>
              </a:rPr>
              <a:t>Construction Phase</a:t>
            </a:r>
            <a:endParaRPr lang="en-US" dirty="0"/>
          </a:p>
        </p:txBody>
      </p:sp>
      <p:cxnSp>
        <p:nvCxnSpPr>
          <p:cNvPr id="13" name="Straight Connector 12">
            <a:extLst>
              <a:ext uri="{FF2B5EF4-FFF2-40B4-BE49-F238E27FC236}">
                <a16:creationId xmlns:a16="http://schemas.microsoft.com/office/drawing/2014/main" id="{3BA9AEC8-84C3-98F0-7937-170A75E5DC30}"/>
              </a:ext>
            </a:extLst>
          </p:cNvPr>
          <p:cNvCxnSpPr/>
          <p:nvPr/>
        </p:nvCxnSpPr>
        <p:spPr>
          <a:xfrm>
            <a:off x="6600825" y="1866900"/>
            <a:ext cx="0" cy="3790950"/>
          </a:xfrm>
          <a:prstGeom prst="line">
            <a:avLst/>
          </a:prstGeom>
          <a:ln w="50800" cap="rnd">
            <a:round/>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F5D74F80-F111-71E8-1867-E43454ED7F9A}"/>
              </a:ext>
            </a:extLst>
          </p:cNvPr>
          <p:cNvSpPr txBox="1"/>
          <p:nvPr/>
        </p:nvSpPr>
        <p:spPr>
          <a:xfrm>
            <a:off x="7707222" y="1529043"/>
            <a:ext cx="4149158" cy="523220"/>
          </a:xfrm>
          <a:prstGeom prst="rect">
            <a:avLst/>
          </a:prstGeom>
          <a:noFill/>
        </p:spPr>
        <p:txBody>
          <a:bodyPr wrap="square" lIns="91440" tIns="45720" rIns="91440" bIns="45720" anchor="t">
            <a:spAutoFit/>
          </a:bodyPr>
          <a:lstStyle/>
          <a:p>
            <a:pPr algn="l"/>
            <a:r>
              <a:rPr lang="en-US" sz="2800" b="1" i="0" dirty="0">
                <a:solidFill>
                  <a:srgbClr val="0F172A"/>
                </a:solidFill>
                <a:effectLst/>
                <a:latin typeface="Urbanist"/>
              </a:rPr>
              <a:t>Ford-Fulkerson Logic</a:t>
            </a:r>
            <a:endParaRPr lang="en-US" dirty="0"/>
          </a:p>
        </p:txBody>
      </p:sp>
      <p:sp>
        <p:nvSpPr>
          <p:cNvPr id="17" name="TextBox 16">
            <a:extLst>
              <a:ext uri="{FF2B5EF4-FFF2-40B4-BE49-F238E27FC236}">
                <a16:creationId xmlns:a16="http://schemas.microsoft.com/office/drawing/2014/main" id="{F06F02BA-0141-0508-8C4F-BD249DB2C97A}"/>
              </a:ext>
            </a:extLst>
          </p:cNvPr>
          <p:cNvSpPr txBox="1"/>
          <p:nvPr/>
        </p:nvSpPr>
        <p:spPr>
          <a:xfrm>
            <a:off x="2182721" y="2129766"/>
            <a:ext cx="3855244" cy="830997"/>
          </a:xfrm>
          <a:prstGeom prst="rect">
            <a:avLst/>
          </a:prstGeom>
          <a:noFill/>
        </p:spPr>
        <p:txBody>
          <a:bodyPr wrap="square" lIns="91440" tIns="45720" rIns="91440" bIns="45720" anchor="t">
            <a:spAutoFit/>
          </a:bodyPr>
          <a:lstStyle/>
          <a:p>
            <a:pPr algn="ctr"/>
            <a:r>
              <a:rPr lang="en-US" sz="2400" b="0" i="0" dirty="0">
                <a:solidFill>
                  <a:srgbClr val="475569"/>
                </a:solidFill>
                <a:effectLst/>
                <a:latin typeface="Urbanist"/>
              </a:rPr>
              <a:t>Introducing artificial nodes for algorithm resolution:</a:t>
            </a:r>
            <a:endParaRPr lang="en-US" sz="2400" dirty="0"/>
          </a:p>
        </p:txBody>
      </p:sp>
      <p:sp>
        <p:nvSpPr>
          <p:cNvPr id="19" name="TextBox 18">
            <a:extLst>
              <a:ext uri="{FF2B5EF4-FFF2-40B4-BE49-F238E27FC236}">
                <a16:creationId xmlns:a16="http://schemas.microsoft.com/office/drawing/2014/main" id="{7084C72E-1CA0-7D69-FB2F-3F9629F8B9CE}"/>
              </a:ext>
            </a:extLst>
          </p:cNvPr>
          <p:cNvSpPr txBox="1"/>
          <p:nvPr/>
        </p:nvSpPr>
        <p:spPr>
          <a:xfrm>
            <a:off x="2582772" y="2903610"/>
            <a:ext cx="3513228" cy="1200329"/>
          </a:xfrm>
          <a:prstGeom prst="rect">
            <a:avLst/>
          </a:prstGeom>
          <a:noFill/>
        </p:spPr>
        <p:txBody>
          <a:bodyPr wrap="square" lIns="91440" tIns="45720" rIns="91440" bIns="45720" anchor="t">
            <a:spAutoFit/>
          </a:bodyPr>
          <a:lstStyle/>
          <a:p>
            <a:pPr algn="l">
              <a:buFont typeface="Arial" panose="020B0604020202020204" pitchFamily="34" charset="0"/>
              <a:buChar char="•"/>
            </a:pPr>
            <a:r>
              <a:rPr lang="en-US" sz="2400" b="1" i="0" dirty="0">
                <a:solidFill>
                  <a:srgbClr val="0F172A"/>
                </a:solidFill>
                <a:effectLst/>
                <a:latin typeface="Urbanist"/>
              </a:rPr>
              <a:t>Super-Source (s):</a:t>
            </a:r>
            <a:r>
              <a:rPr lang="en-US" sz="2400" b="0" i="0" dirty="0">
                <a:solidFill>
                  <a:srgbClr val="475569"/>
                </a:solidFill>
                <a:effectLst/>
                <a:latin typeface="Urbanist"/>
              </a:rPr>
              <a:t> Connects to all event nodes.</a:t>
            </a:r>
            <a:endParaRPr lang="en-US" sz="2400" dirty="0"/>
          </a:p>
        </p:txBody>
      </p:sp>
      <p:sp>
        <p:nvSpPr>
          <p:cNvPr id="21" name="TextBox 20">
            <a:extLst>
              <a:ext uri="{FF2B5EF4-FFF2-40B4-BE49-F238E27FC236}">
                <a16:creationId xmlns:a16="http://schemas.microsoft.com/office/drawing/2014/main" id="{5D4CE406-8CF6-C494-322B-1DB694848FC3}"/>
              </a:ext>
            </a:extLst>
          </p:cNvPr>
          <p:cNvSpPr txBox="1"/>
          <p:nvPr/>
        </p:nvSpPr>
        <p:spPr>
          <a:xfrm>
            <a:off x="2563722" y="3979108"/>
            <a:ext cx="3055143" cy="1200329"/>
          </a:xfrm>
          <a:prstGeom prst="rect">
            <a:avLst/>
          </a:prstGeom>
          <a:noFill/>
        </p:spPr>
        <p:txBody>
          <a:bodyPr wrap="square" lIns="91440" tIns="45720" rIns="91440" bIns="45720" anchor="t">
            <a:spAutoFit/>
          </a:bodyPr>
          <a:lstStyle/>
          <a:p>
            <a:pPr algn="l">
              <a:buFont typeface="Arial" panose="020B0604020202020204" pitchFamily="34" charset="0"/>
              <a:buChar char="•"/>
            </a:pPr>
            <a:r>
              <a:rPr lang="en-US" sz="2400" b="1" i="0" dirty="0">
                <a:solidFill>
                  <a:srgbClr val="0F172A"/>
                </a:solidFill>
                <a:effectLst/>
                <a:latin typeface="Urbanist"/>
              </a:rPr>
              <a:t>Super-Sink (t):</a:t>
            </a:r>
            <a:r>
              <a:rPr lang="en-US" sz="2400" b="0" i="0" dirty="0">
                <a:solidFill>
                  <a:srgbClr val="475569"/>
                </a:solidFill>
                <a:effectLst/>
                <a:latin typeface="Urbanist"/>
              </a:rPr>
              <a:t> Connects from all room nodes.</a:t>
            </a:r>
            <a:endParaRPr lang="en-US" sz="2400" dirty="0"/>
          </a:p>
        </p:txBody>
      </p:sp>
      <p:sp>
        <p:nvSpPr>
          <p:cNvPr id="23" name="TextBox 22">
            <a:extLst>
              <a:ext uri="{FF2B5EF4-FFF2-40B4-BE49-F238E27FC236}">
                <a16:creationId xmlns:a16="http://schemas.microsoft.com/office/drawing/2014/main" id="{8244638F-B766-A29E-4318-126CCCDD4734}"/>
              </a:ext>
            </a:extLst>
          </p:cNvPr>
          <p:cNvSpPr txBox="1"/>
          <p:nvPr/>
        </p:nvSpPr>
        <p:spPr>
          <a:xfrm>
            <a:off x="2582772" y="5122284"/>
            <a:ext cx="2597059" cy="1200329"/>
          </a:xfrm>
          <a:prstGeom prst="rect">
            <a:avLst/>
          </a:prstGeom>
          <a:noFill/>
        </p:spPr>
        <p:txBody>
          <a:bodyPr wrap="square" lIns="91440" tIns="45720" rIns="91440" bIns="45720" anchor="t">
            <a:spAutoFit/>
          </a:bodyPr>
          <a:lstStyle/>
          <a:p>
            <a:pPr algn="l">
              <a:buFont typeface="Arial" panose="020B0604020202020204" pitchFamily="34" charset="0"/>
              <a:buChar char="•"/>
            </a:pPr>
            <a:r>
              <a:rPr lang="en-US" sz="2400" b="1" i="0" dirty="0">
                <a:solidFill>
                  <a:srgbClr val="0F172A"/>
                </a:solidFill>
                <a:effectLst/>
                <a:latin typeface="Urbanist"/>
              </a:rPr>
              <a:t>Capacity:</a:t>
            </a:r>
            <a:r>
              <a:rPr lang="en-US" sz="2400" b="0" i="0" dirty="0">
                <a:solidFill>
                  <a:srgbClr val="475569"/>
                </a:solidFill>
                <a:effectLst/>
                <a:latin typeface="Urbanist"/>
              </a:rPr>
              <a:t> Uniformly set to 1 for all edges.</a:t>
            </a:r>
            <a:endParaRPr lang="en-US" sz="2400" dirty="0"/>
          </a:p>
        </p:txBody>
      </p:sp>
      <p:sp>
        <p:nvSpPr>
          <p:cNvPr id="25" name="TextBox 24">
            <a:extLst>
              <a:ext uri="{FF2B5EF4-FFF2-40B4-BE49-F238E27FC236}">
                <a16:creationId xmlns:a16="http://schemas.microsoft.com/office/drawing/2014/main" id="{144494B0-490B-7175-19A8-59A389CB3F4E}"/>
              </a:ext>
            </a:extLst>
          </p:cNvPr>
          <p:cNvSpPr txBox="1"/>
          <p:nvPr/>
        </p:nvSpPr>
        <p:spPr>
          <a:xfrm>
            <a:off x="7511960" y="2129765"/>
            <a:ext cx="3712367" cy="830997"/>
          </a:xfrm>
          <a:prstGeom prst="rect">
            <a:avLst/>
          </a:prstGeom>
          <a:noFill/>
        </p:spPr>
        <p:txBody>
          <a:bodyPr wrap="square" lIns="91440" tIns="45720" rIns="91440" bIns="45720" anchor="t">
            <a:spAutoFit/>
          </a:bodyPr>
          <a:lstStyle/>
          <a:p>
            <a:pPr algn="ctr"/>
            <a:r>
              <a:rPr lang="en-US" sz="2400" b="0" i="0" dirty="0">
                <a:solidFill>
                  <a:srgbClr val="475569"/>
                </a:solidFill>
                <a:effectLst/>
                <a:latin typeface="Urbanist"/>
              </a:rPr>
              <a:t>Resolved using the Max-</a:t>
            </a:r>
            <a:r>
              <a:rPr lang="en-US" sz="2400" b="0" i="0">
                <a:solidFill>
                  <a:srgbClr val="475569"/>
                </a:solidFill>
                <a:effectLst/>
                <a:latin typeface="Urbanist"/>
              </a:rPr>
              <a:t>Flow Min-Cut theorem:</a:t>
            </a:r>
            <a:endParaRPr lang="en-US" sz="2400"/>
          </a:p>
        </p:txBody>
      </p:sp>
      <p:sp>
        <p:nvSpPr>
          <p:cNvPr id="29" name="TextBox 28">
            <a:extLst>
              <a:ext uri="{FF2B5EF4-FFF2-40B4-BE49-F238E27FC236}">
                <a16:creationId xmlns:a16="http://schemas.microsoft.com/office/drawing/2014/main" id="{5B30E93A-BCC9-624D-669B-D73FFA44F3A3}"/>
              </a:ext>
            </a:extLst>
          </p:cNvPr>
          <p:cNvSpPr txBox="1"/>
          <p:nvPr/>
        </p:nvSpPr>
        <p:spPr>
          <a:xfrm>
            <a:off x="7707222" y="3005961"/>
            <a:ext cx="4134736" cy="1569660"/>
          </a:xfrm>
          <a:prstGeom prst="rect">
            <a:avLst/>
          </a:prstGeom>
          <a:noFill/>
        </p:spPr>
        <p:txBody>
          <a:bodyPr wrap="square">
            <a:spAutoFit/>
          </a:bodyPr>
          <a:lstStyle/>
          <a:p>
            <a:pPr algn="l">
              <a:buFont typeface="Arial" panose="020B0604020202020204" pitchFamily="34" charset="0"/>
              <a:buChar char="•"/>
            </a:pPr>
            <a:r>
              <a:rPr lang="en-US" sz="2400" b="0" i="0" dirty="0">
                <a:solidFill>
                  <a:srgbClr val="475569"/>
                </a:solidFill>
                <a:effectLst/>
                <a:latin typeface="Urbanist"/>
              </a:rPr>
              <a:t>Determines maximum possible placements.</a:t>
            </a:r>
          </a:p>
          <a:p>
            <a:br>
              <a:rPr lang="en-US" sz="2400" dirty="0"/>
            </a:br>
            <a:endParaRPr lang="en-US" sz="2400" dirty="0"/>
          </a:p>
        </p:txBody>
      </p:sp>
      <p:sp>
        <p:nvSpPr>
          <p:cNvPr id="31" name="TextBox 30">
            <a:extLst>
              <a:ext uri="{FF2B5EF4-FFF2-40B4-BE49-F238E27FC236}">
                <a16:creationId xmlns:a16="http://schemas.microsoft.com/office/drawing/2014/main" id="{AA50902C-D7E2-252F-C926-D979AD8EF664}"/>
              </a:ext>
            </a:extLst>
          </p:cNvPr>
          <p:cNvSpPr txBox="1"/>
          <p:nvPr/>
        </p:nvSpPr>
        <p:spPr>
          <a:xfrm>
            <a:off x="7707222" y="3969964"/>
            <a:ext cx="4236242" cy="830997"/>
          </a:xfrm>
          <a:prstGeom prst="rect">
            <a:avLst/>
          </a:prstGeom>
          <a:noFill/>
        </p:spPr>
        <p:txBody>
          <a:bodyPr wrap="square" lIns="91440" tIns="45720" rIns="91440" bIns="45720" anchor="t">
            <a:spAutoFit/>
          </a:bodyPr>
          <a:lstStyle/>
          <a:p>
            <a:pPr algn="l">
              <a:buFont typeface="Arial" panose="020B0604020202020204" pitchFamily="34" charset="0"/>
              <a:buChar char="•"/>
            </a:pPr>
            <a:r>
              <a:rPr lang="en-US" sz="2400" b="0" i="0" dirty="0">
                <a:solidFill>
                  <a:srgbClr val="475569"/>
                </a:solidFill>
                <a:effectLst/>
                <a:latin typeface="Urbanist"/>
              </a:rPr>
              <a:t>Iterative augmenting paths </a:t>
            </a:r>
            <a:r>
              <a:rPr lang="en-US" sz="2400" b="0" i="0">
                <a:solidFill>
                  <a:srgbClr val="475569"/>
                </a:solidFill>
                <a:effectLst/>
                <a:latin typeface="Urbanist"/>
              </a:rPr>
              <a:t>discovery.</a:t>
            </a:r>
            <a:endParaRPr lang="en-US" sz="2400"/>
          </a:p>
        </p:txBody>
      </p:sp>
      <p:sp>
        <p:nvSpPr>
          <p:cNvPr id="33" name="TextBox 32">
            <a:extLst>
              <a:ext uri="{FF2B5EF4-FFF2-40B4-BE49-F238E27FC236}">
                <a16:creationId xmlns:a16="http://schemas.microsoft.com/office/drawing/2014/main" id="{70308A4E-1218-597E-265E-36D98E445895}"/>
              </a:ext>
            </a:extLst>
          </p:cNvPr>
          <p:cNvSpPr txBox="1"/>
          <p:nvPr/>
        </p:nvSpPr>
        <p:spPr>
          <a:xfrm>
            <a:off x="7707222" y="4770742"/>
            <a:ext cx="4332376" cy="830997"/>
          </a:xfrm>
          <a:prstGeom prst="rect">
            <a:avLst/>
          </a:prstGeom>
          <a:noFill/>
        </p:spPr>
        <p:txBody>
          <a:bodyPr wrap="square" lIns="91440" tIns="45720" rIns="91440" bIns="45720" anchor="t">
            <a:spAutoFit/>
          </a:bodyPr>
          <a:lstStyle/>
          <a:p>
            <a:pPr algn="l">
              <a:buFont typeface="Arial" panose="020B0604020202020204" pitchFamily="34" charset="0"/>
              <a:buChar char="•"/>
            </a:pPr>
            <a:r>
              <a:rPr lang="en-US" sz="2400" b="0" i="0" dirty="0">
                <a:solidFill>
                  <a:srgbClr val="475569"/>
                </a:solidFill>
                <a:effectLst/>
                <a:latin typeface="Urbanist"/>
              </a:rPr>
              <a:t>Guarantees deterministic optimal matching.</a:t>
            </a:r>
            <a:endParaRPr lang="en-US" sz="2400" dirty="0"/>
          </a:p>
        </p:txBody>
      </p:sp>
    </p:spTree>
    <p:extLst>
      <p:ext uri="{BB962C8B-B14F-4D97-AF65-F5344CB8AC3E}">
        <p14:creationId xmlns:p14="http://schemas.microsoft.com/office/powerpoint/2010/main" val="11153312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BC53C-40B6-5800-F362-F8C04C8BC6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5F8DBD-D3AC-97DA-5BEE-D7F01600ABFE}"/>
              </a:ext>
            </a:extLst>
          </p:cNvPr>
          <p:cNvSpPr>
            <a:spLocks noGrp="1"/>
          </p:cNvSpPr>
          <p:nvPr>
            <p:ph type="title"/>
          </p:nvPr>
        </p:nvSpPr>
        <p:spPr>
          <a:xfrm>
            <a:off x="2097958" y="18255"/>
            <a:ext cx="9350478" cy="1325563"/>
          </a:xfrm>
        </p:spPr>
        <p:txBody>
          <a:bodyPr/>
          <a:lstStyle/>
          <a:p>
            <a:r>
              <a:rPr lang="en-US" b="1" dirty="0">
                <a:solidFill>
                  <a:srgbClr val="156082"/>
                </a:solidFill>
              </a:rPr>
              <a:t>Network Flow Transformation</a:t>
            </a:r>
          </a:p>
        </p:txBody>
      </p:sp>
      <p:sp>
        <p:nvSpPr>
          <p:cNvPr id="7" name="Rectangle 6">
            <a:extLst>
              <a:ext uri="{FF2B5EF4-FFF2-40B4-BE49-F238E27FC236}">
                <a16:creationId xmlns:a16="http://schemas.microsoft.com/office/drawing/2014/main" id="{6A32EA53-5345-CCCD-CABC-FE2FBD51ED8C}"/>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20">
            <a:extLst>
              <a:ext uri="{FF2B5EF4-FFF2-40B4-BE49-F238E27FC236}">
                <a16:creationId xmlns:a16="http://schemas.microsoft.com/office/drawing/2014/main" id="{CE435A3C-B6EB-0380-8B35-D18611356A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0" name="Picture 9">
            <a:extLst>
              <a:ext uri="{FF2B5EF4-FFF2-40B4-BE49-F238E27FC236}">
                <a16:creationId xmlns:a16="http://schemas.microsoft.com/office/drawing/2014/main" id="{D40671F0-3BF3-936B-55E8-177A46051E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1" name="Slide Number Placeholder 10">
            <a:extLst>
              <a:ext uri="{FF2B5EF4-FFF2-40B4-BE49-F238E27FC236}">
                <a16:creationId xmlns:a16="http://schemas.microsoft.com/office/drawing/2014/main" id="{0CF4086B-4C45-0BAC-3021-E8AC651F9D74}"/>
              </a:ext>
            </a:extLst>
          </p:cNvPr>
          <p:cNvSpPr>
            <a:spLocks noGrp="1"/>
          </p:cNvSpPr>
          <p:nvPr>
            <p:ph type="sldNum" sz="quarter" idx="12"/>
          </p:nvPr>
        </p:nvSpPr>
        <p:spPr/>
        <p:txBody>
          <a:bodyPr/>
          <a:lstStyle/>
          <a:p>
            <a:fld id="{FA5D76E8-8AD6-443B-8B81-1688B2EC3502}" type="slidenum">
              <a:rPr lang="en-US" smtClean="0"/>
              <a:t>23</a:t>
            </a:fld>
            <a:endParaRPr lang="en-US"/>
          </a:p>
        </p:txBody>
      </p:sp>
      <p:sp>
        <p:nvSpPr>
          <p:cNvPr id="3" name="TextBox 2">
            <a:extLst>
              <a:ext uri="{FF2B5EF4-FFF2-40B4-BE49-F238E27FC236}">
                <a16:creationId xmlns:a16="http://schemas.microsoft.com/office/drawing/2014/main" id="{711DCE0B-44D1-17C4-8FD5-BE0D82BA7E0C}"/>
              </a:ext>
            </a:extLst>
          </p:cNvPr>
          <p:cNvSpPr txBox="1"/>
          <p:nvPr/>
        </p:nvSpPr>
        <p:spPr>
          <a:xfrm>
            <a:off x="2101223" y="2429602"/>
            <a:ext cx="2216944" cy="1323439"/>
          </a:xfrm>
          <a:prstGeom prst="rect">
            <a:avLst/>
          </a:prstGeom>
          <a:noFill/>
        </p:spPr>
        <p:txBody>
          <a:bodyPr wrap="square">
            <a:spAutoFit/>
          </a:bodyPr>
          <a:lstStyle/>
          <a:p>
            <a:pPr algn="ctr"/>
            <a:r>
              <a:rPr lang="en-US" sz="8000" b="1" i="0" dirty="0">
                <a:solidFill>
                  <a:srgbClr val="00B0F0"/>
                </a:solidFill>
                <a:effectLst/>
                <a:latin typeface="Urbanist"/>
              </a:rPr>
              <a:t>?</a:t>
            </a:r>
            <a:endParaRPr lang="en-US" sz="8000" dirty="0">
              <a:solidFill>
                <a:srgbClr val="00B0F0"/>
              </a:solidFill>
            </a:endParaRPr>
          </a:p>
        </p:txBody>
      </p:sp>
      <p:sp>
        <p:nvSpPr>
          <p:cNvPr id="4" name="TextBox 3">
            <a:extLst>
              <a:ext uri="{FF2B5EF4-FFF2-40B4-BE49-F238E27FC236}">
                <a16:creationId xmlns:a16="http://schemas.microsoft.com/office/drawing/2014/main" id="{94251FE0-D9DD-5808-510E-15A747286C72}"/>
              </a:ext>
            </a:extLst>
          </p:cNvPr>
          <p:cNvSpPr txBox="1"/>
          <p:nvPr/>
        </p:nvSpPr>
        <p:spPr>
          <a:xfrm>
            <a:off x="2097958" y="3790950"/>
            <a:ext cx="2216944" cy="369332"/>
          </a:xfrm>
          <a:prstGeom prst="rect">
            <a:avLst/>
          </a:prstGeom>
          <a:noFill/>
        </p:spPr>
        <p:txBody>
          <a:bodyPr wrap="square" lIns="91440" tIns="45720" rIns="91440" bIns="45720" anchor="t">
            <a:spAutoFit/>
          </a:bodyPr>
          <a:lstStyle/>
          <a:p>
            <a:pPr algn="ctr"/>
            <a:r>
              <a:rPr lang="en-US" b="0" i="0">
                <a:solidFill>
                  <a:srgbClr val="64748B"/>
                </a:solidFill>
                <a:effectLst/>
                <a:latin typeface="Urbanist"/>
              </a:rPr>
              <a:t>Thinking Time</a:t>
            </a:r>
            <a:endParaRPr lang="en-US"/>
          </a:p>
        </p:txBody>
      </p:sp>
      <p:sp>
        <p:nvSpPr>
          <p:cNvPr id="12" name="TextBox 11">
            <a:extLst>
              <a:ext uri="{FF2B5EF4-FFF2-40B4-BE49-F238E27FC236}">
                <a16:creationId xmlns:a16="http://schemas.microsoft.com/office/drawing/2014/main" id="{63D7E821-0D2C-4BBB-4471-5CF77FF5B417}"/>
              </a:ext>
            </a:extLst>
          </p:cNvPr>
          <p:cNvSpPr txBox="1"/>
          <p:nvPr/>
        </p:nvSpPr>
        <p:spPr>
          <a:xfrm>
            <a:off x="5145880" y="1567160"/>
            <a:ext cx="6436520" cy="2308324"/>
          </a:xfrm>
          <a:prstGeom prst="rect">
            <a:avLst/>
          </a:prstGeom>
          <a:noFill/>
        </p:spPr>
        <p:txBody>
          <a:bodyPr wrap="square" lIns="91440" tIns="45720" rIns="91440" bIns="45720" anchor="t">
            <a:spAutoFit/>
          </a:bodyPr>
          <a:lstStyle/>
          <a:p>
            <a:pPr algn="ctr"/>
            <a:r>
              <a:rPr lang="en-US" b="1" i="0" dirty="0">
                <a:solidFill>
                  <a:srgbClr val="1E293B"/>
                </a:solidFill>
                <a:effectLst/>
                <a:latin typeface="Urbanist"/>
              </a:rPr>
              <a:t>What if during the early, highly stochastic exploratory</a:t>
            </a:r>
          </a:p>
          <a:p>
            <a:pPr algn="ctr"/>
            <a:r>
              <a:rPr lang="en-US" b="1" i="0" dirty="0">
                <a:solidFill>
                  <a:srgbClr val="1E293B"/>
                </a:solidFill>
                <a:effectLst/>
                <a:latin typeface="Urbanist"/>
              </a:rPr>
              <a:t>phases of a metaheuristic where the temporal timeslot assignment might be</a:t>
            </a:r>
          </a:p>
          <a:p>
            <a:pPr algn="ctr"/>
            <a:r>
              <a:rPr lang="en-US" b="1" i="0" dirty="0">
                <a:solidFill>
                  <a:srgbClr val="1E293B"/>
                </a:solidFill>
                <a:effectLst/>
                <a:latin typeface="Urbanist"/>
              </a:rPr>
              <a:t>disastrously suboptimal. In these instances, events are left unplaced because there are</a:t>
            </a:r>
          </a:p>
          <a:p>
            <a:pPr algn="ctr"/>
            <a:r>
              <a:rPr lang="en-US" b="1" i="0" dirty="0">
                <a:solidFill>
                  <a:srgbClr val="1E293B"/>
                </a:solidFill>
                <a:effectLst/>
                <a:latin typeface="Urbanist"/>
              </a:rPr>
              <a:t>simply no remaining valid rooms, or because the metaheuristic has scheduled far too</a:t>
            </a:r>
          </a:p>
          <a:p>
            <a:pPr algn="ctr"/>
            <a:r>
              <a:rPr lang="en-US" b="1" i="0">
                <a:solidFill>
                  <a:srgbClr val="1E293B"/>
                </a:solidFill>
                <a:effectLst/>
                <a:latin typeface="Urbanist"/>
              </a:rPr>
              <a:t>many events in a single timeslot.</a:t>
            </a:r>
            <a:endParaRPr lang="en-US"/>
          </a:p>
        </p:txBody>
      </p:sp>
      <p:sp>
        <p:nvSpPr>
          <p:cNvPr id="16" name="TextBox 15">
            <a:extLst>
              <a:ext uri="{FF2B5EF4-FFF2-40B4-BE49-F238E27FC236}">
                <a16:creationId xmlns:a16="http://schemas.microsoft.com/office/drawing/2014/main" id="{750BED1A-D58D-5007-B907-ED37BB4892AB}"/>
              </a:ext>
            </a:extLst>
          </p:cNvPr>
          <p:cNvSpPr txBox="1"/>
          <p:nvPr/>
        </p:nvSpPr>
        <p:spPr>
          <a:xfrm>
            <a:off x="5253038" y="4252615"/>
            <a:ext cx="6100762" cy="1477328"/>
          </a:xfrm>
          <a:prstGeom prst="rect">
            <a:avLst/>
          </a:prstGeom>
          <a:noFill/>
        </p:spPr>
        <p:txBody>
          <a:bodyPr wrap="square">
            <a:spAutoFit/>
          </a:bodyPr>
          <a:lstStyle/>
          <a:p>
            <a:pPr algn="ctr"/>
            <a:r>
              <a:rPr lang="en-US" dirty="0"/>
              <a:t>If an algorithm leaves events unassigned, the timetable is incomplete, making objective fitness evaluation impossible. To resolve this, Rossi-Doria et al. implemented a strict, uncompromising </a:t>
            </a:r>
            <a:r>
              <a:rPr lang="en-US" dirty="0">
                <a:solidFill>
                  <a:schemeClr val="accent6">
                    <a:lumMod val="75000"/>
                  </a:schemeClr>
                </a:solidFill>
              </a:rPr>
              <a:t>deterministic fallback protocol </a:t>
            </a:r>
            <a:r>
              <a:rPr lang="en-US" dirty="0"/>
              <a:t>to handle overflow events</a:t>
            </a:r>
          </a:p>
        </p:txBody>
      </p:sp>
    </p:spTree>
    <p:extLst>
      <p:ext uri="{BB962C8B-B14F-4D97-AF65-F5344CB8AC3E}">
        <p14:creationId xmlns:p14="http://schemas.microsoft.com/office/powerpoint/2010/main" val="12216533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BC53C-40B6-5800-F362-F8C04C8BC6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5F8DBD-D3AC-97DA-5BEE-D7F01600ABFE}"/>
              </a:ext>
            </a:extLst>
          </p:cNvPr>
          <p:cNvSpPr>
            <a:spLocks noGrp="1"/>
          </p:cNvSpPr>
          <p:nvPr>
            <p:ph type="title"/>
          </p:nvPr>
        </p:nvSpPr>
        <p:spPr>
          <a:xfrm>
            <a:off x="2097958" y="18255"/>
            <a:ext cx="9350478" cy="1325563"/>
          </a:xfrm>
        </p:spPr>
        <p:txBody>
          <a:bodyPr/>
          <a:lstStyle/>
          <a:p>
            <a:r>
              <a:rPr lang="en-US" b="1" dirty="0">
                <a:solidFill>
                  <a:srgbClr val="156082"/>
                </a:solidFill>
              </a:rPr>
              <a:t>Deterministic Fallback</a:t>
            </a:r>
          </a:p>
        </p:txBody>
      </p:sp>
      <p:sp>
        <p:nvSpPr>
          <p:cNvPr id="7" name="Rectangle 6">
            <a:extLst>
              <a:ext uri="{FF2B5EF4-FFF2-40B4-BE49-F238E27FC236}">
                <a16:creationId xmlns:a16="http://schemas.microsoft.com/office/drawing/2014/main" id="{6A32EA53-5345-CCCD-CABC-FE2FBD51ED8C}"/>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20">
            <a:extLst>
              <a:ext uri="{FF2B5EF4-FFF2-40B4-BE49-F238E27FC236}">
                <a16:creationId xmlns:a16="http://schemas.microsoft.com/office/drawing/2014/main" id="{CE435A3C-B6EB-0380-8B35-D18611356A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0" name="Picture 9">
            <a:extLst>
              <a:ext uri="{FF2B5EF4-FFF2-40B4-BE49-F238E27FC236}">
                <a16:creationId xmlns:a16="http://schemas.microsoft.com/office/drawing/2014/main" id="{D40671F0-3BF3-936B-55E8-177A46051E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1" name="Slide Number Placeholder 10">
            <a:extLst>
              <a:ext uri="{FF2B5EF4-FFF2-40B4-BE49-F238E27FC236}">
                <a16:creationId xmlns:a16="http://schemas.microsoft.com/office/drawing/2014/main" id="{0CF4086B-4C45-0BAC-3021-E8AC651F9D74}"/>
              </a:ext>
            </a:extLst>
          </p:cNvPr>
          <p:cNvSpPr>
            <a:spLocks noGrp="1"/>
          </p:cNvSpPr>
          <p:nvPr>
            <p:ph type="sldNum" sz="quarter" idx="12"/>
          </p:nvPr>
        </p:nvSpPr>
        <p:spPr/>
        <p:txBody>
          <a:bodyPr/>
          <a:lstStyle/>
          <a:p>
            <a:fld id="{FA5D76E8-8AD6-443B-8B81-1688B2EC3502}" type="slidenum">
              <a:rPr lang="en-US" smtClean="0"/>
              <a:t>24</a:t>
            </a:fld>
            <a:endParaRPr lang="en-US"/>
          </a:p>
        </p:txBody>
      </p:sp>
      <p:sp>
        <p:nvSpPr>
          <p:cNvPr id="4" name="TextBox 3">
            <a:extLst>
              <a:ext uri="{FF2B5EF4-FFF2-40B4-BE49-F238E27FC236}">
                <a16:creationId xmlns:a16="http://schemas.microsoft.com/office/drawing/2014/main" id="{221EFBFE-940A-97FD-5E32-47E2B9D31B2E}"/>
              </a:ext>
            </a:extLst>
          </p:cNvPr>
          <p:cNvSpPr txBox="1"/>
          <p:nvPr/>
        </p:nvSpPr>
        <p:spPr>
          <a:xfrm>
            <a:off x="2101223" y="2429602"/>
            <a:ext cx="2216944" cy="1323439"/>
          </a:xfrm>
          <a:prstGeom prst="rect">
            <a:avLst/>
          </a:prstGeom>
          <a:noFill/>
        </p:spPr>
        <p:txBody>
          <a:bodyPr wrap="square">
            <a:spAutoFit/>
          </a:bodyPr>
          <a:lstStyle/>
          <a:p>
            <a:r>
              <a:rPr lang="en-US" sz="8000" b="1" i="0" dirty="0">
                <a:solidFill>
                  <a:srgbClr val="00B0F0"/>
                </a:solidFill>
                <a:effectLst/>
                <a:latin typeface="Urbanist"/>
              </a:rPr>
              <a:t>|M|</a:t>
            </a:r>
            <a:endParaRPr lang="en-US" sz="8000" dirty="0">
              <a:solidFill>
                <a:srgbClr val="00B0F0"/>
              </a:solidFill>
            </a:endParaRPr>
          </a:p>
        </p:txBody>
      </p:sp>
      <p:sp>
        <p:nvSpPr>
          <p:cNvPr id="8" name="TextBox 7">
            <a:extLst>
              <a:ext uri="{FF2B5EF4-FFF2-40B4-BE49-F238E27FC236}">
                <a16:creationId xmlns:a16="http://schemas.microsoft.com/office/drawing/2014/main" id="{73BF78F3-EDBF-81A6-FEC9-360F11E6A31A}"/>
              </a:ext>
            </a:extLst>
          </p:cNvPr>
          <p:cNvSpPr txBox="1"/>
          <p:nvPr/>
        </p:nvSpPr>
        <p:spPr>
          <a:xfrm>
            <a:off x="2097958" y="3790950"/>
            <a:ext cx="2216944" cy="369332"/>
          </a:xfrm>
          <a:prstGeom prst="rect">
            <a:avLst/>
          </a:prstGeom>
          <a:noFill/>
        </p:spPr>
        <p:txBody>
          <a:bodyPr wrap="square" lIns="91440" tIns="45720" rIns="91440" bIns="45720" anchor="t">
            <a:spAutoFit/>
          </a:bodyPr>
          <a:lstStyle/>
          <a:p>
            <a:pPr algn="ctr"/>
            <a:r>
              <a:rPr lang="en-US" b="0" i="0">
                <a:solidFill>
                  <a:srgbClr val="64748B"/>
                </a:solidFill>
                <a:effectLst/>
                <a:latin typeface="Urbanist"/>
              </a:rPr>
              <a:t>Matching Cardinality</a:t>
            </a:r>
            <a:endParaRPr lang="en-US"/>
          </a:p>
        </p:txBody>
      </p:sp>
      <p:sp>
        <p:nvSpPr>
          <p:cNvPr id="14" name="TextBox 13">
            <a:extLst>
              <a:ext uri="{FF2B5EF4-FFF2-40B4-BE49-F238E27FC236}">
                <a16:creationId xmlns:a16="http://schemas.microsoft.com/office/drawing/2014/main" id="{0F111B3B-F8BF-93FB-D9BD-10286C811715}"/>
              </a:ext>
            </a:extLst>
          </p:cNvPr>
          <p:cNvSpPr txBox="1"/>
          <p:nvPr/>
        </p:nvSpPr>
        <p:spPr>
          <a:xfrm>
            <a:off x="5149145" y="2291060"/>
            <a:ext cx="4672769" cy="523220"/>
          </a:xfrm>
          <a:prstGeom prst="rect">
            <a:avLst/>
          </a:prstGeom>
          <a:noFill/>
        </p:spPr>
        <p:txBody>
          <a:bodyPr wrap="square" lIns="91440" tIns="45720" rIns="91440" bIns="45720" anchor="t">
            <a:spAutoFit/>
          </a:bodyPr>
          <a:lstStyle/>
          <a:p>
            <a:pPr algn="l"/>
            <a:r>
              <a:rPr lang="en-US" sz="2800" b="1" i="0">
                <a:solidFill>
                  <a:srgbClr val="1E293B"/>
                </a:solidFill>
                <a:effectLst/>
                <a:latin typeface="Urbanist"/>
              </a:rPr>
              <a:t>Handling Overflow Events</a:t>
            </a:r>
            <a:endParaRPr lang="en-US" sz="280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50247215-72A6-8D19-2A3F-BE95893EC518}"/>
                  </a:ext>
                </a:extLst>
              </p:cNvPr>
              <p:cNvSpPr txBox="1"/>
              <p:nvPr/>
            </p:nvSpPr>
            <p:spPr>
              <a:xfrm>
                <a:off x="5145881" y="2752725"/>
                <a:ext cx="4480092" cy="1273490"/>
              </a:xfrm>
              <a:prstGeom prst="rect">
                <a:avLst/>
              </a:prstGeom>
              <a:noFill/>
            </p:spPr>
            <p:txBody>
              <a:bodyPr wrap="square">
                <a:spAutoFit/>
              </a:bodyPr>
              <a:lstStyle/>
              <a:p>
                <a:r>
                  <a:rPr lang="en-US" sz="2400" b="0" i="0" dirty="0">
                    <a:solidFill>
                      <a:srgbClr val="475569"/>
                    </a:solidFill>
                    <a:effectLst/>
                    <a:latin typeface="Urbanist"/>
                  </a:rPr>
                  <a:t>When </a:t>
                </a:r>
                <a14:m>
                  <m:oMath xmlns:m="http://schemas.openxmlformats.org/officeDocument/2006/math">
                    <m:d>
                      <m:dPr>
                        <m:begChr m:val="|"/>
                        <m:endChr m:val="|"/>
                        <m:ctrlPr>
                          <a:rPr lang="en-US" sz="2400" b="0" i="1" smtClean="0">
                            <a:solidFill>
                              <a:srgbClr val="475569"/>
                            </a:solidFill>
                            <a:effectLst/>
                            <a:latin typeface="Cambria Math" panose="02040503050406030204" pitchFamily="18" charset="0"/>
                          </a:rPr>
                        </m:ctrlPr>
                      </m:dPr>
                      <m:e>
                        <m:r>
                          <a:rPr lang="en-US" sz="2400" b="0" i="1" smtClean="0">
                            <a:solidFill>
                              <a:srgbClr val="475569"/>
                            </a:solidFill>
                            <a:effectLst/>
                            <a:latin typeface="Cambria Math" panose="02040503050406030204" pitchFamily="18" charset="0"/>
                          </a:rPr>
                          <m:t>𝑀</m:t>
                        </m:r>
                      </m:e>
                    </m:d>
                    <m:r>
                      <a:rPr lang="en-US" sz="2400" b="0" i="1" smtClean="0">
                        <a:solidFill>
                          <a:srgbClr val="475569"/>
                        </a:solidFill>
                        <a:effectLst/>
                        <a:latin typeface="Cambria Math" panose="02040503050406030204" pitchFamily="18" charset="0"/>
                      </a:rPr>
                      <m:t>&lt;|</m:t>
                    </m:r>
                    <m:sSub>
                      <m:sSubPr>
                        <m:ctrlPr>
                          <a:rPr lang="en-US" sz="2400" b="0" i="1" smtClean="0">
                            <a:solidFill>
                              <a:srgbClr val="475569"/>
                            </a:solidFill>
                            <a:effectLst/>
                            <a:latin typeface="Cambria Math" panose="02040503050406030204" pitchFamily="18" charset="0"/>
                          </a:rPr>
                        </m:ctrlPr>
                      </m:sSubPr>
                      <m:e>
                        <m:r>
                          <a:rPr lang="en-US" sz="2400" b="0" i="1" smtClean="0">
                            <a:solidFill>
                              <a:srgbClr val="475569"/>
                            </a:solidFill>
                            <a:effectLst/>
                            <a:latin typeface="Cambria Math" panose="02040503050406030204" pitchFamily="18" charset="0"/>
                          </a:rPr>
                          <m:t>𝐸</m:t>
                        </m:r>
                      </m:e>
                      <m:sub>
                        <m:sSub>
                          <m:sSubPr>
                            <m:ctrlPr>
                              <a:rPr lang="en-US" sz="2400" b="0" i="1" smtClean="0">
                                <a:solidFill>
                                  <a:srgbClr val="475569"/>
                                </a:solidFill>
                                <a:effectLst/>
                                <a:latin typeface="Cambria Math" panose="02040503050406030204" pitchFamily="18" charset="0"/>
                              </a:rPr>
                            </m:ctrlPr>
                          </m:sSubPr>
                          <m:e>
                            <m:r>
                              <a:rPr lang="en-US" sz="2400" b="0" i="1" smtClean="0">
                                <a:solidFill>
                                  <a:srgbClr val="475569"/>
                                </a:solidFill>
                                <a:effectLst/>
                                <a:latin typeface="Cambria Math" panose="02040503050406030204" pitchFamily="18" charset="0"/>
                              </a:rPr>
                              <m:t>𝑡</m:t>
                            </m:r>
                          </m:e>
                          <m:sub>
                            <m:r>
                              <a:rPr lang="en-US" sz="2400" b="0" i="1" smtClean="0">
                                <a:solidFill>
                                  <a:srgbClr val="475569"/>
                                </a:solidFill>
                                <a:effectLst/>
                                <a:latin typeface="Cambria Math" panose="02040503050406030204" pitchFamily="18" charset="0"/>
                              </a:rPr>
                              <m:t>𝑗</m:t>
                            </m:r>
                          </m:sub>
                        </m:sSub>
                      </m:sub>
                    </m:sSub>
                    <m:r>
                      <a:rPr lang="en-US" sz="2400" b="0" i="1" smtClean="0">
                        <a:solidFill>
                          <a:srgbClr val="475569"/>
                        </a:solidFill>
                        <a:effectLst/>
                        <a:latin typeface="Cambria Math" panose="02040503050406030204" pitchFamily="18" charset="0"/>
                      </a:rPr>
                      <m:t>|</m:t>
                    </m:r>
                  </m:oMath>
                </a14:m>
                <a:r>
                  <a:rPr lang="en-US" sz="2400" b="0" i="0" dirty="0">
                    <a:solidFill>
                      <a:srgbClr val="475569"/>
                    </a:solidFill>
                    <a:effectLst/>
                    <a:latin typeface="Urbanist"/>
                  </a:rPr>
                  <a:t>, unplaced events are handled by a </a:t>
                </a:r>
                <a:r>
                  <a:rPr lang="en-US" sz="2400" b="1" i="0" dirty="0">
                    <a:solidFill>
                      <a:srgbClr val="0F172A"/>
                    </a:solidFill>
                    <a:effectLst/>
                    <a:latin typeface="Urbanist"/>
                  </a:rPr>
                  <a:t>strict tie-breaking rule</a:t>
                </a:r>
                <a:r>
                  <a:rPr lang="en-US" sz="2400" b="0" i="0" dirty="0">
                    <a:solidFill>
                      <a:srgbClr val="475569"/>
                    </a:solidFill>
                    <a:effectLst/>
                    <a:latin typeface="Urbanist"/>
                  </a:rPr>
                  <a:t>:</a:t>
                </a:r>
                <a:endParaRPr lang="en-US" sz="2400" dirty="0"/>
              </a:p>
            </p:txBody>
          </p:sp>
        </mc:Choice>
        <mc:Fallback xmlns="">
          <p:sp>
            <p:nvSpPr>
              <p:cNvPr id="22" name="TextBox 21">
                <a:extLst>
                  <a:ext uri="{FF2B5EF4-FFF2-40B4-BE49-F238E27FC236}">
                    <a16:creationId xmlns:a16="http://schemas.microsoft.com/office/drawing/2014/main" id="{50247215-72A6-8D19-2A3F-BE95893EC518}"/>
                  </a:ext>
                </a:extLst>
              </p:cNvPr>
              <p:cNvSpPr txBox="1">
                <a:spLocks noRot="1" noChangeAspect="1" noMove="1" noResize="1" noEditPoints="1" noAdjustHandles="1" noChangeArrowheads="1" noChangeShapeType="1" noTextEdit="1"/>
              </p:cNvSpPr>
              <p:nvPr/>
            </p:nvSpPr>
            <p:spPr>
              <a:xfrm>
                <a:off x="5145881" y="2752725"/>
                <a:ext cx="4480092" cy="1273490"/>
              </a:xfrm>
              <a:prstGeom prst="rect">
                <a:avLst/>
              </a:prstGeom>
              <a:blipFill>
                <a:blip r:embed="rId4"/>
                <a:stretch>
                  <a:fillRect l="-2041" t="-3365" b="-10096"/>
                </a:stretch>
              </a:blipFill>
            </p:spPr>
            <p:txBody>
              <a:bodyPr/>
              <a:lstStyle/>
              <a:p>
                <a:r>
                  <a:rPr lang="en-US">
                    <a:noFill/>
                  </a:rPr>
                  <a:t> </a:t>
                </a:r>
              </a:p>
            </p:txBody>
          </p:sp>
        </mc:Fallback>
      </mc:AlternateContent>
      <p:sp>
        <p:nvSpPr>
          <p:cNvPr id="26" name="TextBox 25">
            <a:extLst>
              <a:ext uri="{FF2B5EF4-FFF2-40B4-BE49-F238E27FC236}">
                <a16:creationId xmlns:a16="http://schemas.microsoft.com/office/drawing/2014/main" id="{DF3CCE16-56BA-E4CF-2DD9-22F1D6CA6152}"/>
              </a:ext>
            </a:extLst>
          </p:cNvPr>
          <p:cNvSpPr txBox="1"/>
          <p:nvPr/>
        </p:nvSpPr>
        <p:spPr>
          <a:xfrm>
            <a:off x="5149145" y="3963468"/>
            <a:ext cx="6100762" cy="461665"/>
          </a:xfrm>
          <a:prstGeom prst="rect">
            <a:avLst/>
          </a:prstGeom>
          <a:noFill/>
        </p:spPr>
        <p:txBody>
          <a:bodyPr wrap="square" lIns="91440" tIns="45720" rIns="91440" bIns="45720" anchor="t">
            <a:spAutoFit/>
          </a:bodyPr>
          <a:lstStyle/>
          <a:p>
            <a:pPr algn="l">
              <a:buFont typeface="Arial" panose="020B0604020202020204" pitchFamily="34" charset="0"/>
              <a:buChar char="•"/>
            </a:pPr>
            <a:r>
              <a:rPr lang="en-US" sz="2400" b="0" i="0" dirty="0">
                <a:solidFill>
                  <a:srgbClr val="475569"/>
                </a:solidFill>
                <a:effectLst/>
                <a:latin typeface="Urbanist"/>
              </a:rPr>
              <a:t>Events are processed in </a:t>
            </a:r>
            <a:r>
              <a:rPr lang="en-US" sz="2400" b="1" i="0">
                <a:solidFill>
                  <a:srgbClr val="0F172A"/>
                </a:solidFill>
                <a:effectLst/>
                <a:latin typeface="Urbanist"/>
              </a:rPr>
              <a:t>Label Order</a:t>
            </a:r>
            <a:r>
              <a:rPr lang="en-US" sz="2400" b="0" i="0">
                <a:solidFill>
                  <a:srgbClr val="475569"/>
                </a:solidFill>
                <a:effectLst/>
                <a:latin typeface="Urbanist"/>
              </a:rPr>
              <a:t>.</a:t>
            </a:r>
            <a:endParaRPr lang="en-US" sz="2400"/>
          </a:p>
        </p:txBody>
      </p:sp>
      <p:sp>
        <p:nvSpPr>
          <p:cNvPr id="28" name="TextBox 27">
            <a:extLst>
              <a:ext uri="{FF2B5EF4-FFF2-40B4-BE49-F238E27FC236}">
                <a16:creationId xmlns:a16="http://schemas.microsoft.com/office/drawing/2014/main" id="{87133674-F875-0FF9-0EEE-9030359AC4C6}"/>
              </a:ext>
            </a:extLst>
          </p:cNvPr>
          <p:cNvSpPr txBox="1"/>
          <p:nvPr/>
        </p:nvSpPr>
        <p:spPr>
          <a:xfrm>
            <a:off x="5152409" y="4433938"/>
            <a:ext cx="6100762" cy="830997"/>
          </a:xfrm>
          <a:prstGeom prst="rect">
            <a:avLst/>
          </a:prstGeom>
          <a:noFill/>
        </p:spPr>
        <p:txBody>
          <a:bodyPr wrap="square" lIns="91440" tIns="45720" rIns="91440" bIns="45720" anchor="t">
            <a:spAutoFit/>
          </a:bodyPr>
          <a:lstStyle/>
          <a:p>
            <a:pPr algn="l">
              <a:buFont typeface="Arial" panose="020B0604020202020204" pitchFamily="34" charset="0"/>
              <a:buChar char="•"/>
            </a:pPr>
            <a:r>
              <a:rPr lang="en-US" sz="2400" b="0" i="0" dirty="0">
                <a:solidFill>
                  <a:srgbClr val="475569"/>
                </a:solidFill>
                <a:effectLst/>
                <a:latin typeface="Urbanist"/>
              </a:rPr>
              <a:t>Forced into rooms despite capacity/conflict </a:t>
            </a:r>
            <a:r>
              <a:rPr lang="en-US" sz="2400" b="0" i="0">
                <a:solidFill>
                  <a:srgbClr val="475569"/>
                </a:solidFill>
                <a:effectLst/>
                <a:latin typeface="Urbanist"/>
              </a:rPr>
              <a:t>violations.</a:t>
            </a:r>
            <a:endParaRPr lang="en-US" sz="2400"/>
          </a:p>
        </p:txBody>
      </p:sp>
      <p:sp>
        <p:nvSpPr>
          <p:cNvPr id="32" name="TextBox 31">
            <a:extLst>
              <a:ext uri="{FF2B5EF4-FFF2-40B4-BE49-F238E27FC236}">
                <a16:creationId xmlns:a16="http://schemas.microsoft.com/office/drawing/2014/main" id="{87EDDDF0-ADCB-6DA1-10E0-314E0EF46AA3}"/>
              </a:ext>
            </a:extLst>
          </p:cNvPr>
          <p:cNvSpPr txBox="1"/>
          <p:nvPr/>
        </p:nvSpPr>
        <p:spPr>
          <a:xfrm>
            <a:off x="5145881" y="5161205"/>
            <a:ext cx="6100762" cy="830997"/>
          </a:xfrm>
          <a:prstGeom prst="rect">
            <a:avLst/>
          </a:prstGeom>
          <a:noFill/>
        </p:spPr>
        <p:txBody>
          <a:bodyPr wrap="square" lIns="91440" tIns="45720" rIns="91440" bIns="45720" anchor="t">
            <a:spAutoFit/>
          </a:bodyPr>
          <a:lstStyle/>
          <a:p>
            <a:pPr algn="l">
              <a:buFont typeface="Arial" panose="020B0604020202020204" pitchFamily="34" charset="0"/>
              <a:buChar char="•"/>
            </a:pPr>
            <a:r>
              <a:rPr lang="en-US" sz="2400" b="0" i="0" dirty="0">
                <a:solidFill>
                  <a:srgbClr val="475569"/>
                </a:solidFill>
                <a:effectLst/>
                <a:latin typeface="Urbanist"/>
              </a:rPr>
              <a:t>Ensures a fully defined (though illegal) </a:t>
            </a:r>
            <a:r>
              <a:rPr lang="en-US" sz="2400" b="0" i="0">
                <a:solidFill>
                  <a:srgbClr val="475569"/>
                </a:solidFill>
                <a:effectLst/>
                <a:latin typeface="Urbanist"/>
              </a:rPr>
              <a:t>timetable for evaluation.</a:t>
            </a:r>
            <a:endParaRPr lang="en-US" sz="2400"/>
          </a:p>
        </p:txBody>
      </p:sp>
    </p:spTree>
    <p:extLst>
      <p:ext uri="{BB962C8B-B14F-4D97-AF65-F5344CB8AC3E}">
        <p14:creationId xmlns:p14="http://schemas.microsoft.com/office/powerpoint/2010/main" val="32303695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BC53C-40B6-5800-F362-F8C04C8BC6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5F8DBD-D3AC-97DA-5BEE-D7F01600ABFE}"/>
              </a:ext>
            </a:extLst>
          </p:cNvPr>
          <p:cNvSpPr>
            <a:spLocks noGrp="1"/>
          </p:cNvSpPr>
          <p:nvPr>
            <p:ph type="title"/>
          </p:nvPr>
        </p:nvSpPr>
        <p:spPr>
          <a:xfrm>
            <a:off x="2097958" y="18255"/>
            <a:ext cx="9350478" cy="1325563"/>
          </a:xfrm>
        </p:spPr>
        <p:txBody>
          <a:bodyPr/>
          <a:lstStyle/>
          <a:p>
            <a:r>
              <a:rPr lang="en-US" b="1" dirty="0">
                <a:solidFill>
                  <a:srgbClr val="156082"/>
                </a:solidFill>
              </a:rPr>
              <a:t>Local Search 1: Constraint Tuning</a:t>
            </a:r>
          </a:p>
        </p:txBody>
      </p:sp>
      <p:sp>
        <p:nvSpPr>
          <p:cNvPr id="7" name="Rectangle 6">
            <a:extLst>
              <a:ext uri="{FF2B5EF4-FFF2-40B4-BE49-F238E27FC236}">
                <a16:creationId xmlns:a16="http://schemas.microsoft.com/office/drawing/2014/main" id="{6A32EA53-5345-CCCD-CABC-FE2FBD51ED8C}"/>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20">
            <a:extLst>
              <a:ext uri="{FF2B5EF4-FFF2-40B4-BE49-F238E27FC236}">
                <a16:creationId xmlns:a16="http://schemas.microsoft.com/office/drawing/2014/main" id="{CE435A3C-B6EB-0380-8B35-D18611356A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0" name="Picture 9">
            <a:extLst>
              <a:ext uri="{FF2B5EF4-FFF2-40B4-BE49-F238E27FC236}">
                <a16:creationId xmlns:a16="http://schemas.microsoft.com/office/drawing/2014/main" id="{D40671F0-3BF3-936B-55E8-177A46051E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1" name="Slide Number Placeholder 10">
            <a:extLst>
              <a:ext uri="{FF2B5EF4-FFF2-40B4-BE49-F238E27FC236}">
                <a16:creationId xmlns:a16="http://schemas.microsoft.com/office/drawing/2014/main" id="{0CF4086B-4C45-0BAC-3021-E8AC651F9D74}"/>
              </a:ext>
            </a:extLst>
          </p:cNvPr>
          <p:cNvSpPr>
            <a:spLocks noGrp="1"/>
          </p:cNvSpPr>
          <p:nvPr>
            <p:ph type="sldNum" sz="quarter" idx="12"/>
          </p:nvPr>
        </p:nvSpPr>
        <p:spPr/>
        <p:txBody>
          <a:bodyPr/>
          <a:lstStyle/>
          <a:p>
            <a:fld id="{FA5D76E8-8AD6-443B-8B81-1688B2EC3502}" type="slidenum">
              <a:rPr lang="en-US" smtClean="0"/>
              <a:t>25</a:t>
            </a:fld>
            <a:endParaRPr lang="en-US"/>
          </a:p>
        </p:txBody>
      </p:sp>
      <p:sp>
        <p:nvSpPr>
          <p:cNvPr id="5" name="TextBox 4">
            <a:extLst>
              <a:ext uri="{FF2B5EF4-FFF2-40B4-BE49-F238E27FC236}">
                <a16:creationId xmlns:a16="http://schemas.microsoft.com/office/drawing/2014/main" id="{31E1EE30-474A-8B91-B541-4C29310FCED4}"/>
              </a:ext>
            </a:extLst>
          </p:cNvPr>
          <p:cNvSpPr txBox="1"/>
          <p:nvPr/>
        </p:nvSpPr>
        <p:spPr>
          <a:xfrm>
            <a:off x="2097958" y="2163153"/>
            <a:ext cx="3068751" cy="369332"/>
          </a:xfrm>
          <a:prstGeom prst="rect">
            <a:avLst/>
          </a:prstGeom>
          <a:noFill/>
        </p:spPr>
        <p:txBody>
          <a:bodyPr wrap="square" lIns="91440" tIns="45720" rIns="91440" bIns="45720" anchor="t">
            <a:spAutoFit/>
          </a:bodyPr>
          <a:lstStyle/>
          <a:p>
            <a:pPr algn="l"/>
            <a:r>
              <a:rPr lang="en-US" b="1" i="0">
                <a:solidFill>
                  <a:srgbClr val="10B981"/>
                </a:solidFill>
                <a:effectLst/>
                <a:latin typeface="Urbanist"/>
              </a:rPr>
              <a:t>Step 1: Hard Constraints</a:t>
            </a:r>
            <a:endParaRPr lang="en-US"/>
          </a:p>
        </p:txBody>
      </p:sp>
      <p:sp>
        <p:nvSpPr>
          <p:cNvPr id="12" name="TextBox 11">
            <a:extLst>
              <a:ext uri="{FF2B5EF4-FFF2-40B4-BE49-F238E27FC236}">
                <a16:creationId xmlns:a16="http://schemas.microsoft.com/office/drawing/2014/main" id="{2947E8F2-D8EC-9A17-1D22-4F3CE8EE26EC}"/>
              </a:ext>
            </a:extLst>
          </p:cNvPr>
          <p:cNvSpPr txBox="1"/>
          <p:nvPr/>
        </p:nvSpPr>
        <p:spPr>
          <a:xfrm>
            <a:off x="2097958" y="2799557"/>
            <a:ext cx="4483817" cy="923330"/>
          </a:xfrm>
          <a:prstGeom prst="rect">
            <a:avLst/>
          </a:prstGeom>
          <a:noFill/>
        </p:spPr>
        <p:txBody>
          <a:bodyPr wrap="square" lIns="91440" tIns="45720" rIns="91440" bIns="45720" anchor="t">
            <a:spAutoFit/>
          </a:bodyPr>
          <a:lstStyle/>
          <a:p>
            <a:pPr algn="l"/>
            <a:r>
              <a:rPr lang="en-US" b="0" i="0" dirty="0">
                <a:solidFill>
                  <a:srgbClr val="475569"/>
                </a:solidFill>
                <a:effectLst/>
                <a:latin typeface="Urbanist"/>
              </a:rPr>
              <a:t>Systematically iterates through infeasible events. Applies N1, N2, then N3 until violations are reduced or </a:t>
            </a:r>
            <a:r>
              <a:rPr lang="en-US" b="0" i="1" err="1">
                <a:solidFill>
                  <a:srgbClr val="475569"/>
                </a:solidFill>
                <a:effectLst/>
                <a:latin typeface="Urbanist"/>
              </a:rPr>
              <a:t>s</a:t>
            </a:r>
            <a:r>
              <a:rPr lang="en-US" b="0" i="1" baseline="-25000" err="1">
                <a:solidFill>
                  <a:srgbClr val="475569"/>
                </a:solidFill>
                <a:effectLst/>
                <a:latin typeface="Urbanist"/>
              </a:rPr>
              <a:t>max</a:t>
            </a:r>
            <a:r>
              <a:rPr lang="en-US" b="0" i="0">
                <a:solidFill>
                  <a:srgbClr val="475569"/>
                </a:solidFill>
                <a:effectLst/>
                <a:latin typeface="Urbanist"/>
              </a:rPr>
              <a:t> is reached.</a:t>
            </a:r>
            <a:endParaRPr lang="en-US"/>
          </a:p>
        </p:txBody>
      </p:sp>
      <p:sp>
        <p:nvSpPr>
          <p:cNvPr id="15" name="TextBox 14">
            <a:extLst>
              <a:ext uri="{FF2B5EF4-FFF2-40B4-BE49-F238E27FC236}">
                <a16:creationId xmlns:a16="http://schemas.microsoft.com/office/drawing/2014/main" id="{1F30E5B8-1F33-A440-F5B0-0CF9917630FE}"/>
              </a:ext>
            </a:extLst>
          </p:cNvPr>
          <p:cNvSpPr txBox="1"/>
          <p:nvPr/>
        </p:nvSpPr>
        <p:spPr>
          <a:xfrm>
            <a:off x="7591350" y="2143579"/>
            <a:ext cx="3055144" cy="369332"/>
          </a:xfrm>
          <a:prstGeom prst="rect">
            <a:avLst/>
          </a:prstGeom>
          <a:noFill/>
        </p:spPr>
        <p:txBody>
          <a:bodyPr wrap="square" lIns="91440" tIns="45720" rIns="91440" bIns="45720" anchor="t">
            <a:spAutoFit/>
          </a:bodyPr>
          <a:lstStyle/>
          <a:p>
            <a:pPr algn="l"/>
            <a:r>
              <a:rPr lang="en-US" b="1" i="0">
                <a:solidFill>
                  <a:srgbClr val="3B82F6"/>
                </a:solidFill>
                <a:effectLst/>
                <a:latin typeface="Urbanist"/>
              </a:rPr>
              <a:t>Step 2: Soft Constraints</a:t>
            </a:r>
            <a:endParaRPr lang="en-US"/>
          </a:p>
        </p:txBody>
      </p:sp>
      <p:sp>
        <p:nvSpPr>
          <p:cNvPr id="17" name="TextBox 16">
            <a:extLst>
              <a:ext uri="{FF2B5EF4-FFF2-40B4-BE49-F238E27FC236}">
                <a16:creationId xmlns:a16="http://schemas.microsoft.com/office/drawing/2014/main" id="{B262279A-304D-7629-D4D9-A0CC3B85F241}"/>
              </a:ext>
            </a:extLst>
          </p:cNvPr>
          <p:cNvSpPr txBox="1"/>
          <p:nvPr/>
        </p:nvSpPr>
        <p:spPr>
          <a:xfrm>
            <a:off x="7591350" y="2690336"/>
            <a:ext cx="4274344" cy="923330"/>
          </a:xfrm>
          <a:prstGeom prst="rect">
            <a:avLst/>
          </a:prstGeom>
          <a:noFill/>
        </p:spPr>
        <p:txBody>
          <a:bodyPr wrap="square" lIns="91440" tIns="45720" rIns="91440" bIns="45720" anchor="t">
            <a:spAutoFit/>
          </a:bodyPr>
          <a:lstStyle/>
          <a:p>
            <a:pPr algn="l"/>
            <a:r>
              <a:rPr lang="en-US" b="0" i="0" dirty="0">
                <a:solidFill>
                  <a:srgbClr val="475569"/>
                </a:solidFill>
                <a:effectLst/>
                <a:latin typeface="Urbanist"/>
              </a:rPr>
              <a:t>Executed only after reaching a feasible solution. Refines quality without violating established hard constraints.</a:t>
            </a:r>
            <a:endParaRPr lang="en-US" dirty="0"/>
          </a:p>
        </p:txBody>
      </p:sp>
      <p:sp>
        <p:nvSpPr>
          <p:cNvPr id="19" name="TextBox 18">
            <a:extLst>
              <a:ext uri="{FF2B5EF4-FFF2-40B4-BE49-F238E27FC236}">
                <a16:creationId xmlns:a16="http://schemas.microsoft.com/office/drawing/2014/main" id="{1D7098CB-F97B-9F4A-8C4F-EC00C7A4A4C7}"/>
              </a:ext>
            </a:extLst>
          </p:cNvPr>
          <p:cNvSpPr txBox="1"/>
          <p:nvPr/>
        </p:nvSpPr>
        <p:spPr>
          <a:xfrm>
            <a:off x="2440244" y="4522252"/>
            <a:ext cx="9008192" cy="307777"/>
          </a:xfrm>
          <a:prstGeom prst="rect">
            <a:avLst/>
          </a:prstGeom>
          <a:noFill/>
        </p:spPr>
        <p:txBody>
          <a:bodyPr wrap="square" lIns="91440" tIns="45720" rIns="91440" bIns="45720" anchor="t">
            <a:spAutoFit/>
          </a:bodyPr>
          <a:lstStyle/>
          <a:p>
            <a:pPr algn="l"/>
            <a:r>
              <a:rPr lang="en-US" sz="1400" b="1" i="0" dirty="0">
                <a:solidFill>
                  <a:srgbClr val="0F172A"/>
                </a:solidFill>
                <a:effectLst/>
                <a:latin typeface="Urbanist"/>
              </a:rPr>
              <a:t>Delta-Evaluation:</a:t>
            </a:r>
            <a:r>
              <a:rPr lang="en-US" sz="1400" b="0" i="0">
                <a:solidFill>
                  <a:srgbClr val="475569"/>
                </a:solidFill>
                <a:effectLst/>
                <a:latin typeface="Urbanist"/>
              </a:rPr>
              <a:t> Room-allocation disturbance is resolved via the Matching Algorithm after every single move in the loop.</a:t>
            </a:r>
            <a:endParaRPr lang="en-US"/>
          </a:p>
        </p:txBody>
      </p:sp>
    </p:spTree>
    <p:extLst>
      <p:ext uri="{BB962C8B-B14F-4D97-AF65-F5344CB8AC3E}">
        <p14:creationId xmlns:p14="http://schemas.microsoft.com/office/powerpoint/2010/main" val="22968277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BC53C-40B6-5800-F362-F8C04C8BC6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5F8DBD-D3AC-97DA-5BEE-D7F01600ABFE}"/>
              </a:ext>
            </a:extLst>
          </p:cNvPr>
          <p:cNvSpPr>
            <a:spLocks noGrp="1"/>
          </p:cNvSpPr>
          <p:nvPr>
            <p:ph type="title"/>
          </p:nvPr>
        </p:nvSpPr>
        <p:spPr>
          <a:xfrm>
            <a:off x="2097958" y="18255"/>
            <a:ext cx="9350478" cy="1325563"/>
          </a:xfrm>
        </p:spPr>
        <p:txBody>
          <a:bodyPr/>
          <a:lstStyle/>
          <a:p>
            <a:r>
              <a:rPr lang="en-US" b="1" dirty="0">
                <a:solidFill>
                  <a:srgbClr val="156082"/>
                </a:solidFill>
              </a:rPr>
              <a:t>LS2: Stochastic Targeting</a:t>
            </a:r>
          </a:p>
        </p:txBody>
      </p:sp>
      <p:sp>
        <p:nvSpPr>
          <p:cNvPr id="7" name="Rectangle 6">
            <a:extLst>
              <a:ext uri="{FF2B5EF4-FFF2-40B4-BE49-F238E27FC236}">
                <a16:creationId xmlns:a16="http://schemas.microsoft.com/office/drawing/2014/main" id="{6A32EA53-5345-CCCD-CABC-FE2FBD51ED8C}"/>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20">
            <a:extLst>
              <a:ext uri="{FF2B5EF4-FFF2-40B4-BE49-F238E27FC236}">
                <a16:creationId xmlns:a16="http://schemas.microsoft.com/office/drawing/2014/main" id="{CE435A3C-B6EB-0380-8B35-D18611356A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0" name="Picture 9">
            <a:extLst>
              <a:ext uri="{FF2B5EF4-FFF2-40B4-BE49-F238E27FC236}">
                <a16:creationId xmlns:a16="http://schemas.microsoft.com/office/drawing/2014/main" id="{D40671F0-3BF3-936B-55E8-177A46051E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1" name="Slide Number Placeholder 10">
            <a:extLst>
              <a:ext uri="{FF2B5EF4-FFF2-40B4-BE49-F238E27FC236}">
                <a16:creationId xmlns:a16="http://schemas.microsoft.com/office/drawing/2014/main" id="{0CF4086B-4C45-0BAC-3021-E8AC651F9D74}"/>
              </a:ext>
            </a:extLst>
          </p:cNvPr>
          <p:cNvSpPr>
            <a:spLocks noGrp="1"/>
          </p:cNvSpPr>
          <p:nvPr>
            <p:ph type="sldNum" sz="quarter" idx="12"/>
          </p:nvPr>
        </p:nvSpPr>
        <p:spPr/>
        <p:txBody>
          <a:bodyPr/>
          <a:lstStyle/>
          <a:p>
            <a:fld id="{FA5D76E8-8AD6-443B-8B81-1688B2EC3502}" type="slidenum">
              <a:rPr lang="en-US" smtClean="0"/>
              <a:t>26</a:t>
            </a:fld>
            <a:endParaRPr lang="en-US"/>
          </a:p>
        </p:txBody>
      </p:sp>
      <p:pic>
        <p:nvPicPr>
          <p:cNvPr id="2050" name="Picture 2" descr="Optimization landscape showing exploration">
            <a:extLst>
              <a:ext uri="{FF2B5EF4-FFF2-40B4-BE49-F238E27FC236}">
                <a16:creationId xmlns:a16="http://schemas.microsoft.com/office/drawing/2014/main" id="{B415C2F1-C6B3-67A0-EB24-5D132DA705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53112" y="1258343"/>
            <a:ext cx="6138888" cy="434131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BA12586-6AC8-529E-A292-214A8F5FCB14}"/>
              </a:ext>
            </a:extLst>
          </p:cNvPr>
          <p:cNvSpPr txBox="1"/>
          <p:nvPr/>
        </p:nvSpPr>
        <p:spPr>
          <a:xfrm>
            <a:off x="2097958" y="1258343"/>
            <a:ext cx="6100762" cy="369332"/>
          </a:xfrm>
          <a:prstGeom prst="rect">
            <a:avLst/>
          </a:prstGeom>
          <a:noFill/>
        </p:spPr>
        <p:txBody>
          <a:bodyPr wrap="square" lIns="91440" tIns="45720" rIns="91440" bIns="45720" anchor="t">
            <a:spAutoFit/>
          </a:bodyPr>
          <a:lstStyle/>
          <a:p>
            <a:pPr algn="l"/>
            <a:r>
              <a:rPr lang="en-US" b="1" i="0">
                <a:solidFill>
                  <a:srgbClr val="1E293B"/>
                </a:solidFill>
                <a:effectLst/>
                <a:latin typeface="Urbanist"/>
              </a:rPr>
              <a:t>Worst-Slot Improvement</a:t>
            </a:r>
            <a:endParaRPr lang="en-US"/>
          </a:p>
        </p:txBody>
      </p:sp>
      <p:sp>
        <p:nvSpPr>
          <p:cNvPr id="8" name="TextBox 7">
            <a:extLst>
              <a:ext uri="{FF2B5EF4-FFF2-40B4-BE49-F238E27FC236}">
                <a16:creationId xmlns:a16="http://schemas.microsoft.com/office/drawing/2014/main" id="{6B34499B-F33E-5CA0-F39B-56A42B9C8124}"/>
              </a:ext>
            </a:extLst>
          </p:cNvPr>
          <p:cNvSpPr txBox="1"/>
          <p:nvPr/>
        </p:nvSpPr>
        <p:spPr>
          <a:xfrm>
            <a:off x="2097958" y="1814810"/>
            <a:ext cx="3365877" cy="646331"/>
          </a:xfrm>
          <a:prstGeom prst="rect">
            <a:avLst/>
          </a:prstGeom>
          <a:noFill/>
        </p:spPr>
        <p:txBody>
          <a:bodyPr wrap="square" lIns="91440" tIns="45720" rIns="91440" bIns="45720" anchor="t">
            <a:spAutoFit/>
          </a:bodyPr>
          <a:lstStyle/>
          <a:p>
            <a:pPr algn="l"/>
            <a:r>
              <a:rPr lang="en-US" b="0" i="0" dirty="0">
                <a:solidFill>
                  <a:srgbClr val="475569"/>
                </a:solidFill>
                <a:effectLst/>
                <a:latin typeface="Urbanist"/>
              </a:rPr>
              <a:t>LS2 focuses computational power </a:t>
            </a:r>
            <a:r>
              <a:rPr lang="en-US" b="0" i="0">
                <a:solidFill>
                  <a:srgbClr val="475569"/>
                </a:solidFill>
                <a:effectLst/>
                <a:latin typeface="Urbanist"/>
              </a:rPr>
              <a:t>on specific bottlenecks:</a:t>
            </a:r>
            <a:endParaRPr lang="en-US"/>
          </a:p>
        </p:txBody>
      </p:sp>
      <p:sp>
        <p:nvSpPr>
          <p:cNvPr id="14" name="TextBox 13">
            <a:extLst>
              <a:ext uri="{FF2B5EF4-FFF2-40B4-BE49-F238E27FC236}">
                <a16:creationId xmlns:a16="http://schemas.microsoft.com/office/drawing/2014/main" id="{BF953FFC-D000-C08D-F481-5BDD219123A7}"/>
              </a:ext>
            </a:extLst>
          </p:cNvPr>
          <p:cNvSpPr txBox="1"/>
          <p:nvPr/>
        </p:nvSpPr>
        <p:spPr>
          <a:xfrm>
            <a:off x="2097958" y="2690335"/>
            <a:ext cx="3790539" cy="646331"/>
          </a:xfrm>
          <a:prstGeom prst="rect">
            <a:avLst/>
          </a:prstGeom>
          <a:noFill/>
        </p:spPr>
        <p:txBody>
          <a:bodyPr wrap="square" lIns="91440" tIns="45720" rIns="91440" bIns="45720" anchor="t">
            <a:spAutoFit/>
          </a:bodyPr>
          <a:lstStyle/>
          <a:p>
            <a:pPr algn="l">
              <a:buFont typeface="Arial" panose="020B0604020202020204" pitchFamily="34" charset="0"/>
              <a:buChar char="•"/>
            </a:pPr>
            <a:r>
              <a:rPr lang="en-US" b="0" i="0" dirty="0">
                <a:solidFill>
                  <a:srgbClr val="475569"/>
                </a:solidFill>
                <a:effectLst/>
                <a:latin typeface="Urbanist"/>
              </a:rPr>
              <a:t>Randomly selects a subset (</a:t>
            </a:r>
            <a:r>
              <a:rPr lang="en-US" b="0" i="1" err="1">
                <a:solidFill>
                  <a:srgbClr val="475569"/>
                </a:solidFill>
                <a:effectLst/>
                <a:latin typeface="Urbanist"/>
              </a:rPr>
              <a:t>tp</a:t>
            </a:r>
            <a:r>
              <a:rPr lang="en-US" b="0" i="1" dirty="0">
                <a:solidFill>
                  <a:srgbClr val="475569"/>
                </a:solidFill>
                <a:effectLst/>
                <a:latin typeface="Urbanist"/>
              </a:rPr>
              <a:t>%</a:t>
            </a:r>
            <a:r>
              <a:rPr lang="en-US" b="0" i="0" dirty="0">
                <a:solidFill>
                  <a:srgbClr val="475569"/>
                </a:solidFill>
                <a:effectLst/>
                <a:latin typeface="Urbanist"/>
              </a:rPr>
              <a:t>) of </a:t>
            </a:r>
            <a:r>
              <a:rPr lang="en-US" b="0" i="0">
                <a:solidFill>
                  <a:srgbClr val="475569"/>
                </a:solidFill>
                <a:effectLst/>
                <a:latin typeface="Urbanist"/>
              </a:rPr>
              <a:t>timeslots.</a:t>
            </a:r>
            <a:endParaRPr lang="en-US"/>
          </a:p>
        </p:txBody>
      </p:sp>
      <p:sp>
        <p:nvSpPr>
          <p:cNvPr id="18" name="TextBox 17">
            <a:extLst>
              <a:ext uri="{FF2B5EF4-FFF2-40B4-BE49-F238E27FC236}">
                <a16:creationId xmlns:a16="http://schemas.microsoft.com/office/drawing/2014/main" id="{5D474FFA-3D7E-4CC1-5ABE-947BFE6122C1}"/>
              </a:ext>
            </a:extLst>
          </p:cNvPr>
          <p:cNvSpPr txBox="1"/>
          <p:nvPr/>
        </p:nvSpPr>
        <p:spPr>
          <a:xfrm>
            <a:off x="2106298" y="3407950"/>
            <a:ext cx="3931444" cy="646331"/>
          </a:xfrm>
          <a:prstGeom prst="rect">
            <a:avLst/>
          </a:prstGeom>
          <a:noFill/>
        </p:spPr>
        <p:txBody>
          <a:bodyPr wrap="square" lIns="91440" tIns="45720" rIns="91440" bIns="45720" anchor="t">
            <a:spAutoFit/>
          </a:bodyPr>
          <a:lstStyle/>
          <a:p>
            <a:pPr algn="l">
              <a:buFont typeface="Arial" panose="020B0604020202020204" pitchFamily="34" charset="0"/>
              <a:buChar char="•"/>
            </a:pPr>
            <a:r>
              <a:rPr lang="en-US" b="0" i="0" dirty="0">
                <a:solidFill>
                  <a:srgbClr val="475569"/>
                </a:solidFill>
                <a:effectLst/>
                <a:latin typeface="Urbanist"/>
              </a:rPr>
              <a:t>Identifies the </a:t>
            </a:r>
            <a:r>
              <a:rPr lang="en-US" b="1" i="0" dirty="0">
                <a:solidFill>
                  <a:srgbClr val="0F172A"/>
                </a:solidFill>
                <a:effectLst/>
                <a:latin typeface="Urbanist"/>
              </a:rPr>
              <a:t>worst-performing slot</a:t>
            </a:r>
            <a:r>
              <a:rPr lang="en-US" b="0" i="0" dirty="0">
                <a:solidFill>
                  <a:srgbClr val="475569"/>
                </a:solidFill>
                <a:effectLst/>
                <a:latin typeface="Urbanist"/>
              </a:rPr>
              <a:t> (</a:t>
            </a:r>
            <a:r>
              <a:rPr lang="en-US" b="0" i="0" dirty="0" err="1">
                <a:solidFill>
                  <a:srgbClr val="475569"/>
                </a:solidFill>
                <a:effectLst/>
                <a:latin typeface="Urbanist"/>
              </a:rPr>
              <a:t>wt</a:t>
            </a:r>
            <a:r>
              <a:rPr lang="en-US" b="0" i="0" dirty="0">
                <a:solidFill>
                  <a:srgbClr val="475569"/>
                </a:solidFill>
                <a:effectLst/>
                <a:latin typeface="Urbanist"/>
              </a:rPr>
              <a:t>).</a:t>
            </a:r>
            <a:endParaRPr lang="en-US" dirty="0"/>
          </a:p>
        </p:txBody>
      </p:sp>
      <p:sp>
        <p:nvSpPr>
          <p:cNvPr id="21" name="TextBox 20">
            <a:extLst>
              <a:ext uri="{FF2B5EF4-FFF2-40B4-BE49-F238E27FC236}">
                <a16:creationId xmlns:a16="http://schemas.microsoft.com/office/drawing/2014/main" id="{69A24F6B-0335-C3FA-4EC4-1BFF25C8D5BA}"/>
              </a:ext>
            </a:extLst>
          </p:cNvPr>
          <p:cNvSpPr txBox="1"/>
          <p:nvPr/>
        </p:nvSpPr>
        <p:spPr>
          <a:xfrm>
            <a:off x="2121072" y="4125565"/>
            <a:ext cx="3682546" cy="646331"/>
          </a:xfrm>
          <a:prstGeom prst="rect">
            <a:avLst/>
          </a:prstGeom>
          <a:noFill/>
        </p:spPr>
        <p:txBody>
          <a:bodyPr wrap="square" lIns="91440" tIns="45720" rIns="91440" bIns="45720" anchor="t">
            <a:spAutoFit/>
          </a:bodyPr>
          <a:lstStyle/>
          <a:p>
            <a:pPr algn="l">
              <a:buFont typeface="Arial" panose="020B0604020202020204" pitchFamily="34" charset="0"/>
              <a:buChar char="•"/>
            </a:pPr>
            <a:r>
              <a:rPr lang="en-US" b="0" i="0" dirty="0">
                <a:solidFill>
                  <a:srgbClr val="475569"/>
                </a:solidFill>
                <a:effectLst/>
                <a:latin typeface="Urbanist"/>
              </a:rPr>
              <a:t>Attempts N1 moves for </a:t>
            </a:r>
            <a:r>
              <a:rPr lang="en-US" b="0" i="1" dirty="0">
                <a:solidFill>
                  <a:srgbClr val="475569"/>
                </a:solidFill>
                <a:effectLst/>
                <a:latin typeface="Urbanist"/>
              </a:rPr>
              <a:t>every</a:t>
            </a:r>
            <a:r>
              <a:rPr lang="en-US" b="0" i="0" dirty="0">
                <a:solidFill>
                  <a:srgbClr val="475569"/>
                </a:solidFill>
                <a:effectLst/>
                <a:latin typeface="Urbanist"/>
              </a:rPr>
              <a:t> event </a:t>
            </a:r>
            <a:r>
              <a:rPr lang="en-US" b="0" i="0">
                <a:solidFill>
                  <a:srgbClr val="475569"/>
                </a:solidFill>
                <a:effectLst/>
                <a:latin typeface="Urbanist"/>
              </a:rPr>
              <a:t>in wt.</a:t>
            </a:r>
            <a:endParaRPr lang="en-US"/>
          </a:p>
        </p:txBody>
      </p:sp>
      <p:sp>
        <p:nvSpPr>
          <p:cNvPr id="23" name="TextBox 22">
            <a:extLst>
              <a:ext uri="{FF2B5EF4-FFF2-40B4-BE49-F238E27FC236}">
                <a16:creationId xmlns:a16="http://schemas.microsoft.com/office/drawing/2014/main" id="{9281A839-C7F9-5B78-A251-A6964B93A6EB}"/>
              </a:ext>
            </a:extLst>
          </p:cNvPr>
          <p:cNvSpPr txBox="1"/>
          <p:nvPr/>
        </p:nvSpPr>
        <p:spPr>
          <a:xfrm>
            <a:off x="2110187" y="4777866"/>
            <a:ext cx="3793952" cy="646331"/>
          </a:xfrm>
          <a:prstGeom prst="rect">
            <a:avLst/>
          </a:prstGeom>
          <a:noFill/>
        </p:spPr>
        <p:txBody>
          <a:bodyPr wrap="square" lIns="91440" tIns="45720" rIns="91440" bIns="45720" anchor="t">
            <a:spAutoFit/>
          </a:bodyPr>
          <a:lstStyle/>
          <a:p>
            <a:pPr algn="l">
              <a:buFont typeface="Arial" panose="020B0604020202020204" pitchFamily="34" charset="0"/>
              <a:buChar char="•"/>
            </a:pPr>
            <a:r>
              <a:rPr lang="en-US" b="0" i="0" dirty="0">
                <a:solidFill>
                  <a:srgbClr val="475569"/>
                </a:solidFill>
                <a:effectLst/>
                <a:latin typeface="Urbanist"/>
              </a:rPr>
              <a:t>Moves are applied only if the </a:t>
            </a:r>
            <a:r>
              <a:rPr lang="en-US" b="1" i="0">
                <a:solidFill>
                  <a:srgbClr val="0F172A"/>
                </a:solidFill>
                <a:effectLst/>
                <a:latin typeface="Urbanist"/>
              </a:rPr>
              <a:t>aggregate penalty</a:t>
            </a:r>
            <a:r>
              <a:rPr lang="en-US" b="0" i="0">
                <a:solidFill>
                  <a:srgbClr val="475569"/>
                </a:solidFill>
                <a:effectLst/>
                <a:latin typeface="Urbanist"/>
              </a:rPr>
              <a:t> decreases.</a:t>
            </a:r>
            <a:endParaRPr lang="en-US"/>
          </a:p>
        </p:txBody>
      </p:sp>
    </p:spTree>
    <p:extLst>
      <p:ext uri="{BB962C8B-B14F-4D97-AF65-F5344CB8AC3E}">
        <p14:creationId xmlns:p14="http://schemas.microsoft.com/office/powerpoint/2010/main" val="6096901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BC53C-40B6-5800-F362-F8C04C8BC6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5F8DBD-D3AC-97DA-5BEE-D7F01600ABFE}"/>
              </a:ext>
            </a:extLst>
          </p:cNvPr>
          <p:cNvSpPr>
            <a:spLocks noGrp="1"/>
          </p:cNvSpPr>
          <p:nvPr>
            <p:ph type="title"/>
          </p:nvPr>
        </p:nvSpPr>
        <p:spPr>
          <a:xfrm>
            <a:off x="2097958" y="18255"/>
            <a:ext cx="9350478" cy="1325563"/>
          </a:xfrm>
        </p:spPr>
        <p:txBody>
          <a:bodyPr/>
          <a:lstStyle/>
          <a:p>
            <a:r>
              <a:rPr lang="en-US" b="1" dirty="0">
                <a:solidFill>
                  <a:srgbClr val="156082"/>
                </a:solidFill>
              </a:rPr>
              <a:t>Steady-State GA Architecture</a:t>
            </a:r>
          </a:p>
        </p:txBody>
      </p:sp>
      <p:sp>
        <p:nvSpPr>
          <p:cNvPr id="7" name="Rectangle 6">
            <a:extLst>
              <a:ext uri="{FF2B5EF4-FFF2-40B4-BE49-F238E27FC236}">
                <a16:creationId xmlns:a16="http://schemas.microsoft.com/office/drawing/2014/main" id="{6A32EA53-5345-CCCD-CABC-FE2FBD51ED8C}"/>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20">
            <a:extLst>
              <a:ext uri="{FF2B5EF4-FFF2-40B4-BE49-F238E27FC236}">
                <a16:creationId xmlns:a16="http://schemas.microsoft.com/office/drawing/2014/main" id="{CE435A3C-B6EB-0380-8B35-D18611356A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0" name="Picture 9">
            <a:extLst>
              <a:ext uri="{FF2B5EF4-FFF2-40B4-BE49-F238E27FC236}">
                <a16:creationId xmlns:a16="http://schemas.microsoft.com/office/drawing/2014/main" id="{D40671F0-3BF3-936B-55E8-177A46051E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1" name="Slide Number Placeholder 10">
            <a:extLst>
              <a:ext uri="{FF2B5EF4-FFF2-40B4-BE49-F238E27FC236}">
                <a16:creationId xmlns:a16="http://schemas.microsoft.com/office/drawing/2014/main" id="{0CF4086B-4C45-0BAC-3021-E8AC651F9D74}"/>
              </a:ext>
            </a:extLst>
          </p:cNvPr>
          <p:cNvSpPr>
            <a:spLocks noGrp="1"/>
          </p:cNvSpPr>
          <p:nvPr>
            <p:ph type="sldNum" sz="quarter" idx="12"/>
          </p:nvPr>
        </p:nvSpPr>
        <p:spPr/>
        <p:txBody>
          <a:bodyPr/>
          <a:lstStyle/>
          <a:p>
            <a:fld id="{FA5D76E8-8AD6-443B-8B81-1688B2EC3502}" type="slidenum">
              <a:rPr lang="en-US" smtClean="0"/>
              <a:t>27</a:t>
            </a:fld>
            <a:endParaRPr lang="en-US"/>
          </a:p>
        </p:txBody>
      </p:sp>
      <p:graphicFrame>
        <p:nvGraphicFramePr>
          <p:cNvPr id="3" name="Table 2">
            <a:extLst>
              <a:ext uri="{FF2B5EF4-FFF2-40B4-BE49-F238E27FC236}">
                <a16:creationId xmlns:a16="http://schemas.microsoft.com/office/drawing/2014/main" id="{792AEDF2-F555-D3A9-A883-AFAA4BC2801E}"/>
              </a:ext>
            </a:extLst>
          </p:cNvPr>
          <p:cNvGraphicFramePr>
            <a:graphicFrameLocks noGrp="1"/>
          </p:cNvGraphicFramePr>
          <p:nvPr>
            <p:extLst>
              <p:ext uri="{D42A27DB-BD31-4B8C-83A1-F6EECF244321}">
                <p14:modId xmlns:p14="http://schemas.microsoft.com/office/powerpoint/2010/main" val="4006943082"/>
              </p:ext>
            </p:extLst>
          </p:nvPr>
        </p:nvGraphicFramePr>
        <p:xfrm>
          <a:off x="2517571" y="1900766"/>
          <a:ext cx="8511252" cy="3585633"/>
        </p:xfrm>
        <a:graphic>
          <a:graphicData uri="http://schemas.openxmlformats.org/drawingml/2006/table">
            <a:tbl>
              <a:tblPr firstRow="1" bandRow="1">
                <a:tableStyleId>{5C22544A-7EE6-4342-B048-85BDC9FD1C3A}</a:tableStyleId>
              </a:tblPr>
              <a:tblGrid>
                <a:gridCol w="2837084">
                  <a:extLst>
                    <a:ext uri="{9D8B030D-6E8A-4147-A177-3AD203B41FA5}">
                      <a16:colId xmlns:a16="http://schemas.microsoft.com/office/drawing/2014/main" val="330725213"/>
                    </a:ext>
                  </a:extLst>
                </a:gridCol>
                <a:gridCol w="2837084">
                  <a:extLst>
                    <a:ext uri="{9D8B030D-6E8A-4147-A177-3AD203B41FA5}">
                      <a16:colId xmlns:a16="http://schemas.microsoft.com/office/drawing/2014/main" val="3354026288"/>
                    </a:ext>
                  </a:extLst>
                </a:gridCol>
                <a:gridCol w="2837084">
                  <a:extLst>
                    <a:ext uri="{9D8B030D-6E8A-4147-A177-3AD203B41FA5}">
                      <a16:colId xmlns:a16="http://schemas.microsoft.com/office/drawing/2014/main" val="1594381404"/>
                    </a:ext>
                  </a:extLst>
                </a:gridCol>
              </a:tblGrid>
              <a:tr h="414820">
                <a:tc>
                  <a:txBody>
                    <a:bodyPr/>
                    <a:lstStyle/>
                    <a:p>
                      <a:r>
                        <a:rPr lang="en-US" dirty="0"/>
                        <a:t>Feature</a:t>
                      </a:r>
                    </a:p>
                  </a:txBody>
                  <a:tcPr/>
                </a:tc>
                <a:tc>
                  <a:txBody>
                    <a:bodyPr/>
                    <a:lstStyle/>
                    <a:p>
                      <a:r>
                        <a:rPr lang="en-US" sz="1800" b="1" i="0" kern="1200" dirty="0">
                          <a:solidFill>
                            <a:schemeClr val="lt1"/>
                          </a:solidFill>
                          <a:effectLst/>
                          <a:latin typeface="+mn-lt"/>
                          <a:ea typeface="+mn-ea"/>
                          <a:cs typeface="+mn-cs"/>
                        </a:rPr>
                        <a:t>Standard GGA</a:t>
                      </a:r>
                      <a:endParaRPr lang="en-US" dirty="0"/>
                    </a:p>
                  </a:txBody>
                  <a:tcPr/>
                </a:tc>
                <a:tc>
                  <a:txBody>
                    <a:bodyPr/>
                    <a:lstStyle/>
                    <a:p>
                      <a:r>
                        <a:rPr lang="en-US" sz="1800" b="1" i="0" kern="1200" dirty="0">
                          <a:solidFill>
                            <a:schemeClr val="lt1"/>
                          </a:solidFill>
                          <a:effectLst/>
                          <a:latin typeface="+mn-lt"/>
                          <a:ea typeface="+mn-ea"/>
                          <a:cs typeface="+mn-cs"/>
                        </a:rPr>
                        <a:t>Steady-State GA (SSGA)</a:t>
                      </a:r>
                      <a:endParaRPr lang="en-US" dirty="0"/>
                    </a:p>
                  </a:txBody>
                  <a:tcPr/>
                </a:tc>
                <a:extLst>
                  <a:ext uri="{0D108BD9-81ED-4DB2-BD59-A6C34878D82A}">
                    <a16:rowId xmlns:a16="http://schemas.microsoft.com/office/drawing/2014/main" val="3292921979"/>
                  </a:ext>
                </a:extLst>
              </a:tr>
              <a:tr h="1022843">
                <a:tc>
                  <a:txBody>
                    <a:bodyPr/>
                    <a:lstStyle/>
                    <a:p>
                      <a:r>
                        <a:rPr lang="en-US" sz="1800" b="0" i="0" kern="1200" dirty="0">
                          <a:solidFill>
                            <a:schemeClr val="dk1"/>
                          </a:solidFill>
                          <a:effectLst/>
                          <a:latin typeface="+mn-lt"/>
                          <a:ea typeface="+mn-ea"/>
                          <a:cs typeface="+mn-cs"/>
                        </a:rPr>
                        <a:t>Replacement</a:t>
                      </a:r>
                      <a:endParaRPr lang="en-US" dirty="0"/>
                    </a:p>
                  </a:txBody>
                  <a:tcPr/>
                </a:tc>
                <a:tc>
                  <a:txBody>
                    <a:bodyPr/>
                    <a:lstStyle/>
                    <a:p>
                      <a:r>
                        <a:rPr lang="en-US" sz="1800" b="0" i="0" kern="1200" dirty="0">
                          <a:solidFill>
                            <a:schemeClr val="dk1"/>
                          </a:solidFill>
                          <a:effectLst/>
                          <a:latin typeface="+mn-lt"/>
                          <a:ea typeface="+mn-ea"/>
                          <a:cs typeface="+mn-cs"/>
                        </a:rPr>
                        <a:t>Mass extinction / Generational</a:t>
                      </a:r>
                      <a:endParaRPr lang="en-US" dirty="0"/>
                    </a:p>
                  </a:txBody>
                  <a:tcPr/>
                </a:tc>
                <a:tc>
                  <a:txBody>
                    <a:bodyPr/>
                    <a:lstStyle/>
                    <a:p>
                      <a:r>
                        <a:rPr lang="en-US" sz="1800" b="0" i="0" kern="1200" dirty="0">
                          <a:solidFill>
                            <a:schemeClr val="dk1"/>
                          </a:solidFill>
                          <a:effectLst/>
                          <a:latin typeface="+mn-lt"/>
                          <a:ea typeface="+mn-ea"/>
                          <a:cs typeface="+mn-cs"/>
                        </a:rPr>
                        <a:t>Worst-member replacement (incremental)</a:t>
                      </a:r>
                      <a:endParaRPr lang="en-US" dirty="0"/>
                    </a:p>
                  </a:txBody>
                  <a:tcPr/>
                </a:tc>
                <a:extLst>
                  <a:ext uri="{0D108BD9-81ED-4DB2-BD59-A6C34878D82A}">
                    <a16:rowId xmlns:a16="http://schemas.microsoft.com/office/drawing/2014/main" val="576280389"/>
                  </a:ext>
                </a:extLst>
              </a:tr>
              <a:tr h="715990">
                <a:tc>
                  <a:txBody>
                    <a:bodyPr/>
                    <a:lstStyle/>
                    <a:p>
                      <a:r>
                        <a:rPr lang="en-US" sz="1800" b="0" i="0" kern="1200" dirty="0">
                          <a:solidFill>
                            <a:schemeClr val="dk1"/>
                          </a:solidFill>
                          <a:effectLst/>
                          <a:latin typeface="+mn-lt"/>
                          <a:ea typeface="+mn-ea"/>
                          <a:cs typeface="+mn-cs"/>
                        </a:rPr>
                        <a:t>Diversity</a:t>
                      </a:r>
                      <a:endParaRPr lang="en-US" dirty="0"/>
                    </a:p>
                  </a:txBody>
                  <a:tcPr/>
                </a:tc>
                <a:tc>
                  <a:txBody>
                    <a:bodyPr/>
                    <a:lstStyle/>
                    <a:p>
                      <a:r>
                        <a:rPr lang="en-US" sz="1800" b="0" i="0" kern="1200" dirty="0">
                          <a:solidFill>
                            <a:schemeClr val="dk1"/>
                          </a:solidFill>
                          <a:effectLst/>
                          <a:latin typeface="+mn-lt"/>
                          <a:ea typeface="+mn-ea"/>
                          <a:cs typeface="+mn-cs"/>
                        </a:rPr>
                        <a:t>High risk of convergence</a:t>
                      </a:r>
                      <a:endParaRPr lang="en-US" dirty="0"/>
                    </a:p>
                  </a:txBody>
                  <a:tcPr/>
                </a:tc>
                <a:tc>
                  <a:txBody>
                    <a:bodyPr/>
                    <a:lstStyle/>
                    <a:p>
                      <a:r>
                        <a:rPr lang="en-US" sz="1800" b="0" i="0" kern="1200" dirty="0">
                          <a:solidFill>
                            <a:schemeClr val="dk1"/>
                          </a:solidFill>
                          <a:effectLst/>
                          <a:latin typeface="+mn-lt"/>
                          <a:ea typeface="+mn-ea"/>
                          <a:cs typeface="+mn-cs"/>
                        </a:rPr>
                        <a:t>Highly stable genetic reservoir</a:t>
                      </a:r>
                      <a:endParaRPr lang="en-US" dirty="0"/>
                    </a:p>
                  </a:txBody>
                  <a:tcPr/>
                </a:tc>
                <a:extLst>
                  <a:ext uri="{0D108BD9-81ED-4DB2-BD59-A6C34878D82A}">
                    <a16:rowId xmlns:a16="http://schemas.microsoft.com/office/drawing/2014/main" val="1131479724"/>
                  </a:ext>
                </a:extLst>
              </a:tr>
              <a:tr h="715990">
                <a:tc>
                  <a:txBody>
                    <a:bodyPr/>
                    <a:lstStyle/>
                    <a:p>
                      <a:r>
                        <a:rPr lang="en-US" sz="1800" b="0" i="0" kern="1200" dirty="0">
                          <a:solidFill>
                            <a:schemeClr val="dk1"/>
                          </a:solidFill>
                          <a:effectLst/>
                          <a:latin typeface="+mn-lt"/>
                          <a:ea typeface="+mn-ea"/>
                          <a:cs typeface="+mn-cs"/>
                        </a:rPr>
                        <a:t>Eval. Cost</a:t>
                      </a:r>
                      <a:endParaRPr lang="en-US" dirty="0"/>
                    </a:p>
                  </a:txBody>
                  <a:tcPr/>
                </a:tc>
                <a:tc>
                  <a:txBody>
                    <a:bodyPr/>
                    <a:lstStyle/>
                    <a:p>
                      <a:r>
                        <a:rPr lang="en-US" sz="1800" b="0" i="0" kern="1200" dirty="0">
                          <a:solidFill>
                            <a:schemeClr val="dk1"/>
                          </a:solidFill>
                          <a:effectLst/>
                          <a:latin typeface="+mn-lt"/>
                          <a:ea typeface="+mn-ea"/>
                          <a:cs typeface="+mn-cs"/>
                        </a:rPr>
                        <a:t>High (Full population)</a:t>
                      </a:r>
                      <a:endParaRPr lang="en-US" dirty="0"/>
                    </a:p>
                  </a:txBody>
                  <a:tcPr/>
                </a:tc>
                <a:tc>
                  <a:txBody>
                    <a:bodyPr/>
                    <a:lstStyle/>
                    <a:p>
                      <a:r>
                        <a:rPr lang="en-US" sz="1800" b="0" i="0" kern="1200" dirty="0">
                          <a:solidFill>
                            <a:schemeClr val="dk1"/>
                          </a:solidFill>
                          <a:effectLst/>
                          <a:latin typeface="+mn-lt"/>
                          <a:ea typeface="+mn-ea"/>
                          <a:cs typeface="+mn-cs"/>
                        </a:rPr>
                        <a:t>Low (Single offspring per cycle)</a:t>
                      </a:r>
                      <a:endParaRPr lang="en-US" dirty="0"/>
                    </a:p>
                  </a:txBody>
                  <a:tcPr/>
                </a:tc>
                <a:extLst>
                  <a:ext uri="{0D108BD9-81ED-4DB2-BD59-A6C34878D82A}">
                    <a16:rowId xmlns:a16="http://schemas.microsoft.com/office/drawing/2014/main" val="1180909015"/>
                  </a:ext>
                </a:extLst>
              </a:tr>
              <a:tr h="715990">
                <a:tc>
                  <a:txBody>
                    <a:bodyPr/>
                    <a:lstStyle/>
                    <a:p>
                      <a:r>
                        <a:rPr lang="en-US" sz="1800" b="0" i="0" kern="1200" dirty="0">
                          <a:solidFill>
                            <a:schemeClr val="dk1"/>
                          </a:solidFill>
                          <a:effectLst/>
                          <a:latin typeface="+mn-lt"/>
                          <a:ea typeface="+mn-ea"/>
                          <a:cs typeface="+mn-cs"/>
                        </a:rPr>
                        <a:t>Best Score</a:t>
                      </a:r>
                      <a:endParaRPr lang="en-US" dirty="0"/>
                    </a:p>
                  </a:txBody>
                  <a:tcPr/>
                </a:tc>
                <a:tc>
                  <a:txBody>
                    <a:bodyPr/>
                    <a:lstStyle/>
                    <a:p>
                      <a:r>
                        <a:rPr lang="en-US" sz="1800" b="0" i="0" kern="1200" dirty="0">
                          <a:solidFill>
                            <a:schemeClr val="dk1"/>
                          </a:solidFill>
                          <a:effectLst/>
                          <a:latin typeface="+mn-lt"/>
                          <a:ea typeface="+mn-ea"/>
                          <a:cs typeface="+mn-cs"/>
                        </a:rPr>
                        <a:t>Can regress</a:t>
                      </a:r>
                      <a:endParaRPr lang="en-US" dirty="0"/>
                    </a:p>
                  </a:txBody>
                  <a:tcPr/>
                </a:tc>
                <a:tc>
                  <a:txBody>
                    <a:bodyPr/>
                    <a:lstStyle/>
                    <a:p>
                      <a:r>
                        <a:rPr lang="en-US" sz="1800" b="0" i="0" kern="1200" dirty="0">
                          <a:solidFill>
                            <a:schemeClr val="dk1"/>
                          </a:solidFill>
                          <a:effectLst/>
                          <a:latin typeface="+mn-lt"/>
                          <a:ea typeface="+mn-ea"/>
                          <a:cs typeface="+mn-cs"/>
                        </a:rPr>
                        <a:t>Monotonically decreasing (Elitist)</a:t>
                      </a:r>
                      <a:endParaRPr lang="en-US" dirty="0"/>
                    </a:p>
                  </a:txBody>
                  <a:tcPr/>
                </a:tc>
                <a:extLst>
                  <a:ext uri="{0D108BD9-81ED-4DB2-BD59-A6C34878D82A}">
                    <a16:rowId xmlns:a16="http://schemas.microsoft.com/office/drawing/2014/main" val="2633582813"/>
                  </a:ext>
                </a:extLst>
              </a:tr>
            </a:tbl>
          </a:graphicData>
        </a:graphic>
      </p:graphicFrame>
    </p:spTree>
    <p:extLst>
      <p:ext uri="{BB962C8B-B14F-4D97-AF65-F5344CB8AC3E}">
        <p14:creationId xmlns:p14="http://schemas.microsoft.com/office/powerpoint/2010/main" val="8434472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BC53C-40B6-5800-F362-F8C04C8BC6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5F8DBD-D3AC-97DA-5BEE-D7F01600ABFE}"/>
              </a:ext>
            </a:extLst>
          </p:cNvPr>
          <p:cNvSpPr>
            <a:spLocks noGrp="1"/>
          </p:cNvSpPr>
          <p:nvPr>
            <p:ph type="title"/>
          </p:nvPr>
        </p:nvSpPr>
        <p:spPr>
          <a:xfrm>
            <a:off x="2097958" y="18255"/>
            <a:ext cx="9350478" cy="1325563"/>
          </a:xfrm>
        </p:spPr>
        <p:txBody>
          <a:bodyPr/>
          <a:lstStyle/>
          <a:p>
            <a:r>
              <a:rPr lang="en-US" b="1" dirty="0">
                <a:solidFill>
                  <a:srgbClr val="156082"/>
                </a:solidFill>
              </a:rPr>
              <a:t>The Memetic Integration Loop</a:t>
            </a:r>
          </a:p>
        </p:txBody>
      </p:sp>
      <p:sp>
        <p:nvSpPr>
          <p:cNvPr id="7" name="Rectangle 6">
            <a:extLst>
              <a:ext uri="{FF2B5EF4-FFF2-40B4-BE49-F238E27FC236}">
                <a16:creationId xmlns:a16="http://schemas.microsoft.com/office/drawing/2014/main" id="{6A32EA53-5345-CCCD-CABC-FE2FBD51ED8C}"/>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20">
            <a:extLst>
              <a:ext uri="{FF2B5EF4-FFF2-40B4-BE49-F238E27FC236}">
                <a16:creationId xmlns:a16="http://schemas.microsoft.com/office/drawing/2014/main" id="{CE435A3C-B6EB-0380-8B35-D18611356A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0" name="Picture 9">
            <a:extLst>
              <a:ext uri="{FF2B5EF4-FFF2-40B4-BE49-F238E27FC236}">
                <a16:creationId xmlns:a16="http://schemas.microsoft.com/office/drawing/2014/main" id="{D40671F0-3BF3-936B-55E8-177A46051E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1" name="Slide Number Placeholder 10">
            <a:extLst>
              <a:ext uri="{FF2B5EF4-FFF2-40B4-BE49-F238E27FC236}">
                <a16:creationId xmlns:a16="http://schemas.microsoft.com/office/drawing/2014/main" id="{0CF4086B-4C45-0BAC-3021-E8AC651F9D74}"/>
              </a:ext>
            </a:extLst>
          </p:cNvPr>
          <p:cNvSpPr>
            <a:spLocks noGrp="1"/>
          </p:cNvSpPr>
          <p:nvPr>
            <p:ph type="sldNum" sz="quarter" idx="12"/>
          </p:nvPr>
        </p:nvSpPr>
        <p:spPr/>
        <p:txBody>
          <a:bodyPr/>
          <a:lstStyle/>
          <a:p>
            <a:fld id="{FA5D76E8-8AD6-443B-8B81-1688B2EC3502}" type="slidenum">
              <a:rPr lang="en-US" smtClean="0"/>
              <a:t>28</a:t>
            </a:fld>
            <a:endParaRPr lang="en-US"/>
          </a:p>
        </p:txBody>
      </p:sp>
      <p:sp>
        <p:nvSpPr>
          <p:cNvPr id="4" name="Rectangle: Rounded Corners 3">
            <a:extLst>
              <a:ext uri="{FF2B5EF4-FFF2-40B4-BE49-F238E27FC236}">
                <a16:creationId xmlns:a16="http://schemas.microsoft.com/office/drawing/2014/main" id="{3FFDB20D-6722-ADAF-2CEC-D65F58D41A3D}"/>
              </a:ext>
            </a:extLst>
          </p:cNvPr>
          <p:cNvSpPr/>
          <p:nvPr/>
        </p:nvSpPr>
        <p:spPr>
          <a:xfrm>
            <a:off x="2400300" y="2714625"/>
            <a:ext cx="2105025" cy="1552575"/>
          </a:xfrm>
          <a:prstGeom prst="roundRect">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5" name="Rectangle: Rounded Corners 4">
            <a:extLst>
              <a:ext uri="{FF2B5EF4-FFF2-40B4-BE49-F238E27FC236}">
                <a16:creationId xmlns:a16="http://schemas.microsoft.com/office/drawing/2014/main" id="{184AF1DD-945D-8659-4569-DBA68663E541}"/>
              </a:ext>
            </a:extLst>
          </p:cNvPr>
          <p:cNvSpPr/>
          <p:nvPr/>
        </p:nvSpPr>
        <p:spPr>
          <a:xfrm>
            <a:off x="4857750" y="2714625"/>
            <a:ext cx="2105025" cy="1552575"/>
          </a:xfrm>
          <a:prstGeom prst="roundRect">
            <a:avLst/>
          </a:prstGeom>
          <a:solidFill>
            <a:schemeClr val="bg1"/>
          </a:solidFill>
          <a:ln w="28575">
            <a:solidFill>
              <a:srgbClr val="25BF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FC9CB84-8BE3-21EB-138A-855431370425}"/>
              </a:ext>
            </a:extLst>
          </p:cNvPr>
          <p:cNvSpPr/>
          <p:nvPr/>
        </p:nvSpPr>
        <p:spPr>
          <a:xfrm>
            <a:off x="7315200" y="2714624"/>
            <a:ext cx="2105025" cy="1552575"/>
          </a:xfrm>
          <a:prstGeom prst="roundRect">
            <a:avLst/>
          </a:prstGeom>
          <a:solidFill>
            <a:schemeClr val="bg1"/>
          </a:solidFill>
          <a:ln w="28575">
            <a:solidFill>
              <a:srgbClr val="FFCC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CA3CDB12-551C-D4B4-2B03-168929AECFBB}"/>
              </a:ext>
            </a:extLst>
          </p:cNvPr>
          <p:cNvSpPr/>
          <p:nvPr/>
        </p:nvSpPr>
        <p:spPr>
          <a:xfrm>
            <a:off x="9772650" y="2714624"/>
            <a:ext cx="2105025" cy="1552575"/>
          </a:xfrm>
          <a:prstGeom prst="roundRect">
            <a:avLst/>
          </a:prstGeom>
          <a:solidFill>
            <a:schemeClr val="bg1"/>
          </a:solid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13" name="TextBox 12">
            <a:extLst>
              <a:ext uri="{FF2B5EF4-FFF2-40B4-BE49-F238E27FC236}">
                <a16:creationId xmlns:a16="http://schemas.microsoft.com/office/drawing/2014/main" id="{AE5D9461-B52A-12A3-DBFE-1C1958B7DBE9}"/>
              </a:ext>
            </a:extLst>
          </p:cNvPr>
          <p:cNvSpPr txBox="1"/>
          <p:nvPr/>
        </p:nvSpPr>
        <p:spPr>
          <a:xfrm>
            <a:off x="3039666" y="2815709"/>
            <a:ext cx="826294" cy="369332"/>
          </a:xfrm>
          <a:prstGeom prst="rect">
            <a:avLst/>
          </a:prstGeom>
          <a:noFill/>
        </p:spPr>
        <p:txBody>
          <a:bodyPr wrap="square">
            <a:spAutoFit/>
          </a:bodyPr>
          <a:lstStyle/>
          <a:p>
            <a:pPr algn="ctr"/>
            <a:r>
              <a:rPr lang="en-US" b="1" i="0" dirty="0">
                <a:solidFill>
                  <a:srgbClr val="156082"/>
                </a:solidFill>
                <a:effectLst/>
                <a:latin typeface="Urbanist"/>
              </a:rPr>
              <a:t>Init</a:t>
            </a:r>
          </a:p>
        </p:txBody>
      </p:sp>
      <p:sp>
        <p:nvSpPr>
          <p:cNvPr id="15" name="TextBox 14">
            <a:extLst>
              <a:ext uri="{FF2B5EF4-FFF2-40B4-BE49-F238E27FC236}">
                <a16:creationId xmlns:a16="http://schemas.microsoft.com/office/drawing/2014/main" id="{52B8303A-3A41-6ECB-3C46-55B605DE6A64}"/>
              </a:ext>
            </a:extLst>
          </p:cNvPr>
          <p:cNvSpPr txBox="1"/>
          <p:nvPr/>
        </p:nvSpPr>
        <p:spPr>
          <a:xfrm>
            <a:off x="2489020" y="3228201"/>
            <a:ext cx="2016305" cy="923330"/>
          </a:xfrm>
          <a:prstGeom prst="rect">
            <a:avLst/>
          </a:prstGeom>
          <a:noFill/>
        </p:spPr>
        <p:txBody>
          <a:bodyPr wrap="square" lIns="91440" tIns="45720" rIns="91440" bIns="45720" anchor="t">
            <a:spAutoFit/>
          </a:bodyPr>
          <a:lstStyle/>
          <a:p>
            <a:pPr algn="ctr"/>
            <a:r>
              <a:rPr lang="en-US" b="0" i="0" dirty="0">
                <a:solidFill>
                  <a:srgbClr val="475569"/>
                </a:solidFill>
                <a:effectLst/>
                <a:latin typeface="Urbanist"/>
              </a:rPr>
              <a:t>Randomly initialize population and </a:t>
            </a:r>
            <a:r>
              <a:rPr lang="en-US" b="0" i="0">
                <a:solidFill>
                  <a:srgbClr val="475569"/>
                </a:solidFill>
                <a:effectLst/>
                <a:latin typeface="Urbanist"/>
              </a:rPr>
              <a:t>rooms.</a:t>
            </a:r>
            <a:endParaRPr lang="en-US"/>
          </a:p>
        </p:txBody>
      </p:sp>
      <p:sp>
        <p:nvSpPr>
          <p:cNvPr id="17" name="TextBox 16">
            <a:extLst>
              <a:ext uri="{FF2B5EF4-FFF2-40B4-BE49-F238E27FC236}">
                <a16:creationId xmlns:a16="http://schemas.microsoft.com/office/drawing/2014/main" id="{B046F035-7F1C-F64E-9E7C-394105B32256}"/>
              </a:ext>
            </a:extLst>
          </p:cNvPr>
          <p:cNvSpPr txBox="1"/>
          <p:nvPr/>
        </p:nvSpPr>
        <p:spPr>
          <a:xfrm>
            <a:off x="5430440" y="2815709"/>
            <a:ext cx="959644" cy="369332"/>
          </a:xfrm>
          <a:prstGeom prst="rect">
            <a:avLst/>
          </a:prstGeom>
          <a:noFill/>
        </p:spPr>
        <p:txBody>
          <a:bodyPr wrap="square">
            <a:spAutoFit/>
          </a:bodyPr>
          <a:lstStyle/>
          <a:p>
            <a:pPr algn="ctr"/>
            <a:r>
              <a:rPr lang="en-US" b="1" i="0" dirty="0">
                <a:solidFill>
                  <a:srgbClr val="10B981"/>
                </a:solidFill>
                <a:effectLst/>
                <a:latin typeface="Urbanist"/>
              </a:rPr>
              <a:t>Refine</a:t>
            </a:r>
          </a:p>
        </p:txBody>
      </p:sp>
      <p:sp>
        <p:nvSpPr>
          <p:cNvPr id="19" name="TextBox 18">
            <a:extLst>
              <a:ext uri="{FF2B5EF4-FFF2-40B4-BE49-F238E27FC236}">
                <a16:creationId xmlns:a16="http://schemas.microsoft.com/office/drawing/2014/main" id="{FBA46269-F3AE-8857-3825-F50383011ACC}"/>
              </a:ext>
            </a:extLst>
          </p:cNvPr>
          <p:cNvSpPr txBox="1"/>
          <p:nvPr/>
        </p:nvSpPr>
        <p:spPr>
          <a:xfrm>
            <a:off x="4857750" y="3286125"/>
            <a:ext cx="2188369" cy="646331"/>
          </a:xfrm>
          <a:prstGeom prst="rect">
            <a:avLst/>
          </a:prstGeom>
          <a:noFill/>
        </p:spPr>
        <p:txBody>
          <a:bodyPr wrap="square" lIns="91440" tIns="45720" rIns="91440" bIns="45720" anchor="t">
            <a:spAutoFit/>
          </a:bodyPr>
          <a:lstStyle/>
          <a:p>
            <a:pPr algn="ctr"/>
            <a:r>
              <a:rPr lang="en-US" b="0" i="0" dirty="0">
                <a:solidFill>
                  <a:srgbClr val="475569"/>
                </a:solidFill>
                <a:effectLst/>
                <a:latin typeface="Urbanist"/>
              </a:rPr>
              <a:t>Apply LS1 &amp; LS2 to initial</a:t>
            </a:r>
            <a:r>
              <a:rPr lang="en-US" b="0" i="0">
                <a:solidFill>
                  <a:srgbClr val="475569"/>
                </a:solidFill>
                <a:effectLst/>
                <a:latin typeface="Urbanist"/>
              </a:rPr>
              <a:t> population.</a:t>
            </a:r>
            <a:endParaRPr lang="en-US"/>
          </a:p>
        </p:txBody>
      </p:sp>
      <p:sp>
        <p:nvSpPr>
          <p:cNvPr id="21" name="TextBox 20">
            <a:extLst>
              <a:ext uri="{FF2B5EF4-FFF2-40B4-BE49-F238E27FC236}">
                <a16:creationId xmlns:a16="http://schemas.microsoft.com/office/drawing/2014/main" id="{794F1483-6AFF-29AA-F007-C05D4A5F2BEE}"/>
              </a:ext>
            </a:extLst>
          </p:cNvPr>
          <p:cNvSpPr txBox="1"/>
          <p:nvPr/>
        </p:nvSpPr>
        <p:spPr>
          <a:xfrm>
            <a:off x="7806927" y="2809875"/>
            <a:ext cx="1121569" cy="375166"/>
          </a:xfrm>
          <a:prstGeom prst="rect">
            <a:avLst/>
          </a:prstGeom>
          <a:noFill/>
        </p:spPr>
        <p:txBody>
          <a:bodyPr wrap="square">
            <a:spAutoFit/>
          </a:bodyPr>
          <a:lstStyle/>
          <a:p>
            <a:pPr algn="ctr"/>
            <a:r>
              <a:rPr lang="en-US" b="1" i="0" dirty="0">
                <a:solidFill>
                  <a:srgbClr val="FFCC66"/>
                </a:solidFill>
                <a:effectLst/>
                <a:latin typeface="Urbanist"/>
              </a:rPr>
              <a:t>Evolve</a:t>
            </a:r>
          </a:p>
        </p:txBody>
      </p:sp>
      <p:sp>
        <p:nvSpPr>
          <p:cNvPr id="23" name="TextBox 22">
            <a:extLst>
              <a:ext uri="{FF2B5EF4-FFF2-40B4-BE49-F238E27FC236}">
                <a16:creationId xmlns:a16="http://schemas.microsoft.com/office/drawing/2014/main" id="{970ACB08-2CD7-8CAF-AC5A-58EE13A42322}"/>
              </a:ext>
            </a:extLst>
          </p:cNvPr>
          <p:cNvSpPr txBox="1"/>
          <p:nvPr/>
        </p:nvSpPr>
        <p:spPr>
          <a:xfrm>
            <a:off x="7315201" y="3228201"/>
            <a:ext cx="2105024" cy="830997"/>
          </a:xfrm>
          <a:prstGeom prst="rect">
            <a:avLst/>
          </a:prstGeom>
          <a:noFill/>
        </p:spPr>
        <p:txBody>
          <a:bodyPr wrap="square" lIns="91440" tIns="45720" rIns="91440" bIns="45720" anchor="t">
            <a:spAutoFit/>
          </a:bodyPr>
          <a:lstStyle/>
          <a:p>
            <a:pPr algn="ctr"/>
            <a:r>
              <a:rPr lang="en-US" sz="1600" b="0" i="0" dirty="0">
                <a:solidFill>
                  <a:srgbClr val="475569"/>
                </a:solidFill>
                <a:effectLst/>
                <a:latin typeface="Urbanist"/>
              </a:rPr>
              <a:t>Binary Tournament, X-over (Pc = 0.8), </a:t>
            </a:r>
            <a:r>
              <a:rPr lang="en-US" sz="1600" b="0" i="0">
                <a:solidFill>
                  <a:srgbClr val="475569"/>
                </a:solidFill>
                <a:effectLst/>
                <a:latin typeface="Urbanist"/>
              </a:rPr>
              <a:t>Mutation (Pm = 0.5).</a:t>
            </a:r>
            <a:endParaRPr lang="en-US"/>
          </a:p>
        </p:txBody>
      </p:sp>
      <p:sp>
        <p:nvSpPr>
          <p:cNvPr id="25" name="TextBox 24">
            <a:extLst>
              <a:ext uri="{FF2B5EF4-FFF2-40B4-BE49-F238E27FC236}">
                <a16:creationId xmlns:a16="http://schemas.microsoft.com/office/drawing/2014/main" id="{2CE02CCD-EB10-66B7-F620-3E5302909DE8}"/>
              </a:ext>
            </a:extLst>
          </p:cNvPr>
          <p:cNvSpPr txBox="1"/>
          <p:nvPr/>
        </p:nvSpPr>
        <p:spPr>
          <a:xfrm>
            <a:off x="10092927" y="2809875"/>
            <a:ext cx="1464469" cy="375166"/>
          </a:xfrm>
          <a:prstGeom prst="rect">
            <a:avLst/>
          </a:prstGeom>
          <a:noFill/>
        </p:spPr>
        <p:txBody>
          <a:bodyPr wrap="square">
            <a:spAutoFit/>
          </a:bodyPr>
          <a:lstStyle/>
          <a:p>
            <a:pPr algn="ctr"/>
            <a:r>
              <a:rPr lang="en-US" b="1" i="0" dirty="0">
                <a:solidFill>
                  <a:srgbClr val="C00000"/>
                </a:solidFill>
                <a:effectLst/>
                <a:latin typeface="Urbanist"/>
              </a:rPr>
              <a:t>Replace</a:t>
            </a:r>
          </a:p>
        </p:txBody>
      </p:sp>
      <p:sp>
        <p:nvSpPr>
          <p:cNvPr id="27" name="TextBox 26">
            <a:extLst>
              <a:ext uri="{FF2B5EF4-FFF2-40B4-BE49-F238E27FC236}">
                <a16:creationId xmlns:a16="http://schemas.microsoft.com/office/drawing/2014/main" id="{6234FEEE-DDF9-5ADF-D6EA-4392251DCEC9}"/>
              </a:ext>
            </a:extLst>
          </p:cNvPr>
          <p:cNvSpPr txBox="1"/>
          <p:nvPr/>
        </p:nvSpPr>
        <p:spPr>
          <a:xfrm>
            <a:off x="9672041" y="3215164"/>
            <a:ext cx="2306240" cy="923330"/>
          </a:xfrm>
          <a:prstGeom prst="rect">
            <a:avLst/>
          </a:prstGeom>
          <a:noFill/>
        </p:spPr>
        <p:txBody>
          <a:bodyPr wrap="square" lIns="91440" tIns="45720" rIns="91440" bIns="45720" anchor="t">
            <a:spAutoFit/>
          </a:bodyPr>
          <a:lstStyle/>
          <a:p>
            <a:pPr algn="ctr"/>
            <a:r>
              <a:rPr lang="en-US" b="0" i="0" dirty="0">
                <a:solidFill>
                  <a:srgbClr val="475569"/>
                </a:solidFill>
                <a:effectLst/>
                <a:latin typeface="Urbanist"/>
              </a:rPr>
              <a:t>Improve child via LS and inject into SSGA </a:t>
            </a:r>
            <a:r>
              <a:rPr lang="en-US" b="0" i="0">
                <a:solidFill>
                  <a:srgbClr val="475569"/>
                </a:solidFill>
                <a:effectLst/>
                <a:latin typeface="Urbanist"/>
              </a:rPr>
              <a:t>pool.</a:t>
            </a:r>
            <a:endParaRPr lang="en-US"/>
          </a:p>
        </p:txBody>
      </p:sp>
    </p:spTree>
    <p:extLst>
      <p:ext uri="{BB962C8B-B14F-4D97-AF65-F5344CB8AC3E}">
        <p14:creationId xmlns:p14="http://schemas.microsoft.com/office/powerpoint/2010/main" val="4076566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BC53C-40B6-5800-F362-F8C04C8BC6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5F8DBD-D3AC-97DA-5BEE-D7F01600ABFE}"/>
              </a:ext>
            </a:extLst>
          </p:cNvPr>
          <p:cNvSpPr>
            <a:spLocks noGrp="1"/>
          </p:cNvSpPr>
          <p:nvPr>
            <p:ph type="title"/>
          </p:nvPr>
        </p:nvSpPr>
        <p:spPr>
          <a:xfrm>
            <a:off x="2097958" y="18255"/>
            <a:ext cx="9350478" cy="1325563"/>
          </a:xfrm>
        </p:spPr>
        <p:txBody>
          <a:bodyPr/>
          <a:lstStyle/>
          <a:p>
            <a:r>
              <a:rPr lang="en-US" b="1" dirty="0">
                <a:solidFill>
                  <a:srgbClr val="156082"/>
                </a:solidFill>
              </a:rPr>
              <a:t>Performance Enhancements</a:t>
            </a:r>
          </a:p>
        </p:txBody>
      </p:sp>
      <p:sp>
        <p:nvSpPr>
          <p:cNvPr id="7" name="Rectangle 6">
            <a:extLst>
              <a:ext uri="{FF2B5EF4-FFF2-40B4-BE49-F238E27FC236}">
                <a16:creationId xmlns:a16="http://schemas.microsoft.com/office/drawing/2014/main" id="{6A32EA53-5345-CCCD-CABC-FE2FBD51ED8C}"/>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20">
            <a:extLst>
              <a:ext uri="{FF2B5EF4-FFF2-40B4-BE49-F238E27FC236}">
                <a16:creationId xmlns:a16="http://schemas.microsoft.com/office/drawing/2014/main" id="{CE435A3C-B6EB-0380-8B35-D18611356A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0" name="Picture 9">
            <a:extLst>
              <a:ext uri="{FF2B5EF4-FFF2-40B4-BE49-F238E27FC236}">
                <a16:creationId xmlns:a16="http://schemas.microsoft.com/office/drawing/2014/main" id="{D40671F0-3BF3-936B-55E8-177A46051E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1" name="Slide Number Placeholder 10">
            <a:extLst>
              <a:ext uri="{FF2B5EF4-FFF2-40B4-BE49-F238E27FC236}">
                <a16:creationId xmlns:a16="http://schemas.microsoft.com/office/drawing/2014/main" id="{0CF4086B-4C45-0BAC-3021-E8AC651F9D74}"/>
              </a:ext>
            </a:extLst>
          </p:cNvPr>
          <p:cNvSpPr>
            <a:spLocks noGrp="1"/>
          </p:cNvSpPr>
          <p:nvPr>
            <p:ph type="sldNum" sz="quarter" idx="12"/>
          </p:nvPr>
        </p:nvSpPr>
        <p:spPr/>
        <p:txBody>
          <a:bodyPr/>
          <a:lstStyle/>
          <a:p>
            <a:fld id="{FA5D76E8-8AD6-443B-8B81-1688B2EC3502}" type="slidenum">
              <a:rPr lang="en-US" smtClean="0"/>
              <a:t>29</a:t>
            </a:fld>
            <a:endParaRPr lang="en-US"/>
          </a:p>
        </p:txBody>
      </p:sp>
      <p:pic>
        <p:nvPicPr>
          <p:cNvPr id="3074" name="Picture 2" descr="Memory architecture diagram">
            <a:extLst>
              <a:ext uri="{FF2B5EF4-FFF2-40B4-BE49-F238E27FC236}">
                <a16:creationId xmlns:a16="http://schemas.microsoft.com/office/drawing/2014/main" id="{FD27D549-0C3A-F8B0-39B0-9F07D726F6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7958" y="1660999"/>
            <a:ext cx="3152775" cy="437817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52A81068-14F8-987D-F202-3F209A5170EA}"/>
              </a:ext>
            </a:extLst>
          </p:cNvPr>
          <p:cNvSpPr txBox="1"/>
          <p:nvPr/>
        </p:nvSpPr>
        <p:spPr>
          <a:xfrm>
            <a:off x="7569314" y="1645585"/>
            <a:ext cx="2946286" cy="369332"/>
          </a:xfrm>
          <a:prstGeom prst="rect">
            <a:avLst/>
          </a:prstGeom>
          <a:noFill/>
        </p:spPr>
        <p:txBody>
          <a:bodyPr wrap="square" lIns="91440" tIns="45720" rIns="91440" bIns="45720" anchor="t">
            <a:spAutoFit/>
          </a:bodyPr>
          <a:lstStyle/>
          <a:p>
            <a:pPr algn="l"/>
            <a:r>
              <a:rPr lang="en-US" b="1" i="0" dirty="0">
                <a:solidFill>
                  <a:srgbClr val="0F172A"/>
                </a:solidFill>
                <a:effectLst/>
                <a:latin typeface="Urbanist"/>
              </a:rPr>
              <a:t> Zero-Allocation Design</a:t>
            </a:r>
            <a:endParaRPr lang="en-US" dirty="0"/>
          </a:p>
        </p:txBody>
      </p:sp>
      <p:sp>
        <p:nvSpPr>
          <p:cNvPr id="16" name="TextBox 15">
            <a:extLst>
              <a:ext uri="{FF2B5EF4-FFF2-40B4-BE49-F238E27FC236}">
                <a16:creationId xmlns:a16="http://schemas.microsoft.com/office/drawing/2014/main" id="{B3843DEE-059E-E42F-9144-CAA17B954909}"/>
              </a:ext>
            </a:extLst>
          </p:cNvPr>
          <p:cNvSpPr txBox="1"/>
          <p:nvPr/>
        </p:nvSpPr>
        <p:spPr>
          <a:xfrm>
            <a:off x="7136606" y="2052822"/>
            <a:ext cx="3945731" cy="923330"/>
          </a:xfrm>
          <a:prstGeom prst="rect">
            <a:avLst/>
          </a:prstGeom>
          <a:noFill/>
        </p:spPr>
        <p:txBody>
          <a:bodyPr wrap="square" lIns="91440" tIns="45720" rIns="91440" bIns="45720" anchor="t">
            <a:spAutoFit/>
          </a:bodyPr>
          <a:lstStyle/>
          <a:p>
            <a:pPr algn="l"/>
            <a:r>
              <a:rPr lang="en-US" b="0" i="0" dirty="0">
                <a:solidFill>
                  <a:srgbClr val="475569"/>
                </a:solidFill>
                <a:effectLst/>
                <a:latin typeface="Urbanist"/>
              </a:rPr>
              <a:t>Contiguous </a:t>
            </a:r>
            <a:r>
              <a:rPr lang="en-US" b="0" i="1" dirty="0">
                <a:solidFill>
                  <a:srgbClr val="475569"/>
                </a:solidFill>
                <a:effectLst/>
                <a:latin typeface="Urbanist"/>
              </a:rPr>
              <a:t>int16_t</a:t>
            </a:r>
            <a:r>
              <a:rPr lang="en-US" b="0" i="0" dirty="0">
                <a:solidFill>
                  <a:srgbClr val="475569"/>
                </a:solidFill>
                <a:effectLst/>
                <a:latin typeface="Urbanist"/>
              </a:rPr>
              <a:t> arrays maximize CPU cache hit rates, avoiding garbage collection overhead.</a:t>
            </a:r>
            <a:endParaRPr lang="en-US" dirty="0"/>
          </a:p>
        </p:txBody>
      </p:sp>
      <p:pic>
        <p:nvPicPr>
          <p:cNvPr id="20" name="Picture 19">
            <a:extLst>
              <a:ext uri="{FF2B5EF4-FFF2-40B4-BE49-F238E27FC236}">
                <a16:creationId xmlns:a16="http://schemas.microsoft.com/office/drawing/2014/main" id="{5D65F573-C034-E6B0-71A0-2A38DDF202D6}"/>
              </a:ext>
            </a:extLst>
          </p:cNvPr>
          <p:cNvPicPr>
            <a:picLocks noChangeAspect="1"/>
          </p:cNvPicPr>
          <p:nvPr/>
        </p:nvPicPr>
        <p:blipFill>
          <a:blip r:embed="rId5"/>
          <a:stretch>
            <a:fillRect/>
          </a:stretch>
        </p:blipFill>
        <p:spPr>
          <a:xfrm>
            <a:off x="7190276" y="1591157"/>
            <a:ext cx="395103" cy="395103"/>
          </a:xfrm>
          <a:prstGeom prst="rect">
            <a:avLst/>
          </a:prstGeom>
        </p:spPr>
      </p:pic>
      <p:sp>
        <p:nvSpPr>
          <p:cNvPr id="24" name="TextBox 23">
            <a:extLst>
              <a:ext uri="{FF2B5EF4-FFF2-40B4-BE49-F238E27FC236}">
                <a16:creationId xmlns:a16="http://schemas.microsoft.com/office/drawing/2014/main" id="{34B25209-B220-5648-0BC3-DD4DF0ADBB9F}"/>
              </a:ext>
            </a:extLst>
          </p:cNvPr>
          <p:cNvSpPr txBox="1"/>
          <p:nvPr/>
        </p:nvSpPr>
        <p:spPr>
          <a:xfrm>
            <a:off x="7590575" y="3234376"/>
            <a:ext cx="2094479" cy="369332"/>
          </a:xfrm>
          <a:prstGeom prst="rect">
            <a:avLst/>
          </a:prstGeom>
          <a:noFill/>
        </p:spPr>
        <p:txBody>
          <a:bodyPr wrap="square">
            <a:spAutoFit/>
          </a:bodyPr>
          <a:lstStyle/>
          <a:p>
            <a:pPr algn="l"/>
            <a:r>
              <a:rPr lang="en-US" b="1" i="0" dirty="0">
                <a:solidFill>
                  <a:srgbClr val="0F172A"/>
                </a:solidFill>
                <a:effectLst/>
                <a:latin typeface="Urbanist"/>
              </a:rPr>
              <a:t>Delta Evaluation</a:t>
            </a:r>
          </a:p>
        </p:txBody>
      </p:sp>
      <p:sp>
        <p:nvSpPr>
          <p:cNvPr id="28" name="TextBox 27">
            <a:extLst>
              <a:ext uri="{FF2B5EF4-FFF2-40B4-BE49-F238E27FC236}">
                <a16:creationId xmlns:a16="http://schemas.microsoft.com/office/drawing/2014/main" id="{B020C2EF-1C9F-2C0D-F262-1A694B025537}"/>
              </a:ext>
            </a:extLst>
          </p:cNvPr>
          <p:cNvSpPr txBox="1"/>
          <p:nvPr/>
        </p:nvSpPr>
        <p:spPr>
          <a:xfrm>
            <a:off x="7190276" y="3629745"/>
            <a:ext cx="3945731" cy="923330"/>
          </a:xfrm>
          <a:prstGeom prst="rect">
            <a:avLst/>
          </a:prstGeom>
          <a:noFill/>
        </p:spPr>
        <p:txBody>
          <a:bodyPr wrap="square" lIns="91440" tIns="45720" rIns="91440" bIns="45720" anchor="t">
            <a:spAutoFit/>
          </a:bodyPr>
          <a:lstStyle/>
          <a:p>
            <a:r>
              <a:rPr lang="en-US" b="0" i="0" dirty="0">
                <a:solidFill>
                  <a:srgbClr val="475569"/>
                </a:solidFill>
                <a:effectLst/>
                <a:latin typeface="Urbanist"/>
              </a:rPr>
              <a:t>Computes localized impact of moves in constant time, bypassing heavy bipartite </a:t>
            </a:r>
            <a:r>
              <a:rPr lang="en-US" b="0" i="0">
                <a:solidFill>
                  <a:srgbClr val="475569"/>
                </a:solidFill>
                <a:effectLst/>
                <a:latin typeface="Urbanist"/>
              </a:rPr>
              <a:t>math for 99% </a:t>
            </a:r>
            <a:r>
              <a:rPr lang="en-US">
                <a:solidFill>
                  <a:srgbClr val="475569"/>
                </a:solidFill>
                <a:latin typeface="Urbanist"/>
              </a:rPr>
              <a:t>of explorations</a:t>
            </a:r>
            <a:r>
              <a:rPr lang="en-US" b="0" i="0">
                <a:solidFill>
                  <a:srgbClr val="475569"/>
                </a:solidFill>
                <a:effectLst/>
                <a:latin typeface="Urbanist"/>
              </a:rPr>
              <a:t>.</a:t>
            </a:r>
            <a:endParaRPr lang="en-US"/>
          </a:p>
        </p:txBody>
      </p:sp>
      <p:pic>
        <p:nvPicPr>
          <p:cNvPr id="30" name="Picture 29">
            <a:extLst>
              <a:ext uri="{FF2B5EF4-FFF2-40B4-BE49-F238E27FC236}">
                <a16:creationId xmlns:a16="http://schemas.microsoft.com/office/drawing/2014/main" id="{BE5A7764-B4B0-EB32-A686-3796D815F16D}"/>
              </a:ext>
            </a:extLst>
          </p:cNvPr>
          <p:cNvPicPr>
            <a:picLocks noChangeAspect="1"/>
          </p:cNvPicPr>
          <p:nvPr/>
        </p:nvPicPr>
        <p:blipFill>
          <a:blip r:embed="rId6"/>
          <a:stretch>
            <a:fillRect/>
          </a:stretch>
        </p:blipFill>
        <p:spPr>
          <a:xfrm>
            <a:off x="7275670" y="3241951"/>
            <a:ext cx="369333" cy="369333"/>
          </a:xfrm>
          <a:prstGeom prst="rect">
            <a:avLst/>
          </a:prstGeom>
        </p:spPr>
      </p:pic>
    </p:spTree>
    <p:extLst>
      <p:ext uri="{BB962C8B-B14F-4D97-AF65-F5344CB8AC3E}">
        <p14:creationId xmlns:p14="http://schemas.microsoft.com/office/powerpoint/2010/main" val="8447568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BC53C-40B6-5800-F362-F8C04C8BC6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5F8DBD-D3AC-97DA-5BEE-D7F01600ABFE}"/>
              </a:ext>
            </a:extLst>
          </p:cNvPr>
          <p:cNvSpPr>
            <a:spLocks noGrp="1"/>
          </p:cNvSpPr>
          <p:nvPr>
            <p:ph type="title"/>
          </p:nvPr>
        </p:nvSpPr>
        <p:spPr>
          <a:xfrm>
            <a:off x="2097958" y="18255"/>
            <a:ext cx="9350478" cy="1325563"/>
          </a:xfrm>
        </p:spPr>
        <p:txBody>
          <a:bodyPr/>
          <a:lstStyle/>
          <a:p>
            <a:r>
              <a:rPr lang="en-US" b="1" dirty="0">
                <a:solidFill>
                  <a:srgbClr val="156082"/>
                </a:solidFill>
              </a:rPr>
              <a:t>Memetic Evaluation Results</a:t>
            </a:r>
          </a:p>
        </p:txBody>
      </p:sp>
      <p:sp>
        <p:nvSpPr>
          <p:cNvPr id="7" name="Rectangle 6">
            <a:extLst>
              <a:ext uri="{FF2B5EF4-FFF2-40B4-BE49-F238E27FC236}">
                <a16:creationId xmlns:a16="http://schemas.microsoft.com/office/drawing/2014/main" id="{6A32EA53-5345-CCCD-CABC-FE2FBD51ED8C}"/>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20">
            <a:extLst>
              <a:ext uri="{FF2B5EF4-FFF2-40B4-BE49-F238E27FC236}">
                <a16:creationId xmlns:a16="http://schemas.microsoft.com/office/drawing/2014/main" id="{CE435A3C-B6EB-0380-8B35-D18611356A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0" name="Picture 9">
            <a:extLst>
              <a:ext uri="{FF2B5EF4-FFF2-40B4-BE49-F238E27FC236}">
                <a16:creationId xmlns:a16="http://schemas.microsoft.com/office/drawing/2014/main" id="{D40671F0-3BF3-936B-55E8-177A46051E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1" name="Slide Number Placeholder 10">
            <a:extLst>
              <a:ext uri="{FF2B5EF4-FFF2-40B4-BE49-F238E27FC236}">
                <a16:creationId xmlns:a16="http://schemas.microsoft.com/office/drawing/2014/main" id="{0CF4086B-4C45-0BAC-3021-E8AC651F9D74}"/>
              </a:ext>
            </a:extLst>
          </p:cNvPr>
          <p:cNvSpPr>
            <a:spLocks noGrp="1"/>
          </p:cNvSpPr>
          <p:nvPr>
            <p:ph type="sldNum" sz="quarter" idx="12"/>
          </p:nvPr>
        </p:nvSpPr>
        <p:spPr/>
        <p:txBody>
          <a:bodyPr/>
          <a:lstStyle/>
          <a:p>
            <a:fld id="{FA5D76E8-8AD6-443B-8B81-1688B2EC3502}" type="slidenum">
              <a:rPr lang="en-US" smtClean="0"/>
              <a:t>30</a:t>
            </a:fld>
            <a:endParaRPr lang="en-US"/>
          </a:p>
        </p:txBody>
      </p:sp>
      <p:pic>
        <p:nvPicPr>
          <p:cNvPr id="4" name="Picture 3">
            <a:extLst>
              <a:ext uri="{FF2B5EF4-FFF2-40B4-BE49-F238E27FC236}">
                <a16:creationId xmlns:a16="http://schemas.microsoft.com/office/drawing/2014/main" id="{4CF36A45-9755-7C24-0030-FEA343821A5C}"/>
              </a:ext>
            </a:extLst>
          </p:cNvPr>
          <p:cNvPicPr>
            <a:picLocks noChangeAspect="1"/>
          </p:cNvPicPr>
          <p:nvPr/>
        </p:nvPicPr>
        <p:blipFill>
          <a:blip r:embed="rId4"/>
          <a:stretch>
            <a:fillRect/>
          </a:stretch>
        </p:blipFill>
        <p:spPr>
          <a:xfrm>
            <a:off x="7738736" y="1987994"/>
            <a:ext cx="4221460" cy="2882011"/>
          </a:xfrm>
          <a:prstGeom prst="rect">
            <a:avLst/>
          </a:prstGeom>
        </p:spPr>
      </p:pic>
      <p:graphicFrame>
        <p:nvGraphicFramePr>
          <p:cNvPr id="5" name="Table 4">
            <a:extLst>
              <a:ext uri="{FF2B5EF4-FFF2-40B4-BE49-F238E27FC236}">
                <a16:creationId xmlns:a16="http://schemas.microsoft.com/office/drawing/2014/main" id="{061A8C24-AF30-0C8B-B986-390D80C0CEF2}"/>
              </a:ext>
            </a:extLst>
          </p:cNvPr>
          <p:cNvGraphicFramePr>
            <a:graphicFrameLocks noGrp="1"/>
          </p:cNvGraphicFramePr>
          <p:nvPr>
            <p:extLst>
              <p:ext uri="{D42A27DB-BD31-4B8C-83A1-F6EECF244321}">
                <p14:modId xmlns:p14="http://schemas.microsoft.com/office/powerpoint/2010/main" val="245724732"/>
              </p:ext>
            </p:extLst>
          </p:nvPr>
        </p:nvGraphicFramePr>
        <p:xfrm>
          <a:off x="2807372" y="1150306"/>
          <a:ext cx="3288628" cy="5388606"/>
        </p:xfrm>
        <a:graphic>
          <a:graphicData uri="http://schemas.openxmlformats.org/drawingml/2006/table">
            <a:tbl>
              <a:tblPr firstRow="1" bandRow="1">
                <a:tableStyleId>{5C22544A-7EE6-4342-B048-85BDC9FD1C3A}</a:tableStyleId>
              </a:tblPr>
              <a:tblGrid>
                <a:gridCol w="955361">
                  <a:extLst>
                    <a:ext uri="{9D8B030D-6E8A-4147-A177-3AD203B41FA5}">
                      <a16:colId xmlns:a16="http://schemas.microsoft.com/office/drawing/2014/main" val="4062558858"/>
                    </a:ext>
                  </a:extLst>
                </a:gridCol>
                <a:gridCol w="688953">
                  <a:extLst>
                    <a:ext uri="{9D8B030D-6E8A-4147-A177-3AD203B41FA5}">
                      <a16:colId xmlns:a16="http://schemas.microsoft.com/office/drawing/2014/main" val="706341476"/>
                    </a:ext>
                  </a:extLst>
                </a:gridCol>
                <a:gridCol w="822157">
                  <a:extLst>
                    <a:ext uri="{9D8B030D-6E8A-4147-A177-3AD203B41FA5}">
                      <a16:colId xmlns:a16="http://schemas.microsoft.com/office/drawing/2014/main" val="1201372820"/>
                    </a:ext>
                  </a:extLst>
                </a:gridCol>
                <a:gridCol w="822157">
                  <a:extLst>
                    <a:ext uri="{9D8B030D-6E8A-4147-A177-3AD203B41FA5}">
                      <a16:colId xmlns:a16="http://schemas.microsoft.com/office/drawing/2014/main" val="1162341417"/>
                    </a:ext>
                  </a:extLst>
                </a:gridCol>
              </a:tblGrid>
              <a:tr h="607797">
                <a:tc>
                  <a:txBody>
                    <a:bodyPr/>
                    <a:lstStyle/>
                    <a:p>
                      <a:r>
                        <a:rPr lang="en-US" dirty="0"/>
                        <a:t>Instance</a:t>
                      </a:r>
                    </a:p>
                  </a:txBody>
                  <a:tcPr/>
                </a:tc>
                <a:tc>
                  <a:txBody>
                    <a:bodyPr/>
                    <a:lstStyle/>
                    <a:p>
                      <a:r>
                        <a:rPr lang="en-US" dirty="0"/>
                        <a:t>Best</a:t>
                      </a:r>
                    </a:p>
                  </a:txBody>
                  <a:tcPr/>
                </a:tc>
                <a:tc>
                  <a:txBody>
                    <a:bodyPr/>
                    <a:lstStyle/>
                    <a:p>
                      <a:r>
                        <a:rPr lang="en-US" dirty="0"/>
                        <a:t>Worst</a:t>
                      </a:r>
                    </a:p>
                  </a:txBody>
                  <a:tcPr/>
                </a:tc>
                <a:tc>
                  <a:txBody>
                    <a:bodyPr/>
                    <a:lstStyle/>
                    <a:p>
                      <a:r>
                        <a:rPr lang="en-US" dirty="0"/>
                        <a:t>Mean</a:t>
                      </a:r>
                    </a:p>
                  </a:txBody>
                  <a:tcPr/>
                </a:tc>
                <a:extLst>
                  <a:ext uri="{0D108BD9-81ED-4DB2-BD59-A6C34878D82A}">
                    <a16:rowId xmlns:a16="http://schemas.microsoft.com/office/drawing/2014/main" val="204139747"/>
                  </a:ext>
                </a:extLst>
              </a:tr>
              <a:tr h="374949">
                <a:tc>
                  <a:txBody>
                    <a:bodyPr/>
                    <a:lstStyle/>
                    <a:p>
                      <a:r>
                        <a:rPr lang="en-US" dirty="0"/>
                        <a:t>S1</a:t>
                      </a:r>
                    </a:p>
                  </a:txBody>
                  <a:tcPr/>
                </a:tc>
                <a:tc>
                  <a:txBody>
                    <a:bodyPr/>
                    <a:lstStyle/>
                    <a:p>
                      <a:r>
                        <a:rPr lang="en-US" dirty="0"/>
                        <a:t>0</a:t>
                      </a:r>
                    </a:p>
                  </a:txBody>
                  <a:tcPr/>
                </a:tc>
                <a:tc>
                  <a:txBody>
                    <a:bodyPr/>
                    <a:lstStyle/>
                    <a:p>
                      <a:r>
                        <a:rPr lang="en-US" dirty="0"/>
                        <a:t>9</a:t>
                      </a:r>
                    </a:p>
                  </a:txBody>
                  <a:tcPr/>
                </a:tc>
                <a:tc>
                  <a:txBody>
                    <a:bodyPr/>
                    <a:lstStyle/>
                    <a:p>
                      <a:r>
                        <a:rPr lang="en-US" sz="1400" dirty="0"/>
                        <a:t>4.46667</a:t>
                      </a:r>
                    </a:p>
                  </a:txBody>
                  <a:tcPr/>
                </a:tc>
                <a:extLst>
                  <a:ext uri="{0D108BD9-81ED-4DB2-BD59-A6C34878D82A}">
                    <a16:rowId xmlns:a16="http://schemas.microsoft.com/office/drawing/2014/main" val="1145096775"/>
                  </a:ext>
                </a:extLst>
              </a:tr>
              <a:tr h="482499">
                <a:tc>
                  <a:txBody>
                    <a:bodyPr/>
                    <a:lstStyle/>
                    <a:p>
                      <a:r>
                        <a:rPr lang="en-US" dirty="0"/>
                        <a:t>S2</a:t>
                      </a:r>
                    </a:p>
                  </a:txBody>
                  <a:tcPr/>
                </a:tc>
                <a:tc>
                  <a:txBody>
                    <a:bodyPr/>
                    <a:lstStyle/>
                    <a:p>
                      <a:r>
                        <a:rPr lang="en-US" dirty="0"/>
                        <a:t>4</a:t>
                      </a:r>
                    </a:p>
                  </a:txBody>
                  <a:tcPr/>
                </a:tc>
                <a:tc>
                  <a:txBody>
                    <a:bodyPr/>
                    <a:lstStyle/>
                    <a:p>
                      <a:r>
                        <a:rPr lang="en-US" dirty="0"/>
                        <a:t>12</a:t>
                      </a:r>
                    </a:p>
                  </a:txBody>
                  <a:tcPr/>
                </a:tc>
                <a:tc>
                  <a:txBody>
                    <a:bodyPr/>
                    <a:lstStyle/>
                    <a:p>
                      <a:r>
                        <a:rPr lang="en-US" sz="1400" dirty="0"/>
                        <a:t>8.8333</a:t>
                      </a:r>
                    </a:p>
                  </a:txBody>
                  <a:tcPr/>
                </a:tc>
                <a:extLst>
                  <a:ext uri="{0D108BD9-81ED-4DB2-BD59-A6C34878D82A}">
                    <a16:rowId xmlns:a16="http://schemas.microsoft.com/office/drawing/2014/main" val="3203367923"/>
                  </a:ext>
                </a:extLst>
              </a:tr>
              <a:tr h="482499">
                <a:tc>
                  <a:txBody>
                    <a:bodyPr/>
                    <a:lstStyle/>
                    <a:p>
                      <a:r>
                        <a:rPr lang="en-US" dirty="0"/>
                        <a:t>S3</a:t>
                      </a:r>
                    </a:p>
                  </a:txBody>
                  <a:tcPr/>
                </a:tc>
                <a:tc>
                  <a:txBody>
                    <a:bodyPr/>
                    <a:lstStyle/>
                    <a:p>
                      <a:r>
                        <a:rPr lang="en-US" dirty="0"/>
                        <a:t>11</a:t>
                      </a:r>
                    </a:p>
                  </a:txBody>
                  <a:tcPr/>
                </a:tc>
                <a:tc>
                  <a:txBody>
                    <a:bodyPr/>
                    <a:lstStyle/>
                    <a:p>
                      <a:r>
                        <a:rPr lang="en-US" dirty="0"/>
                        <a:t>21</a:t>
                      </a:r>
                    </a:p>
                  </a:txBody>
                  <a:tcPr/>
                </a:tc>
                <a:tc>
                  <a:txBody>
                    <a:bodyPr/>
                    <a:lstStyle/>
                    <a:p>
                      <a:r>
                        <a:rPr lang="en-US" sz="1400" dirty="0"/>
                        <a:t>15.6667</a:t>
                      </a:r>
                    </a:p>
                  </a:txBody>
                  <a:tcPr/>
                </a:tc>
                <a:extLst>
                  <a:ext uri="{0D108BD9-81ED-4DB2-BD59-A6C34878D82A}">
                    <a16:rowId xmlns:a16="http://schemas.microsoft.com/office/drawing/2014/main" val="1263766130"/>
                  </a:ext>
                </a:extLst>
              </a:tr>
              <a:tr h="347312">
                <a:tc>
                  <a:txBody>
                    <a:bodyPr/>
                    <a:lstStyle/>
                    <a:p>
                      <a:r>
                        <a:rPr lang="en-US" dirty="0"/>
                        <a:t>S4</a:t>
                      </a:r>
                    </a:p>
                  </a:txBody>
                  <a:tcPr/>
                </a:tc>
                <a:tc>
                  <a:txBody>
                    <a:bodyPr/>
                    <a:lstStyle/>
                    <a:p>
                      <a:r>
                        <a:rPr lang="en-US" dirty="0"/>
                        <a:t>21</a:t>
                      </a:r>
                    </a:p>
                  </a:txBody>
                  <a:tcPr/>
                </a:tc>
                <a:tc>
                  <a:txBody>
                    <a:bodyPr/>
                    <a:lstStyle/>
                    <a:p>
                      <a:r>
                        <a:rPr lang="en-US" dirty="0"/>
                        <a:t>38</a:t>
                      </a:r>
                    </a:p>
                  </a:txBody>
                  <a:tcPr/>
                </a:tc>
                <a:tc>
                  <a:txBody>
                    <a:bodyPr/>
                    <a:lstStyle/>
                    <a:p>
                      <a:r>
                        <a:rPr lang="en-US" sz="1400" dirty="0"/>
                        <a:t>30.1</a:t>
                      </a:r>
                    </a:p>
                  </a:txBody>
                  <a:tcPr/>
                </a:tc>
                <a:extLst>
                  <a:ext uri="{0D108BD9-81ED-4DB2-BD59-A6C34878D82A}">
                    <a16:rowId xmlns:a16="http://schemas.microsoft.com/office/drawing/2014/main" val="94715096"/>
                  </a:ext>
                </a:extLst>
              </a:tr>
              <a:tr h="347312">
                <a:tc>
                  <a:txBody>
                    <a:bodyPr/>
                    <a:lstStyle/>
                    <a:p>
                      <a:r>
                        <a:rPr lang="en-US" dirty="0"/>
                        <a:t>S5</a:t>
                      </a:r>
                    </a:p>
                  </a:txBody>
                  <a:tcPr/>
                </a:tc>
                <a:tc>
                  <a:txBody>
                    <a:bodyPr/>
                    <a:lstStyle/>
                    <a:p>
                      <a:r>
                        <a:rPr lang="en-US" dirty="0"/>
                        <a:t>13</a:t>
                      </a:r>
                    </a:p>
                  </a:txBody>
                  <a:tcPr/>
                </a:tc>
                <a:tc>
                  <a:txBody>
                    <a:bodyPr/>
                    <a:lstStyle/>
                    <a:p>
                      <a:r>
                        <a:rPr lang="en-US" dirty="0"/>
                        <a:t>20</a:t>
                      </a:r>
                    </a:p>
                  </a:txBody>
                  <a:tcPr/>
                </a:tc>
                <a:tc>
                  <a:txBody>
                    <a:bodyPr/>
                    <a:lstStyle/>
                    <a:p>
                      <a:r>
                        <a:rPr lang="en-US" sz="1400" dirty="0"/>
                        <a:t>16.1</a:t>
                      </a:r>
                    </a:p>
                  </a:txBody>
                  <a:tcPr/>
                </a:tc>
                <a:extLst>
                  <a:ext uri="{0D108BD9-81ED-4DB2-BD59-A6C34878D82A}">
                    <a16:rowId xmlns:a16="http://schemas.microsoft.com/office/drawing/2014/main" val="3176306264"/>
                  </a:ext>
                </a:extLst>
              </a:tr>
              <a:tr h="347312">
                <a:tc>
                  <a:txBody>
                    <a:bodyPr/>
                    <a:lstStyle/>
                    <a:p>
                      <a:r>
                        <a:rPr lang="en-US" dirty="0"/>
                        <a:t>M1</a:t>
                      </a:r>
                    </a:p>
                  </a:txBody>
                  <a:tcPr/>
                </a:tc>
                <a:tc>
                  <a:txBody>
                    <a:bodyPr/>
                    <a:lstStyle/>
                    <a:p>
                      <a:r>
                        <a:rPr lang="en-US" dirty="0"/>
                        <a:t>17</a:t>
                      </a:r>
                    </a:p>
                  </a:txBody>
                  <a:tcPr/>
                </a:tc>
                <a:tc>
                  <a:txBody>
                    <a:bodyPr/>
                    <a:lstStyle/>
                    <a:p>
                      <a:r>
                        <a:rPr lang="en-US" dirty="0"/>
                        <a:t>25</a:t>
                      </a:r>
                    </a:p>
                  </a:txBody>
                  <a:tcPr/>
                </a:tc>
                <a:tc>
                  <a:txBody>
                    <a:bodyPr/>
                    <a:lstStyle/>
                    <a:p>
                      <a:r>
                        <a:rPr lang="en-US" sz="1400" dirty="0"/>
                        <a:t>20.3</a:t>
                      </a:r>
                    </a:p>
                  </a:txBody>
                  <a:tcPr/>
                </a:tc>
                <a:extLst>
                  <a:ext uri="{0D108BD9-81ED-4DB2-BD59-A6C34878D82A}">
                    <a16:rowId xmlns:a16="http://schemas.microsoft.com/office/drawing/2014/main" val="171466033"/>
                  </a:ext>
                </a:extLst>
              </a:tr>
              <a:tr h="482499">
                <a:tc>
                  <a:txBody>
                    <a:bodyPr/>
                    <a:lstStyle/>
                    <a:p>
                      <a:r>
                        <a:rPr lang="en-US" dirty="0"/>
                        <a:t>M2</a:t>
                      </a:r>
                    </a:p>
                  </a:txBody>
                  <a:tcPr/>
                </a:tc>
                <a:tc>
                  <a:txBody>
                    <a:bodyPr/>
                    <a:lstStyle/>
                    <a:p>
                      <a:r>
                        <a:rPr lang="en-US" dirty="0"/>
                        <a:t>21</a:t>
                      </a:r>
                    </a:p>
                  </a:txBody>
                  <a:tcPr/>
                </a:tc>
                <a:tc>
                  <a:txBody>
                    <a:bodyPr/>
                    <a:lstStyle/>
                    <a:p>
                      <a:r>
                        <a:rPr lang="en-US" dirty="0"/>
                        <a:t>31</a:t>
                      </a:r>
                    </a:p>
                  </a:txBody>
                  <a:tcPr/>
                </a:tc>
                <a:tc>
                  <a:txBody>
                    <a:bodyPr/>
                    <a:lstStyle/>
                    <a:p>
                      <a:r>
                        <a:rPr lang="en-US" sz="1400" dirty="0"/>
                        <a:t>28.932</a:t>
                      </a:r>
                    </a:p>
                  </a:txBody>
                  <a:tcPr/>
                </a:tc>
                <a:extLst>
                  <a:ext uri="{0D108BD9-81ED-4DB2-BD59-A6C34878D82A}">
                    <a16:rowId xmlns:a16="http://schemas.microsoft.com/office/drawing/2014/main" val="1375062973"/>
                  </a:ext>
                </a:extLst>
              </a:tr>
              <a:tr h="347312">
                <a:tc>
                  <a:txBody>
                    <a:bodyPr/>
                    <a:lstStyle/>
                    <a:p>
                      <a:r>
                        <a:rPr lang="en-US" dirty="0"/>
                        <a:t>M3</a:t>
                      </a:r>
                    </a:p>
                  </a:txBody>
                  <a:tcPr/>
                </a:tc>
                <a:tc>
                  <a:txBody>
                    <a:bodyPr/>
                    <a:lstStyle/>
                    <a:p>
                      <a:r>
                        <a:rPr lang="en-US" dirty="0"/>
                        <a:t>19</a:t>
                      </a:r>
                    </a:p>
                  </a:txBody>
                  <a:tcPr/>
                </a:tc>
                <a:tc>
                  <a:txBody>
                    <a:bodyPr/>
                    <a:lstStyle/>
                    <a:p>
                      <a:r>
                        <a:rPr lang="en-US" dirty="0"/>
                        <a:t>23</a:t>
                      </a:r>
                    </a:p>
                  </a:txBody>
                  <a:tcPr/>
                </a:tc>
                <a:tc>
                  <a:txBody>
                    <a:bodyPr/>
                    <a:lstStyle/>
                    <a:p>
                      <a:r>
                        <a:rPr lang="en-US" sz="1400" dirty="0"/>
                        <a:t>17.1</a:t>
                      </a:r>
                    </a:p>
                  </a:txBody>
                  <a:tcPr/>
                </a:tc>
                <a:extLst>
                  <a:ext uri="{0D108BD9-81ED-4DB2-BD59-A6C34878D82A}">
                    <a16:rowId xmlns:a16="http://schemas.microsoft.com/office/drawing/2014/main" val="214733185"/>
                  </a:ext>
                </a:extLst>
              </a:tr>
              <a:tr h="347312">
                <a:tc>
                  <a:txBody>
                    <a:bodyPr/>
                    <a:lstStyle/>
                    <a:p>
                      <a:r>
                        <a:rPr lang="en-US" dirty="0"/>
                        <a:t>M4</a:t>
                      </a:r>
                    </a:p>
                  </a:txBody>
                  <a:tcPr/>
                </a:tc>
                <a:tc>
                  <a:txBody>
                    <a:bodyPr/>
                    <a:lstStyle/>
                    <a:p>
                      <a:r>
                        <a:rPr lang="en-US" dirty="0"/>
                        <a:t>25</a:t>
                      </a:r>
                    </a:p>
                  </a:txBody>
                  <a:tcPr/>
                </a:tc>
                <a:tc>
                  <a:txBody>
                    <a:bodyPr/>
                    <a:lstStyle/>
                    <a:p>
                      <a:r>
                        <a:rPr lang="en-US" dirty="0"/>
                        <a:t>40</a:t>
                      </a:r>
                    </a:p>
                  </a:txBody>
                  <a:tcPr/>
                </a:tc>
                <a:tc>
                  <a:txBody>
                    <a:bodyPr/>
                    <a:lstStyle/>
                    <a:p>
                      <a:r>
                        <a:rPr lang="en-US" sz="1400" dirty="0"/>
                        <a:t>33.2</a:t>
                      </a:r>
                    </a:p>
                  </a:txBody>
                  <a:tcPr/>
                </a:tc>
                <a:extLst>
                  <a:ext uri="{0D108BD9-81ED-4DB2-BD59-A6C34878D82A}">
                    <a16:rowId xmlns:a16="http://schemas.microsoft.com/office/drawing/2014/main" val="1046869690"/>
                  </a:ext>
                </a:extLst>
              </a:tr>
              <a:tr h="347312">
                <a:tc>
                  <a:txBody>
                    <a:bodyPr/>
                    <a:lstStyle/>
                    <a:p>
                      <a:r>
                        <a:rPr lang="en-US" dirty="0"/>
                        <a:t>M5</a:t>
                      </a:r>
                    </a:p>
                  </a:txBody>
                  <a:tcPr/>
                </a:tc>
                <a:tc>
                  <a:txBody>
                    <a:bodyPr/>
                    <a:lstStyle/>
                    <a:p>
                      <a:r>
                        <a:rPr lang="en-US" dirty="0"/>
                        <a:t>23</a:t>
                      </a:r>
                    </a:p>
                  </a:txBody>
                  <a:tcPr/>
                </a:tc>
                <a:tc>
                  <a:txBody>
                    <a:bodyPr/>
                    <a:lstStyle/>
                    <a:p>
                      <a:r>
                        <a:rPr lang="en-US" dirty="0"/>
                        <a:t>38</a:t>
                      </a:r>
                    </a:p>
                  </a:txBody>
                  <a:tcPr/>
                </a:tc>
                <a:tc>
                  <a:txBody>
                    <a:bodyPr/>
                    <a:lstStyle/>
                    <a:p>
                      <a:r>
                        <a:rPr lang="en-US" sz="1400" dirty="0"/>
                        <a:t>29.1</a:t>
                      </a:r>
                    </a:p>
                  </a:txBody>
                  <a:tcPr/>
                </a:tc>
                <a:extLst>
                  <a:ext uri="{0D108BD9-81ED-4DB2-BD59-A6C34878D82A}">
                    <a16:rowId xmlns:a16="http://schemas.microsoft.com/office/drawing/2014/main" val="3558886438"/>
                  </a:ext>
                </a:extLst>
              </a:tr>
              <a:tr h="694625">
                <a:tc>
                  <a:txBody>
                    <a:bodyPr/>
                    <a:lstStyle/>
                    <a:p>
                      <a:r>
                        <a:rPr lang="en-US" sz="1400" dirty="0"/>
                        <a:t>comp-2007-2-1.tim</a:t>
                      </a:r>
                    </a:p>
                  </a:txBody>
                  <a:tcPr/>
                </a:tc>
                <a:tc>
                  <a:txBody>
                    <a:bodyPr/>
                    <a:lstStyle/>
                    <a:p>
                      <a:r>
                        <a:rPr lang="en-US" sz="1400" dirty="0"/>
                        <a:t>32002498</a:t>
                      </a:r>
                    </a:p>
                  </a:txBody>
                  <a:tcPr/>
                </a:tc>
                <a:tc>
                  <a:txBody>
                    <a:bodyPr/>
                    <a:lstStyle/>
                    <a:p>
                      <a:r>
                        <a:rPr lang="en-US" sz="1400" dirty="0"/>
                        <a:t>32002498</a:t>
                      </a:r>
                    </a:p>
                  </a:txBody>
                  <a:tcPr/>
                </a:tc>
                <a:tc>
                  <a:txBody>
                    <a:bodyPr/>
                    <a:lstStyle/>
                    <a:p>
                      <a:r>
                        <a:rPr lang="en-US" sz="1400" dirty="0"/>
                        <a:t>3.20025e+07</a:t>
                      </a:r>
                    </a:p>
                  </a:txBody>
                  <a:tcPr/>
                </a:tc>
                <a:extLst>
                  <a:ext uri="{0D108BD9-81ED-4DB2-BD59-A6C34878D82A}">
                    <a16:rowId xmlns:a16="http://schemas.microsoft.com/office/drawing/2014/main" val="1676293216"/>
                  </a:ext>
                </a:extLst>
              </a:tr>
            </a:tbl>
          </a:graphicData>
        </a:graphic>
      </p:graphicFrame>
    </p:spTree>
    <p:extLst>
      <p:ext uri="{BB962C8B-B14F-4D97-AF65-F5344CB8AC3E}">
        <p14:creationId xmlns:p14="http://schemas.microsoft.com/office/powerpoint/2010/main" val="2587748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FE14F-B8CF-E600-8897-0A3E30332D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AF3DD7-1223-DFF1-5F88-F3E48E211FD6}"/>
              </a:ext>
            </a:extLst>
          </p:cNvPr>
          <p:cNvSpPr>
            <a:spLocks noGrp="1"/>
          </p:cNvSpPr>
          <p:nvPr>
            <p:ph type="title"/>
          </p:nvPr>
        </p:nvSpPr>
        <p:spPr>
          <a:xfrm>
            <a:off x="3564807" y="0"/>
            <a:ext cx="6416779" cy="1325563"/>
          </a:xfrm>
        </p:spPr>
        <p:txBody>
          <a:bodyPr/>
          <a:lstStyle/>
          <a:p>
            <a:r>
              <a:rPr lang="en-US" b="1" dirty="0">
                <a:solidFill>
                  <a:srgbClr val="156082"/>
                </a:solidFill>
              </a:rPr>
              <a:t>Proposed Hybrid Methods</a:t>
            </a:r>
          </a:p>
        </p:txBody>
      </p:sp>
      <p:sp>
        <p:nvSpPr>
          <p:cNvPr id="9" name="Rectangle 8">
            <a:extLst>
              <a:ext uri="{FF2B5EF4-FFF2-40B4-BE49-F238E27FC236}">
                <a16:creationId xmlns:a16="http://schemas.microsoft.com/office/drawing/2014/main" id="{88720558-39AC-645E-FB44-B1AC40DD80F0}"/>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Content Placeholder 20">
            <a:extLst>
              <a:ext uri="{FF2B5EF4-FFF2-40B4-BE49-F238E27FC236}">
                <a16:creationId xmlns:a16="http://schemas.microsoft.com/office/drawing/2014/main" id="{B527C553-FA3B-6E20-3F22-8DB7364056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2" name="Picture 11">
            <a:extLst>
              <a:ext uri="{FF2B5EF4-FFF2-40B4-BE49-F238E27FC236}">
                <a16:creationId xmlns:a16="http://schemas.microsoft.com/office/drawing/2014/main" id="{EF7808C3-C826-2CD4-A05A-C28DB6B360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3" name="Slide Number Placeholder 12">
            <a:extLst>
              <a:ext uri="{FF2B5EF4-FFF2-40B4-BE49-F238E27FC236}">
                <a16:creationId xmlns:a16="http://schemas.microsoft.com/office/drawing/2014/main" id="{09F636B8-FD4D-C966-089B-2E277F2FCBA8}"/>
              </a:ext>
            </a:extLst>
          </p:cNvPr>
          <p:cNvSpPr>
            <a:spLocks noGrp="1"/>
          </p:cNvSpPr>
          <p:nvPr>
            <p:ph type="sldNum" sz="quarter" idx="12"/>
          </p:nvPr>
        </p:nvSpPr>
        <p:spPr/>
        <p:txBody>
          <a:bodyPr/>
          <a:lstStyle/>
          <a:p>
            <a:fld id="{FA5D76E8-8AD6-443B-8B81-1688B2EC3502}" type="slidenum">
              <a:rPr lang="en-US" smtClean="0"/>
              <a:t>31</a:t>
            </a:fld>
            <a:endParaRPr lang="en-US"/>
          </a:p>
        </p:txBody>
      </p:sp>
      <p:sp>
        <p:nvSpPr>
          <p:cNvPr id="8" name="TextBox 7">
            <a:extLst>
              <a:ext uri="{FF2B5EF4-FFF2-40B4-BE49-F238E27FC236}">
                <a16:creationId xmlns:a16="http://schemas.microsoft.com/office/drawing/2014/main" id="{52CBFB57-FFBF-BF1E-9A55-218900019F50}"/>
              </a:ext>
            </a:extLst>
          </p:cNvPr>
          <p:cNvSpPr txBox="1"/>
          <p:nvPr/>
        </p:nvSpPr>
        <p:spPr>
          <a:xfrm>
            <a:off x="2188247" y="1994297"/>
            <a:ext cx="6416779" cy="1754326"/>
          </a:xfrm>
          <a:prstGeom prst="rect">
            <a:avLst/>
          </a:prstGeom>
          <a:noFill/>
        </p:spPr>
        <p:txBody>
          <a:bodyPr wrap="square">
            <a:spAutoFit/>
          </a:bodyPr>
          <a:lstStyle/>
          <a:p>
            <a:r>
              <a:rPr lang="en-US" b="1" dirty="0"/>
              <a:t>CBCTP</a:t>
            </a:r>
          </a:p>
          <a:p>
            <a:pPr marL="285750" indent="-285750" rtl="0">
              <a:buFont typeface="Arial" panose="020B0604020202020204" pitchFamily="34" charset="0"/>
              <a:buChar char="•"/>
            </a:pPr>
            <a:r>
              <a:rPr lang="en-US" dirty="0"/>
              <a:t>Conflicts are curriculum-based. </a:t>
            </a:r>
          </a:p>
          <a:p>
            <a:pPr marL="285750" indent="-285750" rtl="0">
              <a:buFont typeface="Arial" panose="020B0604020202020204" pitchFamily="34" charset="0"/>
              <a:buChar char="•"/>
            </a:pPr>
            <a:r>
              <a:rPr lang="en-US" dirty="0"/>
              <a:t>Students are grouped into predefined curricula. </a:t>
            </a:r>
          </a:p>
          <a:p>
            <a:pPr marL="285750" indent="-285750" rtl="0">
              <a:buFont typeface="Arial" panose="020B0604020202020204" pitchFamily="34" charset="0"/>
              <a:buChar char="•"/>
            </a:pPr>
            <a:r>
              <a:rPr lang="en-US" dirty="0"/>
              <a:t>Conflict matrix is relatively stable. </a:t>
            </a:r>
          </a:p>
          <a:p>
            <a:pPr marL="285750" indent="-285750" rtl="0">
              <a:buFont typeface="Arial" panose="020B0604020202020204" pitchFamily="34" charset="0"/>
              <a:buChar char="•"/>
            </a:pPr>
            <a:r>
              <a:rPr lang="en-US" dirty="0"/>
              <a:t>Simpler search space. </a:t>
            </a:r>
          </a:p>
          <a:p>
            <a:pPr rtl="0">
              <a:buNone/>
            </a:pPr>
            <a:endParaRPr lang="en-US" dirty="0">
              <a:latin typeface="Courier New" panose="02070309020205020404" pitchFamily="49" charset="0"/>
            </a:endParaRPr>
          </a:p>
        </p:txBody>
      </p:sp>
      <p:sp>
        <p:nvSpPr>
          <p:cNvPr id="17" name="TextBox 16">
            <a:extLst>
              <a:ext uri="{FF2B5EF4-FFF2-40B4-BE49-F238E27FC236}">
                <a16:creationId xmlns:a16="http://schemas.microsoft.com/office/drawing/2014/main" id="{9E38D004-02B6-6531-E4FB-48DCAE8CEB71}"/>
              </a:ext>
            </a:extLst>
          </p:cNvPr>
          <p:cNvSpPr txBox="1"/>
          <p:nvPr/>
        </p:nvSpPr>
        <p:spPr>
          <a:xfrm>
            <a:off x="2100415" y="1094730"/>
            <a:ext cx="8075971" cy="461665"/>
          </a:xfrm>
          <a:prstGeom prst="rect">
            <a:avLst/>
          </a:prstGeom>
          <a:noFill/>
        </p:spPr>
        <p:txBody>
          <a:bodyPr wrap="square">
            <a:spAutoFit/>
          </a:bodyPr>
          <a:lstStyle/>
          <a:p>
            <a:pPr rtl="0">
              <a:buNone/>
            </a:pPr>
            <a:r>
              <a:rPr lang="en-US" sz="2400" b="1" dirty="0"/>
              <a:t>Post Enrollment Course Timetable Problem(PECTP):</a:t>
            </a:r>
          </a:p>
        </p:txBody>
      </p:sp>
      <p:sp>
        <p:nvSpPr>
          <p:cNvPr id="19" name="TextBox 18">
            <a:extLst>
              <a:ext uri="{FF2B5EF4-FFF2-40B4-BE49-F238E27FC236}">
                <a16:creationId xmlns:a16="http://schemas.microsoft.com/office/drawing/2014/main" id="{6E906482-7C00-9AAC-4495-713E7F7004D2}"/>
              </a:ext>
            </a:extLst>
          </p:cNvPr>
          <p:cNvSpPr txBox="1"/>
          <p:nvPr/>
        </p:nvSpPr>
        <p:spPr>
          <a:xfrm>
            <a:off x="2100700" y="3739231"/>
            <a:ext cx="6020745" cy="2031325"/>
          </a:xfrm>
          <a:prstGeom prst="rect">
            <a:avLst/>
          </a:prstGeom>
          <a:noFill/>
        </p:spPr>
        <p:txBody>
          <a:bodyPr wrap="square">
            <a:spAutoFit/>
          </a:bodyPr>
          <a:lstStyle/>
          <a:p>
            <a:r>
              <a:rPr lang="en-US" b="1" dirty="0"/>
              <a:t>PECTP</a:t>
            </a:r>
          </a:p>
          <a:p>
            <a:pPr marL="285750" indent="-285750">
              <a:buFont typeface="Arial" panose="020B0604020202020204" pitchFamily="34" charset="0"/>
              <a:buChar char="•"/>
            </a:pPr>
            <a:r>
              <a:rPr lang="en-US" dirty="0"/>
              <a:t>Based on actual student enrollments. </a:t>
            </a:r>
          </a:p>
          <a:p>
            <a:pPr marL="285750" indent="-285750">
              <a:buFont typeface="Arial" panose="020B0604020202020204" pitchFamily="34" charset="0"/>
              <a:buChar char="•"/>
            </a:pPr>
            <a:r>
              <a:rPr lang="en-US" dirty="0"/>
              <a:t>Every student may have a unique event combination. </a:t>
            </a:r>
          </a:p>
          <a:p>
            <a:pPr marL="285750" indent="-285750">
              <a:buFont typeface="Arial" panose="020B0604020202020204" pitchFamily="34" charset="0"/>
              <a:buChar char="•"/>
            </a:pPr>
            <a:r>
              <a:rPr lang="en-US" dirty="0"/>
              <a:t>Dynamic conflict generation. </a:t>
            </a:r>
          </a:p>
          <a:p>
            <a:pPr marL="285750" indent="-285750">
              <a:buFont typeface="Arial" panose="020B0604020202020204" pitchFamily="34" charset="0"/>
              <a:buChar char="•"/>
            </a:pPr>
            <a:r>
              <a:rPr lang="en-US" dirty="0"/>
              <a:t>Additional constraints: </a:t>
            </a:r>
          </a:p>
          <a:p>
            <a:pPr marL="742950" lvl="1" indent="-285750">
              <a:buFont typeface="Arial" panose="020B0604020202020204" pitchFamily="34" charset="0"/>
              <a:buChar char="•"/>
            </a:pPr>
            <a:r>
              <a:rPr lang="en-US" dirty="0"/>
              <a:t>Event Availability (H4) </a:t>
            </a:r>
          </a:p>
          <a:p>
            <a:pPr marL="742950" lvl="1" indent="-285750">
              <a:buFont typeface="Arial" panose="020B0604020202020204" pitchFamily="34" charset="0"/>
              <a:buChar char="•"/>
            </a:pPr>
            <a:r>
              <a:rPr lang="en-US" dirty="0"/>
              <a:t>Event Precedence (H5) </a:t>
            </a:r>
          </a:p>
        </p:txBody>
      </p:sp>
      <p:sp>
        <p:nvSpPr>
          <p:cNvPr id="21" name="TextBox 20">
            <a:extLst>
              <a:ext uri="{FF2B5EF4-FFF2-40B4-BE49-F238E27FC236}">
                <a16:creationId xmlns:a16="http://schemas.microsoft.com/office/drawing/2014/main" id="{2CE6B2CD-3168-2E93-59AE-867866E2074D}"/>
              </a:ext>
            </a:extLst>
          </p:cNvPr>
          <p:cNvSpPr txBox="1"/>
          <p:nvPr/>
        </p:nvSpPr>
        <p:spPr>
          <a:xfrm>
            <a:off x="7989459" y="3851648"/>
            <a:ext cx="4045361" cy="1815882"/>
          </a:xfrm>
          <a:prstGeom prst="rect">
            <a:avLst/>
          </a:prstGeom>
          <a:noFill/>
        </p:spPr>
        <p:txBody>
          <a:bodyPr wrap="square">
            <a:spAutoFit/>
          </a:bodyPr>
          <a:lstStyle/>
          <a:p>
            <a:pPr rtl="0">
              <a:buNone/>
            </a:pPr>
            <a:r>
              <a:rPr lang="en-US" sz="1600" b="1" dirty="0"/>
              <a:t>Impact</a:t>
            </a:r>
          </a:p>
          <a:p>
            <a:pPr marL="285750" indent="-285750" rtl="0">
              <a:buFont typeface="Arial" panose="020B0604020202020204" pitchFamily="34" charset="0"/>
              <a:buChar char="•"/>
            </a:pPr>
            <a:r>
              <a:rPr lang="en-US" sz="1600" dirty="0">
                <a:latin typeface="Courier New" panose="02070309020205020404" pitchFamily="49" charset="0"/>
              </a:rPr>
              <a:t>Larger Search Space</a:t>
            </a:r>
          </a:p>
          <a:p>
            <a:pPr marL="285750" indent="-285750" rtl="0">
              <a:buFont typeface="Arial" panose="020B0604020202020204" pitchFamily="34" charset="0"/>
              <a:buChar char="•"/>
            </a:pPr>
            <a:r>
              <a:rPr lang="en-US" sz="1600" dirty="0">
                <a:latin typeface="Courier New" panose="02070309020205020404" pitchFamily="49" charset="0"/>
              </a:rPr>
              <a:t>More Constraints</a:t>
            </a:r>
          </a:p>
          <a:p>
            <a:pPr marL="285750" indent="-285750">
              <a:buFont typeface="Arial" panose="020B0604020202020204" pitchFamily="34" charset="0"/>
              <a:buChar char="•"/>
            </a:pPr>
            <a:r>
              <a:rPr lang="en-US" sz="1600" dirty="0">
                <a:latin typeface="Courier New" panose="02070309020205020404" pitchFamily="49" charset="0"/>
              </a:rPr>
              <a:t>Higher Complexity</a:t>
            </a:r>
          </a:p>
          <a:p>
            <a:r>
              <a:rPr lang="en-US" sz="1600" b="1" dirty="0">
                <a:latin typeface="Courier New" panose="02070309020205020404" pitchFamily="49" charset="0"/>
              </a:rPr>
              <a:t>Then</a:t>
            </a:r>
            <a:r>
              <a:rPr lang="en-US" sz="1600" dirty="0">
                <a:latin typeface="Courier New" panose="02070309020205020404" pitchFamily="49" charset="0"/>
              </a:rPr>
              <a:t>     </a:t>
            </a:r>
          </a:p>
          <a:p>
            <a:r>
              <a:rPr lang="en-US" sz="1600" dirty="0">
                <a:latin typeface="Courier New" panose="02070309020205020404" pitchFamily="49" charset="0"/>
              </a:rPr>
              <a:t>Need for a Stronger Hybrid Approach</a:t>
            </a:r>
          </a:p>
        </p:txBody>
      </p:sp>
    </p:spTree>
    <p:extLst>
      <p:ext uri="{BB962C8B-B14F-4D97-AF65-F5344CB8AC3E}">
        <p14:creationId xmlns:p14="http://schemas.microsoft.com/office/powerpoint/2010/main" val="2932311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9" grpId="0"/>
      <p:bldP spid="2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F5389-0C62-C923-1F81-DBC8D31B47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0C128C-1222-58A9-E1FB-E97092001440}"/>
              </a:ext>
            </a:extLst>
          </p:cNvPr>
          <p:cNvSpPr>
            <a:spLocks noGrp="1"/>
          </p:cNvSpPr>
          <p:nvPr>
            <p:ph type="title"/>
          </p:nvPr>
        </p:nvSpPr>
        <p:spPr>
          <a:xfrm>
            <a:off x="3564807" y="0"/>
            <a:ext cx="6416779" cy="1325563"/>
          </a:xfrm>
        </p:spPr>
        <p:txBody>
          <a:bodyPr/>
          <a:lstStyle/>
          <a:p>
            <a:r>
              <a:rPr lang="en-US" b="1" dirty="0">
                <a:solidFill>
                  <a:srgbClr val="156082"/>
                </a:solidFill>
              </a:rPr>
              <a:t>Proposed Hybrid Methods</a:t>
            </a:r>
          </a:p>
        </p:txBody>
      </p:sp>
      <p:graphicFrame>
        <p:nvGraphicFramePr>
          <p:cNvPr id="15" name="Content Placeholder 2">
            <a:extLst>
              <a:ext uri="{FF2B5EF4-FFF2-40B4-BE49-F238E27FC236}">
                <a16:creationId xmlns:a16="http://schemas.microsoft.com/office/drawing/2014/main" id="{6F82B42F-0F45-C7E8-BFCC-B424598AD3BC}"/>
              </a:ext>
            </a:extLst>
          </p:cNvPr>
          <p:cNvGraphicFramePr>
            <a:graphicFrameLocks noGrp="1"/>
          </p:cNvGraphicFramePr>
          <p:nvPr>
            <p:ph idx="1"/>
          </p:nvPr>
        </p:nvGraphicFramePr>
        <p:xfrm>
          <a:off x="2192594" y="1474839"/>
          <a:ext cx="9161206" cy="47021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Rectangle 8">
            <a:extLst>
              <a:ext uri="{FF2B5EF4-FFF2-40B4-BE49-F238E27FC236}">
                <a16:creationId xmlns:a16="http://schemas.microsoft.com/office/drawing/2014/main" id="{456AB320-8EBF-4805-4707-EF9F9CF46B6E}"/>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Content Placeholder 20">
            <a:extLst>
              <a:ext uri="{FF2B5EF4-FFF2-40B4-BE49-F238E27FC236}">
                <a16:creationId xmlns:a16="http://schemas.microsoft.com/office/drawing/2014/main" id="{83A95103-8B05-C9F1-0EB2-C7C5F768EE3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2" name="Picture 11">
            <a:extLst>
              <a:ext uri="{FF2B5EF4-FFF2-40B4-BE49-F238E27FC236}">
                <a16:creationId xmlns:a16="http://schemas.microsoft.com/office/drawing/2014/main" id="{2E694851-EC6E-E6FC-9F2D-5D4DF1C69A2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3" name="Slide Number Placeholder 12">
            <a:extLst>
              <a:ext uri="{FF2B5EF4-FFF2-40B4-BE49-F238E27FC236}">
                <a16:creationId xmlns:a16="http://schemas.microsoft.com/office/drawing/2014/main" id="{39491D33-C462-2803-A7AE-E230C3BF0992}"/>
              </a:ext>
            </a:extLst>
          </p:cNvPr>
          <p:cNvSpPr>
            <a:spLocks noGrp="1"/>
          </p:cNvSpPr>
          <p:nvPr>
            <p:ph type="sldNum" sz="quarter" idx="12"/>
          </p:nvPr>
        </p:nvSpPr>
        <p:spPr/>
        <p:txBody>
          <a:bodyPr/>
          <a:lstStyle/>
          <a:p>
            <a:fld id="{FA5D76E8-8AD6-443B-8B81-1688B2EC3502}" type="slidenum">
              <a:rPr lang="en-US" smtClean="0"/>
              <a:t>32</a:t>
            </a:fld>
            <a:endParaRPr lang="en-US"/>
          </a:p>
        </p:txBody>
      </p:sp>
    </p:spTree>
    <p:extLst>
      <p:ext uri="{BB962C8B-B14F-4D97-AF65-F5344CB8AC3E}">
        <p14:creationId xmlns:p14="http://schemas.microsoft.com/office/powerpoint/2010/main" val="8712324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6B908-6CE2-5E91-67AE-66BB62FA5B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01C956-6BBB-C4F6-63E6-C166D8DEA143}"/>
              </a:ext>
            </a:extLst>
          </p:cNvPr>
          <p:cNvSpPr>
            <a:spLocks noGrp="1"/>
          </p:cNvSpPr>
          <p:nvPr>
            <p:ph type="title"/>
          </p:nvPr>
        </p:nvSpPr>
        <p:spPr>
          <a:xfrm>
            <a:off x="3564807" y="0"/>
            <a:ext cx="6416779" cy="1325563"/>
          </a:xfrm>
        </p:spPr>
        <p:txBody>
          <a:bodyPr/>
          <a:lstStyle/>
          <a:p>
            <a:r>
              <a:rPr lang="en-US" b="1" dirty="0">
                <a:solidFill>
                  <a:srgbClr val="156082"/>
                </a:solidFill>
              </a:rPr>
              <a:t>Proposed Hybrid Methods</a:t>
            </a:r>
          </a:p>
        </p:txBody>
      </p:sp>
      <p:sp>
        <p:nvSpPr>
          <p:cNvPr id="9" name="Rectangle 8">
            <a:extLst>
              <a:ext uri="{FF2B5EF4-FFF2-40B4-BE49-F238E27FC236}">
                <a16:creationId xmlns:a16="http://schemas.microsoft.com/office/drawing/2014/main" id="{64874A22-FCAB-51FB-F850-115370F24AB9}"/>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Content Placeholder 20">
            <a:extLst>
              <a:ext uri="{FF2B5EF4-FFF2-40B4-BE49-F238E27FC236}">
                <a16:creationId xmlns:a16="http://schemas.microsoft.com/office/drawing/2014/main" id="{20252DE0-EA4C-573C-D378-8408A40560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graphicFrame>
        <p:nvGraphicFramePr>
          <p:cNvPr id="17" name="Content Placeholder 2">
            <a:extLst>
              <a:ext uri="{FF2B5EF4-FFF2-40B4-BE49-F238E27FC236}">
                <a16:creationId xmlns:a16="http://schemas.microsoft.com/office/drawing/2014/main" id="{D53D904B-9006-6120-BFF6-036C8C9B81A1}"/>
              </a:ext>
            </a:extLst>
          </p:cNvPr>
          <p:cNvGraphicFramePr>
            <a:graphicFrameLocks noGrp="1"/>
          </p:cNvGraphicFramePr>
          <p:nvPr>
            <p:ph idx="1"/>
            <p:extLst>
              <p:ext uri="{D42A27DB-BD31-4B8C-83A1-F6EECF244321}">
                <p14:modId xmlns:p14="http://schemas.microsoft.com/office/powerpoint/2010/main" val="867461568"/>
              </p:ext>
            </p:extLst>
          </p:nvPr>
        </p:nvGraphicFramePr>
        <p:xfrm>
          <a:off x="2192594" y="1474839"/>
          <a:ext cx="9161206" cy="47021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2" name="Picture 11">
            <a:extLst>
              <a:ext uri="{FF2B5EF4-FFF2-40B4-BE49-F238E27FC236}">
                <a16:creationId xmlns:a16="http://schemas.microsoft.com/office/drawing/2014/main" id="{BCDFD4A6-5F03-B023-03CB-4E4F8594BF6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3" name="Slide Number Placeholder 12">
            <a:extLst>
              <a:ext uri="{FF2B5EF4-FFF2-40B4-BE49-F238E27FC236}">
                <a16:creationId xmlns:a16="http://schemas.microsoft.com/office/drawing/2014/main" id="{2FF0010B-F445-C316-1AEF-34F37EE73203}"/>
              </a:ext>
            </a:extLst>
          </p:cNvPr>
          <p:cNvSpPr>
            <a:spLocks noGrp="1"/>
          </p:cNvSpPr>
          <p:nvPr>
            <p:ph type="sldNum" sz="quarter" idx="12"/>
          </p:nvPr>
        </p:nvSpPr>
        <p:spPr/>
        <p:txBody>
          <a:bodyPr/>
          <a:lstStyle/>
          <a:p>
            <a:fld id="{FA5D76E8-8AD6-443B-8B81-1688B2EC3502}" type="slidenum">
              <a:rPr lang="en-US" smtClean="0"/>
              <a:t>33</a:t>
            </a:fld>
            <a:endParaRPr lang="en-US"/>
          </a:p>
        </p:txBody>
      </p:sp>
      <p:sp>
        <p:nvSpPr>
          <p:cNvPr id="26" name="TextBox 25">
            <a:extLst>
              <a:ext uri="{FF2B5EF4-FFF2-40B4-BE49-F238E27FC236}">
                <a16:creationId xmlns:a16="http://schemas.microsoft.com/office/drawing/2014/main" id="{27E2C3B5-D49B-67D2-E177-74A2727F0CBF}"/>
              </a:ext>
            </a:extLst>
          </p:cNvPr>
          <p:cNvSpPr txBox="1"/>
          <p:nvPr/>
        </p:nvSpPr>
        <p:spPr>
          <a:xfrm>
            <a:off x="2188247" y="1396180"/>
            <a:ext cx="2924527" cy="461665"/>
          </a:xfrm>
          <a:prstGeom prst="rect">
            <a:avLst/>
          </a:prstGeom>
          <a:noFill/>
        </p:spPr>
        <p:txBody>
          <a:bodyPr wrap="square" rtlCol="0">
            <a:spAutoFit/>
          </a:bodyPr>
          <a:lstStyle/>
          <a:p>
            <a:pPr lvl="0"/>
            <a:r>
              <a:rPr lang="en-US" sz="2400" b="1" dirty="0"/>
              <a:t>HGATS Framework</a:t>
            </a:r>
            <a:endParaRPr lang="en-US" sz="2400" dirty="0"/>
          </a:p>
        </p:txBody>
      </p:sp>
    </p:spTree>
    <p:extLst>
      <p:ext uri="{BB962C8B-B14F-4D97-AF65-F5344CB8AC3E}">
        <p14:creationId xmlns:p14="http://schemas.microsoft.com/office/powerpoint/2010/main" val="2181723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graphicEl>
                                              <a:dgm id="{2DB1584F-DF12-4944-9431-33C9B5242235}"/>
                                            </p:graphicEl>
                                          </p:spTgt>
                                        </p:tgtEl>
                                        <p:attrNameLst>
                                          <p:attrName>style.visibility</p:attrName>
                                        </p:attrNameLst>
                                      </p:cBhvr>
                                      <p:to>
                                        <p:strVal val="visible"/>
                                      </p:to>
                                    </p:set>
                                    <p:animEffect transition="in" filter="fade">
                                      <p:cBhvr>
                                        <p:cTn id="7" dur="500"/>
                                        <p:tgtEl>
                                          <p:spTgt spid="17">
                                            <p:graphicEl>
                                              <a:dgm id="{2DB1584F-DF12-4944-9431-33C9B5242235}"/>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graphicEl>
                                              <a:dgm id="{3B797577-9E6D-4487-8214-6235F0F47A7C}"/>
                                            </p:graphicEl>
                                          </p:spTgt>
                                        </p:tgtEl>
                                        <p:attrNameLst>
                                          <p:attrName>style.visibility</p:attrName>
                                        </p:attrNameLst>
                                      </p:cBhvr>
                                      <p:to>
                                        <p:strVal val="visible"/>
                                      </p:to>
                                    </p:set>
                                    <p:animEffect transition="in" filter="fade">
                                      <p:cBhvr>
                                        <p:cTn id="12" dur="500"/>
                                        <p:tgtEl>
                                          <p:spTgt spid="17">
                                            <p:graphicEl>
                                              <a:dgm id="{3B797577-9E6D-4487-8214-6235F0F47A7C}"/>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graphicEl>
                                              <a:dgm id="{3DA0F8C6-917F-4416-832E-D00C8E6CC3BA}"/>
                                            </p:graphicEl>
                                          </p:spTgt>
                                        </p:tgtEl>
                                        <p:attrNameLst>
                                          <p:attrName>style.visibility</p:attrName>
                                        </p:attrNameLst>
                                      </p:cBhvr>
                                      <p:to>
                                        <p:strVal val="visible"/>
                                      </p:to>
                                    </p:set>
                                    <p:animEffect transition="in" filter="fade">
                                      <p:cBhvr>
                                        <p:cTn id="17" dur="500"/>
                                        <p:tgtEl>
                                          <p:spTgt spid="17">
                                            <p:graphicEl>
                                              <a:dgm id="{3DA0F8C6-917F-4416-832E-D00C8E6CC3BA}"/>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graphicEl>
                                              <a:dgm id="{F18F5B72-CC9B-4690-BB1E-F556B6CD443B}"/>
                                            </p:graphicEl>
                                          </p:spTgt>
                                        </p:tgtEl>
                                        <p:attrNameLst>
                                          <p:attrName>style.visibility</p:attrName>
                                        </p:attrNameLst>
                                      </p:cBhvr>
                                      <p:to>
                                        <p:strVal val="visible"/>
                                      </p:to>
                                    </p:set>
                                    <p:animEffect transition="in" filter="fade">
                                      <p:cBhvr>
                                        <p:cTn id="22" dur="500"/>
                                        <p:tgtEl>
                                          <p:spTgt spid="17">
                                            <p:graphicEl>
                                              <a:dgm id="{F18F5B72-CC9B-4690-BB1E-F556B6CD443B}"/>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graphicEl>
                                              <a:dgm id="{F0DE2713-E619-42BA-B442-5B8FDCC671B1}"/>
                                            </p:graphicEl>
                                          </p:spTgt>
                                        </p:tgtEl>
                                        <p:attrNameLst>
                                          <p:attrName>style.visibility</p:attrName>
                                        </p:attrNameLst>
                                      </p:cBhvr>
                                      <p:to>
                                        <p:strVal val="visible"/>
                                      </p:to>
                                    </p:set>
                                    <p:animEffect transition="in" filter="fade">
                                      <p:cBhvr>
                                        <p:cTn id="27" dur="500"/>
                                        <p:tgtEl>
                                          <p:spTgt spid="17">
                                            <p:graphicEl>
                                              <a:dgm id="{F0DE2713-E619-42BA-B442-5B8FDCC671B1}"/>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7">
                                            <p:graphicEl>
                                              <a:dgm id="{10C386EC-1B73-4C59-BBEA-77F9FF33DC64}"/>
                                            </p:graphicEl>
                                          </p:spTgt>
                                        </p:tgtEl>
                                        <p:attrNameLst>
                                          <p:attrName>style.visibility</p:attrName>
                                        </p:attrNameLst>
                                      </p:cBhvr>
                                      <p:to>
                                        <p:strVal val="visible"/>
                                      </p:to>
                                    </p:set>
                                    <p:animEffect transition="in" filter="fade">
                                      <p:cBhvr>
                                        <p:cTn id="32" dur="500"/>
                                        <p:tgtEl>
                                          <p:spTgt spid="17">
                                            <p:graphicEl>
                                              <a:dgm id="{10C386EC-1B73-4C59-BBEA-77F9FF33DC64}"/>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7">
                                            <p:graphicEl>
                                              <a:dgm id="{B3794F94-29B1-4F1C-ADE7-DC7070665F1C}"/>
                                            </p:graphicEl>
                                          </p:spTgt>
                                        </p:tgtEl>
                                        <p:attrNameLst>
                                          <p:attrName>style.visibility</p:attrName>
                                        </p:attrNameLst>
                                      </p:cBhvr>
                                      <p:to>
                                        <p:strVal val="visible"/>
                                      </p:to>
                                    </p:set>
                                    <p:animEffect transition="in" filter="fade">
                                      <p:cBhvr>
                                        <p:cTn id="37" dur="500"/>
                                        <p:tgtEl>
                                          <p:spTgt spid="17">
                                            <p:graphicEl>
                                              <a:dgm id="{B3794F94-29B1-4F1C-ADE7-DC7070665F1C}"/>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7">
                                            <p:graphicEl>
                                              <a:dgm id="{B1154D5A-2787-4CAA-B99B-E192484D9272}"/>
                                            </p:graphicEl>
                                          </p:spTgt>
                                        </p:tgtEl>
                                        <p:attrNameLst>
                                          <p:attrName>style.visibility</p:attrName>
                                        </p:attrNameLst>
                                      </p:cBhvr>
                                      <p:to>
                                        <p:strVal val="visible"/>
                                      </p:to>
                                    </p:set>
                                    <p:animEffect transition="in" filter="fade">
                                      <p:cBhvr>
                                        <p:cTn id="42" dur="500"/>
                                        <p:tgtEl>
                                          <p:spTgt spid="17">
                                            <p:graphicEl>
                                              <a:dgm id="{B1154D5A-2787-4CAA-B99B-E192484D9272}"/>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7">
                                            <p:graphicEl>
                                              <a:dgm id="{668B3043-C3B2-42AA-937B-8842EC7BA359}"/>
                                            </p:graphicEl>
                                          </p:spTgt>
                                        </p:tgtEl>
                                        <p:attrNameLst>
                                          <p:attrName>style.visibility</p:attrName>
                                        </p:attrNameLst>
                                      </p:cBhvr>
                                      <p:to>
                                        <p:strVal val="visible"/>
                                      </p:to>
                                    </p:set>
                                    <p:animEffect transition="in" filter="fade">
                                      <p:cBhvr>
                                        <p:cTn id="47" dur="500"/>
                                        <p:tgtEl>
                                          <p:spTgt spid="17">
                                            <p:graphicEl>
                                              <a:dgm id="{668B3043-C3B2-42AA-937B-8842EC7BA359}"/>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7" grpId="0">
        <p:bldSub>
          <a:bldDgm bld="one"/>
        </p:bldSub>
      </p:bldGraphic>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95624-9795-4AE1-9360-F39FEFFDC2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1D2C13-9326-22CC-8B2C-748906035991}"/>
              </a:ext>
            </a:extLst>
          </p:cNvPr>
          <p:cNvSpPr>
            <a:spLocks noGrp="1"/>
          </p:cNvSpPr>
          <p:nvPr>
            <p:ph type="title"/>
          </p:nvPr>
        </p:nvSpPr>
        <p:spPr>
          <a:xfrm>
            <a:off x="3564807" y="0"/>
            <a:ext cx="6416779" cy="1325563"/>
          </a:xfrm>
        </p:spPr>
        <p:txBody>
          <a:bodyPr/>
          <a:lstStyle/>
          <a:p>
            <a:r>
              <a:rPr lang="en-US" b="1" dirty="0">
                <a:solidFill>
                  <a:srgbClr val="156082"/>
                </a:solidFill>
              </a:rPr>
              <a:t>Proposed Hybrid Methods</a:t>
            </a:r>
          </a:p>
        </p:txBody>
      </p:sp>
      <p:sp>
        <p:nvSpPr>
          <p:cNvPr id="9" name="Rectangle 8">
            <a:extLst>
              <a:ext uri="{FF2B5EF4-FFF2-40B4-BE49-F238E27FC236}">
                <a16:creationId xmlns:a16="http://schemas.microsoft.com/office/drawing/2014/main" id="{35DE93E6-3163-C271-0731-776FD4288A3A}"/>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Content Placeholder 20">
            <a:extLst>
              <a:ext uri="{FF2B5EF4-FFF2-40B4-BE49-F238E27FC236}">
                <a16:creationId xmlns:a16="http://schemas.microsoft.com/office/drawing/2014/main" id="{3F938E09-992C-CD2F-93A2-2400895C60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2" name="Picture 11">
            <a:extLst>
              <a:ext uri="{FF2B5EF4-FFF2-40B4-BE49-F238E27FC236}">
                <a16:creationId xmlns:a16="http://schemas.microsoft.com/office/drawing/2014/main" id="{5ECA4F9F-4B57-3452-A648-DFB5E6D6E5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3" name="Slide Number Placeholder 12">
            <a:extLst>
              <a:ext uri="{FF2B5EF4-FFF2-40B4-BE49-F238E27FC236}">
                <a16:creationId xmlns:a16="http://schemas.microsoft.com/office/drawing/2014/main" id="{21F34D30-50DC-AE02-5668-A65FDA57793E}"/>
              </a:ext>
            </a:extLst>
          </p:cNvPr>
          <p:cNvSpPr>
            <a:spLocks noGrp="1"/>
          </p:cNvSpPr>
          <p:nvPr>
            <p:ph type="sldNum" sz="quarter" idx="12"/>
          </p:nvPr>
        </p:nvSpPr>
        <p:spPr/>
        <p:txBody>
          <a:bodyPr/>
          <a:lstStyle/>
          <a:p>
            <a:fld id="{FA5D76E8-8AD6-443B-8B81-1688B2EC3502}" type="slidenum">
              <a:rPr lang="en-US" smtClean="0"/>
              <a:t>34</a:t>
            </a:fld>
            <a:endParaRPr lang="en-US"/>
          </a:p>
        </p:txBody>
      </p:sp>
      <p:sp>
        <p:nvSpPr>
          <p:cNvPr id="6" name="Content Placeholder 5">
            <a:extLst>
              <a:ext uri="{FF2B5EF4-FFF2-40B4-BE49-F238E27FC236}">
                <a16:creationId xmlns:a16="http://schemas.microsoft.com/office/drawing/2014/main" id="{38FBAAAF-8649-F628-1F3E-3BED71E649CE}"/>
              </a:ext>
            </a:extLst>
          </p:cNvPr>
          <p:cNvSpPr>
            <a:spLocks noGrp="1"/>
          </p:cNvSpPr>
          <p:nvPr>
            <p:ph idx="1"/>
          </p:nvPr>
        </p:nvSpPr>
        <p:spPr>
          <a:xfrm>
            <a:off x="2285999" y="1580335"/>
            <a:ext cx="8974394" cy="4623819"/>
          </a:xfrm>
        </p:spPr>
        <p:txBody>
          <a:bodyPr>
            <a:normAutofit fontScale="85000" lnSpcReduction="20000"/>
          </a:bodyPr>
          <a:lstStyle/>
          <a:p>
            <a:pPr marL="0" indent="0">
              <a:buNone/>
            </a:pPr>
            <a:r>
              <a:rPr lang="en-US" sz="3100" b="1" dirty="0">
                <a:solidFill>
                  <a:srgbClr val="156082"/>
                </a:solidFill>
              </a:rPr>
              <a:t>Phase I: GSGA</a:t>
            </a:r>
          </a:p>
          <a:p>
            <a:pPr marL="0" indent="0">
              <a:buNone/>
            </a:pPr>
            <a:r>
              <a:rPr lang="en-US" b="1" dirty="0"/>
              <a:t>Guided Search Genetic Algorithm</a:t>
            </a:r>
          </a:p>
          <a:p>
            <a:pPr marL="0" indent="0">
              <a:buNone/>
            </a:pPr>
            <a:r>
              <a:rPr lang="en-US" b="1" dirty="0"/>
              <a:t>Main Components</a:t>
            </a:r>
          </a:p>
          <a:p>
            <a:r>
              <a:rPr lang="en-US" dirty="0"/>
              <a:t>Population Initialization </a:t>
            </a:r>
          </a:p>
          <a:p>
            <a:r>
              <a:rPr lang="en-US" dirty="0"/>
              <a:t>Guided Search </a:t>
            </a:r>
          </a:p>
          <a:p>
            <a:r>
              <a:rPr lang="en-US" dirty="0"/>
              <a:t>Biased Crossover </a:t>
            </a:r>
          </a:p>
          <a:p>
            <a:r>
              <a:rPr lang="en-US" dirty="0"/>
              <a:t>Mutation </a:t>
            </a:r>
          </a:p>
          <a:p>
            <a:r>
              <a:rPr lang="en-US" dirty="0"/>
              <a:t>Local Search (LS3 &amp; LS4) </a:t>
            </a:r>
          </a:p>
          <a:p>
            <a:pPr marL="0" indent="0">
              <a:buNone/>
            </a:pPr>
            <a:r>
              <a:rPr lang="en-US" b="1" dirty="0"/>
              <a:t>Objective</a:t>
            </a:r>
          </a:p>
          <a:p>
            <a:pPr marL="0" indent="0">
              <a:buNone/>
            </a:pPr>
            <a:r>
              <a:rPr lang="en-US" dirty="0"/>
              <a:t>Generate increasingly better timetables while reducing:</a:t>
            </a:r>
          </a:p>
          <a:p>
            <a:r>
              <a:rPr lang="en-US" dirty="0"/>
              <a:t>Hard Constraint Violations </a:t>
            </a:r>
          </a:p>
          <a:p>
            <a:r>
              <a:rPr lang="en-US" dirty="0"/>
              <a:t>Soft Constraint Penalties</a:t>
            </a:r>
          </a:p>
          <a:p>
            <a:endParaRPr lang="en-US" dirty="0"/>
          </a:p>
        </p:txBody>
      </p:sp>
    </p:spTree>
    <p:extLst>
      <p:ext uri="{BB962C8B-B14F-4D97-AF65-F5344CB8AC3E}">
        <p14:creationId xmlns:p14="http://schemas.microsoft.com/office/powerpoint/2010/main" val="1455939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fade">
                                      <p:cBhvr>
                                        <p:cTn id="7" dur="500"/>
                                        <p:tgtEl>
                                          <p:spTgt spid="6">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3" end="3"/>
                                            </p:txEl>
                                          </p:spTgt>
                                        </p:tgtEl>
                                        <p:attrNameLst>
                                          <p:attrName>style.visibility</p:attrName>
                                        </p:attrNameLst>
                                      </p:cBhvr>
                                      <p:to>
                                        <p:strVal val="visible"/>
                                      </p:to>
                                    </p:set>
                                    <p:animEffect transition="in" filter="fade">
                                      <p:cBhvr>
                                        <p:cTn id="10" dur="500"/>
                                        <p:tgtEl>
                                          <p:spTgt spid="6">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animEffect transition="in" filter="fade">
                                      <p:cBhvr>
                                        <p:cTn id="13" dur="500"/>
                                        <p:tgtEl>
                                          <p:spTgt spid="6">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6">
                                            <p:txEl>
                                              <p:pRg st="5" end="5"/>
                                            </p:txEl>
                                          </p:spTgt>
                                        </p:tgtEl>
                                        <p:attrNameLst>
                                          <p:attrName>style.visibility</p:attrName>
                                        </p:attrNameLst>
                                      </p:cBhvr>
                                      <p:to>
                                        <p:strVal val="visible"/>
                                      </p:to>
                                    </p:set>
                                    <p:animEffect transition="in" filter="fade">
                                      <p:cBhvr>
                                        <p:cTn id="16" dur="500"/>
                                        <p:tgtEl>
                                          <p:spTgt spid="6">
                                            <p:txEl>
                                              <p:pRg st="5" end="5"/>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animEffect transition="in" filter="fade">
                                      <p:cBhvr>
                                        <p:cTn id="19" dur="500"/>
                                        <p:tgtEl>
                                          <p:spTgt spid="6">
                                            <p:txEl>
                                              <p:pRg st="6" end="6"/>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6">
                                            <p:txEl>
                                              <p:pRg st="7" end="7"/>
                                            </p:txEl>
                                          </p:spTgt>
                                        </p:tgtEl>
                                        <p:attrNameLst>
                                          <p:attrName>style.visibility</p:attrName>
                                        </p:attrNameLst>
                                      </p:cBhvr>
                                      <p:to>
                                        <p:strVal val="visible"/>
                                      </p:to>
                                    </p:set>
                                    <p:animEffect transition="in" filter="fade">
                                      <p:cBhvr>
                                        <p:cTn id="22" dur="500"/>
                                        <p:tgtEl>
                                          <p:spTgt spid="6">
                                            <p:txEl>
                                              <p:pRg st="7" end="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animEffect transition="in" filter="fade">
                                      <p:cBhvr>
                                        <p:cTn id="27" dur="500"/>
                                        <p:tgtEl>
                                          <p:spTgt spid="6">
                                            <p:txEl>
                                              <p:pRg st="8" end="8"/>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6">
                                            <p:txEl>
                                              <p:pRg st="9" end="9"/>
                                            </p:txEl>
                                          </p:spTgt>
                                        </p:tgtEl>
                                        <p:attrNameLst>
                                          <p:attrName>style.visibility</p:attrName>
                                        </p:attrNameLst>
                                      </p:cBhvr>
                                      <p:to>
                                        <p:strVal val="visible"/>
                                      </p:to>
                                    </p:set>
                                    <p:animEffect transition="in" filter="fade">
                                      <p:cBhvr>
                                        <p:cTn id="30" dur="500"/>
                                        <p:tgtEl>
                                          <p:spTgt spid="6">
                                            <p:txEl>
                                              <p:pRg st="9" end="9"/>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6">
                                            <p:txEl>
                                              <p:pRg st="10" end="10"/>
                                            </p:txEl>
                                          </p:spTgt>
                                        </p:tgtEl>
                                        <p:attrNameLst>
                                          <p:attrName>style.visibility</p:attrName>
                                        </p:attrNameLst>
                                      </p:cBhvr>
                                      <p:to>
                                        <p:strVal val="visible"/>
                                      </p:to>
                                    </p:set>
                                    <p:animEffect transition="in" filter="fade">
                                      <p:cBhvr>
                                        <p:cTn id="33" dur="500"/>
                                        <p:tgtEl>
                                          <p:spTgt spid="6">
                                            <p:txEl>
                                              <p:pRg st="10" end="10"/>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6">
                                            <p:txEl>
                                              <p:pRg st="11" end="11"/>
                                            </p:txEl>
                                          </p:spTgt>
                                        </p:tgtEl>
                                        <p:attrNameLst>
                                          <p:attrName>style.visibility</p:attrName>
                                        </p:attrNameLst>
                                      </p:cBhvr>
                                      <p:to>
                                        <p:strVal val="visible"/>
                                      </p:to>
                                    </p:set>
                                    <p:animEffect transition="in" filter="fade">
                                      <p:cBhvr>
                                        <p:cTn id="36" dur="500"/>
                                        <p:tgtEl>
                                          <p:spTgt spid="6">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41AC3-70FE-5D61-3728-237766EF3B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34FCE6-A648-A12A-0D64-93941925226D}"/>
              </a:ext>
            </a:extLst>
          </p:cNvPr>
          <p:cNvSpPr>
            <a:spLocks noGrp="1"/>
          </p:cNvSpPr>
          <p:nvPr>
            <p:ph type="title"/>
          </p:nvPr>
        </p:nvSpPr>
        <p:spPr>
          <a:xfrm>
            <a:off x="3564807" y="0"/>
            <a:ext cx="6416779" cy="1325563"/>
          </a:xfrm>
        </p:spPr>
        <p:txBody>
          <a:bodyPr/>
          <a:lstStyle/>
          <a:p>
            <a:r>
              <a:rPr lang="en-US" b="1" dirty="0">
                <a:solidFill>
                  <a:srgbClr val="156082"/>
                </a:solidFill>
              </a:rPr>
              <a:t>Proposed Hybrid Methods</a:t>
            </a:r>
          </a:p>
        </p:txBody>
      </p:sp>
      <p:sp>
        <p:nvSpPr>
          <p:cNvPr id="9" name="Rectangle 8">
            <a:extLst>
              <a:ext uri="{FF2B5EF4-FFF2-40B4-BE49-F238E27FC236}">
                <a16:creationId xmlns:a16="http://schemas.microsoft.com/office/drawing/2014/main" id="{0321F3CC-B439-9A0D-B537-0A6072A7ADB3}"/>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Content Placeholder 20">
            <a:extLst>
              <a:ext uri="{FF2B5EF4-FFF2-40B4-BE49-F238E27FC236}">
                <a16:creationId xmlns:a16="http://schemas.microsoft.com/office/drawing/2014/main" id="{08363D1C-C184-4E41-A819-A872C3DD6A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2" name="Picture 11">
            <a:extLst>
              <a:ext uri="{FF2B5EF4-FFF2-40B4-BE49-F238E27FC236}">
                <a16:creationId xmlns:a16="http://schemas.microsoft.com/office/drawing/2014/main" id="{EC76310F-17DF-E42E-949C-461F16F0BB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3" name="Slide Number Placeholder 12">
            <a:extLst>
              <a:ext uri="{FF2B5EF4-FFF2-40B4-BE49-F238E27FC236}">
                <a16:creationId xmlns:a16="http://schemas.microsoft.com/office/drawing/2014/main" id="{D1D5505E-9AB1-E4D1-C6FB-27AC8141DFD0}"/>
              </a:ext>
            </a:extLst>
          </p:cNvPr>
          <p:cNvSpPr>
            <a:spLocks noGrp="1"/>
          </p:cNvSpPr>
          <p:nvPr>
            <p:ph type="sldNum" sz="quarter" idx="12"/>
          </p:nvPr>
        </p:nvSpPr>
        <p:spPr/>
        <p:txBody>
          <a:bodyPr/>
          <a:lstStyle/>
          <a:p>
            <a:fld id="{FA5D76E8-8AD6-443B-8B81-1688B2EC3502}" type="slidenum">
              <a:rPr lang="en-US" smtClean="0"/>
              <a:t>35</a:t>
            </a:fld>
            <a:endParaRPr lang="en-US"/>
          </a:p>
        </p:txBody>
      </p:sp>
      <p:graphicFrame>
        <p:nvGraphicFramePr>
          <p:cNvPr id="15" name="Content Placeholder 5">
            <a:extLst>
              <a:ext uri="{FF2B5EF4-FFF2-40B4-BE49-F238E27FC236}">
                <a16:creationId xmlns:a16="http://schemas.microsoft.com/office/drawing/2014/main" id="{49E6BDE5-DCD1-2354-5864-FD2A0759B14B}"/>
              </a:ext>
            </a:extLst>
          </p:cNvPr>
          <p:cNvGraphicFramePr>
            <a:graphicFrameLocks noGrp="1"/>
          </p:cNvGraphicFramePr>
          <p:nvPr>
            <p:ph idx="1"/>
            <p:extLst>
              <p:ext uri="{D42A27DB-BD31-4B8C-83A1-F6EECF244321}">
                <p14:modId xmlns:p14="http://schemas.microsoft.com/office/powerpoint/2010/main" val="2527772371"/>
              </p:ext>
            </p:extLst>
          </p:nvPr>
        </p:nvGraphicFramePr>
        <p:xfrm>
          <a:off x="2285999" y="1831059"/>
          <a:ext cx="8974394" cy="220508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A6E41640-06C7-499B-5B46-A7DE749223E1}"/>
              </a:ext>
            </a:extLst>
          </p:cNvPr>
          <p:cNvSpPr txBox="1"/>
          <p:nvPr/>
        </p:nvSpPr>
        <p:spPr>
          <a:xfrm>
            <a:off x="2285999" y="4541639"/>
            <a:ext cx="6100916" cy="1200329"/>
          </a:xfrm>
          <a:prstGeom prst="rect">
            <a:avLst/>
          </a:prstGeom>
          <a:noFill/>
        </p:spPr>
        <p:txBody>
          <a:bodyPr wrap="square">
            <a:spAutoFit/>
          </a:bodyPr>
          <a:lstStyle/>
          <a:p>
            <a:pPr rtl="0">
              <a:buNone/>
            </a:pPr>
            <a:r>
              <a:rPr lang="en-US" b="1" dirty="0"/>
              <a:t>Purpose</a:t>
            </a:r>
          </a:p>
          <a:p>
            <a:pPr rtl="0">
              <a:buFont typeface="Arial" panose="020B0604020202020204" pitchFamily="34" charset="0"/>
              <a:buChar char="•"/>
            </a:pPr>
            <a:r>
              <a:rPr lang="en-US" dirty="0"/>
              <a:t>Extract useful information from elite solutions. </a:t>
            </a:r>
          </a:p>
          <a:p>
            <a:pPr rtl="0">
              <a:buFont typeface="Arial" panose="020B0604020202020204" pitchFamily="34" charset="0"/>
              <a:buChar char="•"/>
            </a:pPr>
            <a:r>
              <a:rPr lang="en-US" dirty="0"/>
              <a:t>Store successful (Room, Timeslot) assignments. </a:t>
            </a:r>
          </a:p>
          <a:p>
            <a:pPr rtl="0">
              <a:buFont typeface="Arial" panose="020B0604020202020204" pitchFamily="34" charset="0"/>
              <a:buChar char="•"/>
            </a:pPr>
            <a:r>
              <a:rPr lang="en-US" dirty="0"/>
              <a:t>Reuse previous knowledge during offspring generation.</a:t>
            </a:r>
          </a:p>
        </p:txBody>
      </p:sp>
      <p:sp>
        <p:nvSpPr>
          <p:cNvPr id="10" name="TextBox 9">
            <a:extLst>
              <a:ext uri="{FF2B5EF4-FFF2-40B4-BE49-F238E27FC236}">
                <a16:creationId xmlns:a16="http://schemas.microsoft.com/office/drawing/2014/main" id="{FA9578AC-0F70-CD86-8ABB-6C5867C96812}"/>
              </a:ext>
            </a:extLst>
          </p:cNvPr>
          <p:cNvSpPr txBox="1"/>
          <p:nvPr/>
        </p:nvSpPr>
        <p:spPr>
          <a:xfrm>
            <a:off x="2179074" y="1403477"/>
            <a:ext cx="6100916" cy="461665"/>
          </a:xfrm>
          <a:prstGeom prst="rect">
            <a:avLst/>
          </a:prstGeom>
          <a:noFill/>
        </p:spPr>
        <p:txBody>
          <a:bodyPr wrap="square">
            <a:spAutoFit/>
          </a:bodyPr>
          <a:lstStyle/>
          <a:p>
            <a:r>
              <a:rPr lang="en-US" sz="2400" b="1" dirty="0"/>
              <a:t>Memory Structure (MEM)</a:t>
            </a:r>
          </a:p>
        </p:txBody>
      </p:sp>
    </p:spTree>
    <p:extLst>
      <p:ext uri="{BB962C8B-B14F-4D97-AF65-F5344CB8AC3E}">
        <p14:creationId xmlns:p14="http://schemas.microsoft.com/office/powerpoint/2010/main" val="456608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CC73A-963E-CA14-8AFC-CDAE4E5DD0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34172F-D060-76F3-0DAC-DC05375D80BF}"/>
              </a:ext>
            </a:extLst>
          </p:cNvPr>
          <p:cNvSpPr>
            <a:spLocks noGrp="1"/>
          </p:cNvSpPr>
          <p:nvPr>
            <p:ph type="title"/>
          </p:nvPr>
        </p:nvSpPr>
        <p:spPr>
          <a:xfrm>
            <a:off x="3564807" y="0"/>
            <a:ext cx="6416779" cy="1325563"/>
          </a:xfrm>
        </p:spPr>
        <p:txBody>
          <a:bodyPr/>
          <a:lstStyle/>
          <a:p>
            <a:r>
              <a:rPr lang="en-US" b="1" dirty="0">
                <a:solidFill>
                  <a:srgbClr val="156082"/>
                </a:solidFill>
              </a:rPr>
              <a:t>Proposed Hybrid Methods</a:t>
            </a:r>
          </a:p>
        </p:txBody>
      </p:sp>
      <p:sp>
        <p:nvSpPr>
          <p:cNvPr id="9" name="Rectangle 8">
            <a:extLst>
              <a:ext uri="{FF2B5EF4-FFF2-40B4-BE49-F238E27FC236}">
                <a16:creationId xmlns:a16="http://schemas.microsoft.com/office/drawing/2014/main" id="{F86E4938-C765-D631-96C9-5BD57698237D}"/>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Content Placeholder 20">
            <a:extLst>
              <a:ext uri="{FF2B5EF4-FFF2-40B4-BE49-F238E27FC236}">
                <a16:creationId xmlns:a16="http://schemas.microsoft.com/office/drawing/2014/main" id="{BC1BA8D8-3F85-ECBB-D967-108CDC0CC8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2" name="Picture 11">
            <a:extLst>
              <a:ext uri="{FF2B5EF4-FFF2-40B4-BE49-F238E27FC236}">
                <a16:creationId xmlns:a16="http://schemas.microsoft.com/office/drawing/2014/main" id="{1ADF8B95-7682-DAD0-8037-3A275D5777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3" name="Slide Number Placeholder 12">
            <a:extLst>
              <a:ext uri="{FF2B5EF4-FFF2-40B4-BE49-F238E27FC236}">
                <a16:creationId xmlns:a16="http://schemas.microsoft.com/office/drawing/2014/main" id="{61A8A21A-7C15-E60D-8E73-988830AD030F}"/>
              </a:ext>
            </a:extLst>
          </p:cNvPr>
          <p:cNvSpPr>
            <a:spLocks noGrp="1"/>
          </p:cNvSpPr>
          <p:nvPr>
            <p:ph type="sldNum" sz="quarter" idx="12"/>
          </p:nvPr>
        </p:nvSpPr>
        <p:spPr/>
        <p:txBody>
          <a:bodyPr/>
          <a:lstStyle/>
          <a:p>
            <a:fld id="{FA5D76E8-8AD6-443B-8B81-1688B2EC3502}" type="slidenum">
              <a:rPr lang="en-US" smtClean="0"/>
              <a:t>36</a:t>
            </a:fld>
            <a:endParaRPr lang="en-US"/>
          </a:p>
        </p:txBody>
      </p:sp>
      <p:graphicFrame>
        <p:nvGraphicFramePr>
          <p:cNvPr id="15" name="Content Placeholder 5">
            <a:extLst>
              <a:ext uri="{FF2B5EF4-FFF2-40B4-BE49-F238E27FC236}">
                <a16:creationId xmlns:a16="http://schemas.microsoft.com/office/drawing/2014/main" id="{6E1A08CA-F452-FAA9-2BD3-23F4D25DE038}"/>
              </a:ext>
            </a:extLst>
          </p:cNvPr>
          <p:cNvGraphicFramePr>
            <a:graphicFrameLocks noGrp="1"/>
          </p:cNvGraphicFramePr>
          <p:nvPr>
            <p:ph idx="1"/>
            <p:extLst>
              <p:ext uri="{D42A27DB-BD31-4B8C-83A1-F6EECF244321}">
                <p14:modId xmlns:p14="http://schemas.microsoft.com/office/powerpoint/2010/main" val="481940642"/>
              </p:ext>
            </p:extLst>
          </p:nvPr>
        </p:nvGraphicFramePr>
        <p:xfrm>
          <a:off x="2285999" y="1811394"/>
          <a:ext cx="8974394" cy="234765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79563C44-0832-6CA0-A7EC-918D91A0235A}"/>
              </a:ext>
            </a:extLst>
          </p:cNvPr>
          <p:cNvSpPr txBox="1"/>
          <p:nvPr/>
        </p:nvSpPr>
        <p:spPr>
          <a:xfrm>
            <a:off x="2285999" y="4541639"/>
            <a:ext cx="6100916" cy="1200329"/>
          </a:xfrm>
          <a:prstGeom prst="rect">
            <a:avLst/>
          </a:prstGeom>
          <a:noFill/>
        </p:spPr>
        <p:txBody>
          <a:bodyPr wrap="square">
            <a:spAutoFit/>
          </a:bodyPr>
          <a:lstStyle/>
          <a:p>
            <a:r>
              <a:rPr lang="en-US" b="1" dirty="0"/>
              <a:t>Advantages</a:t>
            </a:r>
          </a:p>
          <a:p>
            <a:r>
              <a:rPr lang="en-US" dirty="0"/>
              <a:t>Faster convergence. </a:t>
            </a:r>
          </a:p>
          <a:p>
            <a:r>
              <a:rPr lang="en-US" dirty="0"/>
              <a:t>Better solution quality. </a:t>
            </a:r>
          </a:p>
          <a:p>
            <a:r>
              <a:rPr lang="en-US" dirty="0"/>
              <a:t>Reduces random exploration.</a:t>
            </a:r>
          </a:p>
        </p:txBody>
      </p:sp>
      <p:sp>
        <p:nvSpPr>
          <p:cNvPr id="5" name="TextBox 4">
            <a:extLst>
              <a:ext uri="{FF2B5EF4-FFF2-40B4-BE49-F238E27FC236}">
                <a16:creationId xmlns:a16="http://schemas.microsoft.com/office/drawing/2014/main" id="{F6C186C1-86D7-68A6-3A08-42F3863F85BD}"/>
              </a:ext>
            </a:extLst>
          </p:cNvPr>
          <p:cNvSpPr txBox="1"/>
          <p:nvPr/>
        </p:nvSpPr>
        <p:spPr>
          <a:xfrm>
            <a:off x="2285998" y="1393645"/>
            <a:ext cx="6324601" cy="461665"/>
          </a:xfrm>
          <a:prstGeom prst="rect">
            <a:avLst/>
          </a:prstGeom>
          <a:noFill/>
        </p:spPr>
        <p:txBody>
          <a:bodyPr wrap="square">
            <a:spAutoFit/>
          </a:bodyPr>
          <a:lstStyle/>
          <a:p>
            <a:r>
              <a:rPr lang="en-US" sz="2400" b="1" dirty="0"/>
              <a:t>Guided Search Mechanism</a:t>
            </a:r>
          </a:p>
        </p:txBody>
      </p:sp>
    </p:spTree>
    <p:extLst>
      <p:ext uri="{BB962C8B-B14F-4D97-AF65-F5344CB8AC3E}">
        <p14:creationId xmlns:p14="http://schemas.microsoft.com/office/powerpoint/2010/main" val="57197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5" grpId="0">
        <p:bldAsOne/>
      </p:bldGraphic>
      <p:bldP spid="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B8C2F-4495-CC72-EDA8-AE757522BB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EF7941-141D-E46E-CF61-B2348371B6E6}"/>
              </a:ext>
            </a:extLst>
          </p:cNvPr>
          <p:cNvSpPr>
            <a:spLocks noGrp="1"/>
          </p:cNvSpPr>
          <p:nvPr>
            <p:ph type="title"/>
          </p:nvPr>
        </p:nvSpPr>
        <p:spPr>
          <a:xfrm>
            <a:off x="3564807" y="0"/>
            <a:ext cx="6416779" cy="1325563"/>
          </a:xfrm>
        </p:spPr>
        <p:txBody>
          <a:bodyPr/>
          <a:lstStyle/>
          <a:p>
            <a:r>
              <a:rPr lang="en-US" b="1" dirty="0">
                <a:solidFill>
                  <a:srgbClr val="156082"/>
                </a:solidFill>
              </a:rPr>
              <a:t>Proposed Hybrid Methods</a:t>
            </a:r>
          </a:p>
        </p:txBody>
      </p:sp>
      <p:sp>
        <p:nvSpPr>
          <p:cNvPr id="9" name="Rectangle 8">
            <a:extLst>
              <a:ext uri="{FF2B5EF4-FFF2-40B4-BE49-F238E27FC236}">
                <a16:creationId xmlns:a16="http://schemas.microsoft.com/office/drawing/2014/main" id="{9C52966C-A2C8-D4A3-DF1D-3DF228DF5934}"/>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Content Placeholder 20">
            <a:extLst>
              <a:ext uri="{FF2B5EF4-FFF2-40B4-BE49-F238E27FC236}">
                <a16:creationId xmlns:a16="http://schemas.microsoft.com/office/drawing/2014/main" id="{317FEE03-9499-5E3D-23C0-5734D56227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2" name="Picture 11">
            <a:extLst>
              <a:ext uri="{FF2B5EF4-FFF2-40B4-BE49-F238E27FC236}">
                <a16:creationId xmlns:a16="http://schemas.microsoft.com/office/drawing/2014/main" id="{B40409FA-52E2-B447-1FF9-C749E3D15D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3" name="Slide Number Placeholder 12">
            <a:extLst>
              <a:ext uri="{FF2B5EF4-FFF2-40B4-BE49-F238E27FC236}">
                <a16:creationId xmlns:a16="http://schemas.microsoft.com/office/drawing/2014/main" id="{845262AF-A57B-6D26-0CE4-1342FD366F5E}"/>
              </a:ext>
            </a:extLst>
          </p:cNvPr>
          <p:cNvSpPr>
            <a:spLocks noGrp="1"/>
          </p:cNvSpPr>
          <p:nvPr>
            <p:ph type="sldNum" sz="quarter" idx="12"/>
          </p:nvPr>
        </p:nvSpPr>
        <p:spPr/>
        <p:txBody>
          <a:bodyPr/>
          <a:lstStyle/>
          <a:p>
            <a:fld id="{FA5D76E8-8AD6-443B-8B81-1688B2EC3502}" type="slidenum">
              <a:rPr lang="en-US" smtClean="0"/>
              <a:t>37</a:t>
            </a:fld>
            <a:endParaRPr lang="en-US"/>
          </a:p>
        </p:txBody>
      </p:sp>
      <p:sp>
        <p:nvSpPr>
          <p:cNvPr id="5" name="TextBox 4">
            <a:extLst>
              <a:ext uri="{FF2B5EF4-FFF2-40B4-BE49-F238E27FC236}">
                <a16:creationId xmlns:a16="http://schemas.microsoft.com/office/drawing/2014/main" id="{469394D4-C70B-2D9D-C393-ACEAF9A2DD54}"/>
              </a:ext>
            </a:extLst>
          </p:cNvPr>
          <p:cNvSpPr txBox="1"/>
          <p:nvPr/>
        </p:nvSpPr>
        <p:spPr>
          <a:xfrm>
            <a:off x="2210414" y="1063953"/>
            <a:ext cx="6324601" cy="523220"/>
          </a:xfrm>
          <a:prstGeom prst="rect">
            <a:avLst/>
          </a:prstGeom>
          <a:noFill/>
        </p:spPr>
        <p:txBody>
          <a:bodyPr wrap="square">
            <a:spAutoFit/>
          </a:bodyPr>
          <a:lstStyle/>
          <a:p>
            <a:r>
              <a:rPr lang="en-US" sz="2800" b="1" dirty="0"/>
              <a:t>Local Search Strategies</a:t>
            </a:r>
          </a:p>
        </p:txBody>
      </p:sp>
      <p:sp>
        <p:nvSpPr>
          <p:cNvPr id="6" name="Content Placeholder 5">
            <a:extLst>
              <a:ext uri="{FF2B5EF4-FFF2-40B4-BE49-F238E27FC236}">
                <a16:creationId xmlns:a16="http://schemas.microsoft.com/office/drawing/2014/main" id="{AE597AFE-F60D-B13E-1E96-1F37DD35BF8E}"/>
              </a:ext>
            </a:extLst>
          </p:cNvPr>
          <p:cNvSpPr>
            <a:spLocks noGrp="1"/>
          </p:cNvSpPr>
          <p:nvPr>
            <p:ph idx="1"/>
          </p:nvPr>
        </p:nvSpPr>
        <p:spPr>
          <a:xfrm>
            <a:off x="2285998" y="1825625"/>
            <a:ext cx="9067802" cy="4073730"/>
          </a:xfrm>
        </p:spPr>
        <p:txBody>
          <a:bodyPr>
            <a:normAutofit/>
          </a:bodyPr>
          <a:lstStyle/>
          <a:p>
            <a:pPr marL="0" indent="0">
              <a:buNone/>
            </a:pPr>
            <a:r>
              <a:rPr lang="en-US" sz="2000" dirty="0"/>
              <a:t>1. LS3: Feasibility Improvement</a:t>
            </a:r>
            <a:endParaRPr lang="ar-EG" sz="2000" dirty="0"/>
          </a:p>
          <a:p>
            <a:pPr marL="0" indent="0">
              <a:buNone/>
            </a:pPr>
            <a:r>
              <a:rPr lang="en-US" sz="2000" b="1" dirty="0"/>
              <a:t>Neighborhood Structures</a:t>
            </a:r>
          </a:p>
          <a:p>
            <a:r>
              <a:rPr lang="en-US" sz="2000" dirty="0"/>
              <a:t>N1: Move Event </a:t>
            </a:r>
          </a:p>
          <a:p>
            <a:r>
              <a:rPr lang="en-US" sz="2000" dirty="0"/>
              <a:t>N2: Swap Events </a:t>
            </a:r>
          </a:p>
          <a:p>
            <a:r>
              <a:rPr lang="en-US" sz="2000" dirty="0"/>
              <a:t>N3: Three-Way Rotation </a:t>
            </a:r>
          </a:p>
          <a:p>
            <a:r>
              <a:rPr lang="en-US" sz="2000" dirty="0"/>
              <a:t>N4: Random Reassignment </a:t>
            </a:r>
          </a:p>
          <a:p>
            <a:pPr marL="0" indent="0">
              <a:buNone/>
            </a:pPr>
            <a:r>
              <a:rPr lang="en-US" sz="2000" b="1" dirty="0"/>
              <a:t>Goal</a:t>
            </a:r>
          </a:p>
          <a:p>
            <a:r>
              <a:rPr lang="en-US" sz="2000" dirty="0"/>
              <a:t>Repair hard constraint violations and improve feasibility.</a:t>
            </a:r>
          </a:p>
          <a:p>
            <a:endParaRPr lang="en-US" sz="2000" dirty="0"/>
          </a:p>
        </p:txBody>
      </p:sp>
    </p:spTree>
    <p:extLst>
      <p:ext uri="{BB962C8B-B14F-4D97-AF65-F5344CB8AC3E}">
        <p14:creationId xmlns:p14="http://schemas.microsoft.com/office/powerpoint/2010/main" val="3505784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500"/>
                                        <p:tgtEl>
                                          <p:spTgt spid="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fade">
                                      <p:cBhvr>
                                        <p:cTn id="15" dur="500"/>
                                        <p:tgtEl>
                                          <p:spTgt spid="6">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xEl>
                                              <p:pRg st="3" end="3"/>
                                            </p:txEl>
                                          </p:spTgt>
                                        </p:tgtEl>
                                        <p:attrNameLst>
                                          <p:attrName>style.visibility</p:attrName>
                                        </p:attrNameLst>
                                      </p:cBhvr>
                                      <p:to>
                                        <p:strVal val="visible"/>
                                      </p:to>
                                    </p:set>
                                    <p:animEffect transition="in" filter="fade">
                                      <p:cBhvr>
                                        <p:cTn id="20" dur="500"/>
                                        <p:tgtEl>
                                          <p:spTgt spid="6">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Effect transition="in" filter="fade">
                                      <p:cBhvr>
                                        <p:cTn id="25" dur="500"/>
                                        <p:tgtEl>
                                          <p:spTgt spid="6">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6">
                                            <p:txEl>
                                              <p:pRg st="5" end="5"/>
                                            </p:txEl>
                                          </p:spTgt>
                                        </p:tgtEl>
                                        <p:attrNameLst>
                                          <p:attrName>style.visibility</p:attrName>
                                        </p:attrNameLst>
                                      </p:cBhvr>
                                      <p:to>
                                        <p:strVal val="visible"/>
                                      </p:to>
                                    </p:set>
                                    <p:animEffect transition="in" filter="fade">
                                      <p:cBhvr>
                                        <p:cTn id="30" dur="500"/>
                                        <p:tgtEl>
                                          <p:spTgt spid="6">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6">
                                            <p:txEl>
                                              <p:pRg st="6" end="6"/>
                                            </p:txEl>
                                          </p:spTgt>
                                        </p:tgtEl>
                                        <p:attrNameLst>
                                          <p:attrName>style.visibility</p:attrName>
                                        </p:attrNameLst>
                                      </p:cBhvr>
                                      <p:to>
                                        <p:strVal val="visible"/>
                                      </p:to>
                                    </p:set>
                                    <p:animEffect transition="in" filter="fade">
                                      <p:cBhvr>
                                        <p:cTn id="35" dur="500"/>
                                        <p:tgtEl>
                                          <p:spTgt spid="6">
                                            <p:txEl>
                                              <p:pRg st="6" end="6"/>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6">
                                            <p:txEl>
                                              <p:pRg st="7" end="7"/>
                                            </p:txEl>
                                          </p:spTgt>
                                        </p:tgtEl>
                                        <p:attrNameLst>
                                          <p:attrName>style.visibility</p:attrName>
                                        </p:attrNameLst>
                                      </p:cBhvr>
                                      <p:to>
                                        <p:strVal val="visible"/>
                                      </p:to>
                                    </p:set>
                                    <p:animEffect transition="in" filter="fade">
                                      <p:cBhvr>
                                        <p:cTn id="38"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1368C-9BDE-7254-5965-27678971A6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77C6E8-E04F-E6E0-8D30-2F7EE62C6052}"/>
              </a:ext>
            </a:extLst>
          </p:cNvPr>
          <p:cNvSpPr>
            <a:spLocks noGrp="1"/>
          </p:cNvSpPr>
          <p:nvPr>
            <p:ph type="title"/>
          </p:nvPr>
        </p:nvSpPr>
        <p:spPr>
          <a:xfrm>
            <a:off x="3564807" y="0"/>
            <a:ext cx="6416779" cy="1325563"/>
          </a:xfrm>
        </p:spPr>
        <p:txBody>
          <a:bodyPr/>
          <a:lstStyle/>
          <a:p>
            <a:r>
              <a:rPr lang="en-US" b="1" dirty="0">
                <a:solidFill>
                  <a:srgbClr val="156082"/>
                </a:solidFill>
              </a:rPr>
              <a:t>Proposed Hybrid Methods</a:t>
            </a:r>
          </a:p>
        </p:txBody>
      </p:sp>
      <p:sp>
        <p:nvSpPr>
          <p:cNvPr id="9" name="Rectangle 8">
            <a:extLst>
              <a:ext uri="{FF2B5EF4-FFF2-40B4-BE49-F238E27FC236}">
                <a16:creationId xmlns:a16="http://schemas.microsoft.com/office/drawing/2014/main" id="{8CD3DBC8-E05E-5400-BD54-5AF4160D96B8}"/>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Content Placeholder 20">
            <a:extLst>
              <a:ext uri="{FF2B5EF4-FFF2-40B4-BE49-F238E27FC236}">
                <a16:creationId xmlns:a16="http://schemas.microsoft.com/office/drawing/2014/main" id="{719339D4-3F1B-F4DC-C1D6-7D3FA473D0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2" name="Picture 11">
            <a:extLst>
              <a:ext uri="{FF2B5EF4-FFF2-40B4-BE49-F238E27FC236}">
                <a16:creationId xmlns:a16="http://schemas.microsoft.com/office/drawing/2014/main" id="{8932B619-26D4-8631-DC8F-9336F984D6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3" name="Slide Number Placeholder 12">
            <a:extLst>
              <a:ext uri="{FF2B5EF4-FFF2-40B4-BE49-F238E27FC236}">
                <a16:creationId xmlns:a16="http://schemas.microsoft.com/office/drawing/2014/main" id="{F0A6D36F-7468-4C76-F29F-6766E91FAF67}"/>
              </a:ext>
            </a:extLst>
          </p:cNvPr>
          <p:cNvSpPr>
            <a:spLocks noGrp="1"/>
          </p:cNvSpPr>
          <p:nvPr>
            <p:ph type="sldNum" sz="quarter" idx="12"/>
          </p:nvPr>
        </p:nvSpPr>
        <p:spPr/>
        <p:txBody>
          <a:bodyPr/>
          <a:lstStyle/>
          <a:p>
            <a:fld id="{FA5D76E8-8AD6-443B-8B81-1688B2EC3502}" type="slidenum">
              <a:rPr lang="en-US" smtClean="0"/>
              <a:t>38</a:t>
            </a:fld>
            <a:endParaRPr lang="en-US"/>
          </a:p>
        </p:txBody>
      </p:sp>
      <p:sp>
        <p:nvSpPr>
          <p:cNvPr id="5" name="TextBox 4">
            <a:extLst>
              <a:ext uri="{FF2B5EF4-FFF2-40B4-BE49-F238E27FC236}">
                <a16:creationId xmlns:a16="http://schemas.microsoft.com/office/drawing/2014/main" id="{0095F231-7CFE-1B63-990E-699E81DAD2EB}"/>
              </a:ext>
            </a:extLst>
          </p:cNvPr>
          <p:cNvSpPr txBox="1"/>
          <p:nvPr/>
        </p:nvSpPr>
        <p:spPr>
          <a:xfrm>
            <a:off x="2285998" y="1393645"/>
            <a:ext cx="6324601" cy="461665"/>
          </a:xfrm>
          <a:prstGeom prst="rect">
            <a:avLst/>
          </a:prstGeom>
          <a:noFill/>
        </p:spPr>
        <p:txBody>
          <a:bodyPr wrap="square">
            <a:spAutoFit/>
          </a:bodyPr>
          <a:lstStyle/>
          <a:p>
            <a:r>
              <a:rPr lang="en-US" sz="2400" b="1" dirty="0"/>
              <a:t>Local Search Strategies</a:t>
            </a:r>
          </a:p>
        </p:txBody>
      </p:sp>
      <p:sp>
        <p:nvSpPr>
          <p:cNvPr id="6" name="Content Placeholder 5">
            <a:extLst>
              <a:ext uri="{FF2B5EF4-FFF2-40B4-BE49-F238E27FC236}">
                <a16:creationId xmlns:a16="http://schemas.microsoft.com/office/drawing/2014/main" id="{113AA2CA-E1D8-60C7-99C6-4C826373B549}"/>
              </a:ext>
            </a:extLst>
          </p:cNvPr>
          <p:cNvSpPr>
            <a:spLocks noGrp="1"/>
          </p:cNvSpPr>
          <p:nvPr>
            <p:ph idx="1"/>
          </p:nvPr>
        </p:nvSpPr>
        <p:spPr>
          <a:xfrm>
            <a:off x="2285998" y="1825625"/>
            <a:ext cx="9067802" cy="4073730"/>
          </a:xfrm>
        </p:spPr>
        <p:txBody>
          <a:bodyPr>
            <a:normAutofit/>
          </a:bodyPr>
          <a:lstStyle/>
          <a:p>
            <a:pPr marL="0" indent="0">
              <a:buNone/>
            </a:pPr>
            <a:r>
              <a:rPr lang="en-US" sz="2000" dirty="0"/>
              <a:t>2. Advanced Local Search (LS4)</a:t>
            </a:r>
            <a:endParaRPr lang="en-US" sz="2000" b="1" dirty="0"/>
          </a:p>
          <a:p>
            <a:pPr marL="0" indent="0">
              <a:buNone/>
            </a:pPr>
            <a:r>
              <a:rPr lang="en-US" sz="2000" b="1" dirty="0"/>
              <a:t>Additional Neighborhoods</a:t>
            </a:r>
          </a:p>
          <a:p>
            <a:r>
              <a:rPr lang="en-US" sz="2000" b="1" dirty="0"/>
              <a:t>N5 – Precedence Repair :</a:t>
            </a:r>
            <a:r>
              <a:rPr lang="en-US" sz="2000" dirty="0"/>
              <a:t>Fix violations of event ordering constraints.</a:t>
            </a:r>
          </a:p>
          <a:p>
            <a:r>
              <a:rPr lang="en-US" sz="2000" b="1" dirty="0"/>
              <a:t>N6 – Worst Timeslot Improvement :</a:t>
            </a:r>
            <a:r>
              <a:rPr lang="en-US" sz="2000" dirty="0"/>
              <a:t>Identify problematic timeslots and relocate events.</a:t>
            </a:r>
          </a:p>
          <a:p>
            <a:endParaRPr lang="en-US" sz="2000" dirty="0"/>
          </a:p>
          <a:p>
            <a:pPr marL="0" indent="0">
              <a:buNone/>
            </a:pPr>
            <a:r>
              <a:rPr lang="en-US" sz="2000" b="1" dirty="0"/>
              <a:t>Benefit</a:t>
            </a:r>
          </a:p>
          <a:p>
            <a:r>
              <a:rPr lang="en-US" sz="2000" dirty="0"/>
              <a:t>Further reduces timetable penalties after LS3.</a:t>
            </a:r>
          </a:p>
          <a:p>
            <a:endParaRPr lang="en-US" sz="2000" dirty="0"/>
          </a:p>
        </p:txBody>
      </p:sp>
    </p:spTree>
    <p:extLst>
      <p:ext uri="{BB962C8B-B14F-4D97-AF65-F5344CB8AC3E}">
        <p14:creationId xmlns:p14="http://schemas.microsoft.com/office/powerpoint/2010/main" val="2527420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500"/>
                                        <p:tgtEl>
                                          <p:spTgt spid="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fade">
                                      <p:cBhvr>
                                        <p:cTn id="15" dur="500"/>
                                        <p:tgtEl>
                                          <p:spTgt spid="6">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xEl>
                                              <p:pRg st="3" end="3"/>
                                            </p:txEl>
                                          </p:spTgt>
                                        </p:tgtEl>
                                        <p:attrNameLst>
                                          <p:attrName>style.visibility</p:attrName>
                                        </p:attrNameLst>
                                      </p:cBhvr>
                                      <p:to>
                                        <p:strVal val="visible"/>
                                      </p:to>
                                    </p:set>
                                    <p:animEffect transition="in" filter="fade">
                                      <p:cBhvr>
                                        <p:cTn id="20" dur="500"/>
                                        <p:tgtEl>
                                          <p:spTgt spid="6">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animEffect transition="in" filter="fade">
                                      <p:cBhvr>
                                        <p:cTn id="25" dur="500"/>
                                        <p:tgtEl>
                                          <p:spTgt spid="6">
                                            <p:txEl>
                                              <p:pRg st="5" end="5"/>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
                                            <p:txEl>
                                              <p:pRg st="6" end="6"/>
                                            </p:txEl>
                                          </p:spTgt>
                                        </p:tgtEl>
                                        <p:attrNameLst>
                                          <p:attrName>style.visibility</p:attrName>
                                        </p:attrNameLst>
                                      </p:cBhvr>
                                      <p:to>
                                        <p:strVal val="visible"/>
                                      </p:to>
                                    </p:set>
                                    <p:animEffect transition="in" filter="fade">
                                      <p:cBhvr>
                                        <p:cTn id="28"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993EF-165C-EDEC-89F9-8B1306DD5E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86B5CB-26F3-0A85-E8A8-8E77AC397531}"/>
              </a:ext>
            </a:extLst>
          </p:cNvPr>
          <p:cNvSpPr>
            <a:spLocks noGrp="1"/>
          </p:cNvSpPr>
          <p:nvPr>
            <p:ph type="title"/>
          </p:nvPr>
        </p:nvSpPr>
        <p:spPr>
          <a:xfrm>
            <a:off x="3564807" y="0"/>
            <a:ext cx="6416779" cy="1325563"/>
          </a:xfrm>
        </p:spPr>
        <p:txBody>
          <a:bodyPr/>
          <a:lstStyle/>
          <a:p>
            <a:r>
              <a:rPr lang="en-US" b="1" dirty="0">
                <a:solidFill>
                  <a:srgbClr val="156082"/>
                </a:solidFill>
              </a:rPr>
              <a:t>Proposed Hybrid Methods</a:t>
            </a:r>
          </a:p>
        </p:txBody>
      </p:sp>
      <p:sp>
        <p:nvSpPr>
          <p:cNvPr id="9" name="Rectangle 8">
            <a:extLst>
              <a:ext uri="{FF2B5EF4-FFF2-40B4-BE49-F238E27FC236}">
                <a16:creationId xmlns:a16="http://schemas.microsoft.com/office/drawing/2014/main" id="{57E713DE-D2C3-1707-4B5C-B8790FE5DD41}"/>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Content Placeholder 20">
            <a:extLst>
              <a:ext uri="{FF2B5EF4-FFF2-40B4-BE49-F238E27FC236}">
                <a16:creationId xmlns:a16="http://schemas.microsoft.com/office/drawing/2014/main" id="{4538E62E-0A9A-E531-BE9D-A2FB76E6A7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2" name="Picture 11">
            <a:extLst>
              <a:ext uri="{FF2B5EF4-FFF2-40B4-BE49-F238E27FC236}">
                <a16:creationId xmlns:a16="http://schemas.microsoft.com/office/drawing/2014/main" id="{720EFA63-7EC8-C747-4E8D-F9EFAB881D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3" name="Slide Number Placeholder 12">
            <a:extLst>
              <a:ext uri="{FF2B5EF4-FFF2-40B4-BE49-F238E27FC236}">
                <a16:creationId xmlns:a16="http://schemas.microsoft.com/office/drawing/2014/main" id="{BD993760-F2F3-777D-16E7-3CBE74F5C5F2}"/>
              </a:ext>
            </a:extLst>
          </p:cNvPr>
          <p:cNvSpPr>
            <a:spLocks noGrp="1"/>
          </p:cNvSpPr>
          <p:nvPr>
            <p:ph type="sldNum" sz="quarter" idx="12"/>
          </p:nvPr>
        </p:nvSpPr>
        <p:spPr/>
        <p:txBody>
          <a:bodyPr/>
          <a:lstStyle/>
          <a:p>
            <a:fld id="{FA5D76E8-8AD6-443B-8B81-1688B2EC3502}" type="slidenum">
              <a:rPr lang="en-US" smtClean="0"/>
              <a:t>39</a:t>
            </a:fld>
            <a:endParaRPr lang="en-US"/>
          </a:p>
        </p:txBody>
      </p:sp>
      <p:sp>
        <p:nvSpPr>
          <p:cNvPr id="5" name="TextBox 4">
            <a:extLst>
              <a:ext uri="{FF2B5EF4-FFF2-40B4-BE49-F238E27FC236}">
                <a16:creationId xmlns:a16="http://schemas.microsoft.com/office/drawing/2014/main" id="{9C22CF29-32F4-5E3A-6D8A-C928A8F63017}"/>
              </a:ext>
            </a:extLst>
          </p:cNvPr>
          <p:cNvSpPr txBox="1"/>
          <p:nvPr/>
        </p:nvSpPr>
        <p:spPr>
          <a:xfrm>
            <a:off x="2285998" y="1393645"/>
            <a:ext cx="6324601" cy="461665"/>
          </a:xfrm>
          <a:prstGeom prst="rect">
            <a:avLst/>
          </a:prstGeom>
          <a:noFill/>
        </p:spPr>
        <p:txBody>
          <a:bodyPr wrap="square">
            <a:spAutoFit/>
          </a:bodyPr>
          <a:lstStyle/>
          <a:p>
            <a:r>
              <a:rPr lang="en-US" sz="2400" b="1" dirty="0"/>
              <a:t>Hybrid Room Assignment Strategy</a:t>
            </a:r>
          </a:p>
        </p:txBody>
      </p:sp>
      <p:sp>
        <p:nvSpPr>
          <p:cNvPr id="6" name="Content Placeholder 5">
            <a:extLst>
              <a:ext uri="{FF2B5EF4-FFF2-40B4-BE49-F238E27FC236}">
                <a16:creationId xmlns:a16="http://schemas.microsoft.com/office/drawing/2014/main" id="{ABA21210-A339-CB7D-1A4B-F36D1EE5B627}"/>
              </a:ext>
            </a:extLst>
          </p:cNvPr>
          <p:cNvSpPr>
            <a:spLocks noGrp="1"/>
          </p:cNvSpPr>
          <p:nvPr>
            <p:ph idx="1"/>
          </p:nvPr>
        </p:nvSpPr>
        <p:spPr>
          <a:xfrm>
            <a:off x="2285998" y="1825625"/>
            <a:ext cx="9067802" cy="4073730"/>
          </a:xfrm>
        </p:spPr>
        <p:txBody>
          <a:bodyPr>
            <a:normAutofit lnSpcReduction="10000"/>
          </a:bodyPr>
          <a:lstStyle/>
          <a:p>
            <a:r>
              <a:rPr lang="en-US" sz="2000" b="1" dirty="0"/>
              <a:t>Room Assignment Process</a:t>
            </a:r>
          </a:p>
          <a:p>
            <a:pPr marL="0" indent="0">
              <a:buNone/>
            </a:pPr>
            <a:r>
              <a:rPr lang="en-US" sz="2000" b="1" dirty="0"/>
              <a:t>Step 1: </a:t>
            </a:r>
            <a:r>
              <a:rPr lang="en-US" sz="2000" dirty="0"/>
              <a:t>Greedy First-Fit Assignment</a:t>
            </a:r>
          </a:p>
          <a:p>
            <a:r>
              <a:rPr lang="en-US" sz="2000" dirty="0"/>
              <a:t>Fast room allocation. </a:t>
            </a:r>
          </a:p>
          <a:p>
            <a:r>
              <a:rPr lang="en-US" sz="2000" dirty="0"/>
              <a:t>Assign first feasible room. </a:t>
            </a:r>
          </a:p>
          <a:p>
            <a:pPr marL="0" indent="0">
              <a:buNone/>
            </a:pPr>
            <a:endParaRPr lang="en-US" sz="2000" dirty="0"/>
          </a:p>
          <a:p>
            <a:r>
              <a:rPr lang="en-US" sz="2000" b="1" dirty="0"/>
              <a:t>Step 2: </a:t>
            </a:r>
            <a:r>
              <a:rPr lang="en-US" sz="2000" dirty="0"/>
              <a:t>Maximum Bipartite Matching</a:t>
            </a:r>
          </a:p>
          <a:p>
            <a:r>
              <a:rPr lang="en-US" sz="2000" dirty="0"/>
              <a:t>Applied when greedy assignment fails. </a:t>
            </a:r>
          </a:p>
          <a:p>
            <a:r>
              <a:rPr lang="en-US" sz="2000" dirty="0"/>
              <a:t>Maximizes feasible room-event assignments. </a:t>
            </a:r>
          </a:p>
          <a:p>
            <a:pPr marL="0" indent="0">
              <a:buNone/>
            </a:pPr>
            <a:endParaRPr lang="en-US" sz="2000" dirty="0"/>
          </a:p>
          <a:p>
            <a:r>
              <a:rPr lang="en-US" dirty="0">
                <a:ln w="0"/>
                <a:solidFill>
                  <a:schemeClr val="accent1"/>
                </a:solidFill>
                <a:effectLst>
                  <a:outerShdw blurRad="38100" dist="25400" dir="5400000" algn="ctr" rotWithShape="0">
                    <a:srgbClr val="6E747A">
                      <a:alpha val="43000"/>
                    </a:srgbClr>
                  </a:outerShdw>
                </a:effectLst>
              </a:rPr>
              <a:t>Events  ←→  Rooms</a:t>
            </a:r>
          </a:p>
        </p:txBody>
      </p:sp>
    </p:spTree>
    <p:extLst>
      <p:ext uri="{BB962C8B-B14F-4D97-AF65-F5344CB8AC3E}">
        <p14:creationId xmlns:p14="http://schemas.microsoft.com/office/powerpoint/2010/main" val="235575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fade">
                                      <p:cBhvr>
                                        <p:cTn id="15" dur="500"/>
                                        <p:tgtEl>
                                          <p:spTgt spid="6">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xEl>
                                              <p:pRg st="3" end="3"/>
                                            </p:txEl>
                                          </p:spTgt>
                                        </p:tgtEl>
                                        <p:attrNameLst>
                                          <p:attrName>style.visibility</p:attrName>
                                        </p:attrNameLst>
                                      </p:cBhvr>
                                      <p:to>
                                        <p:strVal val="visible"/>
                                      </p:to>
                                    </p:set>
                                    <p:animEffect transition="in" filter="fade">
                                      <p:cBhvr>
                                        <p:cTn id="18" dur="500"/>
                                        <p:tgtEl>
                                          <p:spTgt spid="6">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animEffect transition="in" filter="fade">
                                      <p:cBhvr>
                                        <p:cTn id="23" dur="500"/>
                                        <p:tgtEl>
                                          <p:spTgt spid="6">
                                            <p:txEl>
                                              <p:pRg st="5" end="5"/>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
                                            <p:txEl>
                                              <p:pRg st="6" end="6"/>
                                            </p:txEl>
                                          </p:spTgt>
                                        </p:tgtEl>
                                        <p:attrNameLst>
                                          <p:attrName>style.visibility</p:attrName>
                                        </p:attrNameLst>
                                      </p:cBhvr>
                                      <p:to>
                                        <p:strVal val="visible"/>
                                      </p:to>
                                    </p:set>
                                    <p:animEffect transition="in" filter="fade">
                                      <p:cBhvr>
                                        <p:cTn id="26" dur="500"/>
                                        <p:tgtEl>
                                          <p:spTgt spid="6">
                                            <p:txEl>
                                              <p:pRg st="6" end="6"/>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6">
                                            <p:txEl>
                                              <p:pRg st="7" end="7"/>
                                            </p:txEl>
                                          </p:spTgt>
                                        </p:tgtEl>
                                        <p:attrNameLst>
                                          <p:attrName>style.visibility</p:attrName>
                                        </p:attrNameLst>
                                      </p:cBhvr>
                                      <p:to>
                                        <p:strVal val="visible"/>
                                      </p:to>
                                    </p:set>
                                    <p:animEffect transition="in" filter="fade">
                                      <p:cBhvr>
                                        <p:cTn id="29" dur="500"/>
                                        <p:tgtEl>
                                          <p:spTgt spid="6">
                                            <p:txEl>
                                              <p:pRg st="7" end="7"/>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6">
                                            <p:txEl>
                                              <p:pRg st="9" end="9"/>
                                            </p:txEl>
                                          </p:spTgt>
                                        </p:tgtEl>
                                        <p:attrNameLst>
                                          <p:attrName>style.visibility</p:attrName>
                                        </p:attrNameLst>
                                      </p:cBhvr>
                                      <p:to>
                                        <p:strVal val="visible"/>
                                      </p:to>
                                    </p:set>
                                    <p:animEffect transition="in" filter="fade">
                                      <p:cBhvr>
                                        <p:cTn id="34" dur="500"/>
                                        <p:tgtEl>
                                          <p:spTgt spid="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A7F9B-DE87-E9C7-B817-60558A42CB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2FB2A-DD96-6CF3-B4E8-782FF84AAACC}"/>
              </a:ext>
            </a:extLst>
          </p:cNvPr>
          <p:cNvSpPr>
            <a:spLocks noGrp="1"/>
          </p:cNvSpPr>
          <p:nvPr>
            <p:ph type="title"/>
          </p:nvPr>
        </p:nvSpPr>
        <p:spPr>
          <a:xfrm>
            <a:off x="3564807" y="0"/>
            <a:ext cx="6416779" cy="1325563"/>
          </a:xfrm>
        </p:spPr>
        <p:txBody>
          <a:bodyPr/>
          <a:lstStyle/>
          <a:p>
            <a:r>
              <a:rPr lang="en-US" b="1" dirty="0">
                <a:solidFill>
                  <a:srgbClr val="156082"/>
                </a:solidFill>
              </a:rPr>
              <a:t>Proposed Hybrid Methods</a:t>
            </a:r>
          </a:p>
        </p:txBody>
      </p:sp>
      <p:sp>
        <p:nvSpPr>
          <p:cNvPr id="9" name="Rectangle 8">
            <a:extLst>
              <a:ext uri="{FF2B5EF4-FFF2-40B4-BE49-F238E27FC236}">
                <a16:creationId xmlns:a16="http://schemas.microsoft.com/office/drawing/2014/main" id="{7AF8CCFE-628B-C974-B9FA-A8EF5A3EA98E}"/>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Content Placeholder 20">
            <a:extLst>
              <a:ext uri="{FF2B5EF4-FFF2-40B4-BE49-F238E27FC236}">
                <a16:creationId xmlns:a16="http://schemas.microsoft.com/office/drawing/2014/main" id="{8CAC9C16-8F83-F92D-8F87-4308175BDF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2" name="Picture 11">
            <a:extLst>
              <a:ext uri="{FF2B5EF4-FFF2-40B4-BE49-F238E27FC236}">
                <a16:creationId xmlns:a16="http://schemas.microsoft.com/office/drawing/2014/main" id="{E61CB20B-2B05-2D94-2894-409C5C3235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3" name="Slide Number Placeholder 12">
            <a:extLst>
              <a:ext uri="{FF2B5EF4-FFF2-40B4-BE49-F238E27FC236}">
                <a16:creationId xmlns:a16="http://schemas.microsoft.com/office/drawing/2014/main" id="{1D24D0CD-8371-8480-260C-3E871BBD404B}"/>
              </a:ext>
            </a:extLst>
          </p:cNvPr>
          <p:cNvSpPr>
            <a:spLocks noGrp="1"/>
          </p:cNvSpPr>
          <p:nvPr>
            <p:ph type="sldNum" sz="quarter" idx="12"/>
          </p:nvPr>
        </p:nvSpPr>
        <p:spPr/>
        <p:txBody>
          <a:bodyPr/>
          <a:lstStyle/>
          <a:p>
            <a:fld id="{FA5D76E8-8AD6-443B-8B81-1688B2EC3502}" type="slidenum">
              <a:rPr lang="en-US" smtClean="0"/>
              <a:t>40</a:t>
            </a:fld>
            <a:endParaRPr lang="en-US"/>
          </a:p>
        </p:txBody>
      </p:sp>
      <p:sp>
        <p:nvSpPr>
          <p:cNvPr id="5" name="TextBox 4">
            <a:extLst>
              <a:ext uri="{FF2B5EF4-FFF2-40B4-BE49-F238E27FC236}">
                <a16:creationId xmlns:a16="http://schemas.microsoft.com/office/drawing/2014/main" id="{CECE4284-6B6C-A4CC-8CFD-5DC7207C0DAF}"/>
              </a:ext>
            </a:extLst>
          </p:cNvPr>
          <p:cNvSpPr txBox="1"/>
          <p:nvPr/>
        </p:nvSpPr>
        <p:spPr>
          <a:xfrm>
            <a:off x="2285998" y="1393645"/>
            <a:ext cx="6324601" cy="461665"/>
          </a:xfrm>
          <a:prstGeom prst="rect">
            <a:avLst/>
          </a:prstGeom>
          <a:noFill/>
        </p:spPr>
        <p:txBody>
          <a:bodyPr wrap="square">
            <a:spAutoFit/>
          </a:bodyPr>
          <a:lstStyle/>
          <a:p>
            <a:r>
              <a:rPr lang="en-US" sz="2400" b="1" dirty="0"/>
              <a:t>Phase II: Tabu Search</a:t>
            </a:r>
          </a:p>
        </p:txBody>
      </p:sp>
      <p:sp>
        <p:nvSpPr>
          <p:cNvPr id="6" name="Content Placeholder 5">
            <a:extLst>
              <a:ext uri="{FF2B5EF4-FFF2-40B4-BE49-F238E27FC236}">
                <a16:creationId xmlns:a16="http://schemas.microsoft.com/office/drawing/2014/main" id="{20527762-E9DC-8A75-D913-CDDBDD6C81F2}"/>
              </a:ext>
            </a:extLst>
          </p:cNvPr>
          <p:cNvSpPr>
            <a:spLocks noGrp="1"/>
          </p:cNvSpPr>
          <p:nvPr>
            <p:ph idx="1"/>
          </p:nvPr>
        </p:nvSpPr>
        <p:spPr>
          <a:xfrm>
            <a:off x="2285998" y="1825625"/>
            <a:ext cx="9067802" cy="4073730"/>
          </a:xfrm>
        </p:spPr>
        <p:txBody>
          <a:bodyPr>
            <a:normAutofit/>
          </a:bodyPr>
          <a:lstStyle/>
          <a:p>
            <a:pPr marL="0" indent="0">
              <a:buNone/>
            </a:pPr>
            <a:r>
              <a:rPr lang="en-US" sz="2000" b="1" dirty="0"/>
              <a:t>Purpose</a:t>
            </a:r>
          </a:p>
          <a:p>
            <a:pPr marL="0" indent="0">
              <a:buNone/>
            </a:pPr>
            <a:r>
              <a:rPr lang="en-US" sz="2000" dirty="0"/>
              <a:t>Improve the best solution obtained from GSGA.</a:t>
            </a:r>
          </a:p>
          <a:p>
            <a:pPr marL="0" indent="0">
              <a:buNone/>
            </a:pPr>
            <a:r>
              <a:rPr lang="en-US" sz="2000" b="1" dirty="0"/>
              <a:t>Neighborhoods Used</a:t>
            </a:r>
          </a:p>
          <a:p>
            <a:r>
              <a:rPr lang="en-US" sz="2000" dirty="0"/>
              <a:t>N1: Move Event </a:t>
            </a:r>
          </a:p>
          <a:p>
            <a:r>
              <a:rPr lang="en-US" sz="2000" dirty="0"/>
              <a:t>N2: Swap Events </a:t>
            </a:r>
          </a:p>
          <a:p>
            <a:r>
              <a:rPr lang="en-US" sz="2000" dirty="0"/>
              <a:t>N4: Diversification Move </a:t>
            </a:r>
          </a:p>
          <a:p>
            <a:pPr marL="0" indent="0">
              <a:buNone/>
            </a:pPr>
            <a:r>
              <a:rPr lang="en-US" sz="2000" b="1" dirty="0"/>
              <a:t>Benefits</a:t>
            </a:r>
          </a:p>
          <a:p>
            <a:r>
              <a:rPr lang="en-US" sz="2000" dirty="0"/>
              <a:t>Intensive local optimization. </a:t>
            </a:r>
          </a:p>
          <a:p>
            <a:r>
              <a:rPr lang="en-US" sz="2000" dirty="0"/>
              <a:t>Better soft constraint reduction. </a:t>
            </a:r>
          </a:p>
          <a:p>
            <a:r>
              <a:rPr lang="en-US" sz="2000" dirty="0"/>
              <a:t>Escapes local optima. </a:t>
            </a:r>
          </a:p>
          <a:p>
            <a:pPr marL="0" indent="0">
              <a:buNone/>
            </a:pPr>
            <a:endParaRPr lang="en-US"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3277755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fade">
                                      <p:cBhvr>
                                        <p:cTn id="7" dur="500"/>
                                        <p:tgtEl>
                                          <p:spTgt spid="6">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3" end="3"/>
                                            </p:txEl>
                                          </p:spTgt>
                                        </p:tgtEl>
                                        <p:attrNameLst>
                                          <p:attrName>style.visibility</p:attrName>
                                        </p:attrNameLst>
                                      </p:cBhvr>
                                      <p:to>
                                        <p:strVal val="visible"/>
                                      </p:to>
                                    </p:set>
                                    <p:animEffect transition="in" filter="fade">
                                      <p:cBhvr>
                                        <p:cTn id="10" dur="500"/>
                                        <p:tgtEl>
                                          <p:spTgt spid="6">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animEffect transition="in" filter="fade">
                                      <p:cBhvr>
                                        <p:cTn id="13" dur="500"/>
                                        <p:tgtEl>
                                          <p:spTgt spid="6">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6">
                                            <p:txEl>
                                              <p:pRg st="5" end="5"/>
                                            </p:txEl>
                                          </p:spTgt>
                                        </p:tgtEl>
                                        <p:attrNameLst>
                                          <p:attrName>style.visibility</p:attrName>
                                        </p:attrNameLst>
                                      </p:cBhvr>
                                      <p:to>
                                        <p:strVal val="visible"/>
                                      </p:to>
                                    </p:set>
                                    <p:animEffect transition="in" filter="fade">
                                      <p:cBhvr>
                                        <p:cTn id="16" dur="500"/>
                                        <p:tgtEl>
                                          <p:spTgt spid="6">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6">
                                            <p:txEl>
                                              <p:pRg st="6" end="6"/>
                                            </p:txEl>
                                          </p:spTgt>
                                        </p:tgtEl>
                                        <p:attrNameLst>
                                          <p:attrName>style.visibility</p:attrName>
                                        </p:attrNameLst>
                                      </p:cBhvr>
                                      <p:to>
                                        <p:strVal val="visible"/>
                                      </p:to>
                                    </p:set>
                                    <p:animEffect transition="in" filter="fade">
                                      <p:cBhvr>
                                        <p:cTn id="21" dur="500"/>
                                        <p:tgtEl>
                                          <p:spTgt spid="6">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6">
                                            <p:txEl>
                                              <p:pRg st="7" end="7"/>
                                            </p:txEl>
                                          </p:spTgt>
                                        </p:tgtEl>
                                        <p:attrNameLst>
                                          <p:attrName>style.visibility</p:attrName>
                                        </p:attrNameLst>
                                      </p:cBhvr>
                                      <p:to>
                                        <p:strVal val="visible"/>
                                      </p:to>
                                    </p:set>
                                    <p:animEffect transition="in" filter="fade">
                                      <p:cBhvr>
                                        <p:cTn id="24" dur="500"/>
                                        <p:tgtEl>
                                          <p:spTgt spid="6">
                                            <p:txEl>
                                              <p:pRg st="7" end="7"/>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animEffect transition="in" filter="fade">
                                      <p:cBhvr>
                                        <p:cTn id="27" dur="500"/>
                                        <p:tgtEl>
                                          <p:spTgt spid="6">
                                            <p:txEl>
                                              <p:pRg st="8" end="8"/>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6">
                                            <p:txEl>
                                              <p:pRg st="9" end="9"/>
                                            </p:txEl>
                                          </p:spTgt>
                                        </p:tgtEl>
                                        <p:attrNameLst>
                                          <p:attrName>style.visibility</p:attrName>
                                        </p:attrNameLst>
                                      </p:cBhvr>
                                      <p:to>
                                        <p:strVal val="visible"/>
                                      </p:to>
                                    </p:set>
                                    <p:animEffect transition="in" filter="fade">
                                      <p:cBhvr>
                                        <p:cTn id="30" dur="500"/>
                                        <p:tgtEl>
                                          <p:spTgt spid="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73EC3-18A5-BDD9-0355-822A6F33B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50AC4E-B114-823D-8BC4-ECA0CD47B7AA}"/>
              </a:ext>
            </a:extLst>
          </p:cNvPr>
          <p:cNvSpPr>
            <a:spLocks noGrp="1"/>
          </p:cNvSpPr>
          <p:nvPr>
            <p:ph type="title"/>
          </p:nvPr>
        </p:nvSpPr>
        <p:spPr>
          <a:xfrm>
            <a:off x="3564807" y="0"/>
            <a:ext cx="6416779" cy="1325563"/>
          </a:xfrm>
        </p:spPr>
        <p:txBody>
          <a:bodyPr/>
          <a:lstStyle/>
          <a:p>
            <a:r>
              <a:rPr lang="en-US" b="1" dirty="0">
                <a:solidFill>
                  <a:srgbClr val="156082"/>
                </a:solidFill>
              </a:rPr>
              <a:t>Proposed Hybrid Methods</a:t>
            </a:r>
          </a:p>
        </p:txBody>
      </p:sp>
      <p:sp>
        <p:nvSpPr>
          <p:cNvPr id="9" name="Rectangle 8">
            <a:extLst>
              <a:ext uri="{FF2B5EF4-FFF2-40B4-BE49-F238E27FC236}">
                <a16:creationId xmlns:a16="http://schemas.microsoft.com/office/drawing/2014/main" id="{7504150F-6002-D927-D9AB-24115AC05BF2}"/>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Content Placeholder 20">
            <a:extLst>
              <a:ext uri="{FF2B5EF4-FFF2-40B4-BE49-F238E27FC236}">
                <a16:creationId xmlns:a16="http://schemas.microsoft.com/office/drawing/2014/main" id="{DFF32DEE-28AB-5508-D8A2-8384001CE7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2" name="Picture 11">
            <a:extLst>
              <a:ext uri="{FF2B5EF4-FFF2-40B4-BE49-F238E27FC236}">
                <a16:creationId xmlns:a16="http://schemas.microsoft.com/office/drawing/2014/main" id="{F4268817-27B3-360A-29F4-4CCFE962F4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3" name="Slide Number Placeholder 12">
            <a:extLst>
              <a:ext uri="{FF2B5EF4-FFF2-40B4-BE49-F238E27FC236}">
                <a16:creationId xmlns:a16="http://schemas.microsoft.com/office/drawing/2014/main" id="{6AE983A7-6800-740D-CAFE-26479BEDE52A}"/>
              </a:ext>
            </a:extLst>
          </p:cNvPr>
          <p:cNvSpPr>
            <a:spLocks noGrp="1"/>
          </p:cNvSpPr>
          <p:nvPr>
            <p:ph type="sldNum" sz="quarter" idx="12"/>
          </p:nvPr>
        </p:nvSpPr>
        <p:spPr/>
        <p:txBody>
          <a:bodyPr/>
          <a:lstStyle/>
          <a:p>
            <a:fld id="{FA5D76E8-8AD6-443B-8B81-1688B2EC3502}" type="slidenum">
              <a:rPr lang="en-US" smtClean="0"/>
              <a:t>41</a:t>
            </a:fld>
            <a:endParaRPr lang="en-US"/>
          </a:p>
        </p:txBody>
      </p:sp>
      <p:sp>
        <p:nvSpPr>
          <p:cNvPr id="5" name="TextBox 4">
            <a:extLst>
              <a:ext uri="{FF2B5EF4-FFF2-40B4-BE49-F238E27FC236}">
                <a16:creationId xmlns:a16="http://schemas.microsoft.com/office/drawing/2014/main" id="{40FD95E7-9AEF-DE2B-EED4-4BD6B48603B2}"/>
              </a:ext>
            </a:extLst>
          </p:cNvPr>
          <p:cNvSpPr txBox="1"/>
          <p:nvPr/>
        </p:nvSpPr>
        <p:spPr>
          <a:xfrm>
            <a:off x="2285998" y="1393645"/>
            <a:ext cx="6324601" cy="461665"/>
          </a:xfrm>
          <a:prstGeom prst="rect">
            <a:avLst/>
          </a:prstGeom>
          <a:noFill/>
        </p:spPr>
        <p:txBody>
          <a:bodyPr wrap="square">
            <a:spAutoFit/>
          </a:bodyPr>
          <a:lstStyle/>
          <a:p>
            <a:r>
              <a:rPr lang="en-US" sz="2400" b="1" dirty="0"/>
              <a:t>Tabu Search Mechanism</a:t>
            </a:r>
          </a:p>
        </p:txBody>
      </p:sp>
      <p:graphicFrame>
        <p:nvGraphicFramePr>
          <p:cNvPr id="15" name="Content Placeholder 5">
            <a:extLst>
              <a:ext uri="{FF2B5EF4-FFF2-40B4-BE49-F238E27FC236}">
                <a16:creationId xmlns:a16="http://schemas.microsoft.com/office/drawing/2014/main" id="{7B237087-B57D-EDC9-6651-1C83BF3485DB}"/>
              </a:ext>
            </a:extLst>
          </p:cNvPr>
          <p:cNvGraphicFramePr>
            <a:graphicFrameLocks noGrp="1"/>
          </p:cNvGraphicFramePr>
          <p:nvPr>
            <p:ph idx="1"/>
            <p:extLst>
              <p:ext uri="{D42A27DB-BD31-4B8C-83A1-F6EECF244321}">
                <p14:modId xmlns:p14="http://schemas.microsoft.com/office/powerpoint/2010/main" val="4258396218"/>
              </p:ext>
            </p:extLst>
          </p:nvPr>
        </p:nvGraphicFramePr>
        <p:xfrm>
          <a:off x="6430291" y="2282620"/>
          <a:ext cx="6416779" cy="407373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30D75ADB-2E3E-C9FE-F35D-C000C7855F8E}"/>
              </a:ext>
            </a:extLst>
          </p:cNvPr>
          <p:cNvSpPr txBox="1"/>
          <p:nvPr/>
        </p:nvSpPr>
        <p:spPr>
          <a:xfrm>
            <a:off x="2285998" y="1917495"/>
            <a:ext cx="5427406" cy="1477328"/>
          </a:xfrm>
          <a:prstGeom prst="rect">
            <a:avLst/>
          </a:prstGeom>
          <a:noFill/>
        </p:spPr>
        <p:txBody>
          <a:bodyPr wrap="square">
            <a:spAutoFit/>
          </a:bodyPr>
          <a:lstStyle/>
          <a:p>
            <a:pPr rtl="0">
              <a:buNone/>
            </a:pPr>
            <a:r>
              <a:rPr lang="en-US" b="1" dirty="0"/>
              <a:t>Tabu List</a:t>
            </a:r>
          </a:p>
          <a:p>
            <a:pPr rtl="0">
              <a:buNone/>
            </a:pPr>
            <a:r>
              <a:rPr lang="en-US" dirty="0"/>
              <a:t>Prevents cycling by temporarily forbidding recently visited moves.</a:t>
            </a:r>
          </a:p>
          <a:p>
            <a:pPr rtl="0">
              <a:buNone/>
            </a:pPr>
            <a:r>
              <a:rPr lang="en-US" b="1" dirty="0"/>
              <a:t>Result</a:t>
            </a:r>
          </a:p>
          <a:p>
            <a:pPr rtl="0">
              <a:buNone/>
            </a:pPr>
            <a:r>
              <a:rPr lang="en-US" dirty="0"/>
              <a:t>More effective exploration of promising regions.</a:t>
            </a:r>
          </a:p>
        </p:txBody>
      </p:sp>
    </p:spTree>
    <p:extLst>
      <p:ext uri="{BB962C8B-B14F-4D97-AF65-F5344CB8AC3E}">
        <p14:creationId xmlns:p14="http://schemas.microsoft.com/office/powerpoint/2010/main" val="2355807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C024F-F807-D8E7-5B5F-B9C49445BC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46BC94-259F-2BCD-99F3-E04BB20131B2}"/>
              </a:ext>
            </a:extLst>
          </p:cNvPr>
          <p:cNvSpPr>
            <a:spLocks noGrp="1"/>
          </p:cNvSpPr>
          <p:nvPr>
            <p:ph type="title"/>
          </p:nvPr>
        </p:nvSpPr>
        <p:spPr>
          <a:xfrm>
            <a:off x="3564807" y="0"/>
            <a:ext cx="6416779" cy="1325563"/>
          </a:xfrm>
        </p:spPr>
        <p:txBody>
          <a:bodyPr/>
          <a:lstStyle/>
          <a:p>
            <a:r>
              <a:rPr lang="en-US" b="1" dirty="0">
                <a:solidFill>
                  <a:srgbClr val="156082"/>
                </a:solidFill>
              </a:rPr>
              <a:t>Proposed Hybrid Methods</a:t>
            </a:r>
          </a:p>
        </p:txBody>
      </p:sp>
      <p:sp>
        <p:nvSpPr>
          <p:cNvPr id="9" name="Rectangle 8">
            <a:extLst>
              <a:ext uri="{FF2B5EF4-FFF2-40B4-BE49-F238E27FC236}">
                <a16:creationId xmlns:a16="http://schemas.microsoft.com/office/drawing/2014/main" id="{8905E723-488D-1D02-F887-63AD2A6F9BB4}"/>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Content Placeholder 20">
            <a:extLst>
              <a:ext uri="{FF2B5EF4-FFF2-40B4-BE49-F238E27FC236}">
                <a16:creationId xmlns:a16="http://schemas.microsoft.com/office/drawing/2014/main" id="{4C476212-8012-DDF3-9CA8-15DAC26AE4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2" name="Picture 11">
            <a:extLst>
              <a:ext uri="{FF2B5EF4-FFF2-40B4-BE49-F238E27FC236}">
                <a16:creationId xmlns:a16="http://schemas.microsoft.com/office/drawing/2014/main" id="{A5CEA2E7-AE9D-479E-C054-2534B6990B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3" name="Slide Number Placeholder 12">
            <a:extLst>
              <a:ext uri="{FF2B5EF4-FFF2-40B4-BE49-F238E27FC236}">
                <a16:creationId xmlns:a16="http://schemas.microsoft.com/office/drawing/2014/main" id="{9465ADFE-A1B4-4EEE-1CB8-EC3EAB32EFC8}"/>
              </a:ext>
            </a:extLst>
          </p:cNvPr>
          <p:cNvSpPr>
            <a:spLocks noGrp="1"/>
          </p:cNvSpPr>
          <p:nvPr>
            <p:ph type="sldNum" sz="quarter" idx="12"/>
          </p:nvPr>
        </p:nvSpPr>
        <p:spPr/>
        <p:txBody>
          <a:bodyPr/>
          <a:lstStyle/>
          <a:p>
            <a:fld id="{FA5D76E8-8AD6-443B-8B81-1688B2EC3502}" type="slidenum">
              <a:rPr lang="en-US" smtClean="0"/>
              <a:t>42</a:t>
            </a:fld>
            <a:endParaRPr lang="en-US"/>
          </a:p>
        </p:txBody>
      </p:sp>
      <p:sp>
        <p:nvSpPr>
          <p:cNvPr id="5" name="TextBox 4">
            <a:extLst>
              <a:ext uri="{FF2B5EF4-FFF2-40B4-BE49-F238E27FC236}">
                <a16:creationId xmlns:a16="http://schemas.microsoft.com/office/drawing/2014/main" id="{486A6A63-C4E5-AE45-EC77-947FAACA4E98}"/>
              </a:ext>
            </a:extLst>
          </p:cNvPr>
          <p:cNvSpPr txBox="1"/>
          <p:nvPr/>
        </p:nvSpPr>
        <p:spPr>
          <a:xfrm>
            <a:off x="2285998" y="1393645"/>
            <a:ext cx="6324601" cy="461665"/>
          </a:xfrm>
          <a:prstGeom prst="rect">
            <a:avLst/>
          </a:prstGeom>
          <a:noFill/>
        </p:spPr>
        <p:txBody>
          <a:bodyPr wrap="square">
            <a:spAutoFit/>
          </a:bodyPr>
          <a:lstStyle/>
          <a:p>
            <a:r>
              <a:rPr lang="en-US" sz="2400" b="1" dirty="0"/>
              <a:t>Fitness Evaluation</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6611AB6B-CDFD-0866-DCA0-0643D646E023}"/>
                  </a:ext>
                </a:extLst>
              </p:cNvPr>
              <p:cNvSpPr>
                <a:spLocks noGrp="1"/>
              </p:cNvSpPr>
              <p:nvPr>
                <p:ph idx="1"/>
              </p:nvPr>
            </p:nvSpPr>
            <p:spPr>
              <a:xfrm>
                <a:off x="2282973" y="2067652"/>
                <a:ext cx="9070827" cy="4351338"/>
              </a:xfrm>
            </p:spPr>
            <p:txBody>
              <a:bodyPr>
                <a:normAutofit lnSpcReduction="10000"/>
              </a:bodyPr>
              <a:lstStyle/>
              <a:p>
                <a:pPr marL="0" indent="0">
                  <a:buNone/>
                </a:pPr>
                <a:r>
                  <a:rPr lang="en-US" b="1" dirty="0"/>
                  <a:t>Evaluation Function</a:t>
                </a:r>
              </a:p>
              <a:p>
                <a14:m>
                  <m:oMath xmlns:m="http://schemas.openxmlformats.org/officeDocument/2006/math">
                    <m:r>
                      <a:rPr lang="en-US" i="1">
                        <a:latin typeface="Cambria Math" panose="02040503050406030204" pitchFamily="18" charset="0"/>
                      </a:rPr>
                      <m:t>𝐹𝑖𝑡𝑛𝑒𝑠𝑠</m:t>
                    </m:r>
                    <m:r>
                      <a:rPr lang="en-US">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𝐻𝑎𝑟𝑑𝑉𝑖𝑜𝑙𝑎𝑡𝑖𝑜𝑛𝑠</m:t>
                        </m:r>
                        <m:r>
                          <a:rPr lang="en-US">
                            <a:latin typeface="Cambria Math" panose="02040503050406030204" pitchFamily="18" charset="0"/>
                          </a:rPr>
                          <m:t>×</m:t>
                        </m:r>
                        <m:sSup>
                          <m:sSupPr>
                            <m:ctrlPr>
                              <a:rPr lang="en-US" i="1">
                                <a:latin typeface="Cambria Math" panose="02040503050406030204" pitchFamily="18" charset="0"/>
                              </a:rPr>
                            </m:ctrlPr>
                          </m:sSupPr>
                          <m:e>
                            <m:r>
                              <a:rPr lang="en-US">
                                <a:latin typeface="Cambria Math" panose="02040503050406030204" pitchFamily="18" charset="0"/>
                              </a:rPr>
                              <m:t>10</m:t>
                            </m:r>
                          </m:e>
                          <m:sup>
                            <m:r>
                              <a:rPr lang="en-US">
                                <a:latin typeface="Cambria Math" panose="02040503050406030204" pitchFamily="18" charset="0"/>
                              </a:rPr>
                              <m:t>6</m:t>
                            </m:r>
                          </m:sup>
                        </m:sSup>
                      </m:e>
                    </m:d>
                    <m:r>
                      <a:rPr lang="en-US">
                        <a:latin typeface="Cambria Math" panose="02040503050406030204" pitchFamily="18" charset="0"/>
                      </a:rPr>
                      <m:t>+</m:t>
                    </m:r>
                    <m:r>
                      <a:rPr lang="en-US" i="1">
                        <a:latin typeface="Cambria Math" panose="02040503050406030204" pitchFamily="18" charset="0"/>
                      </a:rPr>
                      <m:t>𝑆𝑜𝑓𝑡𝑉𝑖𝑜𝑙𝑎𝑡𝑖𝑜𝑛𝑠</m:t>
                    </m:r>
                  </m:oMath>
                </a14:m>
                <a:endParaRPr lang="en-US" dirty="0"/>
              </a:p>
              <a:p>
                <a:pPr marL="0" indent="0">
                  <a:buNone/>
                </a:pPr>
                <a:r>
                  <a:rPr lang="en-US" b="1" dirty="0"/>
                  <a:t>Priority</a:t>
                </a:r>
              </a:p>
              <a:p>
                <a:pPr marL="0" indent="0">
                  <a:buNone/>
                </a:pPr>
                <a:r>
                  <a:rPr lang="en-US" dirty="0"/>
                  <a:t>Hard Violations</a:t>
                </a:r>
                <a:br>
                  <a:rPr lang="en-US" dirty="0"/>
                </a:br>
                <a:r>
                  <a:rPr lang="en-US" dirty="0"/>
                  <a:t>       ↓</a:t>
                </a:r>
                <a:br>
                  <a:rPr lang="en-US" dirty="0"/>
                </a:br>
                <a:r>
                  <a:rPr lang="en-US" dirty="0"/>
                  <a:t>Soft Violations</a:t>
                </a:r>
              </a:p>
              <a:p>
                <a:pPr marL="0" indent="0">
                  <a:buNone/>
                </a:pPr>
                <a:r>
                  <a:rPr lang="en-US" b="1" dirty="0"/>
                  <a:t>Interpretation</a:t>
                </a:r>
              </a:p>
              <a:p>
                <a:r>
                  <a:rPr lang="en-US" dirty="0"/>
                  <a:t>Feasible solutions are always preferred. </a:t>
                </a:r>
              </a:p>
              <a:p>
                <a:r>
                  <a:rPr lang="en-US" dirty="0"/>
                  <a:t>Soft penalties are optimized only after feasibility is achieved.</a:t>
                </a:r>
              </a:p>
              <a:p>
                <a:endParaRPr lang="en-US" dirty="0"/>
              </a:p>
            </p:txBody>
          </p:sp>
        </mc:Choice>
        <mc:Fallback xmlns="">
          <p:sp>
            <p:nvSpPr>
              <p:cNvPr id="6" name="Content Placeholder 5">
                <a:extLst>
                  <a:ext uri="{FF2B5EF4-FFF2-40B4-BE49-F238E27FC236}">
                    <a16:creationId xmlns:a16="http://schemas.microsoft.com/office/drawing/2014/main" id="{6611AB6B-CDFD-0866-DCA0-0643D646E023}"/>
                  </a:ext>
                </a:extLst>
              </p:cNvPr>
              <p:cNvSpPr>
                <a:spLocks noGrp="1" noRot="1" noChangeAspect="1" noMove="1" noResize="1" noEditPoints="1" noAdjustHandles="1" noChangeArrowheads="1" noChangeShapeType="1" noTextEdit="1"/>
              </p:cNvSpPr>
              <p:nvPr>
                <p:ph idx="1"/>
              </p:nvPr>
            </p:nvSpPr>
            <p:spPr>
              <a:xfrm>
                <a:off x="2282973" y="2067652"/>
                <a:ext cx="9070827" cy="4351338"/>
              </a:xfrm>
              <a:blipFill>
                <a:blip r:embed="rId4"/>
                <a:stretch>
                  <a:fillRect l="-1411" t="-3081" b="-3221"/>
                </a:stretch>
              </a:blipFill>
            </p:spPr>
            <p:txBody>
              <a:bodyPr/>
              <a:lstStyle/>
              <a:p>
                <a:r>
                  <a:rPr lang="en-US">
                    <a:noFill/>
                  </a:rPr>
                  <a:t> </a:t>
                </a:r>
              </a:p>
            </p:txBody>
          </p:sp>
        </mc:Fallback>
      </mc:AlternateContent>
    </p:spTree>
    <p:extLst>
      <p:ext uri="{BB962C8B-B14F-4D97-AF65-F5344CB8AC3E}">
        <p14:creationId xmlns:p14="http://schemas.microsoft.com/office/powerpoint/2010/main" val="2228745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76E27-F63C-6CB6-6C01-006436842D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DDB8AF-6F7A-F04A-B3FA-F870D13B10B9}"/>
              </a:ext>
            </a:extLst>
          </p:cNvPr>
          <p:cNvSpPr>
            <a:spLocks noGrp="1"/>
          </p:cNvSpPr>
          <p:nvPr>
            <p:ph type="title"/>
          </p:nvPr>
        </p:nvSpPr>
        <p:spPr>
          <a:xfrm>
            <a:off x="3564807" y="0"/>
            <a:ext cx="6416779" cy="1325563"/>
          </a:xfrm>
        </p:spPr>
        <p:txBody>
          <a:bodyPr/>
          <a:lstStyle/>
          <a:p>
            <a:r>
              <a:rPr lang="en-US" b="1" dirty="0">
                <a:solidFill>
                  <a:srgbClr val="156082"/>
                </a:solidFill>
              </a:rPr>
              <a:t>Proposed Hybrid Methods</a:t>
            </a:r>
          </a:p>
        </p:txBody>
      </p:sp>
      <p:sp>
        <p:nvSpPr>
          <p:cNvPr id="9" name="Rectangle 8">
            <a:extLst>
              <a:ext uri="{FF2B5EF4-FFF2-40B4-BE49-F238E27FC236}">
                <a16:creationId xmlns:a16="http://schemas.microsoft.com/office/drawing/2014/main" id="{F80A839F-5DDB-D503-93A0-0C996B158FE4}"/>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Content Placeholder 20">
            <a:extLst>
              <a:ext uri="{FF2B5EF4-FFF2-40B4-BE49-F238E27FC236}">
                <a16:creationId xmlns:a16="http://schemas.microsoft.com/office/drawing/2014/main" id="{8054CAD9-B306-C2BA-662B-2E2C204F5A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2" name="Picture 11">
            <a:extLst>
              <a:ext uri="{FF2B5EF4-FFF2-40B4-BE49-F238E27FC236}">
                <a16:creationId xmlns:a16="http://schemas.microsoft.com/office/drawing/2014/main" id="{75CB885B-908F-CC1E-442F-61464CE052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3" name="Slide Number Placeholder 12">
            <a:extLst>
              <a:ext uri="{FF2B5EF4-FFF2-40B4-BE49-F238E27FC236}">
                <a16:creationId xmlns:a16="http://schemas.microsoft.com/office/drawing/2014/main" id="{89C7DA88-B7A6-5040-AEDB-36BE27164BB5}"/>
              </a:ext>
            </a:extLst>
          </p:cNvPr>
          <p:cNvSpPr>
            <a:spLocks noGrp="1"/>
          </p:cNvSpPr>
          <p:nvPr>
            <p:ph type="sldNum" sz="quarter" idx="12"/>
          </p:nvPr>
        </p:nvSpPr>
        <p:spPr/>
        <p:txBody>
          <a:bodyPr/>
          <a:lstStyle/>
          <a:p>
            <a:fld id="{FA5D76E8-8AD6-443B-8B81-1688B2EC3502}" type="slidenum">
              <a:rPr lang="en-US" smtClean="0"/>
              <a:t>43</a:t>
            </a:fld>
            <a:endParaRPr lang="en-US"/>
          </a:p>
        </p:txBody>
      </p:sp>
      <p:sp>
        <p:nvSpPr>
          <p:cNvPr id="5" name="TextBox 4">
            <a:extLst>
              <a:ext uri="{FF2B5EF4-FFF2-40B4-BE49-F238E27FC236}">
                <a16:creationId xmlns:a16="http://schemas.microsoft.com/office/drawing/2014/main" id="{6437BB45-1010-1CD4-9AF7-32D1117EAC83}"/>
              </a:ext>
            </a:extLst>
          </p:cNvPr>
          <p:cNvSpPr txBox="1"/>
          <p:nvPr/>
        </p:nvSpPr>
        <p:spPr>
          <a:xfrm>
            <a:off x="2364656" y="1364854"/>
            <a:ext cx="9067802" cy="461665"/>
          </a:xfrm>
          <a:prstGeom prst="rect">
            <a:avLst/>
          </a:prstGeom>
          <a:noFill/>
        </p:spPr>
        <p:txBody>
          <a:bodyPr wrap="square">
            <a:spAutoFit/>
          </a:bodyPr>
          <a:lstStyle/>
          <a:p>
            <a:r>
              <a:rPr lang="en-US" sz="2400" b="1" dirty="0"/>
              <a:t>Result on 10 instance and 20 independent runs for ITC-2007</a:t>
            </a:r>
          </a:p>
        </p:txBody>
      </p:sp>
      <p:graphicFrame>
        <p:nvGraphicFramePr>
          <p:cNvPr id="7" name="Table 6">
            <a:extLst>
              <a:ext uri="{FF2B5EF4-FFF2-40B4-BE49-F238E27FC236}">
                <a16:creationId xmlns:a16="http://schemas.microsoft.com/office/drawing/2014/main" id="{50EB2CCA-23DB-6585-C22E-0F2DAB448E97}"/>
              </a:ext>
            </a:extLst>
          </p:cNvPr>
          <p:cNvGraphicFramePr>
            <a:graphicFrameLocks noGrp="1"/>
          </p:cNvGraphicFramePr>
          <p:nvPr>
            <p:extLst>
              <p:ext uri="{D42A27DB-BD31-4B8C-83A1-F6EECF244321}">
                <p14:modId xmlns:p14="http://schemas.microsoft.com/office/powerpoint/2010/main" val="3825592558"/>
              </p:ext>
            </p:extLst>
          </p:nvPr>
        </p:nvGraphicFramePr>
        <p:xfrm>
          <a:off x="2364656" y="2067652"/>
          <a:ext cx="9071929" cy="3585900"/>
        </p:xfrm>
        <a:graphic>
          <a:graphicData uri="http://schemas.openxmlformats.org/drawingml/2006/table">
            <a:tbl>
              <a:tblPr firstRow="1" firstCol="1" bandRow="1">
                <a:tableStyleId>{5C22544A-7EE6-4342-B048-85BDC9FD1C3A}</a:tableStyleId>
              </a:tblPr>
              <a:tblGrid>
                <a:gridCol w="1839344">
                  <a:extLst>
                    <a:ext uri="{9D8B030D-6E8A-4147-A177-3AD203B41FA5}">
                      <a16:colId xmlns:a16="http://schemas.microsoft.com/office/drawing/2014/main" val="34427612"/>
                    </a:ext>
                  </a:extLst>
                </a:gridCol>
                <a:gridCol w="1152967">
                  <a:extLst>
                    <a:ext uri="{9D8B030D-6E8A-4147-A177-3AD203B41FA5}">
                      <a16:colId xmlns:a16="http://schemas.microsoft.com/office/drawing/2014/main" val="2044751369"/>
                    </a:ext>
                  </a:extLst>
                </a:gridCol>
                <a:gridCol w="1496622">
                  <a:extLst>
                    <a:ext uri="{9D8B030D-6E8A-4147-A177-3AD203B41FA5}">
                      <a16:colId xmlns:a16="http://schemas.microsoft.com/office/drawing/2014/main" val="1790652773"/>
                    </a:ext>
                  </a:extLst>
                </a:gridCol>
                <a:gridCol w="1496622">
                  <a:extLst>
                    <a:ext uri="{9D8B030D-6E8A-4147-A177-3AD203B41FA5}">
                      <a16:colId xmlns:a16="http://schemas.microsoft.com/office/drawing/2014/main" val="1198140140"/>
                    </a:ext>
                  </a:extLst>
                </a:gridCol>
                <a:gridCol w="1497553">
                  <a:extLst>
                    <a:ext uri="{9D8B030D-6E8A-4147-A177-3AD203B41FA5}">
                      <a16:colId xmlns:a16="http://schemas.microsoft.com/office/drawing/2014/main" val="3925667619"/>
                    </a:ext>
                  </a:extLst>
                </a:gridCol>
                <a:gridCol w="1588821">
                  <a:extLst>
                    <a:ext uri="{9D8B030D-6E8A-4147-A177-3AD203B41FA5}">
                      <a16:colId xmlns:a16="http://schemas.microsoft.com/office/drawing/2014/main" val="2656849786"/>
                    </a:ext>
                  </a:extLst>
                </a:gridCol>
              </a:tblGrid>
              <a:tr h="350000">
                <a:tc>
                  <a:txBody>
                    <a:bodyPr/>
                    <a:lstStyle/>
                    <a:p>
                      <a:pPr marL="0" marR="0">
                        <a:lnSpc>
                          <a:spcPct val="116000"/>
                        </a:lnSpc>
                        <a:spcAft>
                          <a:spcPts val="800"/>
                        </a:spcAft>
                        <a:buNone/>
                      </a:pPr>
                      <a:r>
                        <a:rPr lang="en-US" sz="1200">
                          <a:effectLst/>
                        </a:rPr>
                        <a:t>Instance</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6000"/>
                        </a:lnSpc>
                        <a:spcAft>
                          <a:spcPts val="800"/>
                        </a:spcAft>
                        <a:buNone/>
                      </a:pPr>
                      <a:r>
                        <a:rPr lang="en-US" sz="1200">
                          <a:effectLst/>
                        </a:rPr>
                        <a:t>Best DF</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6000"/>
                        </a:lnSpc>
                        <a:spcAft>
                          <a:spcPts val="800"/>
                        </a:spcAft>
                        <a:buNone/>
                      </a:pPr>
                      <a:r>
                        <a:rPr lang="en-US" sz="1200">
                          <a:effectLst/>
                        </a:rPr>
                        <a:t>Avg DF</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6000"/>
                        </a:lnSpc>
                        <a:spcAft>
                          <a:spcPts val="800"/>
                        </a:spcAft>
                        <a:buNone/>
                      </a:pPr>
                      <a:r>
                        <a:rPr lang="en-US" sz="1200">
                          <a:effectLst/>
                        </a:rPr>
                        <a:t>Best SCP</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6000"/>
                        </a:lnSpc>
                        <a:spcAft>
                          <a:spcPts val="800"/>
                        </a:spcAft>
                        <a:buNone/>
                      </a:pPr>
                      <a:r>
                        <a:rPr lang="en-US" sz="1200">
                          <a:effectLst/>
                        </a:rPr>
                        <a:t>Avg SCP</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6000"/>
                        </a:lnSpc>
                        <a:spcAft>
                          <a:spcPts val="800"/>
                        </a:spcAft>
                        <a:buNone/>
                      </a:pPr>
                      <a:r>
                        <a:rPr lang="en-US" sz="1200" dirty="0">
                          <a:effectLst/>
                        </a:rPr>
                        <a:t>Best Fitness</a:t>
                      </a:r>
                      <a:endParaRPr lang="en-US" sz="1200" dirty="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775932069"/>
                  </a:ext>
                </a:extLst>
              </a:tr>
              <a:tr h="320852">
                <a:tc>
                  <a:txBody>
                    <a:bodyPr/>
                    <a:lstStyle/>
                    <a:p>
                      <a:pPr marL="0" marR="0">
                        <a:lnSpc>
                          <a:spcPct val="116000"/>
                        </a:lnSpc>
                        <a:spcAft>
                          <a:spcPts val="800"/>
                        </a:spcAft>
                        <a:buNone/>
                      </a:pPr>
                      <a:r>
                        <a:rPr lang="en-US" sz="1100" dirty="0">
                          <a:effectLst/>
                        </a:rPr>
                        <a:t>comp-2007-2-1</a:t>
                      </a:r>
                      <a:endParaRPr lang="en-US" sz="1200" dirty="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0</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2</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dirty="0">
                          <a:effectLst/>
                        </a:rPr>
                        <a:t>2563</a:t>
                      </a:r>
                      <a:endParaRPr lang="en-US" sz="1200" dirty="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rtl="1">
                        <a:lnSpc>
                          <a:spcPct val="116000"/>
                        </a:lnSpc>
                        <a:spcAft>
                          <a:spcPts val="800"/>
                        </a:spcAft>
                        <a:buNone/>
                      </a:pPr>
                      <a:r>
                        <a:rPr lang="ar-SA" sz="1100">
                          <a:effectLst/>
                        </a:rPr>
                        <a:t>2</a:t>
                      </a:r>
                      <a:r>
                        <a:rPr lang="en-US" sz="1100">
                          <a:effectLst/>
                        </a:rPr>
                        <a:t>6</a:t>
                      </a:r>
                      <a:r>
                        <a:rPr lang="ar-SA" sz="1100">
                          <a:effectLst/>
                        </a:rPr>
                        <a:t>5</a:t>
                      </a:r>
                      <a:r>
                        <a:rPr lang="en-US" sz="1100">
                          <a:effectLst/>
                        </a:rPr>
                        <a:t>0.9</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dirty="0">
                          <a:effectLst/>
                        </a:rPr>
                        <a:t>2563</a:t>
                      </a:r>
                      <a:endParaRPr lang="en-US" sz="1200" dirty="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extLst>
                  <a:ext uri="{0D108BD9-81ED-4DB2-BD59-A6C34878D82A}">
                    <a16:rowId xmlns:a16="http://schemas.microsoft.com/office/drawing/2014/main" val="3995870723"/>
                  </a:ext>
                </a:extLst>
              </a:tr>
              <a:tr h="334542">
                <a:tc>
                  <a:txBody>
                    <a:bodyPr/>
                    <a:lstStyle/>
                    <a:p>
                      <a:pPr marL="0" marR="0">
                        <a:lnSpc>
                          <a:spcPct val="116000"/>
                        </a:lnSpc>
                        <a:spcAft>
                          <a:spcPts val="800"/>
                        </a:spcAft>
                        <a:buNone/>
                      </a:pPr>
                      <a:r>
                        <a:rPr lang="en-US" sz="1100">
                          <a:effectLst/>
                        </a:rPr>
                        <a:t>comp-2007-2-2</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1</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dirty="0">
                          <a:effectLst/>
                        </a:rPr>
                        <a:t>6.1</a:t>
                      </a:r>
                      <a:endParaRPr lang="en-US" sz="1200" dirty="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0</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0</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1000000</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extLst>
                  <a:ext uri="{0D108BD9-81ED-4DB2-BD59-A6C34878D82A}">
                    <a16:rowId xmlns:a16="http://schemas.microsoft.com/office/drawing/2014/main" val="2268500143"/>
                  </a:ext>
                </a:extLst>
              </a:tr>
              <a:tr h="320852">
                <a:tc>
                  <a:txBody>
                    <a:bodyPr/>
                    <a:lstStyle/>
                    <a:p>
                      <a:pPr marL="0" marR="0">
                        <a:lnSpc>
                          <a:spcPct val="116000"/>
                        </a:lnSpc>
                        <a:spcAft>
                          <a:spcPts val="800"/>
                        </a:spcAft>
                        <a:buNone/>
                      </a:pPr>
                      <a:r>
                        <a:rPr lang="en-US" sz="1100">
                          <a:effectLst/>
                        </a:rPr>
                        <a:t>comp-2007-2-3</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0</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0</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1209</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1542.75</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1209</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extLst>
                  <a:ext uri="{0D108BD9-81ED-4DB2-BD59-A6C34878D82A}">
                    <a16:rowId xmlns:a16="http://schemas.microsoft.com/office/drawing/2014/main" val="3151345757"/>
                  </a:ext>
                </a:extLst>
              </a:tr>
              <a:tr h="320852">
                <a:tc>
                  <a:txBody>
                    <a:bodyPr/>
                    <a:lstStyle/>
                    <a:p>
                      <a:pPr marL="0" marR="0">
                        <a:lnSpc>
                          <a:spcPct val="116000"/>
                        </a:lnSpc>
                        <a:spcAft>
                          <a:spcPts val="800"/>
                        </a:spcAft>
                        <a:buNone/>
                      </a:pPr>
                      <a:r>
                        <a:rPr lang="en-US" sz="1100">
                          <a:effectLst/>
                        </a:rPr>
                        <a:t>comp-2007-2-4</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0</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0</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1653</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1944.15</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1653</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extLst>
                  <a:ext uri="{0D108BD9-81ED-4DB2-BD59-A6C34878D82A}">
                    <a16:rowId xmlns:a16="http://schemas.microsoft.com/office/drawing/2014/main" val="4135660294"/>
                  </a:ext>
                </a:extLst>
              </a:tr>
              <a:tr h="320852">
                <a:tc>
                  <a:txBody>
                    <a:bodyPr/>
                    <a:lstStyle/>
                    <a:p>
                      <a:pPr marL="0" marR="0">
                        <a:lnSpc>
                          <a:spcPct val="116000"/>
                        </a:lnSpc>
                        <a:spcAft>
                          <a:spcPts val="800"/>
                        </a:spcAft>
                        <a:buNone/>
                      </a:pPr>
                      <a:r>
                        <a:rPr lang="en-US" sz="1100">
                          <a:effectLst/>
                        </a:rPr>
                        <a:t>comp-2007-2-5</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0</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0</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1105</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1315.7</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dirty="0">
                          <a:effectLst/>
                        </a:rPr>
                        <a:t>1105</a:t>
                      </a:r>
                      <a:endParaRPr lang="en-US" sz="1200" dirty="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extLst>
                  <a:ext uri="{0D108BD9-81ED-4DB2-BD59-A6C34878D82A}">
                    <a16:rowId xmlns:a16="http://schemas.microsoft.com/office/drawing/2014/main" val="1292705316"/>
                  </a:ext>
                </a:extLst>
              </a:tr>
              <a:tr h="334542">
                <a:tc>
                  <a:txBody>
                    <a:bodyPr/>
                    <a:lstStyle/>
                    <a:p>
                      <a:pPr marL="0" marR="0">
                        <a:lnSpc>
                          <a:spcPct val="116000"/>
                        </a:lnSpc>
                        <a:spcAft>
                          <a:spcPts val="800"/>
                        </a:spcAft>
                        <a:buNone/>
                      </a:pPr>
                      <a:r>
                        <a:rPr lang="en-US" sz="1100">
                          <a:effectLst/>
                        </a:rPr>
                        <a:t>comp-2007-2-6</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0</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0</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1026</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1200.8</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1026</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extLst>
                  <a:ext uri="{0D108BD9-81ED-4DB2-BD59-A6C34878D82A}">
                    <a16:rowId xmlns:a16="http://schemas.microsoft.com/office/drawing/2014/main" val="2872163809"/>
                  </a:ext>
                </a:extLst>
              </a:tr>
              <a:tr h="320852">
                <a:tc>
                  <a:txBody>
                    <a:bodyPr/>
                    <a:lstStyle/>
                    <a:p>
                      <a:pPr marL="0" marR="0">
                        <a:lnSpc>
                          <a:spcPct val="116000"/>
                        </a:lnSpc>
                        <a:spcAft>
                          <a:spcPts val="800"/>
                        </a:spcAft>
                        <a:buNone/>
                      </a:pPr>
                      <a:r>
                        <a:rPr lang="en-US" sz="1100">
                          <a:effectLst/>
                        </a:rPr>
                        <a:t>comp-2007-2-7</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0</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0</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dirty="0">
                          <a:effectLst/>
                        </a:rPr>
                        <a:t>523</a:t>
                      </a:r>
                      <a:endParaRPr lang="en-US" sz="1200" dirty="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737</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523</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extLst>
                  <a:ext uri="{0D108BD9-81ED-4DB2-BD59-A6C34878D82A}">
                    <a16:rowId xmlns:a16="http://schemas.microsoft.com/office/drawing/2014/main" val="942581251"/>
                  </a:ext>
                </a:extLst>
              </a:tr>
              <a:tr h="320852">
                <a:tc>
                  <a:txBody>
                    <a:bodyPr/>
                    <a:lstStyle/>
                    <a:p>
                      <a:pPr marL="0" marR="0">
                        <a:lnSpc>
                          <a:spcPct val="116000"/>
                        </a:lnSpc>
                        <a:spcAft>
                          <a:spcPts val="800"/>
                        </a:spcAft>
                        <a:buNone/>
                      </a:pPr>
                      <a:r>
                        <a:rPr lang="en-US" sz="1100">
                          <a:effectLst/>
                        </a:rPr>
                        <a:t>comp-2007-2-8</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0</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0</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905</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980.95</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905</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extLst>
                  <a:ext uri="{0D108BD9-81ED-4DB2-BD59-A6C34878D82A}">
                    <a16:rowId xmlns:a16="http://schemas.microsoft.com/office/drawing/2014/main" val="3670248679"/>
                  </a:ext>
                </a:extLst>
              </a:tr>
              <a:tr h="320852">
                <a:tc>
                  <a:txBody>
                    <a:bodyPr/>
                    <a:lstStyle/>
                    <a:p>
                      <a:pPr marL="0" marR="0">
                        <a:lnSpc>
                          <a:spcPct val="116000"/>
                        </a:lnSpc>
                        <a:spcAft>
                          <a:spcPts val="800"/>
                        </a:spcAft>
                        <a:buNone/>
                      </a:pPr>
                      <a:r>
                        <a:rPr lang="en-US" sz="1100">
                          <a:effectLst/>
                        </a:rPr>
                        <a:t>comp-2007-2-9</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1</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5.7</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0</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0</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1000000</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extLst>
                  <a:ext uri="{0D108BD9-81ED-4DB2-BD59-A6C34878D82A}">
                    <a16:rowId xmlns:a16="http://schemas.microsoft.com/office/drawing/2014/main" val="3434120958"/>
                  </a:ext>
                </a:extLst>
              </a:tr>
              <a:tr h="320852">
                <a:tc>
                  <a:txBody>
                    <a:bodyPr/>
                    <a:lstStyle/>
                    <a:p>
                      <a:pPr marL="0" marR="0">
                        <a:lnSpc>
                          <a:spcPct val="116000"/>
                        </a:lnSpc>
                        <a:spcAft>
                          <a:spcPts val="800"/>
                        </a:spcAft>
                        <a:buNone/>
                      </a:pPr>
                      <a:r>
                        <a:rPr lang="en-US" sz="1100">
                          <a:effectLst/>
                        </a:rPr>
                        <a:t>comp-2007-2-10</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4</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10.65</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0</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a:effectLst/>
                        </a:rPr>
                        <a:t>0</a:t>
                      </a:r>
                      <a:endParaRPr lang="en-US" sz="120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tc>
                  <a:txBody>
                    <a:bodyPr/>
                    <a:lstStyle/>
                    <a:p>
                      <a:pPr marL="0" marR="0">
                        <a:lnSpc>
                          <a:spcPct val="116000"/>
                        </a:lnSpc>
                        <a:spcAft>
                          <a:spcPts val="800"/>
                        </a:spcAft>
                        <a:buNone/>
                      </a:pPr>
                      <a:r>
                        <a:rPr lang="en-US" sz="1100" dirty="0">
                          <a:effectLst/>
                        </a:rPr>
                        <a:t>4000000</a:t>
                      </a:r>
                      <a:endParaRPr lang="en-US" sz="1200" dirty="0">
                        <a:effectLst/>
                        <a:latin typeface="Aptos" panose="020B0004020202020204" pitchFamily="34" charset="0"/>
                        <a:ea typeface="Times New Roman" panose="02020603050405020304" pitchFamily="18" charset="0"/>
                        <a:cs typeface="Arial" panose="020B0604020202020204" pitchFamily="34" charset="0"/>
                      </a:endParaRPr>
                    </a:p>
                  </a:txBody>
                  <a:tcPr marL="68580" marR="68580" marT="0" marB="0" anchor="b"/>
                </a:tc>
                <a:extLst>
                  <a:ext uri="{0D108BD9-81ED-4DB2-BD59-A6C34878D82A}">
                    <a16:rowId xmlns:a16="http://schemas.microsoft.com/office/drawing/2014/main" val="3241289680"/>
                  </a:ext>
                </a:extLst>
              </a:tr>
            </a:tbl>
          </a:graphicData>
        </a:graphic>
      </p:graphicFrame>
    </p:spTree>
    <p:extLst>
      <p:ext uri="{BB962C8B-B14F-4D97-AF65-F5344CB8AC3E}">
        <p14:creationId xmlns:p14="http://schemas.microsoft.com/office/powerpoint/2010/main" val="1385877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671CF-3FA4-32EC-EF7A-11E1CCA95A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C49C73-CF2E-3906-E0C5-DB5FC12765FF}"/>
              </a:ext>
            </a:extLst>
          </p:cNvPr>
          <p:cNvSpPr>
            <a:spLocks noGrp="1"/>
          </p:cNvSpPr>
          <p:nvPr>
            <p:ph type="title"/>
          </p:nvPr>
        </p:nvSpPr>
        <p:spPr>
          <a:xfrm>
            <a:off x="3564807" y="0"/>
            <a:ext cx="6416779" cy="1325563"/>
          </a:xfrm>
        </p:spPr>
        <p:txBody>
          <a:bodyPr/>
          <a:lstStyle/>
          <a:p>
            <a:r>
              <a:rPr lang="en-US" b="1" dirty="0">
                <a:solidFill>
                  <a:srgbClr val="156082"/>
                </a:solidFill>
              </a:rPr>
              <a:t>Proposed Hybrid Methods</a:t>
            </a:r>
          </a:p>
        </p:txBody>
      </p:sp>
      <p:sp>
        <p:nvSpPr>
          <p:cNvPr id="9" name="Rectangle 8">
            <a:extLst>
              <a:ext uri="{FF2B5EF4-FFF2-40B4-BE49-F238E27FC236}">
                <a16:creationId xmlns:a16="http://schemas.microsoft.com/office/drawing/2014/main" id="{5634DE50-E2B5-9062-7957-3C6B1295EACF}"/>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Content Placeholder 20">
            <a:extLst>
              <a:ext uri="{FF2B5EF4-FFF2-40B4-BE49-F238E27FC236}">
                <a16:creationId xmlns:a16="http://schemas.microsoft.com/office/drawing/2014/main" id="{39C65CF9-2211-93C0-70FA-843D23B573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2" name="Picture 11">
            <a:extLst>
              <a:ext uri="{FF2B5EF4-FFF2-40B4-BE49-F238E27FC236}">
                <a16:creationId xmlns:a16="http://schemas.microsoft.com/office/drawing/2014/main" id="{EE4EB55A-CE34-250F-F237-315FABDD3E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3" name="Slide Number Placeholder 12">
            <a:extLst>
              <a:ext uri="{FF2B5EF4-FFF2-40B4-BE49-F238E27FC236}">
                <a16:creationId xmlns:a16="http://schemas.microsoft.com/office/drawing/2014/main" id="{BCDF6AB8-D440-3867-0814-0FBB699BF11D}"/>
              </a:ext>
            </a:extLst>
          </p:cNvPr>
          <p:cNvSpPr>
            <a:spLocks noGrp="1"/>
          </p:cNvSpPr>
          <p:nvPr>
            <p:ph type="sldNum" sz="quarter" idx="12"/>
          </p:nvPr>
        </p:nvSpPr>
        <p:spPr/>
        <p:txBody>
          <a:bodyPr/>
          <a:lstStyle/>
          <a:p>
            <a:fld id="{FA5D76E8-8AD6-443B-8B81-1688B2EC3502}" type="slidenum">
              <a:rPr lang="en-US" smtClean="0"/>
              <a:t>44</a:t>
            </a:fld>
            <a:endParaRPr lang="en-US"/>
          </a:p>
        </p:txBody>
      </p:sp>
      <p:sp>
        <p:nvSpPr>
          <p:cNvPr id="5" name="TextBox 4">
            <a:extLst>
              <a:ext uri="{FF2B5EF4-FFF2-40B4-BE49-F238E27FC236}">
                <a16:creationId xmlns:a16="http://schemas.microsoft.com/office/drawing/2014/main" id="{C79456DF-F772-B8B1-C458-EB5CF3A7E6CA}"/>
              </a:ext>
            </a:extLst>
          </p:cNvPr>
          <p:cNvSpPr txBox="1"/>
          <p:nvPr/>
        </p:nvSpPr>
        <p:spPr>
          <a:xfrm>
            <a:off x="2285998" y="1393645"/>
            <a:ext cx="6324601" cy="461665"/>
          </a:xfrm>
          <a:prstGeom prst="rect">
            <a:avLst/>
          </a:prstGeom>
          <a:noFill/>
        </p:spPr>
        <p:txBody>
          <a:bodyPr wrap="square">
            <a:spAutoFit/>
          </a:bodyPr>
          <a:lstStyle/>
          <a:p>
            <a:r>
              <a:rPr lang="en-US" sz="2400" b="1" dirty="0"/>
              <a:t>Advantages of HGATS</a:t>
            </a:r>
          </a:p>
        </p:txBody>
      </p:sp>
      <p:sp>
        <p:nvSpPr>
          <p:cNvPr id="6" name="Content Placeholder 5">
            <a:extLst>
              <a:ext uri="{FF2B5EF4-FFF2-40B4-BE49-F238E27FC236}">
                <a16:creationId xmlns:a16="http://schemas.microsoft.com/office/drawing/2014/main" id="{C201DE70-E1B8-478A-8275-AADECA12D7B1}"/>
              </a:ext>
            </a:extLst>
          </p:cNvPr>
          <p:cNvSpPr>
            <a:spLocks noGrp="1"/>
          </p:cNvSpPr>
          <p:nvPr>
            <p:ph idx="1"/>
          </p:nvPr>
        </p:nvSpPr>
        <p:spPr>
          <a:xfrm>
            <a:off x="2282973" y="2067652"/>
            <a:ext cx="9070827" cy="4351338"/>
          </a:xfrm>
        </p:spPr>
        <p:txBody>
          <a:bodyPr>
            <a:normAutofit fontScale="77500" lnSpcReduction="20000"/>
          </a:bodyPr>
          <a:lstStyle/>
          <a:p>
            <a:pPr marL="0" indent="0">
              <a:buNone/>
            </a:pPr>
            <a:r>
              <a:rPr lang="en-US" b="1" dirty="0"/>
              <a:t>Exploration</a:t>
            </a:r>
          </a:p>
          <a:p>
            <a:r>
              <a:rPr lang="en-US" dirty="0"/>
              <a:t>Guided Search </a:t>
            </a:r>
          </a:p>
          <a:p>
            <a:r>
              <a:rPr lang="en-US" dirty="0"/>
              <a:t>Biased Crossover </a:t>
            </a:r>
          </a:p>
          <a:p>
            <a:r>
              <a:rPr lang="en-US" dirty="0"/>
              <a:t>Mutation </a:t>
            </a:r>
          </a:p>
          <a:p>
            <a:pPr marL="0" indent="0">
              <a:buNone/>
            </a:pPr>
            <a:r>
              <a:rPr lang="en-US" b="1" dirty="0"/>
              <a:t>Exploitation</a:t>
            </a:r>
          </a:p>
          <a:p>
            <a:r>
              <a:rPr lang="en-US" dirty="0"/>
              <a:t>Local Search (LS3 &amp; LS4) </a:t>
            </a:r>
          </a:p>
          <a:p>
            <a:r>
              <a:rPr lang="en-US" dirty="0"/>
              <a:t>Tabu Search </a:t>
            </a:r>
          </a:p>
          <a:p>
            <a:pPr marL="0" indent="0">
              <a:buNone/>
            </a:pPr>
            <a:r>
              <a:rPr lang="en-US" b="1" dirty="0"/>
              <a:t>Overall Benefits</a:t>
            </a:r>
          </a:p>
          <a:p>
            <a:r>
              <a:rPr lang="en-US" dirty="0"/>
              <a:t>✓ Better feasibility</a:t>
            </a:r>
          </a:p>
          <a:p>
            <a:r>
              <a:rPr lang="en-US" dirty="0"/>
              <a:t>✓ Lower soft penalties</a:t>
            </a:r>
          </a:p>
          <a:p>
            <a:r>
              <a:rPr lang="en-US" dirty="0"/>
              <a:t>✓ Faster convergence</a:t>
            </a:r>
          </a:p>
          <a:p>
            <a:r>
              <a:rPr lang="en-US" dirty="0"/>
              <a:t>✓ Higher-quality timetables</a:t>
            </a:r>
          </a:p>
          <a:p>
            <a:endParaRPr lang="en-US" dirty="0"/>
          </a:p>
        </p:txBody>
      </p:sp>
    </p:spTree>
    <p:extLst>
      <p:ext uri="{BB962C8B-B14F-4D97-AF65-F5344CB8AC3E}">
        <p14:creationId xmlns:p14="http://schemas.microsoft.com/office/powerpoint/2010/main" val="1216258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F1AEC-3194-0602-C9FA-02C08BC40D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40498E-76DC-6EAC-BA5B-15C96E470ED9}"/>
              </a:ext>
            </a:extLst>
          </p:cNvPr>
          <p:cNvSpPr>
            <a:spLocks noGrp="1"/>
          </p:cNvSpPr>
          <p:nvPr>
            <p:ph type="title"/>
          </p:nvPr>
        </p:nvSpPr>
        <p:spPr>
          <a:xfrm>
            <a:off x="4068096" y="18255"/>
            <a:ext cx="5410202" cy="1325563"/>
          </a:xfrm>
        </p:spPr>
        <p:txBody>
          <a:bodyPr/>
          <a:lstStyle/>
          <a:p>
            <a:r>
              <a:rPr lang="en-US" b="1" dirty="0">
                <a:solidFill>
                  <a:srgbClr val="156082"/>
                </a:solidFill>
              </a:rPr>
              <a:t>Multi-Objective UCTP</a:t>
            </a:r>
          </a:p>
        </p:txBody>
      </p:sp>
      <p:sp>
        <p:nvSpPr>
          <p:cNvPr id="3" name="Content Placeholder 2">
            <a:extLst>
              <a:ext uri="{FF2B5EF4-FFF2-40B4-BE49-F238E27FC236}">
                <a16:creationId xmlns:a16="http://schemas.microsoft.com/office/drawing/2014/main" id="{1DD6B5BD-0E1D-035D-2441-367EA0CA78BF}"/>
              </a:ext>
            </a:extLst>
          </p:cNvPr>
          <p:cNvSpPr>
            <a:spLocks noGrp="1"/>
          </p:cNvSpPr>
          <p:nvPr>
            <p:ph idx="1"/>
          </p:nvPr>
        </p:nvSpPr>
        <p:spPr>
          <a:xfrm>
            <a:off x="2192594" y="1825625"/>
            <a:ext cx="9161206" cy="4351338"/>
          </a:xfrm>
        </p:spPr>
        <p:txBody>
          <a:bodyPr>
            <a:normAutofit/>
          </a:bodyPr>
          <a:lstStyle/>
          <a:p>
            <a:pPr marL="0" indent="0">
              <a:buNone/>
            </a:pPr>
            <a:r>
              <a:rPr lang="en-US" b="1" dirty="0"/>
              <a:t>From Single-Objective UCTP to Multi-Objective UCTP</a:t>
            </a:r>
          </a:p>
          <a:p>
            <a:pPr marL="0" indent="0">
              <a:buNone/>
            </a:pPr>
            <a:r>
              <a:rPr lang="en-US" b="1" dirty="0"/>
              <a:t>Single-Objective Approach</a:t>
            </a:r>
          </a:p>
          <a:p>
            <a:r>
              <a:rPr lang="en-US" dirty="0"/>
              <a:t>Combines all constraints into one fitness value. </a:t>
            </a:r>
          </a:p>
          <a:p>
            <a:r>
              <a:rPr lang="en-US" dirty="0"/>
              <a:t>Produces a single "best" timetable. </a:t>
            </a:r>
          </a:p>
          <a:p>
            <a:pPr marL="0" indent="0">
              <a:buNone/>
            </a:pPr>
            <a:r>
              <a:rPr lang="en-US" b="1" dirty="0"/>
              <a:t>Multi-Objective Approach</a:t>
            </a:r>
          </a:p>
          <a:p>
            <a:r>
              <a:rPr lang="en-US" dirty="0"/>
              <a:t>Optimizes multiple objectives simultaneously. </a:t>
            </a:r>
          </a:p>
          <a:p>
            <a:r>
              <a:rPr lang="en-US" dirty="0"/>
              <a:t>Produces a set of Pareto solutions. </a:t>
            </a:r>
          </a:p>
        </p:txBody>
      </p:sp>
      <p:sp>
        <p:nvSpPr>
          <p:cNvPr id="9" name="Rectangle 8">
            <a:extLst>
              <a:ext uri="{FF2B5EF4-FFF2-40B4-BE49-F238E27FC236}">
                <a16:creationId xmlns:a16="http://schemas.microsoft.com/office/drawing/2014/main" id="{42F4DA22-FC48-8240-2CD5-D5473CBE4CB2}"/>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Content Placeholder 20">
            <a:extLst>
              <a:ext uri="{FF2B5EF4-FFF2-40B4-BE49-F238E27FC236}">
                <a16:creationId xmlns:a16="http://schemas.microsoft.com/office/drawing/2014/main" id="{17397826-EE91-CC16-6A32-716238640D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2" name="Picture 11">
            <a:extLst>
              <a:ext uri="{FF2B5EF4-FFF2-40B4-BE49-F238E27FC236}">
                <a16:creationId xmlns:a16="http://schemas.microsoft.com/office/drawing/2014/main" id="{F185DE0F-70D5-BE0E-8BF9-477C88AD26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3" name="Slide Number Placeholder 12">
            <a:extLst>
              <a:ext uri="{FF2B5EF4-FFF2-40B4-BE49-F238E27FC236}">
                <a16:creationId xmlns:a16="http://schemas.microsoft.com/office/drawing/2014/main" id="{BF662042-A70E-4ECC-1824-3A722999CB5A}"/>
              </a:ext>
            </a:extLst>
          </p:cNvPr>
          <p:cNvSpPr>
            <a:spLocks noGrp="1"/>
          </p:cNvSpPr>
          <p:nvPr>
            <p:ph type="sldNum" sz="quarter" idx="12"/>
          </p:nvPr>
        </p:nvSpPr>
        <p:spPr/>
        <p:txBody>
          <a:bodyPr/>
          <a:lstStyle/>
          <a:p>
            <a:fld id="{FA5D76E8-8AD6-443B-8B81-1688B2EC3502}" type="slidenum">
              <a:rPr lang="en-US" smtClean="0"/>
              <a:t>45</a:t>
            </a:fld>
            <a:endParaRPr lang="en-US"/>
          </a:p>
        </p:txBody>
      </p:sp>
    </p:spTree>
    <p:extLst>
      <p:ext uri="{BB962C8B-B14F-4D97-AF65-F5344CB8AC3E}">
        <p14:creationId xmlns:p14="http://schemas.microsoft.com/office/powerpoint/2010/main" val="875521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E4C44-A249-2129-4F8D-B253BD7A92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885444-2895-6849-1B39-59E1B2B0E3BB}"/>
              </a:ext>
            </a:extLst>
          </p:cNvPr>
          <p:cNvSpPr>
            <a:spLocks noGrp="1"/>
          </p:cNvSpPr>
          <p:nvPr>
            <p:ph type="title"/>
          </p:nvPr>
        </p:nvSpPr>
        <p:spPr>
          <a:xfrm>
            <a:off x="4068096" y="18255"/>
            <a:ext cx="5410202" cy="1325563"/>
          </a:xfrm>
        </p:spPr>
        <p:txBody>
          <a:bodyPr/>
          <a:lstStyle/>
          <a:p>
            <a:r>
              <a:rPr lang="en-US" b="1" dirty="0">
                <a:solidFill>
                  <a:srgbClr val="156082"/>
                </a:solidFill>
              </a:rPr>
              <a:t>Multi-Objective UCTP</a:t>
            </a:r>
          </a:p>
        </p:txBody>
      </p:sp>
      <p:sp>
        <p:nvSpPr>
          <p:cNvPr id="3" name="Content Placeholder 2">
            <a:extLst>
              <a:ext uri="{FF2B5EF4-FFF2-40B4-BE49-F238E27FC236}">
                <a16:creationId xmlns:a16="http://schemas.microsoft.com/office/drawing/2014/main" id="{F0E113F4-CB1A-44F8-5EB4-59804D5BA909}"/>
              </a:ext>
            </a:extLst>
          </p:cNvPr>
          <p:cNvSpPr>
            <a:spLocks noGrp="1"/>
          </p:cNvSpPr>
          <p:nvPr>
            <p:ph idx="1"/>
          </p:nvPr>
        </p:nvSpPr>
        <p:spPr>
          <a:xfrm>
            <a:off x="2261420" y="1693213"/>
            <a:ext cx="9930580" cy="4351338"/>
          </a:xfrm>
        </p:spPr>
        <p:txBody>
          <a:bodyPr>
            <a:normAutofit/>
          </a:bodyPr>
          <a:lstStyle/>
          <a:p>
            <a:pPr marL="0" indent="0">
              <a:buNone/>
            </a:pPr>
            <a:r>
              <a:rPr lang="en-US" dirty="0"/>
              <a:t>LS5 follows the same procedure as </a:t>
            </a:r>
            <a:r>
              <a:rPr lang="en-US" b="1" dirty="0"/>
              <a:t>LS1</a:t>
            </a:r>
            <a:r>
              <a:rPr lang="en-US" dirty="0"/>
              <a:t> but introduces an additional neighborhood structure to enhance exploration of the search space.</a:t>
            </a:r>
          </a:p>
          <a:p>
            <a:pPr marL="0" indent="0">
              <a:buNone/>
            </a:pPr>
            <a:endParaRPr lang="en-US" dirty="0"/>
          </a:p>
          <a:p>
            <a:pPr marL="0" indent="0">
              <a:buNone/>
            </a:pPr>
            <a:r>
              <a:rPr lang="en-US" sz="2400" b="1" dirty="0"/>
              <a:t>N7: Consecutive Event Swap</a:t>
            </a:r>
            <a:endParaRPr lang="en-US" sz="2400" dirty="0"/>
          </a:p>
          <a:p>
            <a:r>
              <a:rPr lang="en-US" dirty="0"/>
              <a:t>Select two consecutive events. </a:t>
            </a:r>
          </a:p>
          <a:p>
            <a:r>
              <a:rPr lang="en-US" dirty="0"/>
              <a:t>Swap their time slots with another pair of consecutive events. </a:t>
            </a:r>
          </a:p>
          <a:p>
            <a:r>
              <a:rPr lang="en-US" dirty="0"/>
              <a:t>Explore larger search-space movements.</a:t>
            </a:r>
          </a:p>
          <a:p>
            <a:pPr marL="0" indent="0">
              <a:buNone/>
            </a:pPr>
            <a:endParaRPr lang="en-US" dirty="0"/>
          </a:p>
        </p:txBody>
      </p:sp>
      <p:sp>
        <p:nvSpPr>
          <p:cNvPr id="9" name="Rectangle 8">
            <a:extLst>
              <a:ext uri="{FF2B5EF4-FFF2-40B4-BE49-F238E27FC236}">
                <a16:creationId xmlns:a16="http://schemas.microsoft.com/office/drawing/2014/main" id="{9F05BFDA-605F-B560-7819-D0C4067F0467}"/>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Content Placeholder 20">
            <a:extLst>
              <a:ext uri="{FF2B5EF4-FFF2-40B4-BE49-F238E27FC236}">
                <a16:creationId xmlns:a16="http://schemas.microsoft.com/office/drawing/2014/main" id="{959AE9CC-98D3-D3B3-B57B-6FABFEEFFF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2" name="Picture 11">
            <a:extLst>
              <a:ext uri="{FF2B5EF4-FFF2-40B4-BE49-F238E27FC236}">
                <a16:creationId xmlns:a16="http://schemas.microsoft.com/office/drawing/2014/main" id="{FE8E448E-1B78-AE83-1E33-BF9DCD0CD0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3" name="Slide Number Placeholder 12">
            <a:extLst>
              <a:ext uri="{FF2B5EF4-FFF2-40B4-BE49-F238E27FC236}">
                <a16:creationId xmlns:a16="http://schemas.microsoft.com/office/drawing/2014/main" id="{B9BB58E1-6829-42A3-4527-7262E1899B2E}"/>
              </a:ext>
            </a:extLst>
          </p:cNvPr>
          <p:cNvSpPr>
            <a:spLocks noGrp="1"/>
          </p:cNvSpPr>
          <p:nvPr>
            <p:ph type="sldNum" sz="quarter" idx="12"/>
          </p:nvPr>
        </p:nvSpPr>
        <p:spPr/>
        <p:txBody>
          <a:bodyPr/>
          <a:lstStyle/>
          <a:p>
            <a:fld id="{FA5D76E8-8AD6-443B-8B81-1688B2EC3502}" type="slidenum">
              <a:rPr lang="en-US" smtClean="0"/>
              <a:t>46</a:t>
            </a:fld>
            <a:endParaRPr lang="en-US" dirty="0"/>
          </a:p>
        </p:txBody>
      </p:sp>
      <p:sp>
        <p:nvSpPr>
          <p:cNvPr id="4" name="TextBox 3">
            <a:extLst>
              <a:ext uri="{FF2B5EF4-FFF2-40B4-BE49-F238E27FC236}">
                <a16:creationId xmlns:a16="http://schemas.microsoft.com/office/drawing/2014/main" id="{625B2CA9-04BA-BDF1-AB0B-E98F7AE0010C}"/>
              </a:ext>
            </a:extLst>
          </p:cNvPr>
          <p:cNvSpPr txBox="1"/>
          <p:nvPr/>
        </p:nvSpPr>
        <p:spPr>
          <a:xfrm>
            <a:off x="2261420" y="1126037"/>
            <a:ext cx="5801032" cy="800219"/>
          </a:xfrm>
          <a:prstGeom prst="rect">
            <a:avLst/>
          </a:prstGeom>
          <a:noFill/>
        </p:spPr>
        <p:txBody>
          <a:bodyPr wrap="square" rtlCol="0">
            <a:spAutoFit/>
          </a:bodyPr>
          <a:lstStyle/>
          <a:p>
            <a:r>
              <a:rPr lang="en-US" sz="2800" b="1" dirty="0"/>
              <a:t>Local Search Strategy 5 (LS5)</a:t>
            </a:r>
          </a:p>
          <a:p>
            <a:endParaRPr lang="en-US" dirty="0"/>
          </a:p>
        </p:txBody>
      </p:sp>
    </p:spTree>
    <p:extLst>
      <p:ext uri="{BB962C8B-B14F-4D97-AF65-F5344CB8AC3E}">
        <p14:creationId xmlns:p14="http://schemas.microsoft.com/office/powerpoint/2010/main" val="3431204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2F534-31FA-CB68-E259-A41EAB5560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533C09-B6B9-7A37-A4DF-5AC3C76872EC}"/>
              </a:ext>
            </a:extLst>
          </p:cNvPr>
          <p:cNvSpPr>
            <a:spLocks noGrp="1"/>
          </p:cNvSpPr>
          <p:nvPr>
            <p:ph type="title"/>
          </p:nvPr>
        </p:nvSpPr>
        <p:spPr>
          <a:xfrm>
            <a:off x="4068096" y="18255"/>
            <a:ext cx="5410202" cy="1325563"/>
          </a:xfrm>
        </p:spPr>
        <p:txBody>
          <a:bodyPr/>
          <a:lstStyle/>
          <a:p>
            <a:r>
              <a:rPr lang="en-US" b="1" dirty="0">
                <a:solidFill>
                  <a:srgbClr val="156082"/>
                </a:solidFill>
              </a:rPr>
              <a:t>Multi-Objective UCTP</a:t>
            </a:r>
          </a:p>
        </p:txBody>
      </p:sp>
      <p:sp>
        <p:nvSpPr>
          <p:cNvPr id="3" name="Content Placeholder 2">
            <a:extLst>
              <a:ext uri="{FF2B5EF4-FFF2-40B4-BE49-F238E27FC236}">
                <a16:creationId xmlns:a16="http://schemas.microsoft.com/office/drawing/2014/main" id="{A19AFEE1-C8B3-557A-45D3-D0A847904F33}"/>
              </a:ext>
            </a:extLst>
          </p:cNvPr>
          <p:cNvSpPr>
            <a:spLocks noGrp="1"/>
          </p:cNvSpPr>
          <p:nvPr>
            <p:ph idx="1"/>
          </p:nvPr>
        </p:nvSpPr>
        <p:spPr>
          <a:xfrm>
            <a:off x="2261420" y="1693212"/>
            <a:ext cx="6685935" cy="5117299"/>
          </a:xfrm>
        </p:spPr>
        <p:txBody>
          <a:bodyPr>
            <a:normAutofit/>
          </a:bodyPr>
          <a:lstStyle/>
          <a:p>
            <a:r>
              <a:rPr lang="en-US" dirty="0"/>
              <a:t>Every τ generations, memories are rebuilt. </a:t>
            </a:r>
          </a:p>
          <a:p>
            <a:r>
              <a:rPr lang="en-US" dirty="0"/>
              <a:t>Select the top α × N individuals. </a:t>
            </a:r>
          </a:p>
          <a:p>
            <a:r>
              <a:rPr lang="en-US" dirty="0"/>
              <a:t>For each objective: </a:t>
            </a:r>
          </a:p>
          <a:p>
            <a:pPr lvl="1"/>
            <a:r>
              <a:rPr lang="en-US" dirty="0"/>
              <a:t>Find events with zero penalty. </a:t>
            </a:r>
          </a:p>
          <a:p>
            <a:pPr lvl="1"/>
            <a:r>
              <a:rPr lang="en-US" dirty="0"/>
              <a:t>Store their room/time-slot assignments. </a:t>
            </a:r>
          </a:p>
          <a:p>
            <a:r>
              <a:rPr lang="en-US" dirty="0"/>
              <a:t>Build objective-specific memories (MEM₁, MEM₂, MEM₃). </a:t>
            </a:r>
          </a:p>
          <a:p>
            <a:pPr marL="0" indent="0">
              <a:buNone/>
            </a:pPr>
            <a:endParaRPr lang="en-US" dirty="0"/>
          </a:p>
        </p:txBody>
      </p:sp>
      <p:sp>
        <p:nvSpPr>
          <p:cNvPr id="9" name="Rectangle 8">
            <a:extLst>
              <a:ext uri="{FF2B5EF4-FFF2-40B4-BE49-F238E27FC236}">
                <a16:creationId xmlns:a16="http://schemas.microsoft.com/office/drawing/2014/main" id="{F76590D4-AE8C-CE1D-1C99-31CCEC5D88C2}"/>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Content Placeholder 20">
            <a:extLst>
              <a:ext uri="{FF2B5EF4-FFF2-40B4-BE49-F238E27FC236}">
                <a16:creationId xmlns:a16="http://schemas.microsoft.com/office/drawing/2014/main" id="{A88EFB6A-6BB4-021F-4085-ED744C4C3B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2" name="Picture 11">
            <a:extLst>
              <a:ext uri="{FF2B5EF4-FFF2-40B4-BE49-F238E27FC236}">
                <a16:creationId xmlns:a16="http://schemas.microsoft.com/office/drawing/2014/main" id="{FF56DA94-F42A-C474-8474-700051B7D2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3" name="Slide Number Placeholder 12">
            <a:extLst>
              <a:ext uri="{FF2B5EF4-FFF2-40B4-BE49-F238E27FC236}">
                <a16:creationId xmlns:a16="http://schemas.microsoft.com/office/drawing/2014/main" id="{56ECBE4B-4981-368E-D296-068D20A15533}"/>
              </a:ext>
            </a:extLst>
          </p:cNvPr>
          <p:cNvSpPr>
            <a:spLocks noGrp="1"/>
          </p:cNvSpPr>
          <p:nvPr>
            <p:ph type="sldNum" sz="quarter" idx="12"/>
          </p:nvPr>
        </p:nvSpPr>
        <p:spPr/>
        <p:txBody>
          <a:bodyPr/>
          <a:lstStyle/>
          <a:p>
            <a:fld id="{FA5D76E8-8AD6-443B-8B81-1688B2EC3502}" type="slidenum">
              <a:rPr lang="en-US" smtClean="0"/>
              <a:t>47</a:t>
            </a:fld>
            <a:endParaRPr lang="en-US"/>
          </a:p>
        </p:txBody>
      </p:sp>
      <p:sp>
        <p:nvSpPr>
          <p:cNvPr id="4" name="TextBox 3">
            <a:extLst>
              <a:ext uri="{FF2B5EF4-FFF2-40B4-BE49-F238E27FC236}">
                <a16:creationId xmlns:a16="http://schemas.microsoft.com/office/drawing/2014/main" id="{9D5211CC-B6E0-702B-F637-069888A6689D}"/>
              </a:ext>
            </a:extLst>
          </p:cNvPr>
          <p:cNvSpPr txBox="1"/>
          <p:nvPr/>
        </p:nvSpPr>
        <p:spPr>
          <a:xfrm>
            <a:off x="2261420" y="1126037"/>
            <a:ext cx="5801032" cy="800219"/>
          </a:xfrm>
          <a:prstGeom prst="rect">
            <a:avLst/>
          </a:prstGeom>
          <a:noFill/>
        </p:spPr>
        <p:txBody>
          <a:bodyPr wrap="square" rtlCol="0">
            <a:spAutoFit/>
          </a:bodyPr>
          <a:lstStyle/>
          <a:p>
            <a:r>
              <a:rPr lang="en-US" sz="2800" b="1" dirty="0"/>
              <a:t>Construction of MEM Structures</a:t>
            </a:r>
            <a:r>
              <a:rPr lang="ar-EG" sz="2800" b="1" dirty="0"/>
              <a:t>:</a:t>
            </a:r>
            <a:endParaRPr lang="en-US" sz="2800" b="1" dirty="0"/>
          </a:p>
          <a:p>
            <a:endParaRPr lang="en-US" dirty="0"/>
          </a:p>
        </p:txBody>
      </p:sp>
      <p:sp>
        <p:nvSpPr>
          <p:cNvPr id="6" name="Oval 5">
            <a:extLst>
              <a:ext uri="{FF2B5EF4-FFF2-40B4-BE49-F238E27FC236}">
                <a16:creationId xmlns:a16="http://schemas.microsoft.com/office/drawing/2014/main" id="{7620733C-0392-D76C-081A-16463F5D6A8D}"/>
              </a:ext>
            </a:extLst>
          </p:cNvPr>
          <p:cNvSpPr/>
          <p:nvPr/>
        </p:nvSpPr>
        <p:spPr>
          <a:xfrm>
            <a:off x="9026013" y="2264823"/>
            <a:ext cx="2826204" cy="67232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Select </a:t>
            </a:r>
            <a:r>
              <a:rPr lang="el-GR" dirty="0"/>
              <a:t>α × </a:t>
            </a:r>
            <a:r>
              <a:rPr lang="en-US" dirty="0"/>
              <a:t>N Best Individuals</a:t>
            </a:r>
          </a:p>
        </p:txBody>
      </p:sp>
      <p:sp>
        <p:nvSpPr>
          <p:cNvPr id="7" name="Oval 6">
            <a:extLst>
              <a:ext uri="{FF2B5EF4-FFF2-40B4-BE49-F238E27FC236}">
                <a16:creationId xmlns:a16="http://schemas.microsoft.com/office/drawing/2014/main" id="{A480F2BB-78C3-E7B5-DC7B-1C9106EE3F61}"/>
              </a:ext>
            </a:extLst>
          </p:cNvPr>
          <p:cNvSpPr/>
          <p:nvPr/>
        </p:nvSpPr>
        <p:spPr>
          <a:xfrm>
            <a:off x="9026013" y="3110696"/>
            <a:ext cx="2826203" cy="83030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Check Objective Values</a:t>
            </a:r>
          </a:p>
        </p:txBody>
      </p:sp>
      <p:sp>
        <p:nvSpPr>
          <p:cNvPr id="8" name="Oval 7">
            <a:extLst>
              <a:ext uri="{FF2B5EF4-FFF2-40B4-BE49-F238E27FC236}">
                <a16:creationId xmlns:a16="http://schemas.microsoft.com/office/drawing/2014/main" id="{92EE9D86-9D3D-B46E-AC97-392BE35CD565}"/>
              </a:ext>
            </a:extLst>
          </p:cNvPr>
          <p:cNvSpPr/>
          <p:nvPr/>
        </p:nvSpPr>
        <p:spPr>
          <a:xfrm>
            <a:off x="9026014" y="4144821"/>
            <a:ext cx="2826202" cy="8280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Identify Zero-Penalty Events</a:t>
            </a:r>
          </a:p>
        </p:txBody>
      </p:sp>
      <p:sp>
        <p:nvSpPr>
          <p:cNvPr id="10" name="Oval 9">
            <a:extLst>
              <a:ext uri="{FF2B5EF4-FFF2-40B4-BE49-F238E27FC236}">
                <a16:creationId xmlns:a16="http://schemas.microsoft.com/office/drawing/2014/main" id="{D0805D23-DEDA-079B-E3F3-A66DEAD7BE38}"/>
              </a:ext>
            </a:extLst>
          </p:cNvPr>
          <p:cNvSpPr/>
          <p:nvPr/>
        </p:nvSpPr>
        <p:spPr>
          <a:xfrm>
            <a:off x="9026014" y="5061882"/>
            <a:ext cx="2826202" cy="8303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Store Event Assignments</a:t>
            </a:r>
          </a:p>
        </p:txBody>
      </p:sp>
      <p:sp>
        <p:nvSpPr>
          <p:cNvPr id="14" name="Oval 13">
            <a:extLst>
              <a:ext uri="{FF2B5EF4-FFF2-40B4-BE49-F238E27FC236}">
                <a16:creationId xmlns:a16="http://schemas.microsoft.com/office/drawing/2014/main" id="{8F655650-A55A-5708-993F-A1F9AB2EA1E9}"/>
              </a:ext>
            </a:extLst>
          </p:cNvPr>
          <p:cNvSpPr/>
          <p:nvPr/>
        </p:nvSpPr>
        <p:spPr>
          <a:xfrm>
            <a:off x="9026014" y="5980211"/>
            <a:ext cx="2826202" cy="83030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MEM₁  MEM₂  MEM₃</a:t>
            </a:r>
          </a:p>
        </p:txBody>
      </p:sp>
      <p:sp>
        <p:nvSpPr>
          <p:cNvPr id="5" name="Oval 4">
            <a:extLst>
              <a:ext uri="{FF2B5EF4-FFF2-40B4-BE49-F238E27FC236}">
                <a16:creationId xmlns:a16="http://schemas.microsoft.com/office/drawing/2014/main" id="{12F35581-F63B-4CCA-1631-8BF3582CDF7E}"/>
              </a:ext>
            </a:extLst>
          </p:cNvPr>
          <p:cNvSpPr/>
          <p:nvPr/>
        </p:nvSpPr>
        <p:spPr>
          <a:xfrm>
            <a:off x="9026013" y="1432277"/>
            <a:ext cx="2826204" cy="6544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Population P</a:t>
            </a:r>
          </a:p>
        </p:txBody>
      </p:sp>
      <p:cxnSp>
        <p:nvCxnSpPr>
          <p:cNvPr id="18" name="Straight Arrow Connector 17">
            <a:extLst>
              <a:ext uri="{FF2B5EF4-FFF2-40B4-BE49-F238E27FC236}">
                <a16:creationId xmlns:a16="http://schemas.microsoft.com/office/drawing/2014/main" id="{66594729-CA10-452D-B0E9-70A8281E5EFC}"/>
              </a:ext>
            </a:extLst>
          </p:cNvPr>
          <p:cNvCxnSpPr>
            <a:cxnSpLocks/>
            <a:stCxn id="5" idx="4"/>
            <a:endCxn id="6" idx="0"/>
          </p:cNvCxnSpPr>
          <p:nvPr/>
        </p:nvCxnSpPr>
        <p:spPr>
          <a:xfrm>
            <a:off x="10439115" y="2086702"/>
            <a:ext cx="0" cy="1781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8C7A4A51-8117-C0C1-63B6-064A4B5C2A4C}"/>
              </a:ext>
            </a:extLst>
          </p:cNvPr>
          <p:cNvCxnSpPr>
            <a:cxnSpLocks/>
            <a:stCxn id="6" idx="4"/>
            <a:endCxn id="7" idx="0"/>
          </p:cNvCxnSpPr>
          <p:nvPr/>
        </p:nvCxnSpPr>
        <p:spPr>
          <a:xfrm>
            <a:off x="10439115" y="2937144"/>
            <a:ext cx="0" cy="1735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EBD705A4-6BF9-C666-D7EA-C40B7D4F1B29}"/>
              </a:ext>
            </a:extLst>
          </p:cNvPr>
          <p:cNvCxnSpPr>
            <a:stCxn id="7" idx="4"/>
            <a:endCxn id="8" idx="0"/>
          </p:cNvCxnSpPr>
          <p:nvPr/>
        </p:nvCxnSpPr>
        <p:spPr>
          <a:xfrm>
            <a:off x="10439115" y="3940997"/>
            <a:ext cx="0" cy="2038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BFA9E13E-475D-7753-687E-C0434BD079AF}"/>
              </a:ext>
            </a:extLst>
          </p:cNvPr>
          <p:cNvCxnSpPr>
            <a:stCxn id="8" idx="4"/>
            <a:endCxn id="10" idx="0"/>
          </p:cNvCxnSpPr>
          <p:nvPr/>
        </p:nvCxnSpPr>
        <p:spPr>
          <a:xfrm>
            <a:off x="10439115" y="4972845"/>
            <a:ext cx="0" cy="890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01C26D76-B545-18D4-0C5C-8D0BB488B757}"/>
              </a:ext>
            </a:extLst>
          </p:cNvPr>
          <p:cNvCxnSpPr>
            <a:stCxn id="10" idx="4"/>
            <a:endCxn id="14" idx="0"/>
          </p:cNvCxnSpPr>
          <p:nvPr/>
        </p:nvCxnSpPr>
        <p:spPr>
          <a:xfrm>
            <a:off x="10439115" y="5892184"/>
            <a:ext cx="0" cy="880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505A7D8E-3D1A-5306-17A4-C0EB2382B7A8}"/>
              </a:ext>
            </a:extLst>
          </p:cNvPr>
          <p:cNvPicPr>
            <a:picLocks noChangeAspect="1"/>
          </p:cNvPicPr>
          <p:nvPr/>
        </p:nvPicPr>
        <p:blipFill>
          <a:blip r:embed="rId4"/>
          <a:stretch>
            <a:fillRect/>
          </a:stretch>
        </p:blipFill>
        <p:spPr>
          <a:xfrm>
            <a:off x="5785818" y="4942603"/>
            <a:ext cx="3083015" cy="1778872"/>
          </a:xfrm>
          <a:prstGeom prst="rect">
            <a:avLst/>
          </a:prstGeom>
        </p:spPr>
      </p:pic>
    </p:spTree>
    <p:extLst>
      <p:ext uri="{BB962C8B-B14F-4D97-AF65-F5344CB8AC3E}">
        <p14:creationId xmlns:p14="http://schemas.microsoft.com/office/powerpoint/2010/main" val="1182498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par>
                                <p:cTn id="24" presetID="10" presetClass="entr" presetSubtype="0" fill="hold"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5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00"/>
                                        <p:tgtEl>
                                          <p:spTgt spid="2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500"/>
                                        <p:tgtEl>
                                          <p:spTgt spid="2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0">
                                            <p:bg/>
                                          </p:spTgt>
                                        </p:tgtEl>
                                        <p:attrNameLst>
                                          <p:attrName>style.visibility</p:attrName>
                                        </p:attrNameLst>
                                      </p:cBhvr>
                                      <p:to>
                                        <p:strVal val="visible"/>
                                      </p:to>
                                    </p:set>
                                    <p:animEffect transition="in" filter="fade">
                                      <p:cBhvr>
                                        <p:cTn id="42" dur="500"/>
                                        <p:tgtEl>
                                          <p:spTgt spid="10">
                                            <p:bg/>
                                          </p:spTgt>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0">
                                            <p:txEl>
                                              <p:pRg st="0" end="0"/>
                                            </p:txEl>
                                          </p:spTgt>
                                        </p:tgtEl>
                                        <p:attrNameLst>
                                          <p:attrName>style.visibility</p:attrName>
                                        </p:attrNameLst>
                                      </p:cBhvr>
                                      <p:to>
                                        <p:strVal val="visible"/>
                                      </p:to>
                                    </p:set>
                                    <p:animEffect transition="in" filter="fade">
                                      <p:cBhvr>
                                        <p:cTn id="45" dur="500"/>
                                        <p:tgtEl>
                                          <p:spTgt spid="10">
                                            <p:txEl>
                                              <p:pRg st="0" end="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4">
                                            <p:bg/>
                                          </p:spTgt>
                                        </p:tgtEl>
                                        <p:attrNameLst>
                                          <p:attrName>style.visibility</p:attrName>
                                        </p:attrNameLst>
                                      </p:cBhvr>
                                      <p:to>
                                        <p:strVal val="visible"/>
                                      </p:to>
                                    </p:set>
                                    <p:animEffect transition="in" filter="fade">
                                      <p:cBhvr>
                                        <p:cTn id="50" dur="500"/>
                                        <p:tgtEl>
                                          <p:spTgt spid="14">
                                            <p:bg/>
                                          </p:spTgt>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4">
                                            <p:txEl>
                                              <p:pRg st="0" end="0"/>
                                            </p:txEl>
                                          </p:spTgt>
                                        </p:tgtEl>
                                        <p:attrNameLst>
                                          <p:attrName>style.visibility</p:attrName>
                                        </p:attrNameLst>
                                      </p:cBhvr>
                                      <p:to>
                                        <p:strVal val="visible"/>
                                      </p:to>
                                    </p:set>
                                    <p:animEffect transition="in" filter="fade">
                                      <p:cBhvr>
                                        <p:cTn id="53"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build="allAtOnce" animBg="1"/>
      <p:bldP spid="14" grpId="0" build="allAtOnce" animBg="1"/>
      <p:bldP spid="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83B4F-AD70-D0DD-4997-CFE4681BED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D54690-6F81-B244-9902-1D1CFA7D0085}"/>
              </a:ext>
            </a:extLst>
          </p:cNvPr>
          <p:cNvSpPr>
            <a:spLocks noGrp="1"/>
          </p:cNvSpPr>
          <p:nvPr>
            <p:ph type="title"/>
          </p:nvPr>
        </p:nvSpPr>
        <p:spPr>
          <a:xfrm>
            <a:off x="4068096" y="18255"/>
            <a:ext cx="5410202" cy="1325563"/>
          </a:xfrm>
        </p:spPr>
        <p:txBody>
          <a:bodyPr/>
          <a:lstStyle/>
          <a:p>
            <a:r>
              <a:rPr lang="en-US" b="1" dirty="0">
                <a:solidFill>
                  <a:srgbClr val="156082"/>
                </a:solidFill>
              </a:rPr>
              <a:t>Multi-Objective UCTP</a:t>
            </a:r>
          </a:p>
        </p:txBody>
      </p:sp>
      <p:sp>
        <p:nvSpPr>
          <p:cNvPr id="9" name="Rectangle 8">
            <a:extLst>
              <a:ext uri="{FF2B5EF4-FFF2-40B4-BE49-F238E27FC236}">
                <a16:creationId xmlns:a16="http://schemas.microsoft.com/office/drawing/2014/main" id="{F0BB36EB-FFA3-A91E-2D4E-F2B235746CD5}"/>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Content Placeholder 20">
            <a:extLst>
              <a:ext uri="{FF2B5EF4-FFF2-40B4-BE49-F238E27FC236}">
                <a16:creationId xmlns:a16="http://schemas.microsoft.com/office/drawing/2014/main" id="{B03D5D3D-AA13-B189-BF45-C83801E3D1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2" name="Picture 11">
            <a:extLst>
              <a:ext uri="{FF2B5EF4-FFF2-40B4-BE49-F238E27FC236}">
                <a16:creationId xmlns:a16="http://schemas.microsoft.com/office/drawing/2014/main" id="{5F877F42-1D33-5FD6-9982-5F5283F2A9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3" name="Slide Number Placeholder 12">
            <a:extLst>
              <a:ext uri="{FF2B5EF4-FFF2-40B4-BE49-F238E27FC236}">
                <a16:creationId xmlns:a16="http://schemas.microsoft.com/office/drawing/2014/main" id="{4819DF3A-1590-0E81-16B1-EB0A1BF8636C}"/>
              </a:ext>
            </a:extLst>
          </p:cNvPr>
          <p:cNvSpPr>
            <a:spLocks noGrp="1"/>
          </p:cNvSpPr>
          <p:nvPr>
            <p:ph type="sldNum" sz="quarter" idx="12"/>
          </p:nvPr>
        </p:nvSpPr>
        <p:spPr/>
        <p:txBody>
          <a:bodyPr/>
          <a:lstStyle/>
          <a:p>
            <a:fld id="{FA5D76E8-8AD6-443B-8B81-1688B2EC3502}" type="slidenum">
              <a:rPr lang="en-US" smtClean="0"/>
              <a:t>48</a:t>
            </a:fld>
            <a:endParaRPr lang="en-US"/>
          </a:p>
        </p:txBody>
      </p:sp>
      <p:sp>
        <p:nvSpPr>
          <p:cNvPr id="4" name="TextBox 3">
            <a:extLst>
              <a:ext uri="{FF2B5EF4-FFF2-40B4-BE49-F238E27FC236}">
                <a16:creationId xmlns:a16="http://schemas.microsoft.com/office/drawing/2014/main" id="{6D243FEC-6CF7-E841-EE79-D94DA0E51159}"/>
              </a:ext>
            </a:extLst>
          </p:cNvPr>
          <p:cNvSpPr txBox="1"/>
          <p:nvPr/>
        </p:nvSpPr>
        <p:spPr>
          <a:xfrm>
            <a:off x="2261420" y="1126037"/>
            <a:ext cx="5801032" cy="523220"/>
          </a:xfrm>
          <a:prstGeom prst="rect">
            <a:avLst/>
          </a:prstGeom>
          <a:noFill/>
        </p:spPr>
        <p:txBody>
          <a:bodyPr wrap="square" rtlCol="0">
            <a:spAutoFit/>
          </a:bodyPr>
          <a:lstStyle/>
          <a:p>
            <a:r>
              <a:rPr lang="en-US" sz="2800" b="1" dirty="0"/>
              <a:t>Guided Search Child Generation</a:t>
            </a:r>
            <a:r>
              <a:rPr lang="ar-EG" sz="2800" b="1" dirty="0"/>
              <a:t>:</a:t>
            </a:r>
            <a:endParaRPr lang="en-US" b="1" dirty="0"/>
          </a:p>
        </p:txBody>
      </p:sp>
      <p:sp>
        <p:nvSpPr>
          <p:cNvPr id="6" name="Oval 5">
            <a:extLst>
              <a:ext uri="{FF2B5EF4-FFF2-40B4-BE49-F238E27FC236}">
                <a16:creationId xmlns:a16="http://schemas.microsoft.com/office/drawing/2014/main" id="{D61303E5-1237-58CB-5C13-DC6694BC0770}"/>
              </a:ext>
            </a:extLst>
          </p:cNvPr>
          <p:cNvSpPr/>
          <p:nvPr/>
        </p:nvSpPr>
        <p:spPr>
          <a:xfrm>
            <a:off x="9026013" y="2158949"/>
            <a:ext cx="2826204" cy="56766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Select </a:t>
            </a:r>
            <a:r>
              <a:rPr lang="el-GR" dirty="0"/>
              <a:t>β × </a:t>
            </a:r>
            <a:r>
              <a:rPr lang="en-US" dirty="0"/>
              <a:t>n Events</a:t>
            </a:r>
          </a:p>
        </p:txBody>
      </p:sp>
      <p:sp>
        <p:nvSpPr>
          <p:cNvPr id="7" name="Oval 6">
            <a:extLst>
              <a:ext uri="{FF2B5EF4-FFF2-40B4-BE49-F238E27FC236}">
                <a16:creationId xmlns:a16="http://schemas.microsoft.com/office/drawing/2014/main" id="{7957D1E9-DC31-F676-BB6A-B3E8C2679F58}"/>
              </a:ext>
            </a:extLst>
          </p:cNvPr>
          <p:cNvSpPr/>
          <p:nvPr/>
        </p:nvSpPr>
        <p:spPr>
          <a:xfrm>
            <a:off x="9026013" y="2815652"/>
            <a:ext cx="2826203" cy="12401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Retrieve Good</a:t>
            </a:r>
          </a:p>
          <a:p>
            <a:pPr algn="ctr"/>
            <a:r>
              <a:rPr lang="en-US" dirty="0"/>
              <a:t>(Room, Time Slot)</a:t>
            </a:r>
          </a:p>
          <a:p>
            <a:pPr algn="ctr"/>
            <a:r>
              <a:rPr lang="en-US" dirty="0"/>
              <a:t>Assignments</a:t>
            </a:r>
          </a:p>
        </p:txBody>
      </p:sp>
      <p:sp>
        <p:nvSpPr>
          <p:cNvPr id="8" name="Oval 7">
            <a:extLst>
              <a:ext uri="{FF2B5EF4-FFF2-40B4-BE49-F238E27FC236}">
                <a16:creationId xmlns:a16="http://schemas.microsoft.com/office/drawing/2014/main" id="{E21760FF-B4B0-A6D0-A57B-8CF764A12281}"/>
              </a:ext>
            </a:extLst>
          </p:cNvPr>
          <p:cNvSpPr/>
          <p:nvPr/>
        </p:nvSpPr>
        <p:spPr>
          <a:xfrm>
            <a:off x="9026014" y="4144821"/>
            <a:ext cx="2826202" cy="8280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Generate Partial Child</a:t>
            </a:r>
          </a:p>
        </p:txBody>
      </p:sp>
      <p:sp>
        <p:nvSpPr>
          <p:cNvPr id="10" name="Oval 9">
            <a:extLst>
              <a:ext uri="{FF2B5EF4-FFF2-40B4-BE49-F238E27FC236}">
                <a16:creationId xmlns:a16="http://schemas.microsoft.com/office/drawing/2014/main" id="{C0F2F040-A2DB-4B31-5D4A-50F274884D72}"/>
              </a:ext>
            </a:extLst>
          </p:cNvPr>
          <p:cNvSpPr/>
          <p:nvPr/>
        </p:nvSpPr>
        <p:spPr>
          <a:xfrm>
            <a:off x="9026014" y="5061882"/>
            <a:ext cx="2826202" cy="8303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Randomly Assign</a:t>
            </a:r>
          </a:p>
          <a:p>
            <a:r>
              <a:rPr lang="en-US" dirty="0"/>
              <a:t>Remaining Events</a:t>
            </a:r>
          </a:p>
        </p:txBody>
      </p:sp>
      <p:sp>
        <p:nvSpPr>
          <p:cNvPr id="14" name="Oval 13">
            <a:extLst>
              <a:ext uri="{FF2B5EF4-FFF2-40B4-BE49-F238E27FC236}">
                <a16:creationId xmlns:a16="http://schemas.microsoft.com/office/drawing/2014/main" id="{85F9821F-5241-D2C9-846E-6933AF22C153}"/>
              </a:ext>
            </a:extLst>
          </p:cNvPr>
          <p:cNvSpPr/>
          <p:nvPr/>
        </p:nvSpPr>
        <p:spPr>
          <a:xfrm>
            <a:off x="9026014" y="5980212"/>
            <a:ext cx="2826202" cy="57996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Complete Child</a:t>
            </a:r>
          </a:p>
        </p:txBody>
      </p:sp>
      <p:sp>
        <p:nvSpPr>
          <p:cNvPr id="5" name="Oval 4">
            <a:extLst>
              <a:ext uri="{FF2B5EF4-FFF2-40B4-BE49-F238E27FC236}">
                <a16:creationId xmlns:a16="http://schemas.microsoft.com/office/drawing/2014/main" id="{D2DC2668-B86B-4182-1233-4B7C4D19FA2F}"/>
              </a:ext>
            </a:extLst>
          </p:cNvPr>
          <p:cNvSpPr/>
          <p:nvPr/>
        </p:nvSpPr>
        <p:spPr>
          <a:xfrm>
            <a:off x="9026013" y="1432277"/>
            <a:ext cx="2826204" cy="6353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Select </a:t>
            </a:r>
            <a:r>
              <a:rPr lang="en-US" dirty="0" err="1"/>
              <a:t>MEMj</a:t>
            </a:r>
            <a:endParaRPr lang="en-US" dirty="0"/>
          </a:p>
        </p:txBody>
      </p:sp>
      <p:cxnSp>
        <p:nvCxnSpPr>
          <p:cNvPr id="18" name="Straight Arrow Connector 17">
            <a:extLst>
              <a:ext uri="{FF2B5EF4-FFF2-40B4-BE49-F238E27FC236}">
                <a16:creationId xmlns:a16="http://schemas.microsoft.com/office/drawing/2014/main" id="{8F66304E-F169-5382-7D36-40E95ACE6EC2}"/>
              </a:ext>
            </a:extLst>
          </p:cNvPr>
          <p:cNvCxnSpPr>
            <a:cxnSpLocks/>
            <a:stCxn id="5" idx="4"/>
            <a:endCxn id="6" idx="0"/>
          </p:cNvCxnSpPr>
          <p:nvPr/>
        </p:nvCxnSpPr>
        <p:spPr>
          <a:xfrm>
            <a:off x="10439115" y="2067652"/>
            <a:ext cx="0" cy="9129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BDF42FED-2B12-7A33-A727-0EB5D8BC3529}"/>
              </a:ext>
            </a:extLst>
          </p:cNvPr>
          <p:cNvCxnSpPr>
            <a:cxnSpLocks/>
            <a:stCxn id="6" idx="4"/>
            <a:endCxn id="7" idx="0"/>
          </p:cNvCxnSpPr>
          <p:nvPr/>
        </p:nvCxnSpPr>
        <p:spPr>
          <a:xfrm>
            <a:off x="10439115" y="2726615"/>
            <a:ext cx="0" cy="890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2F3E1F3C-B276-2457-A120-53457C3D2CEE}"/>
              </a:ext>
            </a:extLst>
          </p:cNvPr>
          <p:cNvCxnSpPr>
            <a:cxnSpLocks/>
            <a:stCxn id="7" idx="4"/>
            <a:endCxn id="8" idx="0"/>
          </p:cNvCxnSpPr>
          <p:nvPr/>
        </p:nvCxnSpPr>
        <p:spPr>
          <a:xfrm>
            <a:off x="10439115" y="4055784"/>
            <a:ext cx="0" cy="890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B6EC3F3D-1767-8FA8-8D91-120757A9B191}"/>
              </a:ext>
            </a:extLst>
          </p:cNvPr>
          <p:cNvCxnSpPr>
            <a:cxnSpLocks/>
            <a:stCxn id="8" idx="4"/>
            <a:endCxn id="10" idx="0"/>
          </p:cNvCxnSpPr>
          <p:nvPr/>
        </p:nvCxnSpPr>
        <p:spPr>
          <a:xfrm>
            <a:off x="10439115" y="4972845"/>
            <a:ext cx="0" cy="890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FACDB2EB-8AC0-9529-160B-7FBC7B750F24}"/>
              </a:ext>
            </a:extLst>
          </p:cNvPr>
          <p:cNvCxnSpPr>
            <a:cxnSpLocks/>
            <a:stCxn id="10" idx="4"/>
            <a:endCxn id="14" idx="0"/>
          </p:cNvCxnSpPr>
          <p:nvPr/>
        </p:nvCxnSpPr>
        <p:spPr>
          <a:xfrm>
            <a:off x="10439115" y="5892184"/>
            <a:ext cx="0" cy="880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Rectangle 1">
            <a:extLst>
              <a:ext uri="{FF2B5EF4-FFF2-40B4-BE49-F238E27FC236}">
                <a16:creationId xmlns:a16="http://schemas.microsoft.com/office/drawing/2014/main" id="{B73CD73E-DB3A-3124-501C-729E50F569F3}"/>
              </a:ext>
            </a:extLst>
          </p:cNvPr>
          <p:cNvSpPr>
            <a:spLocks noGrp="1" noChangeArrowheads="1"/>
          </p:cNvSpPr>
          <p:nvPr>
            <p:ph idx="1"/>
          </p:nvPr>
        </p:nvSpPr>
        <p:spPr bwMode="auto">
          <a:xfrm>
            <a:off x="2261420" y="1591989"/>
            <a:ext cx="6419695" cy="4678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Randomly select one memory structure (</a:t>
            </a:r>
            <a:r>
              <a:rPr kumimoji="0" lang="en-US" altLang="en-US" b="1" i="0" u="none" strike="noStrike" cap="none" normalizeH="0" baseline="0" dirty="0">
                <a:ln>
                  <a:noFill/>
                </a:ln>
                <a:solidFill>
                  <a:schemeClr val="tx1"/>
                </a:solidFill>
                <a:effectLst/>
                <a:latin typeface="Arial" panose="020B0604020202020204" pitchFamily="34" charset="0"/>
              </a:rPr>
              <a:t>MEM₁, MEM₂, or MEM₃</a:t>
            </a:r>
            <a:r>
              <a:rPr kumimoji="0" lang="en-US" altLang="en-US" b="0" i="0" u="none" strike="noStrike" cap="none" normalizeH="0" baseline="0" dirty="0">
                <a:ln>
                  <a:noFill/>
                </a:ln>
                <a:solidFill>
                  <a:schemeClr val="tx1"/>
                </a:solidFill>
                <a:effectLst/>
                <a:latin typeface="Arial" panose="020B0604020202020204" pitchFamily="34" charset="0"/>
              </a:rPr>
              <a:t>).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Select </a:t>
            </a:r>
            <a:r>
              <a:rPr kumimoji="0" lang="en-US" altLang="en-US" b="1" i="0" u="none" strike="noStrike" cap="none" normalizeH="0" baseline="0" dirty="0">
                <a:ln>
                  <a:noFill/>
                </a:ln>
                <a:solidFill>
                  <a:schemeClr val="tx1"/>
                </a:solidFill>
                <a:effectLst/>
                <a:latin typeface="Arial" panose="020B0604020202020204" pitchFamily="34" charset="0"/>
              </a:rPr>
              <a:t>β × n</a:t>
            </a:r>
            <a:r>
              <a:rPr kumimoji="0" lang="en-US" altLang="en-US" b="0" i="0" u="none" strike="noStrike" cap="none" normalizeH="0" baseline="0" dirty="0">
                <a:ln>
                  <a:noFill/>
                </a:ln>
                <a:solidFill>
                  <a:schemeClr val="tx1"/>
                </a:solidFill>
                <a:effectLst/>
                <a:latin typeface="Arial" panose="020B0604020202020204" pitchFamily="34" charset="0"/>
              </a:rPr>
              <a:t> events.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For each selected event: </a:t>
            </a:r>
          </a:p>
          <a:p>
            <a:pPr lvl="1" eaLnBrk="0" fontAlgn="base" hangingPunct="0">
              <a:lnSpc>
                <a:spcPct val="100000"/>
              </a:lnSpc>
              <a:spcBef>
                <a:spcPct val="0"/>
              </a:spcBef>
              <a:spcAft>
                <a:spcPct val="0"/>
              </a:spcAft>
            </a:pPr>
            <a:r>
              <a:rPr kumimoji="0" lang="en-US" altLang="en-US" sz="2800" b="0" i="0" u="none" strike="noStrike" cap="none" normalizeH="0" baseline="0" dirty="0">
                <a:ln>
                  <a:noFill/>
                </a:ln>
                <a:solidFill>
                  <a:schemeClr val="tx1"/>
                </a:solidFill>
                <a:effectLst/>
                <a:latin typeface="Arial" panose="020B0604020202020204" pitchFamily="34" charset="0"/>
              </a:rPr>
              <a:t>Retrieve a stored high-quality </a:t>
            </a:r>
            <a:r>
              <a:rPr kumimoji="0" lang="en-US" altLang="en-US" sz="2800" b="0" i="1" u="none" strike="noStrike" cap="none" normalizeH="0" baseline="0" dirty="0">
                <a:ln>
                  <a:noFill/>
                </a:ln>
                <a:solidFill>
                  <a:schemeClr val="tx1"/>
                </a:solidFill>
                <a:effectLst/>
                <a:latin typeface="Arial" panose="020B0604020202020204" pitchFamily="34" charset="0"/>
              </a:rPr>
              <a:t>(Room, Time Slot)</a:t>
            </a:r>
            <a:r>
              <a:rPr kumimoji="0" lang="en-US" altLang="en-US" sz="2800" b="0" i="0" u="none" strike="noStrike" cap="none" normalizeH="0" baseline="0" dirty="0">
                <a:ln>
                  <a:noFill/>
                </a:ln>
                <a:solidFill>
                  <a:schemeClr val="tx1"/>
                </a:solidFill>
                <a:effectLst/>
                <a:latin typeface="Arial" panose="020B0604020202020204" pitchFamily="34" charset="0"/>
              </a:rPr>
              <a:t> pair. </a:t>
            </a:r>
          </a:p>
          <a:p>
            <a:pPr lvl="1" eaLnBrk="0" fontAlgn="base" hangingPunct="0">
              <a:lnSpc>
                <a:spcPct val="100000"/>
              </a:lnSpc>
              <a:spcBef>
                <a:spcPct val="0"/>
              </a:spcBef>
              <a:spcAft>
                <a:spcPct val="0"/>
              </a:spcAft>
            </a:pPr>
            <a:r>
              <a:rPr kumimoji="0" lang="en-US" altLang="en-US" sz="2800" b="0" i="0" u="none" strike="noStrike" cap="none" normalizeH="0" baseline="0" dirty="0">
                <a:ln>
                  <a:noFill/>
                </a:ln>
                <a:solidFill>
                  <a:schemeClr val="tx1"/>
                </a:solidFill>
                <a:effectLst/>
                <a:latin typeface="Arial" panose="020B0604020202020204" pitchFamily="34" charset="0"/>
              </a:rPr>
              <a:t>Assign it to the offspring.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Randomly assign the remaining events.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Produce a complete child solution. </a:t>
            </a:r>
          </a:p>
        </p:txBody>
      </p:sp>
    </p:spTree>
    <p:extLst>
      <p:ext uri="{BB962C8B-B14F-4D97-AF65-F5344CB8AC3E}">
        <p14:creationId xmlns:p14="http://schemas.microsoft.com/office/powerpoint/2010/main" val="2559445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500"/>
                                        <p:tgtEl>
                                          <p:spTgt spid="2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00"/>
                                        <p:tgtEl>
                                          <p:spTgt spid="2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500"/>
                                        <p:tgtEl>
                                          <p:spTgt spid="2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4">
                                            <p:bg/>
                                          </p:spTgt>
                                        </p:tgtEl>
                                        <p:attrNameLst>
                                          <p:attrName>style.visibility</p:attrName>
                                        </p:attrNameLst>
                                      </p:cBhvr>
                                      <p:to>
                                        <p:strVal val="visible"/>
                                      </p:to>
                                    </p:set>
                                    <p:animEffect transition="in" filter="fade">
                                      <p:cBhvr>
                                        <p:cTn id="47" dur="500"/>
                                        <p:tgtEl>
                                          <p:spTgt spid="14">
                                            <p:bg/>
                                          </p:spTgt>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4">
                                            <p:txEl>
                                              <p:pRg st="0" end="0"/>
                                            </p:txEl>
                                          </p:spTgt>
                                        </p:tgtEl>
                                        <p:attrNameLst>
                                          <p:attrName>style.visibility</p:attrName>
                                        </p:attrNameLst>
                                      </p:cBhvr>
                                      <p:to>
                                        <p:strVal val="visible"/>
                                      </p:to>
                                    </p:set>
                                    <p:animEffect transition="in" filter="fade">
                                      <p:cBhvr>
                                        <p:cTn id="50"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P spid="14" grpId="0" build="allAtOnce" animBg="1"/>
      <p:bldP spid="5"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1499C-3457-A991-D868-AF6B5C772B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096CF9-BF9B-2440-C12F-4DE58C5A908B}"/>
              </a:ext>
            </a:extLst>
          </p:cNvPr>
          <p:cNvSpPr>
            <a:spLocks noGrp="1"/>
          </p:cNvSpPr>
          <p:nvPr>
            <p:ph type="title"/>
          </p:nvPr>
        </p:nvSpPr>
        <p:spPr>
          <a:xfrm>
            <a:off x="4068096" y="18255"/>
            <a:ext cx="5410202" cy="1325563"/>
          </a:xfrm>
        </p:spPr>
        <p:txBody>
          <a:bodyPr/>
          <a:lstStyle/>
          <a:p>
            <a:r>
              <a:rPr lang="en-US" b="1" dirty="0">
                <a:solidFill>
                  <a:srgbClr val="156082"/>
                </a:solidFill>
              </a:rPr>
              <a:t>Multi-Objective UCTP</a:t>
            </a:r>
          </a:p>
        </p:txBody>
      </p:sp>
      <p:sp>
        <p:nvSpPr>
          <p:cNvPr id="9" name="Rectangle 8">
            <a:extLst>
              <a:ext uri="{FF2B5EF4-FFF2-40B4-BE49-F238E27FC236}">
                <a16:creationId xmlns:a16="http://schemas.microsoft.com/office/drawing/2014/main" id="{D574EA85-F324-A52D-F7D4-B1239ED163E9}"/>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Content Placeholder 20">
            <a:extLst>
              <a:ext uri="{FF2B5EF4-FFF2-40B4-BE49-F238E27FC236}">
                <a16:creationId xmlns:a16="http://schemas.microsoft.com/office/drawing/2014/main" id="{E2D83550-FFB0-C137-27AC-B401D6B3D9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2" name="Picture 11">
            <a:extLst>
              <a:ext uri="{FF2B5EF4-FFF2-40B4-BE49-F238E27FC236}">
                <a16:creationId xmlns:a16="http://schemas.microsoft.com/office/drawing/2014/main" id="{3505BAC8-C0F4-D263-B5B0-6C9B639BE2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3" name="Slide Number Placeholder 12">
            <a:extLst>
              <a:ext uri="{FF2B5EF4-FFF2-40B4-BE49-F238E27FC236}">
                <a16:creationId xmlns:a16="http://schemas.microsoft.com/office/drawing/2014/main" id="{AE0211E9-D0BE-78F9-8A96-E0BDC08CE75C}"/>
              </a:ext>
            </a:extLst>
          </p:cNvPr>
          <p:cNvSpPr>
            <a:spLocks noGrp="1"/>
          </p:cNvSpPr>
          <p:nvPr>
            <p:ph type="sldNum" sz="quarter" idx="12"/>
          </p:nvPr>
        </p:nvSpPr>
        <p:spPr/>
        <p:txBody>
          <a:bodyPr/>
          <a:lstStyle/>
          <a:p>
            <a:fld id="{FA5D76E8-8AD6-443B-8B81-1688B2EC3502}" type="slidenum">
              <a:rPr lang="en-US" smtClean="0"/>
              <a:t>49</a:t>
            </a:fld>
            <a:endParaRPr lang="en-US" dirty="0"/>
          </a:p>
        </p:txBody>
      </p:sp>
      <p:sp>
        <p:nvSpPr>
          <p:cNvPr id="4" name="TextBox 3">
            <a:extLst>
              <a:ext uri="{FF2B5EF4-FFF2-40B4-BE49-F238E27FC236}">
                <a16:creationId xmlns:a16="http://schemas.microsoft.com/office/drawing/2014/main" id="{5B3DBF2B-526C-0A07-97ED-8F08DD608321}"/>
              </a:ext>
            </a:extLst>
          </p:cNvPr>
          <p:cNvSpPr txBox="1"/>
          <p:nvPr/>
        </p:nvSpPr>
        <p:spPr>
          <a:xfrm>
            <a:off x="2261420" y="1126037"/>
            <a:ext cx="6764593" cy="523220"/>
          </a:xfrm>
          <a:prstGeom prst="rect">
            <a:avLst/>
          </a:prstGeom>
          <a:noFill/>
        </p:spPr>
        <p:txBody>
          <a:bodyPr wrap="square" rtlCol="0">
            <a:spAutoFit/>
          </a:bodyPr>
          <a:lstStyle/>
          <a:p>
            <a:r>
              <a:rPr lang="en-US" sz="2800" b="1" dirty="0"/>
              <a:t>Objective Functions:</a:t>
            </a:r>
          </a:p>
        </p:txBody>
      </p:sp>
      <p:sp>
        <p:nvSpPr>
          <p:cNvPr id="15" name="Rectangle 1">
            <a:extLst>
              <a:ext uri="{FF2B5EF4-FFF2-40B4-BE49-F238E27FC236}">
                <a16:creationId xmlns:a16="http://schemas.microsoft.com/office/drawing/2014/main" id="{71994467-575D-0D1E-2220-9C4FAD294358}"/>
              </a:ext>
            </a:extLst>
          </p:cNvPr>
          <p:cNvSpPr>
            <a:spLocks noGrp="1" noChangeArrowheads="1"/>
          </p:cNvSpPr>
          <p:nvPr>
            <p:ph idx="1"/>
          </p:nvPr>
        </p:nvSpPr>
        <p:spPr bwMode="auto">
          <a:xfrm>
            <a:off x="2261420" y="1524494"/>
            <a:ext cx="9930580" cy="43457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r>
              <a:rPr lang="en-US" dirty="0"/>
              <a:t>The MOUCTP is formulated as a </a:t>
            </a:r>
            <a:r>
              <a:rPr lang="en-US" b="1" dirty="0"/>
              <a:t>Multi-Objective Optimization Problem (MOOP)</a:t>
            </a:r>
            <a:r>
              <a:rPr lang="en-US" dirty="0"/>
              <a:t>.</a:t>
            </a:r>
          </a:p>
          <a:p>
            <a:r>
              <a:rPr lang="en-US" dirty="0"/>
              <a:t>The algorithm simultaneously minimizes:</a:t>
            </a:r>
          </a:p>
          <a:p>
            <a:pPr lvl="1"/>
            <a:r>
              <a:rPr lang="en-US" b="1" dirty="0"/>
              <a:t>Objective 1:</a:t>
            </a:r>
            <a:r>
              <a:rPr lang="en-US" dirty="0"/>
              <a:t> Avoid scheduling events in the last timeslot of a day. </a:t>
            </a:r>
          </a:p>
          <a:p>
            <a:pPr lvl="1"/>
            <a:r>
              <a:rPr lang="en-US" b="1" dirty="0"/>
              <a:t>Objective 2:</a:t>
            </a:r>
            <a:r>
              <a:rPr lang="en-US" dirty="0"/>
              <a:t> Avoid more than two consecutive events for any student. </a:t>
            </a:r>
          </a:p>
          <a:p>
            <a:pPr lvl="1"/>
            <a:r>
              <a:rPr lang="en-US" b="1" dirty="0"/>
              <a:t>Objective 3:</a:t>
            </a:r>
            <a:r>
              <a:rPr lang="en-US" dirty="0"/>
              <a:t> Avoid assigning only a single event to a student in a day.</a:t>
            </a:r>
          </a:p>
          <a:p>
            <a:r>
              <a:rPr lang="en-US" dirty="0"/>
              <a:t>while satisfying all </a:t>
            </a:r>
            <a:r>
              <a:rPr lang="en-US" b="1" dirty="0"/>
              <a:t>Hard Constraints</a:t>
            </a:r>
            <a:r>
              <a:rPr lang="en-US" dirty="0"/>
              <a:t>.</a:t>
            </a:r>
          </a:p>
          <a:p>
            <a:endParaRPr lang="en-US" dirty="0"/>
          </a:p>
        </p:txBody>
      </p:sp>
    </p:spTree>
    <p:extLst>
      <p:ext uri="{BB962C8B-B14F-4D97-AF65-F5344CB8AC3E}">
        <p14:creationId xmlns:p14="http://schemas.microsoft.com/office/powerpoint/2010/main" val="29087929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FF6A2-AE26-1131-6DE8-D33BC7FB42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6BA00E-388E-8429-6E0C-ACAC996B6EFA}"/>
              </a:ext>
            </a:extLst>
          </p:cNvPr>
          <p:cNvSpPr>
            <a:spLocks noGrp="1"/>
          </p:cNvSpPr>
          <p:nvPr>
            <p:ph type="title"/>
          </p:nvPr>
        </p:nvSpPr>
        <p:spPr>
          <a:xfrm>
            <a:off x="4068096" y="18255"/>
            <a:ext cx="5410202" cy="1325563"/>
          </a:xfrm>
        </p:spPr>
        <p:txBody>
          <a:bodyPr/>
          <a:lstStyle/>
          <a:p>
            <a:r>
              <a:rPr lang="en-US" b="1" dirty="0">
                <a:solidFill>
                  <a:srgbClr val="156082"/>
                </a:solidFill>
              </a:rPr>
              <a:t>Multi-Objective UCTP</a:t>
            </a:r>
          </a:p>
        </p:txBody>
      </p:sp>
      <p:sp>
        <p:nvSpPr>
          <p:cNvPr id="9" name="Rectangle 8">
            <a:extLst>
              <a:ext uri="{FF2B5EF4-FFF2-40B4-BE49-F238E27FC236}">
                <a16:creationId xmlns:a16="http://schemas.microsoft.com/office/drawing/2014/main" id="{9D83099C-775E-28ED-EEFA-00CD7BBE1AA7}"/>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Content Placeholder 20">
            <a:extLst>
              <a:ext uri="{FF2B5EF4-FFF2-40B4-BE49-F238E27FC236}">
                <a16:creationId xmlns:a16="http://schemas.microsoft.com/office/drawing/2014/main" id="{72F026B3-6ECE-F8A5-8DED-57EEA23FD0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2" name="Picture 11">
            <a:extLst>
              <a:ext uri="{FF2B5EF4-FFF2-40B4-BE49-F238E27FC236}">
                <a16:creationId xmlns:a16="http://schemas.microsoft.com/office/drawing/2014/main" id="{10B44670-72E3-40E7-FF62-B5D91442A3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3" name="Slide Number Placeholder 12">
            <a:extLst>
              <a:ext uri="{FF2B5EF4-FFF2-40B4-BE49-F238E27FC236}">
                <a16:creationId xmlns:a16="http://schemas.microsoft.com/office/drawing/2014/main" id="{25687DBF-9AD3-5D1C-4DA6-CDC09C6EC2F5}"/>
              </a:ext>
            </a:extLst>
          </p:cNvPr>
          <p:cNvSpPr>
            <a:spLocks noGrp="1"/>
          </p:cNvSpPr>
          <p:nvPr>
            <p:ph type="sldNum" sz="quarter" idx="12"/>
          </p:nvPr>
        </p:nvSpPr>
        <p:spPr/>
        <p:txBody>
          <a:bodyPr/>
          <a:lstStyle/>
          <a:p>
            <a:fld id="{FA5D76E8-8AD6-443B-8B81-1688B2EC3502}" type="slidenum">
              <a:rPr lang="en-US" smtClean="0"/>
              <a:t>50</a:t>
            </a:fld>
            <a:endParaRPr lang="en-US"/>
          </a:p>
        </p:txBody>
      </p:sp>
      <p:sp>
        <p:nvSpPr>
          <p:cNvPr id="4" name="TextBox 3">
            <a:extLst>
              <a:ext uri="{FF2B5EF4-FFF2-40B4-BE49-F238E27FC236}">
                <a16:creationId xmlns:a16="http://schemas.microsoft.com/office/drawing/2014/main" id="{D9C24AAF-3A80-CE50-FB7A-909E09651FFD}"/>
              </a:ext>
            </a:extLst>
          </p:cNvPr>
          <p:cNvSpPr txBox="1"/>
          <p:nvPr/>
        </p:nvSpPr>
        <p:spPr>
          <a:xfrm>
            <a:off x="2261420" y="1126037"/>
            <a:ext cx="6764593" cy="523220"/>
          </a:xfrm>
          <a:prstGeom prst="rect">
            <a:avLst/>
          </a:prstGeom>
          <a:noFill/>
        </p:spPr>
        <p:txBody>
          <a:bodyPr wrap="square" rtlCol="0">
            <a:spAutoFit/>
          </a:bodyPr>
          <a:lstStyle/>
          <a:p>
            <a:r>
              <a:rPr lang="en-US" sz="2800" b="1" dirty="0"/>
              <a:t>Constraint Handling (NSGA-II Rule)</a:t>
            </a:r>
          </a:p>
        </p:txBody>
      </p:sp>
      <p:sp>
        <p:nvSpPr>
          <p:cNvPr id="15" name="Rectangle 1">
            <a:extLst>
              <a:ext uri="{FF2B5EF4-FFF2-40B4-BE49-F238E27FC236}">
                <a16:creationId xmlns:a16="http://schemas.microsoft.com/office/drawing/2014/main" id="{5137CA13-5990-3415-BC74-F4E7CFA411D3}"/>
              </a:ext>
            </a:extLst>
          </p:cNvPr>
          <p:cNvSpPr>
            <a:spLocks noGrp="1" noChangeArrowheads="1"/>
          </p:cNvSpPr>
          <p:nvPr>
            <p:ph idx="1"/>
          </p:nvPr>
        </p:nvSpPr>
        <p:spPr bwMode="auto">
          <a:xfrm>
            <a:off x="2330246" y="1593857"/>
            <a:ext cx="9861754" cy="5403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r>
              <a:rPr lang="en-US" dirty="0"/>
              <a:t>When comparing two solutions, the algorithm follows the </a:t>
            </a:r>
            <a:r>
              <a:rPr lang="en-US" b="1" dirty="0"/>
              <a:t>Constraint-Dominance Principle</a:t>
            </a:r>
            <a:r>
              <a:rPr lang="en-US" dirty="0"/>
              <a:t>:</a:t>
            </a:r>
            <a:endParaRPr lang="ar-EG" dirty="0"/>
          </a:p>
          <a:p>
            <a:r>
              <a:rPr lang="en-US" b="1" dirty="0"/>
              <a:t>Case 1:Feasible vs. Infeasible</a:t>
            </a:r>
          </a:p>
          <a:p>
            <a:pPr marL="0" indent="0">
              <a:buNone/>
            </a:pPr>
            <a:r>
              <a:rPr lang="en-US" dirty="0"/>
              <a:t>	Feasible solution is always preferred.</a:t>
            </a:r>
          </a:p>
          <a:p>
            <a:r>
              <a:rPr lang="en-US" b="1" dirty="0"/>
              <a:t>Case 2:Both Feasible</a:t>
            </a:r>
          </a:p>
          <a:p>
            <a:pPr marL="0" indent="0">
              <a:buNone/>
            </a:pPr>
            <a:r>
              <a:rPr lang="en-US" dirty="0"/>
              <a:t>	Use </a:t>
            </a:r>
            <a:r>
              <a:rPr lang="en-US" b="1" dirty="0"/>
              <a:t>Pareto Dominance</a:t>
            </a:r>
            <a:r>
              <a:rPr lang="en-US" dirty="0"/>
              <a:t>.</a:t>
            </a:r>
          </a:p>
          <a:p>
            <a:r>
              <a:rPr lang="en-US" b="1" dirty="0"/>
              <a:t>Case 3:Both Infeasible</a:t>
            </a:r>
          </a:p>
          <a:p>
            <a:pPr marL="0" indent="0">
              <a:buNone/>
            </a:pPr>
            <a:r>
              <a:rPr lang="en-US" dirty="0"/>
              <a:t>	Choose the solution with fewer constraint violations.</a:t>
            </a:r>
          </a:p>
          <a:p>
            <a:endParaRPr lang="en-US" dirty="0"/>
          </a:p>
          <a:p>
            <a:endParaRPr lang="en-US" dirty="0"/>
          </a:p>
        </p:txBody>
      </p:sp>
    </p:spTree>
    <p:extLst>
      <p:ext uri="{BB962C8B-B14F-4D97-AF65-F5344CB8AC3E}">
        <p14:creationId xmlns:p14="http://schemas.microsoft.com/office/powerpoint/2010/main" val="2835958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xEl>
                                              <p:pRg st="2" end="2"/>
                                            </p:txEl>
                                          </p:spTgt>
                                        </p:tgtEl>
                                        <p:attrNameLst>
                                          <p:attrName>style.visibility</p:attrName>
                                        </p:attrNameLst>
                                      </p:cBhvr>
                                      <p:to>
                                        <p:strVal val="visible"/>
                                      </p:to>
                                    </p:set>
                                    <p:animEffect transition="in" filter="fade">
                                      <p:cBhvr>
                                        <p:cTn id="7" dur="500"/>
                                        <p:tgtEl>
                                          <p:spTgt spid="15">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5">
                                            <p:txEl>
                                              <p:pRg st="3" end="3"/>
                                            </p:txEl>
                                          </p:spTgt>
                                        </p:tgtEl>
                                        <p:attrNameLst>
                                          <p:attrName>style.visibility</p:attrName>
                                        </p:attrNameLst>
                                      </p:cBhvr>
                                      <p:to>
                                        <p:strVal val="visible"/>
                                      </p:to>
                                    </p:set>
                                    <p:animEffect transition="in" filter="fade">
                                      <p:cBhvr>
                                        <p:cTn id="10" dur="500"/>
                                        <p:tgtEl>
                                          <p:spTgt spid="15">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xEl>
                                              <p:pRg st="4" end="4"/>
                                            </p:txEl>
                                          </p:spTgt>
                                        </p:tgtEl>
                                        <p:attrNameLst>
                                          <p:attrName>style.visibility</p:attrName>
                                        </p:attrNameLst>
                                      </p:cBhvr>
                                      <p:to>
                                        <p:strVal val="visible"/>
                                      </p:to>
                                    </p:set>
                                    <p:animEffect transition="in" filter="fade">
                                      <p:cBhvr>
                                        <p:cTn id="15" dur="500"/>
                                        <p:tgtEl>
                                          <p:spTgt spid="15">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5">
                                            <p:txEl>
                                              <p:pRg st="5" end="5"/>
                                            </p:txEl>
                                          </p:spTgt>
                                        </p:tgtEl>
                                        <p:attrNameLst>
                                          <p:attrName>style.visibility</p:attrName>
                                        </p:attrNameLst>
                                      </p:cBhvr>
                                      <p:to>
                                        <p:strVal val="visible"/>
                                      </p:to>
                                    </p:set>
                                    <p:animEffect transition="in" filter="fade">
                                      <p:cBhvr>
                                        <p:cTn id="18" dur="500"/>
                                        <p:tgtEl>
                                          <p:spTgt spid="15">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5">
                                            <p:txEl>
                                              <p:pRg st="6" end="6"/>
                                            </p:txEl>
                                          </p:spTgt>
                                        </p:tgtEl>
                                        <p:attrNameLst>
                                          <p:attrName>style.visibility</p:attrName>
                                        </p:attrNameLst>
                                      </p:cBhvr>
                                      <p:to>
                                        <p:strVal val="visible"/>
                                      </p:to>
                                    </p:set>
                                    <p:animEffect transition="in" filter="fade">
                                      <p:cBhvr>
                                        <p:cTn id="23" dur="500"/>
                                        <p:tgtEl>
                                          <p:spTgt spid="15">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5">
                                            <p:txEl>
                                              <p:pRg st="7" end="7"/>
                                            </p:txEl>
                                          </p:spTgt>
                                        </p:tgtEl>
                                        <p:attrNameLst>
                                          <p:attrName>style.visibility</p:attrName>
                                        </p:attrNameLst>
                                      </p:cBhvr>
                                      <p:to>
                                        <p:strVal val="visible"/>
                                      </p:to>
                                    </p:set>
                                    <p:animEffect transition="in" filter="fade">
                                      <p:cBhvr>
                                        <p:cTn id="26" dur="500"/>
                                        <p:tgtEl>
                                          <p:spTgt spid="1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080C5B3-38C2-CBA1-DAA4-D19C57361775}"/>
              </a:ext>
            </a:extLst>
          </p:cNvPr>
          <p:cNvSpPr>
            <a:spLocks noGrp="1"/>
          </p:cNvSpPr>
          <p:nvPr>
            <p:ph type="sldNum" sz="quarter" idx="12"/>
          </p:nvPr>
        </p:nvSpPr>
        <p:spPr/>
        <p:txBody>
          <a:bodyPr/>
          <a:lstStyle/>
          <a:p>
            <a:fld id="{FA5D76E8-8AD6-443B-8B81-1688B2EC3502}" type="slidenum">
              <a:rPr lang="en-US" smtClean="0"/>
              <a:t>51</a:t>
            </a:fld>
            <a:endParaRPr lang="en-US" dirty="0"/>
          </a:p>
        </p:txBody>
      </p:sp>
      <p:sp>
        <p:nvSpPr>
          <p:cNvPr id="3" name="Rectangle 2">
            <a:extLst>
              <a:ext uri="{FF2B5EF4-FFF2-40B4-BE49-F238E27FC236}">
                <a16:creationId xmlns:a16="http://schemas.microsoft.com/office/drawing/2014/main" id="{D94594E9-5BFD-C009-1AC7-A56A87BC5618}"/>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Content Placeholder 20">
            <a:extLst>
              <a:ext uri="{FF2B5EF4-FFF2-40B4-BE49-F238E27FC236}">
                <a16:creationId xmlns:a16="http://schemas.microsoft.com/office/drawing/2014/main" id="{50DE2EDC-6001-54A1-BA02-FDFF1D4689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5" name="Picture 4">
            <a:extLst>
              <a:ext uri="{FF2B5EF4-FFF2-40B4-BE49-F238E27FC236}">
                <a16:creationId xmlns:a16="http://schemas.microsoft.com/office/drawing/2014/main" id="{BCC74580-C047-3589-541D-A92E10C3EF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9" name="TextBox 8">
            <a:extLst>
              <a:ext uri="{FF2B5EF4-FFF2-40B4-BE49-F238E27FC236}">
                <a16:creationId xmlns:a16="http://schemas.microsoft.com/office/drawing/2014/main" id="{B0D9A059-A765-4462-A87F-C68DEB6DAA2C}"/>
              </a:ext>
            </a:extLst>
          </p:cNvPr>
          <p:cNvSpPr txBox="1"/>
          <p:nvPr/>
        </p:nvSpPr>
        <p:spPr>
          <a:xfrm>
            <a:off x="3957484" y="136525"/>
            <a:ext cx="6024716" cy="769441"/>
          </a:xfrm>
          <a:prstGeom prst="rect">
            <a:avLst/>
          </a:prstGeom>
          <a:noFill/>
        </p:spPr>
        <p:txBody>
          <a:bodyPr wrap="square">
            <a:spAutoFit/>
          </a:bodyPr>
          <a:lstStyle/>
          <a:p>
            <a:pPr algn="ctr"/>
            <a:r>
              <a:rPr lang="en-US" sz="4400" b="1" dirty="0">
                <a:solidFill>
                  <a:srgbClr val="156082"/>
                </a:solidFill>
              </a:rPr>
              <a:t>Multi-Objective UCTP</a:t>
            </a:r>
            <a:endParaRPr lang="en-US" sz="4400" dirty="0"/>
          </a:p>
        </p:txBody>
      </p:sp>
      <p:sp>
        <p:nvSpPr>
          <p:cNvPr id="11" name="TextBox 10">
            <a:extLst>
              <a:ext uri="{FF2B5EF4-FFF2-40B4-BE49-F238E27FC236}">
                <a16:creationId xmlns:a16="http://schemas.microsoft.com/office/drawing/2014/main" id="{63A018CF-466D-BBAC-CFD8-F52B45CA0205}"/>
              </a:ext>
            </a:extLst>
          </p:cNvPr>
          <p:cNvSpPr txBox="1"/>
          <p:nvPr/>
        </p:nvSpPr>
        <p:spPr>
          <a:xfrm>
            <a:off x="1848464" y="822286"/>
            <a:ext cx="6486832" cy="523220"/>
          </a:xfrm>
          <a:prstGeom prst="rect">
            <a:avLst/>
          </a:prstGeom>
          <a:noFill/>
        </p:spPr>
        <p:txBody>
          <a:bodyPr wrap="square">
            <a:spAutoFit/>
          </a:bodyPr>
          <a:lstStyle/>
          <a:p>
            <a:pPr marL="0" algn="ctr" rtl="0" eaLnBrk="1" latinLnBrk="0" hangingPunct="1">
              <a:buNone/>
            </a:pPr>
            <a:r>
              <a:rPr lang="en-US" sz="2800" b="1" kern="1200" dirty="0">
                <a:solidFill>
                  <a:srgbClr val="000000"/>
                </a:solidFill>
                <a:effectLst/>
                <a:latin typeface="Aptos" panose="020B0004020202020204" pitchFamily="34" charset="0"/>
                <a:ea typeface="+mn-ea"/>
                <a:cs typeface="+mn-cs"/>
              </a:rPr>
              <a:t>NSGA-II Ranking &amp; Crowding Distance</a:t>
            </a:r>
            <a:endParaRPr lang="en-US" sz="2800" b="1" dirty="0">
              <a:effectLst/>
            </a:endParaRPr>
          </a:p>
        </p:txBody>
      </p:sp>
      <p:graphicFrame>
        <p:nvGraphicFramePr>
          <p:cNvPr id="12" name="Table 11">
            <a:extLst>
              <a:ext uri="{FF2B5EF4-FFF2-40B4-BE49-F238E27FC236}">
                <a16:creationId xmlns:a16="http://schemas.microsoft.com/office/drawing/2014/main" id="{98954D5A-0B26-468E-8BBC-FCE495503312}"/>
              </a:ext>
            </a:extLst>
          </p:cNvPr>
          <p:cNvGraphicFramePr>
            <a:graphicFrameLocks noGrp="1"/>
          </p:cNvGraphicFramePr>
          <p:nvPr>
            <p:extLst>
              <p:ext uri="{D42A27DB-BD31-4B8C-83A1-F6EECF244321}">
                <p14:modId xmlns:p14="http://schemas.microsoft.com/office/powerpoint/2010/main" val="4116919054"/>
              </p:ext>
            </p:extLst>
          </p:nvPr>
        </p:nvGraphicFramePr>
        <p:xfrm>
          <a:off x="2011106" y="2253785"/>
          <a:ext cx="4958736" cy="2225040"/>
        </p:xfrm>
        <a:graphic>
          <a:graphicData uri="http://schemas.openxmlformats.org/drawingml/2006/table">
            <a:tbl>
              <a:tblPr firstRow="1" bandRow="1">
                <a:tableStyleId>{5C22544A-7EE6-4342-B048-85BDC9FD1C3A}</a:tableStyleId>
              </a:tblPr>
              <a:tblGrid>
                <a:gridCol w="1239684">
                  <a:extLst>
                    <a:ext uri="{9D8B030D-6E8A-4147-A177-3AD203B41FA5}">
                      <a16:colId xmlns:a16="http://schemas.microsoft.com/office/drawing/2014/main" val="4286664045"/>
                    </a:ext>
                  </a:extLst>
                </a:gridCol>
                <a:gridCol w="1239684">
                  <a:extLst>
                    <a:ext uri="{9D8B030D-6E8A-4147-A177-3AD203B41FA5}">
                      <a16:colId xmlns:a16="http://schemas.microsoft.com/office/drawing/2014/main" val="3635391155"/>
                    </a:ext>
                  </a:extLst>
                </a:gridCol>
                <a:gridCol w="1239684">
                  <a:extLst>
                    <a:ext uri="{9D8B030D-6E8A-4147-A177-3AD203B41FA5}">
                      <a16:colId xmlns:a16="http://schemas.microsoft.com/office/drawing/2014/main" val="106108274"/>
                    </a:ext>
                  </a:extLst>
                </a:gridCol>
                <a:gridCol w="1239684">
                  <a:extLst>
                    <a:ext uri="{9D8B030D-6E8A-4147-A177-3AD203B41FA5}">
                      <a16:colId xmlns:a16="http://schemas.microsoft.com/office/drawing/2014/main" val="2683691254"/>
                    </a:ext>
                  </a:extLst>
                </a:gridCol>
              </a:tblGrid>
              <a:tr h="370840">
                <a:tc>
                  <a:txBody>
                    <a:bodyPr/>
                    <a:lstStyle/>
                    <a:p>
                      <a:r>
                        <a:rPr lang="en-US" dirty="0"/>
                        <a:t>Solution</a:t>
                      </a:r>
                    </a:p>
                  </a:txBody>
                  <a:tcPr/>
                </a:tc>
                <a:tc>
                  <a:txBody>
                    <a:bodyPr/>
                    <a:lstStyle/>
                    <a:p>
                      <a:r>
                        <a:rPr lang="en-US" dirty="0"/>
                        <a:t>f₁</a:t>
                      </a:r>
                    </a:p>
                  </a:txBody>
                  <a:tcPr/>
                </a:tc>
                <a:tc>
                  <a:txBody>
                    <a:bodyPr/>
                    <a:lstStyle/>
                    <a:p>
                      <a:r>
                        <a:rPr lang="en-US" dirty="0"/>
                        <a:t>f₂</a:t>
                      </a:r>
                    </a:p>
                  </a:txBody>
                  <a:tcPr/>
                </a:tc>
                <a:tc>
                  <a:txBody>
                    <a:bodyPr/>
                    <a:lstStyle/>
                    <a:p>
                      <a:r>
                        <a:rPr lang="en-US" dirty="0"/>
                        <a:t>f₃</a:t>
                      </a:r>
                    </a:p>
                  </a:txBody>
                  <a:tcPr/>
                </a:tc>
                <a:extLst>
                  <a:ext uri="{0D108BD9-81ED-4DB2-BD59-A6C34878D82A}">
                    <a16:rowId xmlns:a16="http://schemas.microsoft.com/office/drawing/2014/main" val="2579555460"/>
                  </a:ext>
                </a:extLst>
              </a:tr>
              <a:tr h="370840">
                <a:tc>
                  <a:txBody>
                    <a:bodyPr/>
                    <a:lstStyle/>
                    <a:p>
                      <a:r>
                        <a:rPr lang="en-US" dirty="0"/>
                        <a:t>A</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extLst>
                  <a:ext uri="{0D108BD9-81ED-4DB2-BD59-A6C34878D82A}">
                    <a16:rowId xmlns:a16="http://schemas.microsoft.com/office/drawing/2014/main" val="2290136011"/>
                  </a:ext>
                </a:extLst>
              </a:tr>
              <a:tr h="370840">
                <a:tc>
                  <a:txBody>
                    <a:bodyPr/>
                    <a:lstStyle/>
                    <a:p>
                      <a:r>
                        <a:rPr lang="en-US" dirty="0"/>
                        <a:t>B</a:t>
                      </a:r>
                    </a:p>
                  </a:txBody>
                  <a:tcPr/>
                </a:tc>
                <a:tc>
                  <a:txBody>
                    <a:bodyPr/>
                    <a:lstStyle/>
                    <a:p>
                      <a:r>
                        <a:rPr lang="en-US" dirty="0"/>
                        <a:t>3</a:t>
                      </a:r>
                    </a:p>
                  </a:txBody>
                  <a:tcPr/>
                </a:tc>
                <a:tc>
                  <a:txBody>
                    <a:bodyPr/>
                    <a:lstStyle/>
                    <a:p>
                      <a:r>
                        <a:rPr lang="en-US" dirty="0"/>
                        <a:t>2</a:t>
                      </a:r>
                    </a:p>
                  </a:txBody>
                  <a:tcPr/>
                </a:tc>
                <a:tc>
                  <a:txBody>
                    <a:bodyPr/>
                    <a:lstStyle/>
                    <a:p>
                      <a:r>
                        <a:rPr lang="en-US" dirty="0"/>
                        <a:t>5</a:t>
                      </a:r>
                    </a:p>
                  </a:txBody>
                  <a:tcPr/>
                </a:tc>
                <a:extLst>
                  <a:ext uri="{0D108BD9-81ED-4DB2-BD59-A6C34878D82A}">
                    <a16:rowId xmlns:a16="http://schemas.microsoft.com/office/drawing/2014/main" val="2308272798"/>
                  </a:ext>
                </a:extLst>
              </a:tr>
              <a:tr h="370840">
                <a:tc>
                  <a:txBody>
                    <a:bodyPr/>
                    <a:lstStyle/>
                    <a:p>
                      <a:r>
                        <a:rPr lang="en-US" dirty="0"/>
                        <a:t>C</a:t>
                      </a:r>
                    </a:p>
                  </a:txBody>
                  <a:tcPr/>
                </a:tc>
                <a:tc>
                  <a:txBody>
                    <a:bodyPr/>
                    <a:lstStyle/>
                    <a:p>
                      <a:r>
                        <a:rPr lang="en-US" dirty="0"/>
                        <a:t>4</a:t>
                      </a:r>
                    </a:p>
                  </a:txBody>
                  <a:tcPr/>
                </a:tc>
                <a:tc>
                  <a:txBody>
                    <a:bodyPr/>
                    <a:lstStyle/>
                    <a:p>
                      <a:r>
                        <a:rPr lang="en-US" dirty="0"/>
                        <a:t>4</a:t>
                      </a:r>
                    </a:p>
                  </a:txBody>
                  <a:tcPr/>
                </a:tc>
                <a:tc>
                  <a:txBody>
                    <a:bodyPr/>
                    <a:lstStyle/>
                    <a:p>
                      <a:r>
                        <a:rPr lang="en-US" dirty="0"/>
                        <a:t>2</a:t>
                      </a:r>
                    </a:p>
                  </a:txBody>
                  <a:tcPr/>
                </a:tc>
                <a:extLst>
                  <a:ext uri="{0D108BD9-81ED-4DB2-BD59-A6C34878D82A}">
                    <a16:rowId xmlns:a16="http://schemas.microsoft.com/office/drawing/2014/main" val="3089404631"/>
                  </a:ext>
                </a:extLst>
              </a:tr>
              <a:tr h="370840">
                <a:tc>
                  <a:txBody>
                    <a:bodyPr/>
                    <a:lstStyle/>
                    <a:p>
                      <a:r>
                        <a:rPr lang="en-US" dirty="0"/>
                        <a:t>D</a:t>
                      </a:r>
                    </a:p>
                  </a:txBody>
                  <a:tcPr/>
                </a:tc>
                <a:tc>
                  <a:txBody>
                    <a:bodyPr/>
                    <a:lstStyle/>
                    <a:p>
                      <a:r>
                        <a:rPr lang="en-US" dirty="0"/>
                        <a:t>5</a:t>
                      </a:r>
                    </a:p>
                  </a:txBody>
                  <a:tcPr/>
                </a:tc>
                <a:tc>
                  <a:txBody>
                    <a:bodyPr/>
                    <a:lstStyle/>
                    <a:p>
                      <a:r>
                        <a:rPr lang="en-US" dirty="0"/>
                        <a:t>5</a:t>
                      </a:r>
                    </a:p>
                  </a:txBody>
                  <a:tcPr/>
                </a:tc>
                <a:tc>
                  <a:txBody>
                    <a:bodyPr/>
                    <a:lstStyle/>
                    <a:p>
                      <a:r>
                        <a:rPr lang="en-US" dirty="0"/>
                        <a:t>5</a:t>
                      </a:r>
                    </a:p>
                  </a:txBody>
                  <a:tcPr/>
                </a:tc>
                <a:extLst>
                  <a:ext uri="{0D108BD9-81ED-4DB2-BD59-A6C34878D82A}">
                    <a16:rowId xmlns:a16="http://schemas.microsoft.com/office/drawing/2014/main" val="3168748883"/>
                  </a:ext>
                </a:extLst>
              </a:tr>
              <a:tr h="370840">
                <a:tc>
                  <a:txBody>
                    <a:bodyPr/>
                    <a:lstStyle/>
                    <a:p>
                      <a:r>
                        <a:rPr lang="en-US" dirty="0"/>
                        <a:t>E</a:t>
                      </a:r>
                    </a:p>
                  </a:txBody>
                  <a:tcPr/>
                </a:tc>
                <a:tc>
                  <a:txBody>
                    <a:bodyPr/>
                    <a:lstStyle/>
                    <a:p>
                      <a:r>
                        <a:rPr lang="en-US" dirty="0"/>
                        <a:t>1</a:t>
                      </a:r>
                    </a:p>
                  </a:txBody>
                  <a:tcPr/>
                </a:tc>
                <a:tc>
                  <a:txBody>
                    <a:bodyPr/>
                    <a:lstStyle/>
                    <a:p>
                      <a:r>
                        <a:rPr lang="en-US" dirty="0"/>
                        <a:t>6</a:t>
                      </a:r>
                    </a:p>
                  </a:txBody>
                  <a:tcPr/>
                </a:tc>
                <a:tc>
                  <a:txBody>
                    <a:bodyPr/>
                    <a:lstStyle/>
                    <a:p>
                      <a:r>
                        <a:rPr lang="en-US" dirty="0"/>
                        <a:t>3</a:t>
                      </a:r>
                    </a:p>
                  </a:txBody>
                  <a:tcPr/>
                </a:tc>
                <a:extLst>
                  <a:ext uri="{0D108BD9-81ED-4DB2-BD59-A6C34878D82A}">
                    <a16:rowId xmlns:a16="http://schemas.microsoft.com/office/drawing/2014/main" val="3869175234"/>
                  </a:ext>
                </a:extLst>
              </a:tr>
            </a:tbl>
          </a:graphicData>
        </a:graphic>
      </p:graphicFrame>
      <p:sp>
        <p:nvSpPr>
          <p:cNvPr id="14" name="TextBox 13">
            <a:extLst>
              <a:ext uri="{FF2B5EF4-FFF2-40B4-BE49-F238E27FC236}">
                <a16:creationId xmlns:a16="http://schemas.microsoft.com/office/drawing/2014/main" id="{61839DFF-7965-D5E0-9F74-7F99E0FD8F84}"/>
              </a:ext>
            </a:extLst>
          </p:cNvPr>
          <p:cNvSpPr txBox="1"/>
          <p:nvPr/>
        </p:nvSpPr>
        <p:spPr>
          <a:xfrm>
            <a:off x="7342238" y="2841766"/>
            <a:ext cx="3050458" cy="646331"/>
          </a:xfrm>
          <a:prstGeom prst="rect">
            <a:avLst/>
          </a:prstGeom>
          <a:noFill/>
        </p:spPr>
        <p:txBody>
          <a:bodyPr wrap="square">
            <a:spAutoFit/>
          </a:bodyPr>
          <a:lstStyle/>
          <a:p>
            <a:pPr>
              <a:buNone/>
            </a:pPr>
            <a:r>
              <a:rPr lang="en-US" b="1" dirty="0"/>
              <a:t>Front 1 (Rank 1):</a:t>
            </a:r>
          </a:p>
          <a:p>
            <a:pPr>
              <a:buNone/>
            </a:pPr>
            <a:r>
              <a:rPr lang="en-US" b="1" dirty="0"/>
              <a:t>A-&gt;B-&gt;C-&gt;E</a:t>
            </a:r>
          </a:p>
        </p:txBody>
      </p:sp>
      <p:sp>
        <p:nvSpPr>
          <p:cNvPr id="16" name="TextBox 15">
            <a:extLst>
              <a:ext uri="{FF2B5EF4-FFF2-40B4-BE49-F238E27FC236}">
                <a16:creationId xmlns:a16="http://schemas.microsoft.com/office/drawing/2014/main" id="{597E440C-BB05-195C-29D3-0DD047CFFFD0}"/>
              </a:ext>
            </a:extLst>
          </p:cNvPr>
          <p:cNvSpPr txBox="1"/>
          <p:nvPr/>
        </p:nvSpPr>
        <p:spPr>
          <a:xfrm>
            <a:off x="7342238" y="3508779"/>
            <a:ext cx="2281084" cy="646331"/>
          </a:xfrm>
          <a:prstGeom prst="rect">
            <a:avLst/>
          </a:prstGeom>
          <a:noFill/>
        </p:spPr>
        <p:txBody>
          <a:bodyPr wrap="square">
            <a:spAutoFit/>
          </a:bodyPr>
          <a:lstStyle/>
          <a:p>
            <a:pPr>
              <a:buNone/>
            </a:pPr>
            <a:r>
              <a:rPr lang="en-US" b="1" dirty="0"/>
              <a:t>Front 2 (Rank 2):</a:t>
            </a:r>
          </a:p>
          <a:p>
            <a:pPr>
              <a:buNone/>
            </a:pPr>
            <a:r>
              <a:rPr lang="en-US" b="1" dirty="0"/>
              <a:t>D</a:t>
            </a:r>
          </a:p>
        </p:txBody>
      </p:sp>
      <p:sp>
        <p:nvSpPr>
          <p:cNvPr id="18" name="TextBox 17">
            <a:extLst>
              <a:ext uri="{FF2B5EF4-FFF2-40B4-BE49-F238E27FC236}">
                <a16:creationId xmlns:a16="http://schemas.microsoft.com/office/drawing/2014/main" id="{5B0128DE-F4DA-9967-F847-D4191B2F17D4}"/>
              </a:ext>
            </a:extLst>
          </p:cNvPr>
          <p:cNvSpPr txBox="1"/>
          <p:nvPr/>
        </p:nvSpPr>
        <p:spPr>
          <a:xfrm>
            <a:off x="1995812" y="4478825"/>
            <a:ext cx="6823586" cy="954107"/>
          </a:xfrm>
          <a:prstGeom prst="rect">
            <a:avLst/>
          </a:prstGeom>
          <a:noFill/>
        </p:spPr>
        <p:txBody>
          <a:bodyPr wrap="square">
            <a:spAutoFit/>
          </a:bodyPr>
          <a:lstStyle/>
          <a:p>
            <a:r>
              <a:rPr lang="en-US" sz="2800" b="1" dirty="0"/>
              <a:t>Crowding Distance</a:t>
            </a:r>
            <a:endParaRPr lang="ar-EG" sz="2800" b="1" dirty="0"/>
          </a:p>
          <a:p>
            <a:endParaRPr lang="en-US" sz="2800" b="1" dirty="0"/>
          </a:p>
        </p:txBody>
      </p:sp>
      <p:sp>
        <p:nvSpPr>
          <p:cNvPr id="28" name="TextBox 27">
            <a:extLst>
              <a:ext uri="{FF2B5EF4-FFF2-40B4-BE49-F238E27FC236}">
                <a16:creationId xmlns:a16="http://schemas.microsoft.com/office/drawing/2014/main" id="{BBFDEBCF-F33D-9B58-8D50-741FD3626A76}"/>
              </a:ext>
            </a:extLst>
          </p:cNvPr>
          <p:cNvSpPr txBox="1"/>
          <p:nvPr/>
        </p:nvSpPr>
        <p:spPr>
          <a:xfrm>
            <a:off x="1961945" y="1295922"/>
            <a:ext cx="8411495" cy="646331"/>
          </a:xfrm>
          <a:prstGeom prst="rect">
            <a:avLst/>
          </a:prstGeom>
          <a:noFill/>
        </p:spPr>
        <p:txBody>
          <a:bodyPr wrap="square">
            <a:spAutoFit/>
          </a:bodyPr>
          <a:lstStyle/>
          <a:p>
            <a:r>
              <a:rPr lang="en-US" b="1" dirty="0"/>
              <a:t>Unlike a normal GA that searches for one best solution, NSGA-II searches for a set of Pareto solutions.</a:t>
            </a:r>
          </a:p>
        </p:txBody>
      </p:sp>
      <p:sp>
        <p:nvSpPr>
          <p:cNvPr id="30" name="TextBox 29">
            <a:extLst>
              <a:ext uri="{FF2B5EF4-FFF2-40B4-BE49-F238E27FC236}">
                <a16:creationId xmlns:a16="http://schemas.microsoft.com/office/drawing/2014/main" id="{9069A3D0-EA9D-3843-AA80-792CE709F6FB}"/>
              </a:ext>
            </a:extLst>
          </p:cNvPr>
          <p:cNvSpPr txBox="1"/>
          <p:nvPr/>
        </p:nvSpPr>
        <p:spPr>
          <a:xfrm>
            <a:off x="2005644" y="5054623"/>
            <a:ext cx="8190544" cy="1200329"/>
          </a:xfrm>
          <a:prstGeom prst="rect">
            <a:avLst/>
          </a:prstGeom>
          <a:noFill/>
        </p:spPr>
        <p:txBody>
          <a:bodyPr wrap="square">
            <a:spAutoFit/>
          </a:bodyPr>
          <a:lstStyle/>
          <a:p>
            <a:r>
              <a:rPr lang="en-US" b="1" dirty="0"/>
              <a:t>crowding distance is used to keep the most diverse solutions and maintain a well-distributed Pareto front.</a:t>
            </a:r>
          </a:p>
          <a:p>
            <a:endParaRPr lang="en-US" b="1" dirty="0"/>
          </a:p>
          <a:p>
            <a:r>
              <a:rPr lang="en-US" b="1" dirty="0"/>
              <a:t>Higher crowding distance means higher isolation and better diversity.</a:t>
            </a:r>
            <a:endParaRPr lang="en-US" dirty="0"/>
          </a:p>
        </p:txBody>
      </p:sp>
    </p:spTree>
    <p:extLst>
      <p:ext uri="{BB962C8B-B14F-4D97-AF65-F5344CB8AC3E}">
        <p14:creationId xmlns:p14="http://schemas.microsoft.com/office/powerpoint/2010/main" val="867981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500"/>
                                        <p:tgtEl>
                                          <p:spTgt spid="1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4">
                                            <p:txEl>
                                              <p:pRg st="1" end="1"/>
                                            </p:txEl>
                                          </p:spTgt>
                                        </p:tgtEl>
                                        <p:attrNameLst>
                                          <p:attrName>style.visibility</p:attrName>
                                        </p:attrNameLst>
                                      </p:cBhvr>
                                      <p:to>
                                        <p:strVal val="visible"/>
                                      </p:to>
                                    </p:set>
                                    <p:animEffect transition="in" filter="fade">
                                      <p:cBhvr>
                                        <p:cTn id="10" dur="500"/>
                                        <p:tgtEl>
                                          <p:spTgt spid="1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
                                            <p:txEl>
                                              <p:pRg st="0" end="0"/>
                                            </p:txEl>
                                          </p:spTgt>
                                        </p:tgtEl>
                                        <p:attrNameLst>
                                          <p:attrName>style.visibility</p:attrName>
                                        </p:attrNameLst>
                                      </p:cBhvr>
                                      <p:to>
                                        <p:strVal val="visible"/>
                                      </p:to>
                                    </p:set>
                                    <p:animEffect transition="in" filter="fade">
                                      <p:cBhvr>
                                        <p:cTn id="15" dur="500"/>
                                        <p:tgtEl>
                                          <p:spTgt spid="16">
                                            <p:txEl>
                                              <p:pRg st="0" end="0"/>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6">
                                            <p:txEl>
                                              <p:pRg st="1" end="1"/>
                                            </p:txEl>
                                          </p:spTgt>
                                        </p:tgtEl>
                                        <p:attrNameLst>
                                          <p:attrName>style.visibility</p:attrName>
                                        </p:attrNameLst>
                                      </p:cBhvr>
                                      <p:to>
                                        <p:strVal val="visible"/>
                                      </p:to>
                                    </p:set>
                                    <p:animEffect transition="in" filter="fade">
                                      <p:cBhvr>
                                        <p:cTn id="18" dur="500"/>
                                        <p:tgtEl>
                                          <p:spTgt spid="1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648D3-533D-016B-4362-120BC39D2F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19590E-CA4F-6691-AAE3-EBD33A2DEC04}"/>
              </a:ext>
            </a:extLst>
          </p:cNvPr>
          <p:cNvSpPr>
            <a:spLocks noGrp="1"/>
          </p:cNvSpPr>
          <p:nvPr>
            <p:ph type="title"/>
          </p:nvPr>
        </p:nvSpPr>
        <p:spPr>
          <a:xfrm>
            <a:off x="4068096" y="18255"/>
            <a:ext cx="5410202" cy="1325563"/>
          </a:xfrm>
        </p:spPr>
        <p:txBody>
          <a:bodyPr/>
          <a:lstStyle/>
          <a:p>
            <a:r>
              <a:rPr lang="en-US" b="1" dirty="0">
                <a:solidFill>
                  <a:srgbClr val="156082"/>
                </a:solidFill>
              </a:rPr>
              <a:t>Multi-Objective UCTP</a:t>
            </a:r>
          </a:p>
        </p:txBody>
      </p:sp>
      <p:sp>
        <p:nvSpPr>
          <p:cNvPr id="9" name="Rectangle 8">
            <a:extLst>
              <a:ext uri="{FF2B5EF4-FFF2-40B4-BE49-F238E27FC236}">
                <a16:creationId xmlns:a16="http://schemas.microsoft.com/office/drawing/2014/main" id="{9A5DB8DB-3737-FCA1-6089-79A9EC36DD53}"/>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Content Placeholder 20">
            <a:extLst>
              <a:ext uri="{FF2B5EF4-FFF2-40B4-BE49-F238E27FC236}">
                <a16:creationId xmlns:a16="http://schemas.microsoft.com/office/drawing/2014/main" id="{60EFB785-B3E1-81E6-0A96-E7BD4F5881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2" name="Picture 11">
            <a:extLst>
              <a:ext uri="{FF2B5EF4-FFF2-40B4-BE49-F238E27FC236}">
                <a16:creationId xmlns:a16="http://schemas.microsoft.com/office/drawing/2014/main" id="{EC32EABE-3B1D-AE1F-895B-B138A7305D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3" name="Slide Number Placeholder 12">
            <a:extLst>
              <a:ext uri="{FF2B5EF4-FFF2-40B4-BE49-F238E27FC236}">
                <a16:creationId xmlns:a16="http://schemas.microsoft.com/office/drawing/2014/main" id="{377585D2-057B-80F3-90AE-F794A5B78839}"/>
              </a:ext>
            </a:extLst>
          </p:cNvPr>
          <p:cNvSpPr>
            <a:spLocks noGrp="1"/>
          </p:cNvSpPr>
          <p:nvPr>
            <p:ph type="sldNum" sz="quarter" idx="12"/>
          </p:nvPr>
        </p:nvSpPr>
        <p:spPr/>
        <p:txBody>
          <a:bodyPr/>
          <a:lstStyle/>
          <a:p>
            <a:fld id="{FA5D76E8-8AD6-443B-8B81-1688B2EC3502}" type="slidenum">
              <a:rPr lang="en-US" smtClean="0"/>
              <a:t>52</a:t>
            </a:fld>
            <a:endParaRPr lang="en-US"/>
          </a:p>
        </p:txBody>
      </p:sp>
      <p:sp>
        <p:nvSpPr>
          <p:cNvPr id="4" name="TextBox 3">
            <a:extLst>
              <a:ext uri="{FF2B5EF4-FFF2-40B4-BE49-F238E27FC236}">
                <a16:creationId xmlns:a16="http://schemas.microsoft.com/office/drawing/2014/main" id="{336DC2E3-A4D1-7EAD-AFD1-E5600F5E893E}"/>
              </a:ext>
            </a:extLst>
          </p:cNvPr>
          <p:cNvSpPr txBox="1"/>
          <p:nvPr/>
        </p:nvSpPr>
        <p:spPr>
          <a:xfrm>
            <a:off x="2261420" y="1126037"/>
            <a:ext cx="6764593" cy="523220"/>
          </a:xfrm>
          <a:prstGeom prst="rect">
            <a:avLst/>
          </a:prstGeom>
          <a:noFill/>
        </p:spPr>
        <p:txBody>
          <a:bodyPr wrap="square" rtlCol="0">
            <a:spAutoFit/>
          </a:bodyPr>
          <a:lstStyle/>
          <a:p>
            <a:r>
              <a:rPr lang="en-US" sz="2800" b="1" dirty="0"/>
              <a:t>Mutation:</a:t>
            </a:r>
          </a:p>
        </p:txBody>
      </p:sp>
      <p:sp>
        <p:nvSpPr>
          <p:cNvPr id="15" name="Rectangle 1">
            <a:extLst>
              <a:ext uri="{FF2B5EF4-FFF2-40B4-BE49-F238E27FC236}">
                <a16:creationId xmlns:a16="http://schemas.microsoft.com/office/drawing/2014/main" id="{5790C395-35FE-B804-328D-496E0794F565}"/>
              </a:ext>
            </a:extLst>
          </p:cNvPr>
          <p:cNvSpPr>
            <a:spLocks noGrp="1" noChangeArrowheads="1"/>
          </p:cNvSpPr>
          <p:nvPr>
            <p:ph idx="1"/>
          </p:nvPr>
        </p:nvSpPr>
        <p:spPr bwMode="auto">
          <a:xfrm>
            <a:off x="2261422" y="1806593"/>
            <a:ext cx="6764591" cy="4392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b="1" dirty="0"/>
              <a:t>Purpose:</a:t>
            </a:r>
            <a:r>
              <a:rPr lang="en-US" dirty="0"/>
              <a:t> Introduce diversity and avoid premature convergence.</a:t>
            </a:r>
          </a:p>
          <a:p>
            <a:pPr marL="0" indent="0">
              <a:buNone/>
            </a:pPr>
            <a:r>
              <a:rPr lang="en-US" b="1" dirty="0"/>
              <a:t>Process</a:t>
            </a:r>
          </a:p>
          <a:p>
            <a:pPr marL="0" indent="0">
              <a:buNone/>
            </a:pPr>
            <a:r>
              <a:rPr lang="en-US" dirty="0"/>
              <a:t>Apply a random move using one of the neighborhood structures:</a:t>
            </a:r>
          </a:p>
          <a:p>
            <a:pPr lvl="1"/>
            <a:r>
              <a:rPr lang="en-US" dirty="0"/>
              <a:t>N1 </a:t>
            </a:r>
          </a:p>
          <a:p>
            <a:pPr lvl="1"/>
            <a:r>
              <a:rPr lang="en-US" dirty="0"/>
              <a:t>N2 </a:t>
            </a:r>
          </a:p>
          <a:p>
            <a:pPr lvl="1"/>
            <a:r>
              <a:rPr lang="en-US" dirty="0"/>
              <a:t>N3 </a:t>
            </a:r>
          </a:p>
          <a:p>
            <a:pPr lvl="1"/>
            <a:r>
              <a:rPr lang="en-US" dirty="0"/>
              <a:t>N7</a:t>
            </a:r>
          </a:p>
          <a:p>
            <a:pPr marL="514350" indent="-514350">
              <a:buFont typeface="+mj-lt"/>
              <a:buAutoNum type="arabicPeriod"/>
            </a:pPr>
            <a:endParaRPr lang="en-US" dirty="0"/>
          </a:p>
        </p:txBody>
      </p:sp>
    </p:spTree>
    <p:extLst>
      <p:ext uri="{BB962C8B-B14F-4D97-AF65-F5344CB8AC3E}">
        <p14:creationId xmlns:p14="http://schemas.microsoft.com/office/powerpoint/2010/main" val="12571397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0021A-04A4-F71C-93BE-A131B1CF7A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874EB5-0B46-AEE6-1D0A-9B4E0D2ECDC2}"/>
              </a:ext>
            </a:extLst>
          </p:cNvPr>
          <p:cNvSpPr>
            <a:spLocks noGrp="1"/>
          </p:cNvSpPr>
          <p:nvPr>
            <p:ph type="title"/>
          </p:nvPr>
        </p:nvSpPr>
        <p:spPr>
          <a:xfrm>
            <a:off x="4068096" y="18255"/>
            <a:ext cx="5410202" cy="1325563"/>
          </a:xfrm>
        </p:spPr>
        <p:txBody>
          <a:bodyPr/>
          <a:lstStyle/>
          <a:p>
            <a:r>
              <a:rPr lang="en-US" b="1" dirty="0">
                <a:solidFill>
                  <a:srgbClr val="156082"/>
                </a:solidFill>
              </a:rPr>
              <a:t>Multi-Objective UCTP</a:t>
            </a:r>
          </a:p>
        </p:txBody>
      </p:sp>
      <p:sp>
        <p:nvSpPr>
          <p:cNvPr id="9" name="Rectangle 8">
            <a:extLst>
              <a:ext uri="{FF2B5EF4-FFF2-40B4-BE49-F238E27FC236}">
                <a16:creationId xmlns:a16="http://schemas.microsoft.com/office/drawing/2014/main" id="{076D27BC-FDE5-6167-C0DF-EA8BA4CEF9FC}"/>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Content Placeholder 20">
            <a:extLst>
              <a:ext uri="{FF2B5EF4-FFF2-40B4-BE49-F238E27FC236}">
                <a16:creationId xmlns:a16="http://schemas.microsoft.com/office/drawing/2014/main" id="{B009FE60-6D1B-659E-EEA2-DE9152E2F3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2" name="Picture 11">
            <a:extLst>
              <a:ext uri="{FF2B5EF4-FFF2-40B4-BE49-F238E27FC236}">
                <a16:creationId xmlns:a16="http://schemas.microsoft.com/office/drawing/2014/main" id="{709699F8-64E1-AF8F-C4D6-A9B041E296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3" name="Slide Number Placeholder 12">
            <a:extLst>
              <a:ext uri="{FF2B5EF4-FFF2-40B4-BE49-F238E27FC236}">
                <a16:creationId xmlns:a16="http://schemas.microsoft.com/office/drawing/2014/main" id="{64E71333-67C6-6865-C065-FB80518DA750}"/>
              </a:ext>
            </a:extLst>
          </p:cNvPr>
          <p:cNvSpPr>
            <a:spLocks noGrp="1"/>
          </p:cNvSpPr>
          <p:nvPr>
            <p:ph type="sldNum" sz="quarter" idx="12"/>
          </p:nvPr>
        </p:nvSpPr>
        <p:spPr/>
        <p:txBody>
          <a:bodyPr/>
          <a:lstStyle/>
          <a:p>
            <a:fld id="{FA5D76E8-8AD6-443B-8B81-1688B2EC3502}" type="slidenum">
              <a:rPr lang="en-US" smtClean="0"/>
              <a:t>53</a:t>
            </a:fld>
            <a:endParaRPr lang="en-US" dirty="0"/>
          </a:p>
        </p:txBody>
      </p:sp>
      <p:sp>
        <p:nvSpPr>
          <p:cNvPr id="4" name="TextBox 3">
            <a:extLst>
              <a:ext uri="{FF2B5EF4-FFF2-40B4-BE49-F238E27FC236}">
                <a16:creationId xmlns:a16="http://schemas.microsoft.com/office/drawing/2014/main" id="{939CF969-66B3-ABC9-2B34-37FDC752200F}"/>
              </a:ext>
            </a:extLst>
          </p:cNvPr>
          <p:cNvSpPr txBox="1"/>
          <p:nvPr/>
        </p:nvSpPr>
        <p:spPr>
          <a:xfrm>
            <a:off x="1848464" y="1129009"/>
            <a:ext cx="10933471" cy="461665"/>
          </a:xfrm>
          <a:prstGeom prst="rect">
            <a:avLst/>
          </a:prstGeom>
          <a:noFill/>
        </p:spPr>
        <p:txBody>
          <a:bodyPr wrap="square" rtlCol="0">
            <a:spAutoFit/>
          </a:bodyPr>
          <a:lstStyle/>
          <a:p>
            <a:r>
              <a:rPr lang="en-US" sz="2400" b="1" dirty="0"/>
              <a:t>Guided Search Non-dominated Sorting Genetic  Algorithm (GSNSGA):</a:t>
            </a:r>
          </a:p>
        </p:txBody>
      </p:sp>
      <p:sp>
        <p:nvSpPr>
          <p:cNvPr id="6" name="Rectangle: Rounded Corners 5">
            <a:extLst>
              <a:ext uri="{FF2B5EF4-FFF2-40B4-BE49-F238E27FC236}">
                <a16:creationId xmlns:a16="http://schemas.microsoft.com/office/drawing/2014/main" id="{92E36FFD-7DE9-5E42-AFC8-605E3361DC29}"/>
              </a:ext>
            </a:extLst>
          </p:cNvPr>
          <p:cNvSpPr/>
          <p:nvPr/>
        </p:nvSpPr>
        <p:spPr>
          <a:xfrm>
            <a:off x="2126051" y="1765669"/>
            <a:ext cx="1573161" cy="981538"/>
          </a:xfrm>
          <a:prstGeom prst="roundRect">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Initialize Population</a:t>
            </a:r>
          </a:p>
        </p:txBody>
      </p:sp>
      <p:sp>
        <p:nvSpPr>
          <p:cNvPr id="7" name="Rectangle: Rounded Corners 6">
            <a:extLst>
              <a:ext uri="{FF2B5EF4-FFF2-40B4-BE49-F238E27FC236}">
                <a16:creationId xmlns:a16="http://schemas.microsoft.com/office/drawing/2014/main" id="{E76A613B-0659-A070-84FE-65EEDF884179}"/>
              </a:ext>
            </a:extLst>
          </p:cNvPr>
          <p:cNvSpPr/>
          <p:nvPr/>
        </p:nvSpPr>
        <p:spPr>
          <a:xfrm>
            <a:off x="4172544" y="1789341"/>
            <a:ext cx="1573161" cy="981538"/>
          </a:xfrm>
          <a:prstGeom prst="roundRect">
            <a:avLst/>
          </a:prstGeom>
          <a:solidFill>
            <a:schemeClr val="bg1"/>
          </a:solidFill>
          <a:ln w="28575">
            <a:solidFill>
              <a:srgbClr val="25BF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Apply LS5 + LS2</a:t>
            </a:r>
          </a:p>
        </p:txBody>
      </p:sp>
      <p:sp>
        <p:nvSpPr>
          <p:cNvPr id="8" name="Rectangle: Rounded Corners 7">
            <a:extLst>
              <a:ext uri="{FF2B5EF4-FFF2-40B4-BE49-F238E27FC236}">
                <a16:creationId xmlns:a16="http://schemas.microsoft.com/office/drawing/2014/main" id="{B1589936-C4C5-2C0F-E72F-ACA85F6EC0B5}"/>
              </a:ext>
            </a:extLst>
          </p:cNvPr>
          <p:cNvSpPr/>
          <p:nvPr/>
        </p:nvSpPr>
        <p:spPr>
          <a:xfrm>
            <a:off x="6113591" y="1810507"/>
            <a:ext cx="1573161" cy="981538"/>
          </a:xfrm>
          <a:prstGeom prst="roundRect">
            <a:avLst/>
          </a:prstGeom>
          <a:solidFill>
            <a:schemeClr val="bg1"/>
          </a:solidFill>
          <a:ln w="28575">
            <a:solidFill>
              <a:srgbClr val="FFCC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Evaluate Objectives</a:t>
            </a:r>
          </a:p>
        </p:txBody>
      </p:sp>
      <p:sp>
        <p:nvSpPr>
          <p:cNvPr id="10" name="Rectangle: Rounded Corners 9">
            <a:extLst>
              <a:ext uri="{FF2B5EF4-FFF2-40B4-BE49-F238E27FC236}">
                <a16:creationId xmlns:a16="http://schemas.microsoft.com/office/drawing/2014/main" id="{3E00BF21-E283-4324-D4AA-E015A3235379}"/>
              </a:ext>
            </a:extLst>
          </p:cNvPr>
          <p:cNvSpPr/>
          <p:nvPr/>
        </p:nvSpPr>
        <p:spPr>
          <a:xfrm>
            <a:off x="8143913" y="1789341"/>
            <a:ext cx="1966145" cy="963860"/>
          </a:xfrm>
          <a:prstGeom prst="roundRect">
            <a:avLst/>
          </a:prstGeom>
          <a:solidFill>
            <a:schemeClr val="bg1"/>
          </a:solid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NSGA-II Ranking &amp; Crowding Distance</a:t>
            </a:r>
          </a:p>
        </p:txBody>
      </p:sp>
      <p:sp>
        <p:nvSpPr>
          <p:cNvPr id="17" name="Rectangle: Rounded Corners 16">
            <a:extLst>
              <a:ext uri="{FF2B5EF4-FFF2-40B4-BE49-F238E27FC236}">
                <a16:creationId xmlns:a16="http://schemas.microsoft.com/office/drawing/2014/main" id="{2826FD6F-7EC4-8D93-D84A-FB9F97FA73E3}"/>
              </a:ext>
            </a:extLst>
          </p:cNvPr>
          <p:cNvSpPr/>
          <p:nvPr/>
        </p:nvSpPr>
        <p:spPr>
          <a:xfrm>
            <a:off x="10468897" y="1810507"/>
            <a:ext cx="1573161" cy="981538"/>
          </a:xfrm>
          <a:prstGeom prst="roundRect">
            <a:avLst/>
          </a:prstGeom>
          <a:solidFill>
            <a:schemeClr val="bg1"/>
          </a:solidFill>
          <a:ln w="28575">
            <a:solidFill>
              <a:srgbClr val="25BF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Repeat Until Stop</a:t>
            </a:r>
          </a:p>
        </p:txBody>
      </p:sp>
      <p:sp>
        <p:nvSpPr>
          <p:cNvPr id="20" name="Rectangle: Rounded Corners 19">
            <a:extLst>
              <a:ext uri="{FF2B5EF4-FFF2-40B4-BE49-F238E27FC236}">
                <a16:creationId xmlns:a16="http://schemas.microsoft.com/office/drawing/2014/main" id="{F0F8B824-972F-6297-2261-F2BA51CDFA4B}"/>
              </a:ext>
            </a:extLst>
          </p:cNvPr>
          <p:cNvSpPr/>
          <p:nvPr/>
        </p:nvSpPr>
        <p:spPr>
          <a:xfrm>
            <a:off x="10331244" y="3289668"/>
            <a:ext cx="1848465" cy="1552575"/>
          </a:xfrm>
          <a:prstGeom prst="roundRect">
            <a:avLst/>
          </a:prstGeom>
          <a:solidFill>
            <a:schemeClr val="bg1"/>
          </a:solidFill>
          <a:ln w="28575">
            <a:solidFill>
              <a:srgbClr val="FFCC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Build</a:t>
            </a:r>
            <a:r>
              <a:rPr lang="ar-EG" dirty="0">
                <a:solidFill>
                  <a:schemeClr val="tx1"/>
                </a:solidFill>
              </a:rPr>
              <a:t> </a:t>
            </a:r>
            <a:r>
              <a:rPr lang="en-US" dirty="0">
                <a:solidFill>
                  <a:schemeClr val="tx1"/>
                </a:solidFill>
              </a:rPr>
              <a:t>MEM₁, MEM₂, MEM₃</a:t>
            </a:r>
          </a:p>
        </p:txBody>
      </p:sp>
      <p:sp>
        <p:nvSpPr>
          <p:cNvPr id="21" name="Rectangle: Rounded Corners 20">
            <a:extLst>
              <a:ext uri="{FF2B5EF4-FFF2-40B4-BE49-F238E27FC236}">
                <a16:creationId xmlns:a16="http://schemas.microsoft.com/office/drawing/2014/main" id="{5278736D-A722-081B-E8EC-E4BD80B8A71E}"/>
              </a:ext>
            </a:extLst>
          </p:cNvPr>
          <p:cNvSpPr/>
          <p:nvPr/>
        </p:nvSpPr>
        <p:spPr>
          <a:xfrm>
            <a:off x="8151668" y="3402751"/>
            <a:ext cx="1573161" cy="1439492"/>
          </a:xfrm>
          <a:prstGeom prst="roundRect">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Generate Offspring</a:t>
            </a:r>
          </a:p>
          <a:p>
            <a:pPr algn="ctr"/>
            <a:r>
              <a:rPr lang="en-US" dirty="0">
                <a:solidFill>
                  <a:schemeClr val="tx1"/>
                </a:solidFill>
              </a:rPr>
              <a:t>Guided Search</a:t>
            </a:r>
          </a:p>
        </p:txBody>
      </p:sp>
      <p:sp>
        <p:nvSpPr>
          <p:cNvPr id="24" name="Rectangle: Rounded Corners 23">
            <a:extLst>
              <a:ext uri="{FF2B5EF4-FFF2-40B4-BE49-F238E27FC236}">
                <a16:creationId xmlns:a16="http://schemas.microsoft.com/office/drawing/2014/main" id="{6D8D839C-BB7E-79D9-DAA5-406B8A7BC884}"/>
              </a:ext>
            </a:extLst>
          </p:cNvPr>
          <p:cNvSpPr/>
          <p:nvPr/>
        </p:nvSpPr>
        <p:spPr>
          <a:xfrm>
            <a:off x="4020174" y="3347726"/>
            <a:ext cx="1573161" cy="981538"/>
          </a:xfrm>
          <a:prstGeom prst="roundRect">
            <a:avLst/>
          </a:prstGeom>
          <a:solidFill>
            <a:schemeClr val="bg1"/>
          </a:solidFill>
          <a:ln w="28575">
            <a:solidFill>
              <a:srgbClr val="25BF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Apply LS5 + LS2 to Offspring</a:t>
            </a:r>
          </a:p>
        </p:txBody>
      </p:sp>
      <p:sp>
        <p:nvSpPr>
          <p:cNvPr id="27" name="Rectangle: Rounded Corners 26">
            <a:extLst>
              <a:ext uri="{FF2B5EF4-FFF2-40B4-BE49-F238E27FC236}">
                <a16:creationId xmlns:a16="http://schemas.microsoft.com/office/drawing/2014/main" id="{D91B97D9-1081-9163-A738-8D5F541A7347}"/>
              </a:ext>
            </a:extLst>
          </p:cNvPr>
          <p:cNvSpPr/>
          <p:nvPr/>
        </p:nvSpPr>
        <p:spPr>
          <a:xfrm>
            <a:off x="2126051" y="3347092"/>
            <a:ext cx="1287708" cy="956586"/>
          </a:xfrm>
          <a:prstGeom prst="roundRect">
            <a:avLst/>
          </a:prstGeom>
          <a:solidFill>
            <a:schemeClr val="bg1"/>
          </a:solid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Evaluate Offspring</a:t>
            </a:r>
          </a:p>
        </p:txBody>
      </p:sp>
      <p:sp>
        <p:nvSpPr>
          <p:cNvPr id="28" name="Rectangle: Rounded Corners 27">
            <a:extLst>
              <a:ext uri="{FF2B5EF4-FFF2-40B4-BE49-F238E27FC236}">
                <a16:creationId xmlns:a16="http://schemas.microsoft.com/office/drawing/2014/main" id="{28F57ECA-23F6-D30E-8D9B-FE41C46E511A}"/>
              </a:ext>
            </a:extLst>
          </p:cNvPr>
          <p:cNvSpPr/>
          <p:nvPr/>
        </p:nvSpPr>
        <p:spPr>
          <a:xfrm>
            <a:off x="2241745" y="5474650"/>
            <a:ext cx="1730487" cy="881700"/>
          </a:xfrm>
          <a:prstGeom prst="roundRect">
            <a:avLst/>
          </a:prstGeom>
          <a:solidFill>
            <a:schemeClr val="bg1"/>
          </a:solidFill>
          <a:ln w="28575">
            <a:solidFill>
              <a:srgbClr val="FFCC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Merge Parent &amp; Offspring Populations</a:t>
            </a:r>
          </a:p>
        </p:txBody>
      </p:sp>
      <p:sp>
        <p:nvSpPr>
          <p:cNvPr id="31" name="Rectangle: Rounded Corners 30">
            <a:extLst>
              <a:ext uri="{FF2B5EF4-FFF2-40B4-BE49-F238E27FC236}">
                <a16:creationId xmlns:a16="http://schemas.microsoft.com/office/drawing/2014/main" id="{67553012-A49E-9FDE-13BB-E14F01DE64F4}"/>
              </a:ext>
            </a:extLst>
          </p:cNvPr>
          <p:cNvSpPr/>
          <p:nvPr/>
        </p:nvSpPr>
        <p:spPr>
          <a:xfrm>
            <a:off x="4442951" y="5450886"/>
            <a:ext cx="1573161" cy="1216497"/>
          </a:xfrm>
          <a:prstGeom prst="roundRect">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Select Next Generation Using NSGA-II</a:t>
            </a:r>
          </a:p>
        </p:txBody>
      </p:sp>
      <p:sp>
        <p:nvSpPr>
          <p:cNvPr id="32" name="Rectangle: Rounded Corners 31">
            <a:extLst>
              <a:ext uri="{FF2B5EF4-FFF2-40B4-BE49-F238E27FC236}">
                <a16:creationId xmlns:a16="http://schemas.microsoft.com/office/drawing/2014/main" id="{21996972-FE70-32C6-4ADF-7B55F784FF51}"/>
              </a:ext>
            </a:extLst>
          </p:cNvPr>
          <p:cNvSpPr/>
          <p:nvPr/>
        </p:nvSpPr>
        <p:spPr>
          <a:xfrm>
            <a:off x="6537948" y="5168947"/>
            <a:ext cx="2105025" cy="1602685"/>
          </a:xfrm>
          <a:prstGeom prst="roundRect">
            <a:avLst/>
          </a:prstGeom>
          <a:solidFill>
            <a:schemeClr val="bg1"/>
          </a:solidFill>
          <a:ln w="28575">
            <a:solidFill>
              <a:srgbClr val="FFCC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Termination Reached?</a:t>
            </a:r>
          </a:p>
          <a:p>
            <a:pPr algn="ctr"/>
            <a:r>
              <a:rPr lang="en-US" dirty="0">
                <a:solidFill>
                  <a:schemeClr val="tx1"/>
                </a:solidFill>
              </a:rPr>
              <a:t>No → Loop back to Repeat</a:t>
            </a:r>
          </a:p>
          <a:p>
            <a:pPr algn="ctr"/>
            <a:r>
              <a:rPr lang="en-US" dirty="0">
                <a:solidFill>
                  <a:schemeClr val="tx1"/>
                </a:solidFill>
              </a:rPr>
              <a:t>Yes → Output Pareto Set</a:t>
            </a:r>
          </a:p>
        </p:txBody>
      </p:sp>
      <p:sp>
        <p:nvSpPr>
          <p:cNvPr id="35" name="Rectangle: Rounded Corners 34">
            <a:extLst>
              <a:ext uri="{FF2B5EF4-FFF2-40B4-BE49-F238E27FC236}">
                <a16:creationId xmlns:a16="http://schemas.microsoft.com/office/drawing/2014/main" id="{78C07839-6E31-2664-C2BC-97FBE2DDB579}"/>
              </a:ext>
            </a:extLst>
          </p:cNvPr>
          <p:cNvSpPr/>
          <p:nvPr/>
        </p:nvSpPr>
        <p:spPr>
          <a:xfrm>
            <a:off x="9402096" y="5304789"/>
            <a:ext cx="1573161" cy="1127635"/>
          </a:xfrm>
          <a:prstGeom prst="roundRect">
            <a:avLst/>
          </a:prstGeom>
          <a:solidFill>
            <a:schemeClr val="bg1"/>
          </a:solidFill>
          <a:ln w="28575">
            <a:solidFill>
              <a:srgbClr val="25BF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Output Non-Dominated (Pareto) Solutions</a:t>
            </a:r>
          </a:p>
        </p:txBody>
      </p:sp>
      <p:sp>
        <p:nvSpPr>
          <p:cNvPr id="36" name="Rectangle: Rounded Corners 35">
            <a:extLst>
              <a:ext uri="{FF2B5EF4-FFF2-40B4-BE49-F238E27FC236}">
                <a16:creationId xmlns:a16="http://schemas.microsoft.com/office/drawing/2014/main" id="{E31498CE-E16A-FB1D-205A-B2F60552F46D}"/>
              </a:ext>
            </a:extLst>
          </p:cNvPr>
          <p:cNvSpPr/>
          <p:nvPr/>
        </p:nvSpPr>
        <p:spPr>
          <a:xfrm>
            <a:off x="6016112" y="3347726"/>
            <a:ext cx="1573161" cy="981538"/>
          </a:xfrm>
          <a:prstGeom prst="roundRect">
            <a:avLst/>
          </a:prstGeom>
          <a:solidFill>
            <a:schemeClr val="bg1"/>
          </a:solidFill>
          <a:ln w="28575">
            <a:solidFill>
              <a:srgbClr val="25BF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Mutation (N1 / N2 / N3 / N7)</a:t>
            </a:r>
          </a:p>
        </p:txBody>
      </p:sp>
      <p:cxnSp>
        <p:nvCxnSpPr>
          <p:cNvPr id="38" name="Straight Arrow Connector 37">
            <a:extLst>
              <a:ext uri="{FF2B5EF4-FFF2-40B4-BE49-F238E27FC236}">
                <a16:creationId xmlns:a16="http://schemas.microsoft.com/office/drawing/2014/main" id="{21D62A26-8771-C955-4F60-0910B7204F3A}"/>
              </a:ext>
            </a:extLst>
          </p:cNvPr>
          <p:cNvCxnSpPr>
            <a:stCxn id="6" idx="3"/>
            <a:endCxn id="7" idx="1"/>
          </p:cNvCxnSpPr>
          <p:nvPr/>
        </p:nvCxnSpPr>
        <p:spPr>
          <a:xfrm>
            <a:off x="3699212" y="2256438"/>
            <a:ext cx="473332" cy="236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BC532735-670E-19CE-F8B8-7D83B933DCE3}"/>
              </a:ext>
            </a:extLst>
          </p:cNvPr>
          <p:cNvCxnSpPr>
            <a:stCxn id="7" idx="3"/>
            <a:endCxn id="8" idx="1"/>
          </p:cNvCxnSpPr>
          <p:nvPr/>
        </p:nvCxnSpPr>
        <p:spPr>
          <a:xfrm>
            <a:off x="5745705" y="2280110"/>
            <a:ext cx="367886" cy="211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E33433F4-E29E-9A91-A7BC-CD1DEFA3FB18}"/>
              </a:ext>
            </a:extLst>
          </p:cNvPr>
          <p:cNvCxnSpPr>
            <a:stCxn id="8" idx="3"/>
            <a:endCxn id="10" idx="1"/>
          </p:cNvCxnSpPr>
          <p:nvPr/>
        </p:nvCxnSpPr>
        <p:spPr>
          <a:xfrm flipV="1">
            <a:off x="7686752" y="2271271"/>
            <a:ext cx="457161" cy="300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DBA1180A-BE03-31D9-B563-F3219E660FBA}"/>
              </a:ext>
            </a:extLst>
          </p:cNvPr>
          <p:cNvCxnSpPr>
            <a:stCxn id="10" idx="3"/>
            <a:endCxn id="17" idx="1"/>
          </p:cNvCxnSpPr>
          <p:nvPr/>
        </p:nvCxnSpPr>
        <p:spPr>
          <a:xfrm>
            <a:off x="10110058" y="2271271"/>
            <a:ext cx="358839" cy="300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195117D8-A0F6-23B1-B2F7-FB963A9C1CE3}"/>
              </a:ext>
            </a:extLst>
          </p:cNvPr>
          <p:cNvCxnSpPr>
            <a:stCxn id="17" idx="2"/>
            <a:endCxn id="20" idx="0"/>
          </p:cNvCxnSpPr>
          <p:nvPr/>
        </p:nvCxnSpPr>
        <p:spPr>
          <a:xfrm flipH="1">
            <a:off x="11255477" y="2792045"/>
            <a:ext cx="1" cy="4976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C7548D7A-3B8D-57DB-09F2-1B99C80778D6}"/>
              </a:ext>
            </a:extLst>
          </p:cNvPr>
          <p:cNvCxnSpPr>
            <a:cxnSpLocks/>
            <a:stCxn id="20" idx="1"/>
            <a:endCxn id="21" idx="3"/>
          </p:cNvCxnSpPr>
          <p:nvPr/>
        </p:nvCxnSpPr>
        <p:spPr>
          <a:xfrm flipH="1">
            <a:off x="9724829" y="4065956"/>
            <a:ext cx="606415" cy="565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4A66F705-3736-37A9-4635-5C99C3EDD956}"/>
              </a:ext>
            </a:extLst>
          </p:cNvPr>
          <p:cNvCxnSpPr>
            <a:cxnSpLocks/>
            <a:stCxn id="21" idx="1"/>
            <a:endCxn id="36" idx="3"/>
          </p:cNvCxnSpPr>
          <p:nvPr/>
        </p:nvCxnSpPr>
        <p:spPr>
          <a:xfrm flipH="1" flipV="1">
            <a:off x="7589273" y="3838495"/>
            <a:ext cx="562395" cy="2840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7F75DFB9-CBEB-1F4E-954D-7B82BFE777D4}"/>
              </a:ext>
            </a:extLst>
          </p:cNvPr>
          <p:cNvCxnSpPr>
            <a:stCxn id="36" idx="1"/>
            <a:endCxn id="24" idx="3"/>
          </p:cNvCxnSpPr>
          <p:nvPr/>
        </p:nvCxnSpPr>
        <p:spPr>
          <a:xfrm flipH="1">
            <a:off x="5593335" y="3838495"/>
            <a:ext cx="42277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B1885E48-540B-A92E-A45B-42ABC770F23A}"/>
              </a:ext>
            </a:extLst>
          </p:cNvPr>
          <p:cNvCxnSpPr>
            <a:stCxn id="24" idx="1"/>
            <a:endCxn id="27" idx="3"/>
          </p:cNvCxnSpPr>
          <p:nvPr/>
        </p:nvCxnSpPr>
        <p:spPr>
          <a:xfrm flipH="1" flipV="1">
            <a:off x="3413759" y="3825385"/>
            <a:ext cx="606415" cy="131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14B5BCE3-B5F9-71D8-F3A4-3DBDE0EF4254}"/>
              </a:ext>
            </a:extLst>
          </p:cNvPr>
          <p:cNvCxnSpPr>
            <a:stCxn id="27" idx="2"/>
            <a:endCxn id="28" idx="0"/>
          </p:cNvCxnSpPr>
          <p:nvPr/>
        </p:nvCxnSpPr>
        <p:spPr>
          <a:xfrm>
            <a:off x="2769905" y="4303678"/>
            <a:ext cx="337084" cy="11709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60B58497-0E65-3CA0-2FA6-92B249DEE5B9}"/>
              </a:ext>
            </a:extLst>
          </p:cNvPr>
          <p:cNvCxnSpPr>
            <a:stCxn id="28" idx="3"/>
            <a:endCxn id="31" idx="1"/>
          </p:cNvCxnSpPr>
          <p:nvPr/>
        </p:nvCxnSpPr>
        <p:spPr>
          <a:xfrm>
            <a:off x="3972232" y="5915500"/>
            <a:ext cx="470719" cy="1436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69E67F90-38D6-7135-3B82-2FAA13430072}"/>
              </a:ext>
            </a:extLst>
          </p:cNvPr>
          <p:cNvCxnSpPr>
            <a:cxnSpLocks/>
            <a:stCxn id="31" idx="3"/>
            <a:endCxn id="32" idx="1"/>
          </p:cNvCxnSpPr>
          <p:nvPr/>
        </p:nvCxnSpPr>
        <p:spPr>
          <a:xfrm flipV="1">
            <a:off x="6016112" y="5970290"/>
            <a:ext cx="521836" cy="8884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5F950A02-0615-26D7-74EF-0F2A4370394F}"/>
              </a:ext>
            </a:extLst>
          </p:cNvPr>
          <p:cNvCxnSpPr>
            <a:cxnSpLocks/>
            <a:stCxn id="32" idx="3"/>
            <a:endCxn id="35" idx="1"/>
          </p:cNvCxnSpPr>
          <p:nvPr/>
        </p:nvCxnSpPr>
        <p:spPr>
          <a:xfrm flipV="1">
            <a:off x="8642973" y="5868607"/>
            <a:ext cx="759123" cy="1016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93634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500"/>
                                        <p:tgtEl>
                                          <p:spTgt spid="3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nodeType="with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500"/>
                                        <p:tgtEl>
                                          <p:spTgt spid="4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nodeType="withEffect">
                                  <p:stCondLst>
                                    <p:cond delay="0"/>
                                  </p:stCondLst>
                                  <p:childTnLst>
                                    <p:set>
                                      <p:cBhvr>
                                        <p:cTn id="25" dur="1" fill="hold">
                                          <p:stCondLst>
                                            <p:cond delay="0"/>
                                          </p:stCondLst>
                                        </p:cTn>
                                        <p:tgtEl>
                                          <p:spTgt spid="42"/>
                                        </p:tgtEl>
                                        <p:attrNameLst>
                                          <p:attrName>style.visibility</p:attrName>
                                        </p:attrNameLst>
                                      </p:cBhvr>
                                      <p:to>
                                        <p:strVal val="visible"/>
                                      </p:to>
                                    </p:set>
                                    <p:animEffect transition="in" filter="fade">
                                      <p:cBhvr>
                                        <p:cTn id="26" dur="500"/>
                                        <p:tgtEl>
                                          <p:spTgt spid="4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nodeType="withEffect">
                                  <p:stCondLst>
                                    <p:cond delay="0"/>
                                  </p:stCondLst>
                                  <p:childTnLst>
                                    <p:set>
                                      <p:cBhvr>
                                        <p:cTn id="33" dur="1" fill="hold">
                                          <p:stCondLst>
                                            <p:cond delay="0"/>
                                          </p:stCondLst>
                                        </p:cTn>
                                        <p:tgtEl>
                                          <p:spTgt spid="44"/>
                                        </p:tgtEl>
                                        <p:attrNameLst>
                                          <p:attrName>style.visibility</p:attrName>
                                        </p:attrNameLst>
                                      </p:cBhvr>
                                      <p:to>
                                        <p:strVal val="visible"/>
                                      </p:to>
                                    </p:set>
                                    <p:animEffect transition="in" filter="fade">
                                      <p:cBhvr>
                                        <p:cTn id="34" dur="500"/>
                                        <p:tgtEl>
                                          <p:spTgt spid="4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par>
                                <p:cTn id="40" presetID="10" presetClass="entr" presetSubtype="0" fill="hold" nodeType="withEffect">
                                  <p:stCondLst>
                                    <p:cond delay="0"/>
                                  </p:stCondLst>
                                  <p:childTnLst>
                                    <p:set>
                                      <p:cBhvr>
                                        <p:cTn id="41" dur="1" fill="hold">
                                          <p:stCondLst>
                                            <p:cond delay="0"/>
                                          </p:stCondLst>
                                        </p:cTn>
                                        <p:tgtEl>
                                          <p:spTgt spid="46"/>
                                        </p:tgtEl>
                                        <p:attrNameLst>
                                          <p:attrName>style.visibility</p:attrName>
                                        </p:attrNameLst>
                                      </p:cBhvr>
                                      <p:to>
                                        <p:strVal val="visible"/>
                                      </p:to>
                                    </p:set>
                                    <p:animEffect transition="in" filter="fade">
                                      <p:cBhvr>
                                        <p:cTn id="42" dur="500"/>
                                        <p:tgtEl>
                                          <p:spTgt spid="4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50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48"/>
                                        </p:tgtEl>
                                        <p:attrNameLst>
                                          <p:attrName>style.visibility</p:attrName>
                                        </p:attrNameLst>
                                      </p:cBhvr>
                                      <p:to>
                                        <p:strVal val="visible"/>
                                      </p:to>
                                    </p:set>
                                    <p:animEffect transition="in" filter="fade">
                                      <p:cBhvr>
                                        <p:cTn id="50" dur="500"/>
                                        <p:tgtEl>
                                          <p:spTgt spid="48"/>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50"/>
                                        </p:tgtEl>
                                        <p:attrNameLst>
                                          <p:attrName>style.visibility</p:attrName>
                                        </p:attrNameLst>
                                      </p:cBhvr>
                                      <p:to>
                                        <p:strVal val="visible"/>
                                      </p:to>
                                    </p:set>
                                    <p:animEffect transition="in" filter="fade">
                                      <p:cBhvr>
                                        <p:cTn id="55" dur="500"/>
                                        <p:tgtEl>
                                          <p:spTgt spid="5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6"/>
                                        </p:tgtEl>
                                        <p:attrNameLst>
                                          <p:attrName>style.visibility</p:attrName>
                                        </p:attrNameLst>
                                      </p:cBhvr>
                                      <p:to>
                                        <p:strVal val="visible"/>
                                      </p:to>
                                    </p:set>
                                    <p:animEffect transition="in" filter="fade">
                                      <p:cBhvr>
                                        <p:cTn id="63" dur="500"/>
                                        <p:tgtEl>
                                          <p:spTgt spid="36"/>
                                        </p:tgtEl>
                                      </p:cBhvr>
                                    </p:animEffect>
                                  </p:childTnLst>
                                </p:cTn>
                              </p:par>
                              <p:par>
                                <p:cTn id="64" presetID="10" presetClass="entr" presetSubtype="0" fill="hold" nodeType="withEffect">
                                  <p:stCondLst>
                                    <p:cond delay="0"/>
                                  </p:stCondLst>
                                  <p:childTnLst>
                                    <p:set>
                                      <p:cBhvr>
                                        <p:cTn id="65" dur="1" fill="hold">
                                          <p:stCondLst>
                                            <p:cond delay="0"/>
                                          </p:stCondLst>
                                        </p:cTn>
                                        <p:tgtEl>
                                          <p:spTgt spid="52"/>
                                        </p:tgtEl>
                                        <p:attrNameLst>
                                          <p:attrName>style.visibility</p:attrName>
                                        </p:attrNameLst>
                                      </p:cBhvr>
                                      <p:to>
                                        <p:strVal val="visible"/>
                                      </p:to>
                                    </p:set>
                                    <p:animEffect transition="in" filter="fade">
                                      <p:cBhvr>
                                        <p:cTn id="66" dur="500"/>
                                        <p:tgtEl>
                                          <p:spTgt spid="5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500"/>
                                        <p:tgtEl>
                                          <p:spTgt spid="24"/>
                                        </p:tgtEl>
                                      </p:cBhvr>
                                    </p:animEffect>
                                  </p:childTnLst>
                                </p:cTn>
                              </p:par>
                              <p:par>
                                <p:cTn id="72" presetID="10" presetClass="entr" presetSubtype="0" fill="hold" nodeType="withEffect">
                                  <p:stCondLst>
                                    <p:cond delay="0"/>
                                  </p:stCondLst>
                                  <p:childTnLst>
                                    <p:set>
                                      <p:cBhvr>
                                        <p:cTn id="73" dur="1" fill="hold">
                                          <p:stCondLst>
                                            <p:cond delay="0"/>
                                          </p:stCondLst>
                                        </p:cTn>
                                        <p:tgtEl>
                                          <p:spTgt spid="54"/>
                                        </p:tgtEl>
                                        <p:attrNameLst>
                                          <p:attrName>style.visibility</p:attrName>
                                        </p:attrNameLst>
                                      </p:cBhvr>
                                      <p:to>
                                        <p:strVal val="visible"/>
                                      </p:to>
                                    </p:set>
                                    <p:animEffect transition="in" filter="fade">
                                      <p:cBhvr>
                                        <p:cTn id="74" dur="500"/>
                                        <p:tgtEl>
                                          <p:spTgt spid="54"/>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500"/>
                                        <p:tgtEl>
                                          <p:spTgt spid="27"/>
                                        </p:tgtEl>
                                      </p:cBhvr>
                                    </p:animEffect>
                                  </p:childTnLst>
                                </p:cTn>
                              </p:par>
                              <p:par>
                                <p:cTn id="80" presetID="10" presetClass="entr" presetSubtype="0" fill="hold" nodeType="withEffect">
                                  <p:stCondLst>
                                    <p:cond delay="0"/>
                                  </p:stCondLst>
                                  <p:childTnLst>
                                    <p:set>
                                      <p:cBhvr>
                                        <p:cTn id="81" dur="1" fill="hold">
                                          <p:stCondLst>
                                            <p:cond delay="0"/>
                                          </p:stCondLst>
                                        </p:cTn>
                                        <p:tgtEl>
                                          <p:spTgt spid="56"/>
                                        </p:tgtEl>
                                        <p:attrNameLst>
                                          <p:attrName>style.visibility</p:attrName>
                                        </p:attrNameLst>
                                      </p:cBhvr>
                                      <p:to>
                                        <p:strVal val="visible"/>
                                      </p:to>
                                    </p:set>
                                    <p:animEffect transition="in" filter="fade">
                                      <p:cBhvr>
                                        <p:cTn id="82" dur="500"/>
                                        <p:tgtEl>
                                          <p:spTgt spid="56"/>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fade">
                                      <p:cBhvr>
                                        <p:cTn id="87" dur="500"/>
                                        <p:tgtEl>
                                          <p:spTgt spid="28"/>
                                        </p:tgtEl>
                                      </p:cBhvr>
                                    </p:animEffect>
                                  </p:childTnLst>
                                </p:cTn>
                              </p:par>
                              <p:par>
                                <p:cTn id="88" presetID="10" presetClass="entr" presetSubtype="0" fill="hold" nodeType="withEffect">
                                  <p:stCondLst>
                                    <p:cond delay="0"/>
                                  </p:stCondLst>
                                  <p:childTnLst>
                                    <p:set>
                                      <p:cBhvr>
                                        <p:cTn id="89" dur="1" fill="hold">
                                          <p:stCondLst>
                                            <p:cond delay="0"/>
                                          </p:stCondLst>
                                        </p:cTn>
                                        <p:tgtEl>
                                          <p:spTgt spid="58"/>
                                        </p:tgtEl>
                                        <p:attrNameLst>
                                          <p:attrName>style.visibility</p:attrName>
                                        </p:attrNameLst>
                                      </p:cBhvr>
                                      <p:to>
                                        <p:strVal val="visible"/>
                                      </p:to>
                                    </p:set>
                                    <p:animEffect transition="in" filter="fade">
                                      <p:cBhvr>
                                        <p:cTn id="90" dur="500"/>
                                        <p:tgtEl>
                                          <p:spTgt spid="58"/>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500"/>
                                        <p:tgtEl>
                                          <p:spTgt spid="31"/>
                                        </p:tgtEl>
                                      </p:cBhvr>
                                    </p:animEffect>
                                  </p:childTnLst>
                                </p:cTn>
                              </p:par>
                              <p:par>
                                <p:cTn id="96" presetID="10" presetClass="entr" presetSubtype="0" fill="hold" nodeType="withEffect">
                                  <p:stCondLst>
                                    <p:cond delay="0"/>
                                  </p:stCondLst>
                                  <p:childTnLst>
                                    <p:set>
                                      <p:cBhvr>
                                        <p:cTn id="97" dur="1" fill="hold">
                                          <p:stCondLst>
                                            <p:cond delay="0"/>
                                          </p:stCondLst>
                                        </p:cTn>
                                        <p:tgtEl>
                                          <p:spTgt spid="60"/>
                                        </p:tgtEl>
                                        <p:attrNameLst>
                                          <p:attrName>style.visibility</p:attrName>
                                        </p:attrNameLst>
                                      </p:cBhvr>
                                      <p:to>
                                        <p:strVal val="visible"/>
                                      </p:to>
                                    </p:set>
                                    <p:animEffect transition="in" filter="fade">
                                      <p:cBhvr>
                                        <p:cTn id="98" dur="500"/>
                                        <p:tgtEl>
                                          <p:spTgt spid="60"/>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32"/>
                                        </p:tgtEl>
                                        <p:attrNameLst>
                                          <p:attrName>style.visibility</p:attrName>
                                        </p:attrNameLst>
                                      </p:cBhvr>
                                      <p:to>
                                        <p:strVal val="visible"/>
                                      </p:to>
                                    </p:set>
                                    <p:animEffect transition="in" filter="fade">
                                      <p:cBhvr>
                                        <p:cTn id="103" dur="500"/>
                                        <p:tgtEl>
                                          <p:spTgt spid="32"/>
                                        </p:tgtEl>
                                      </p:cBhvr>
                                    </p:animEffect>
                                  </p:childTnLst>
                                </p:cTn>
                              </p:par>
                              <p:par>
                                <p:cTn id="104" presetID="10" presetClass="entr" presetSubtype="0" fill="hold" nodeType="withEffect">
                                  <p:stCondLst>
                                    <p:cond delay="0"/>
                                  </p:stCondLst>
                                  <p:childTnLst>
                                    <p:set>
                                      <p:cBhvr>
                                        <p:cTn id="105" dur="1" fill="hold">
                                          <p:stCondLst>
                                            <p:cond delay="0"/>
                                          </p:stCondLst>
                                        </p:cTn>
                                        <p:tgtEl>
                                          <p:spTgt spid="62"/>
                                        </p:tgtEl>
                                        <p:attrNameLst>
                                          <p:attrName>style.visibility</p:attrName>
                                        </p:attrNameLst>
                                      </p:cBhvr>
                                      <p:to>
                                        <p:strVal val="visible"/>
                                      </p:to>
                                    </p:set>
                                    <p:animEffect transition="in" filter="fade">
                                      <p:cBhvr>
                                        <p:cTn id="106" dur="500"/>
                                        <p:tgtEl>
                                          <p:spTgt spid="62"/>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35"/>
                                        </p:tgtEl>
                                        <p:attrNameLst>
                                          <p:attrName>style.visibility</p:attrName>
                                        </p:attrNameLst>
                                      </p:cBhvr>
                                      <p:to>
                                        <p:strVal val="visible"/>
                                      </p:to>
                                    </p:set>
                                    <p:animEffect transition="in" filter="fade">
                                      <p:cBhvr>
                                        <p:cTn id="111"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P spid="17" grpId="0" animBg="1"/>
      <p:bldP spid="20" grpId="0" animBg="1"/>
      <p:bldP spid="21" grpId="0" animBg="1"/>
      <p:bldP spid="24" grpId="0" animBg="1"/>
      <p:bldP spid="27" grpId="0" animBg="1"/>
      <p:bldP spid="28" grpId="0" animBg="1"/>
      <p:bldP spid="31" grpId="0" animBg="1"/>
      <p:bldP spid="32" grpId="0" animBg="1"/>
      <p:bldP spid="35" grpId="0" animBg="1"/>
      <p:bldP spid="36"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219EFD7-4AB2-DB55-63B1-0EB68EA6D8B4}"/>
              </a:ext>
            </a:extLst>
          </p:cNvPr>
          <p:cNvSpPr>
            <a:spLocks noGrp="1"/>
          </p:cNvSpPr>
          <p:nvPr>
            <p:ph type="sldNum" sz="quarter" idx="12"/>
          </p:nvPr>
        </p:nvSpPr>
        <p:spPr/>
        <p:txBody>
          <a:bodyPr/>
          <a:lstStyle/>
          <a:p>
            <a:fld id="{FA5D76E8-8AD6-443B-8B81-1688B2EC3502}" type="slidenum">
              <a:rPr lang="en-US" smtClean="0"/>
              <a:t>54</a:t>
            </a:fld>
            <a:endParaRPr lang="en-US"/>
          </a:p>
        </p:txBody>
      </p:sp>
      <p:sp>
        <p:nvSpPr>
          <p:cNvPr id="3" name="Rectangle 2">
            <a:extLst>
              <a:ext uri="{FF2B5EF4-FFF2-40B4-BE49-F238E27FC236}">
                <a16:creationId xmlns:a16="http://schemas.microsoft.com/office/drawing/2014/main" id="{6D397C03-E8DC-FECE-0A4C-11A3675B0B1D}"/>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Content Placeholder 20">
            <a:extLst>
              <a:ext uri="{FF2B5EF4-FFF2-40B4-BE49-F238E27FC236}">
                <a16:creationId xmlns:a16="http://schemas.microsoft.com/office/drawing/2014/main" id="{1B813DEC-D932-2C82-FD9B-5119C2E9C2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5" name="Picture 4">
            <a:extLst>
              <a:ext uri="{FF2B5EF4-FFF2-40B4-BE49-F238E27FC236}">
                <a16:creationId xmlns:a16="http://schemas.microsoft.com/office/drawing/2014/main" id="{4A8678C6-5C6F-8FA8-ECD4-1030C82225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7" name="TextBox 6">
            <a:extLst>
              <a:ext uri="{FF2B5EF4-FFF2-40B4-BE49-F238E27FC236}">
                <a16:creationId xmlns:a16="http://schemas.microsoft.com/office/drawing/2014/main" id="{C163B67B-243A-E6F4-4EF0-015DC0543C91}"/>
              </a:ext>
            </a:extLst>
          </p:cNvPr>
          <p:cNvSpPr txBox="1"/>
          <p:nvPr/>
        </p:nvSpPr>
        <p:spPr>
          <a:xfrm>
            <a:off x="4043516" y="184423"/>
            <a:ext cx="6100916" cy="769441"/>
          </a:xfrm>
          <a:prstGeom prst="rect">
            <a:avLst/>
          </a:prstGeom>
          <a:noFill/>
        </p:spPr>
        <p:txBody>
          <a:bodyPr wrap="square">
            <a:spAutoFit/>
          </a:bodyPr>
          <a:lstStyle/>
          <a:p>
            <a:pPr algn="ctr"/>
            <a:r>
              <a:rPr lang="en-US" sz="4400" b="1" dirty="0">
                <a:solidFill>
                  <a:srgbClr val="156082"/>
                </a:solidFill>
              </a:rPr>
              <a:t>Multi-Objective UCTP</a:t>
            </a:r>
            <a:endParaRPr lang="en-US" sz="4400" dirty="0"/>
          </a:p>
        </p:txBody>
      </p:sp>
      <p:sp>
        <p:nvSpPr>
          <p:cNvPr id="9" name="TextBox 8">
            <a:extLst>
              <a:ext uri="{FF2B5EF4-FFF2-40B4-BE49-F238E27FC236}">
                <a16:creationId xmlns:a16="http://schemas.microsoft.com/office/drawing/2014/main" id="{F2A276E3-72B5-33B9-D6C5-1B8FE7638490}"/>
              </a:ext>
            </a:extLst>
          </p:cNvPr>
          <p:cNvSpPr txBox="1"/>
          <p:nvPr/>
        </p:nvSpPr>
        <p:spPr>
          <a:xfrm>
            <a:off x="2047568" y="953864"/>
            <a:ext cx="6100916" cy="461665"/>
          </a:xfrm>
          <a:prstGeom prst="rect">
            <a:avLst/>
          </a:prstGeom>
          <a:noFill/>
        </p:spPr>
        <p:txBody>
          <a:bodyPr wrap="square">
            <a:spAutoFit/>
          </a:bodyPr>
          <a:lstStyle/>
          <a:p>
            <a:pPr algn="ctr"/>
            <a:r>
              <a:rPr lang="en-US" sz="2400" b="1" dirty="0">
                <a:solidFill>
                  <a:schemeClr val="tx1"/>
                </a:solidFill>
              </a:rPr>
              <a:t>Output Non-Dominated (Pareto) Solutions</a:t>
            </a:r>
          </a:p>
        </p:txBody>
      </p:sp>
      <p:sp>
        <p:nvSpPr>
          <p:cNvPr id="11" name="TextBox 10">
            <a:extLst>
              <a:ext uri="{FF2B5EF4-FFF2-40B4-BE49-F238E27FC236}">
                <a16:creationId xmlns:a16="http://schemas.microsoft.com/office/drawing/2014/main" id="{6F84C212-8FA7-2C2D-DCF0-2C25B096AA9F}"/>
              </a:ext>
            </a:extLst>
          </p:cNvPr>
          <p:cNvSpPr txBox="1"/>
          <p:nvPr/>
        </p:nvSpPr>
        <p:spPr>
          <a:xfrm>
            <a:off x="2179074" y="1485123"/>
            <a:ext cx="6100916" cy="923330"/>
          </a:xfrm>
          <a:prstGeom prst="rect">
            <a:avLst/>
          </a:prstGeom>
          <a:noFill/>
        </p:spPr>
        <p:txBody>
          <a:bodyPr wrap="square">
            <a:spAutoFit/>
          </a:bodyPr>
          <a:lstStyle/>
          <a:p>
            <a:pPr>
              <a:buNone/>
            </a:pPr>
            <a:r>
              <a:rPr lang="en-US" b="1" dirty="0"/>
              <a:t>What does the algorithm return?</a:t>
            </a:r>
          </a:p>
          <a:p>
            <a:pPr>
              <a:buNone/>
            </a:pPr>
            <a:r>
              <a:rPr lang="en-US" dirty="0"/>
              <a:t>Instead of returning a single timetable, GSNSGA-II returns a </a:t>
            </a:r>
            <a:r>
              <a:rPr lang="en-US" b="1" dirty="0"/>
              <a:t>set of high-quality timetables</a:t>
            </a:r>
            <a:r>
              <a:rPr lang="en-US" dirty="0"/>
              <a:t> known as the </a:t>
            </a:r>
            <a:r>
              <a:rPr lang="en-US" b="1" dirty="0"/>
              <a:t>Pareto Set</a:t>
            </a:r>
            <a:r>
              <a:rPr lang="en-US" dirty="0"/>
              <a:t>.</a:t>
            </a:r>
          </a:p>
        </p:txBody>
      </p:sp>
      <p:sp>
        <p:nvSpPr>
          <p:cNvPr id="13" name="TextBox 12">
            <a:extLst>
              <a:ext uri="{FF2B5EF4-FFF2-40B4-BE49-F238E27FC236}">
                <a16:creationId xmlns:a16="http://schemas.microsoft.com/office/drawing/2014/main" id="{B9A3DE5D-FF84-2490-689E-338A8E6C2F22}"/>
              </a:ext>
            </a:extLst>
          </p:cNvPr>
          <p:cNvSpPr txBox="1"/>
          <p:nvPr/>
        </p:nvSpPr>
        <p:spPr>
          <a:xfrm>
            <a:off x="2179074" y="2385529"/>
            <a:ext cx="6100916" cy="646331"/>
          </a:xfrm>
          <a:prstGeom prst="rect">
            <a:avLst/>
          </a:prstGeom>
          <a:noFill/>
        </p:spPr>
        <p:txBody>
          <a:bodyPr wrap="square">
            <a:spAutoFit/>
          </a:bodyPr>
          <a:lstStyle/>
          <a:p>
            <a:pPr>
              <a:buNone/>
            </a:pPr>
            <a:r>
              <a:rPr lang="en-US" dirty="0"/>
              <a:t>Each timetable represents a different trade-off between the objectives.</a:t>
            </a:r>
          </a:p>
        </p:txBody>
      </p:sp>
      <p:graphicFrame>
        <p:nvGraphicFramePr>
          <p:cNvPr id="14" name="Table 13">
            <a:extLst>
              <a:ext uri="{FF2B5EF4-FFF2-40B4-BE49-F238E27FC236}">
                <a16:creationId xmlns:a16="http://schemas.microsoft.com/office/drawing/2014/main" id="{0549D30C-DC01-0FDD-18FB-3A9113633525}"/>
              </a:ext>
            </a:extLst>
          </p:cNvPr>
          <p:cNvGraphicFramePr>
            <a:graphicFrameLocks noGrp="1"/>
          </p:cNvGraphicFramePr>
          <p:nvPr>
            <p:extLst>
              <p:ext uri="{D42A27DB-BD31-4B8C-83A1-F6EECF244321}">
                <p14:modId xmlns:p14="http://schemas.microsoft.com/office/powerpoint/2010/main" val="3290531222"/>
              </p:ext>
            </p:extLst>
          </p:nvPr>
        </p:nvGraphicFramePr>
        <p:xfrm>
          <a:off x="2284770" y="3124378"/>
          <a:ext cx="4478596" cy="1762256"/>
        </p:xfrm>
        <a:graphic>
          <a:graphicData uri="http://schemas.openxmlformats.org/drawingml/2006/table">
            <a:tbl>
              <a:tblPr firstRow="1" bandRow="1">
                <a:tableStyleId>{5C22544A-7EE6-4342-B048-85BDC9FD1C3A}</a:tableStyleId>
              </a:tblPr>
              <a:tblGrid>
                <a:gridCol w="1119649">
                  <a:extLst>
                    <a:ext uri="{9D8B030D-6E8A-4147-A177-3AD203B41FA5}">
                      <a16:colId xmlns:a16="http://schemas.microsoft.com/office/drawing/2014/main" val="3321544292"/>
                    </a:ext>
                  </a:extLst>
                </a:gridCol>
                <a:gridCol w="1119649">
                  <a:extLst>
                    <a:ext uri="{9D8B030D-6E8A-4147-A177-3AD203B41FA5}">
                      <a16:colId xmlns:a16="http://schemas.microsoft.com/office/drawing/2014/main" val="2625313877"/>
                    </a:ext>
                  </a:extLst>
                </a:gridCol>
                <a:gridCol w="1119649">
                  <a:extLst>
                    <a:ext uri="{9D8B030D-6E8A-4147-A177-3AD203B41FA5}">
                      <a16:colId xmlns:a16="http://schemas.microsoft.com/office/drawing/2014/main" val="2281216062"/>
                    </a:ext>
                  </a:extLst>
                </a:gridCol>
                <a:gridCol w="1119649">
                  <a:extLst>
                    <a:ext uri="{9D8B030D-6E8A-4147-A177-3AD203B41FA5}">
                      <a16:colId xmlns:a16="http://schemas.microsoft.com/office/drawing/2014/main" val="348295047"/>
                    </a:ext>
                  </a:extLst>
                </a:gridCol>
              </a:tblGrid>
              <a:tr h="440564">
                <a:tc>
                  <a:txBody>
                    <a:bodyPr/>
                    <a:lstStyle/>
                    <a:p>
                      <a:r>
                        <a:rPr lang="en-US" dirty="0"/>
                        <a:t>Solution</a:t>
                      </a:r>
                    </a:p>
                  </a:txBody>
                  <a:tcPr/>
                </a:tc>
                <a:tc>
                  <a:txBody>
                    <a:bodyPr/>
                    <a:lstStyle/>
                    <a:p>
                      <a:r>
                        <a:rPr lang="en-US" dirty="0"/>
                        <a:t>f₁</a:t>
                      </a:r>
                    </a:p>
                  </a:txBody>
                  <a:tcPr/>
                </a:tc>
                <a:tc>
                  <a:txBody>
                    <a:bodyPr/>
                    <a:lstStyle/>
                    <a:p>
                      <a:r>
                        <a:rPr lang="en-US" dirty="0"/>
                        <a:t>f₂</a:t>
                      </a:r>
                    </a:p>
                  </a:txBody>
                  <a:tcPr/>
                </a:tc>
                <a:tc>
                  <a:txBody>
                    <a:bodyPr/>
                    <a:lstStyle/>
                    <a:p>
                      <a:r>
                        <a:rPr lang="en-US" dirty="0"/>
                        <a:t>f₃</a:t>
                      </a:r>
                    </a:p>
                  </a:txBody>
                  <a:tcPr/>
                </a:tc>
                <a:extLst>
                  <a:ext uri="{0D108BD9-81ED-4DB2-BD59-A6C34878D82A}">
                    <a16:rowId xmlns:a16="http://schemas.microsoft.com/office/drawing/2014/main" val="431762932"/>
                  </a:ext>
                </a:extLst>
              </a:tr>
              <a:tr h="440564">
                <a:tc>
                  <a:txBody>
                    <a:bodyPr/>
                    <a:lstStyle/>
                    <a:p>
                      <a:r>
                        <a:rPr lang="en-US" dirty="0"/>
                        <a:t>A</a:t>
                      </a:r>
                    </a:p>
                  </a:txBody>
                  <a:tcPr/>
                </a:tc>
                <a:tc>
                  <a:txBody>
                    <a:bodyPr/>
                    <a:lstStyle/>
                    <a:p>
                      <a:r>
                        <a:rPr lang="en-US" dirty="0"/>
                        <a:t>10</a:t>
                      </a:r>
                    </a:p>
                  </a:txBody>
                  <a:tcPr/>
                </a:tc>
                <a:tc>
                  <a:txBody>
                    <a:bodyPr/>
                    <a:lstStyle/>
                    <a:p>
                      <a:r>
                        <a:rPr lang="en-US" dirty="0"/>
                        <a:t>5</a:t>
                      </a:r>
                    </a:p>
                  </a:txBody>
                  <a:tcPr/>
                </a:tc>
                <a:tc>
                  <a:txBody>
                    <a:bodyPr/>
                    <a:lstStyle/>
                    <a:p>
                      <a:r>
                        <a:rPr lang="en-US" dirty="0"/>
                        <a:t>20</a:t>
                      </a:r>
                    </a:p>
                  </a:txBody>
                  <a:tcPr/>
                </a:tc>
                <a:extLst>
                  <a:ext uri="{0D108BD9-81ED-4DB2-BD59-A6C34878D82A}">
                    <a16:rowId xmlns:a16="http://schemas.microsoft.com/office/drawing/2014/main" val="3838923001"/>
                  </a:ext>
                </a:extLst>
              </a:tr>
              <a:tr h="440564">
                <a:tc>
                  <a:txBody>
                    <a:bodyPr/>
                    <a:lstStyle/>
                    <a:p>
                      <a:r>
                        <a:rPr lang="en-US" dirty="0"/>
                        <a:t>B</a:t>
                      </a:r>
                    </a:p>
                  </a:txBody>
                  <a:tcPr/>
                </a:tc>
                <a:tc>
                  <a:txBody>
                    <a:bodyPr/>
                    <a:lstStyle/>
                    <a:p>
                      <a:r>
                        <a:rPr lang="en-US" dirty="0"/>
                        <a:t>12</a:t>
                      </a:r>
                    </a:p>
                  </a:txBody>
                  <a:tcPr/>
                </a:tc>
                <a:tc>
                  <a:txBody>
                    <a:bodyPr/>
                    <a:lstStyle/>
                    <a:p>
                      <a:r>
                        <a:rPr lang="en-US" dirty="0"/>
                        <a:t>3</a:t>
                      </a:r>
                    </a:p>
                  </a:txBody>
                  <a:tcPr/>
                </a:tc>
                <a:tc>
                  <a:txBody>
                    <a:bodyPr/>
                    <a:lstStyle/>
                    <a:p>
                      <a:r>
                        <a:rPr lang="en-US" dirty="0"/>
                        <a:t>15</a:t>
                      </a:r>
                    </a:p>
                  </a:txBody>
                  <a:tcPr/>
                </a:tc>
                <a:extLst>
                  <a:ext uri="{0D108BD9-81ED-4DB2-BD59-A6C34878D82A}">
                    <a16:rowId xmlns:a16="http://schemas.microsoft.com/office/drawing/2014/main" val="3914296186"/>
                  </a:ext>
                </a:extLst>
              </a:tr>
              <a:tr h="440564">
                <a:tc>
                  <a:txBody>
                    <a:bodyPr/>
                    <a:lstStyle/>
                    <a:p>
                      <a:r>
                        <a:rPr lang="en-US" dirty="0"/>
                        <a:t>C</a:t>
                      </a:r>
                    </a:p>
                  </a:txBody>
                  <a:tcPr/>
                </a:tc>
                <a:tc>
                  <a:txBody>
                    <a:bodyPr/>
                    <a:lstStyle/>
                    <a:p>
                      <a:r>
                        <a:rPr lang="en-US" dirty="0"/>
                        <a:t>7</a:t>
                      </a:r>
                    </a:p>
                  </a:txBody>
                  <a:tcPr/>
                </a:tc>
                <a:tc>
                  <a:txBody>
                    <a:bodyPr/>
                    <a:lstStyle/>
                    <a:p>
                      <a:r>
                        <a:rPr lang="en-US" dirty="0"/>
                        <a:t>8</a:t>
                      </a:r>
                    </a:p>
                  </a:txBody>
                  <a:tcPr/>
                </a:tc>
                <a:tc>
                  <a:txBody>
                    <a:bodyPr/>
                    <a:lstStyle/>
                    <a:p>
                      <a:r>
                        <a:rPr lang="en-US" dirty="0"/>
                        <a:t>18</a:t>
                      </a:r>
                    </a:p>
                  </a:txBody>
                  <a:tcPr/>
                </a:tc>
                <a:extLst>
                  <a:ext uri="{0D108BD9-81ED-4DB2-BD59-A6C34878D82A}">
                    <a16:rowId xmlns:a16="http://schemas.microsoft.com/office/drawing/2014/main" val="2978859866"/>
                  </a:ext>
                </a:extLst>
              </a:tr>
            </a:tbl>
          </a:graphicData>
        </a:graphic>
      </p:graphicFrame>
      <p:sp>
        <p:nvSpPr>
          <p:cNvPr id="16" name="TextBox 15">
            <a:extLst>
              <a:ext uri="{FF2B5EF4-FFF2-40B4-BE49-F238E27FC236}">
                <a16:creationId xmlns:a16="http://schemas.microsoft.com/office/drawing/2014/main" id="{8D5D62EA-29F0-71AE-D2D9-BE51D684CF75}"/>
              </a:ext>
            </a:extLst>
          </p:cNvPr>
          <p:cNvSpPr txBox="1"/>
          <p:nvPr/>
        </p:nvSpPr>
        <p:spPr>
          <a:xfrm>
            <a:off x="2179074" y="5156021"/>
            <a:ext cx="4831326" cy="1200329"/>
          </a:xfrm>
          <a:prstGeom prst="rect">
            <a:avLst/>
          </a:prstGeom>
          <a:noFill/>
        </p:spPr>
        <p:txBody>
          <a:bodyPr wrap="square">
            <a:spAutoFit/>
          </a:bodyPr>
          <a:lstStyle/>
          <a:p>
            <a:pPr>
              <a:buNone/>
            </a:pPr>
            <a:r>
              <a:rPr lang="en-US" dirty="0"/>
              <a:t>None of these solutions dominates the others:</a:t>
            </a:r>
          </a:p>
          <a:p>
            <a:pPr>
              <a:buFont typeface="Arial" panose="020B0604020202020204" pitchFamily="34" charset="0"/>
              <a:buChar char="•"/>
            </a:pPr>
            <a:r>
              <a:rPr lang="en-US" dirty="0"/>
              <a:t>A has a better f₂ than C. </a:t>
            </a:r>
          </a:p>
          <a:p>
            <a:pPr>
              <a:buFont typeface="Arial" panose="020B0604020202020204" pitchFamily="34" charset="0"/>
              <a:buChar char="•"/>
            </a:pPr>
            <a:r>
              <a:rPr lang="en-US" dirty="0"/>
              <a:t>C has a better f₁ than A. </a:t>
            </a:r>
          </a:p>
          <a:p>
            <a:pPr>
              <a:buFont typeface="Arial" panose="020B0604020202020204" pitchFamily="34" charset="0"/>
              <a:buChar char="•"/>
            </a:pPr>
            <a:r>
              <a:rPr lang="en-US" dirty="0"/>
              <a:t>B has a better f₂ and f₃ than A. </a:t>
            </a:r>
          </a:p>
        </p:txBody>
      </p:sp>
      <p:sp>
        <p:nvSpPr>
          <p:cNvPr id="18" name="TextBox 17">
            <a:extLst>
              <a:ext uri="{FF2B5EF4-FFF2-40B4-BE49-F238E27FC236}">
                <a16:creationId xmlns:a16="http://schemas.microsoft.com/office/drawing/2014/main" id="{E28263BA-8F51-8DD2-8208-5732B092768F}"/>
              </a:ext>
            </a:extLst>
          </p:cNvPr>
          <p:cNvSpPr txBox="1"/>
          <p:nvPr/>
        </p:nvSpPr>
        <p:spPr>
          <a:xfrm>
            <a:off x="7093974" y="3008935"/>
            <a:ext cx="4940846" cy="3139321"/>
          </a:xfrm>
          <a:prstGeom prst="rect">
            <a:avLst/>
          </a:prstGeom>
          <a:noFill/>
        </p:spPr>
        <p:txBody>
          <a:bodyPr wrap="square">
            <a:spAutoFit/>
          </a:bodyPr>
          <a:lstStyle/>
          <a:p>
            <a:pPr>
              <a:buNone/>
            </a:pPr>
            <a:r>
              <a:rPr lang="en-US" b="1" dirty="0"/>
              <a:t>Why is this useful?</a:t>
            </a:r>
          </a:p>
          <a:p>
            <a:pPr>
              <a:buNone/>
            </a:pPr>
            <a:r>
              <a:rPr lang="en-US" dirty="0"/>
              <a:t>Instead of forcing one "best" timetable, the algorithm provides several alternatives:</a:t>
            </a:r>
          </a:p>
          <a:p>
            <a:pPr marL="285750" indent="-285750">
              <a:buFont typeface="Arial" panose="020B0604020202020204" pitchFamily="34" charset="0"/>
              <a:buChar char="•"/>
            </a:pPr>
            <a:r>
              <a:rPr lang="en-US" dirty="0"/>
              <a:t>Avoid scheduling events in the last timeslot of a day. </a:t>
            </a:r>
          </a:p>
          <a:p>
            <a:pPr marL="285750" indent="-285750">
              <a:buFont typeface="Arial" panose="020B0604020202020204" pitchFamily="34" charset="0"/>
              <a:buChar char="•"/>
            </a:pPr>
            <a:r>
              <a:rPr lang="en-US" dirty="0"/>
              <a:t>Avoid more than two consecutive events for any student. </a:t>
            </a:r>
            <a:endParaRPr lang="ar-EG" dirty="0"/>
          </a:p>
          <a:p>
            <a:pPr marL="285750" indent="-285750">
              <a:buFont typeface="Arial" panose="020B0604020202020204" pitchFamily="34" charset="0"/>
              <a:buChar char="•"/>
            </a:pPr>
            <a:r>
              <a:rPr lang="en-US" dirty="0"/>
              <a:t>Avoid assigning only a single event to a student in a day.</a:t>
            </a:r>
          </a:p>
          <a:p>
            <a:pPr>
              <a:buNone/>
            </a:pPr>
            <a:r>
              <a:rPr lang="en-US" dirty="0"/>
              <a:t>The decision-maker can then choose the timetable that best matches their priorities.</a:t>
            </a:r>
          </a:p>
        </p:txBody>
      </p:sp>
    </p:spTree>
    <p:extLst>
      <p:ext uri="{BB962C8B-B14F-4D97-AF65-F5344CB8AC3E}">
        <p14:creationId xmlns:p14="http://schemas.microsoft.com/office/powerpoint/2010/main" val="6307899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2C072-11DE-9CB4-743F-E98552E7A52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BD6D975-1EA2-FBB5-7DA4-308A317BF106}"/>
              </a:ext>
            </a:extLst>
          </p:cNvPr>
          <p:cNvSpPr>
            <a:spLocks noGrp="1"/>
          </p:cNvSpPr>
          <p:nvPr>
            <p:ph type="sldNum" sz="quarter" idx="12"/>
          </p:nvPr>
        </p:nvSpPr>
        <p:spPr/>
        <p:txBody>
          <a:bodyPr/>
          <a:lstStyle/>
          <a:p>
            <a:fld id="{FA5D76E8-8AD6-443B-8B81-1688B2EC3502}" type="slidenum">
              <a:rPr lang="en-US" smtClean="0"/>
              <a:t>55</a:t>
            </a:fld>
            <a:endParaRPr lang="en-US"/>
          </a:p>
        </p:txBody>
      </p:sp>
      <p:sp>
        <p:nvSpPr>
          <p:cNvPr id="3" name="TextBox 2">
            <a:extLst>
              <a:ext uri="{FF2B5EF4-FFF2-40B4-BE49-F238E27FC236}">
                <a16:creationId xmlns:a16="http://schemas.microsoft.com/office/drawing/2014/main" id="{8072F86F-A784-ACC7-B3D7-B2DA1DB6801C}"/>
              </a:ext>
            </a:extLst>
          </p:cNvPr>
          <p:cNvSpPr txBox="1"/>
          <p:nvPr/>
        </p:nvSpPr>
        <p:spPr>
          <a:xfrm>
            <a:off x="4310904" y="356596"/>
            <a:ext cx="5671296" cy="769441"/>
          </a:xfrm>
          <a:prstGeom prst="rect">
            <a:avLst/>
          </a:prstGeom>
          <a:noFill/>
        </p:spPr>
        <p:txBody>
          <a:bodyPr wrap="none" rtlCol="0">
            <a:spAutoFit/>
          </a:bodyPr>
          <a:lstStyle/>
          <a:p>
            <a:pPr algn="ctr"/>
            <a:r>
              <a:rPr lang="en-US" sz="4400" b="1" dirty="0">
                <a:solidFill>
                  <a:srgbClr val="156082"/>
                </a:solidFill>
              </a:rPr>
              <a:t>Multi-Objective UCTP</a:t>
            </a:r>
            <a:endParaRPr lang="en-US" sz="4400" dirty="0"/>
          </a:p>
        </p:txBody>
      </p:sp>
      <p:sp>
        <p:nvSpPr>
          <p:cNvPr id="4" name="Rectangle 3">
            <a:extLst>
              <a:ext uri="{FF2B5EF4-FFF2-40B4-BE49-F238E27FC236}">
                <a16:creationId xmlns:a16="http://schemas.microsoft.com/office/drawing/2014/main" id="{CBB4750E-57F9-311C-57B1-E78CBAF43957}"/>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Content Placeholder 20">
            <a:extLst>
              <a:ext uri="{FF2B5EF4-FFF2-40B4-BE49-F238E27FC236}">
                <a16:creationId xmlns:a16="http://schemas.microsoft.com/office/drawing/2014/main" id="{B9601DB4-1763-509D-9651-AF0FD319E4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6" name="Picture 5">
            <a:extLst>
              <a:ext uri="{FF2B5EF4-FFF2-40B4-BE49-F238E27FC236}">
                <a16:creationId xmlns:a16="http://schemas.microsoft.com/office/drawing/2014/main" id="{051DA6B9-0D4E-969F-D540-56749477CF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8" name="TextBox 7">
            <a:extLst>
              <a:ext uri="{FF2B5EF4-FFF2-40B4-BE49-F238E27FC236}">
                <a16:creationId xmlns:a16="http://schemas.microsoft.com/office/drawing/2014/main" id="{51D4238C-A9D4-D305-C317-1FDCC69743D6}"/>
              </a:ext>
            </a:extLst>
          </p:cNvPr>
          <p:cNvSpPr txBox="1"/>
          <p:nvPr/>
        </p:nvSpPr>
        <p:spPr>
          <a:xfrm>
            <a:off x="2179074" y="1126037"/>
            <a:ext cx="6100916" cy="523220"/>
          </a:xfrm>
          <a:prstGeom prst="rect">
            <a:avLst/>
          </a:prstGeom>
          <a:noFill/>
        </p:spPr>
        <p:txBody>
          <a:bodyPr wrap="square">
            <a:spAutoFit/>
          </a:bodyPr>
          <a:lstStyle/>
          <a:p>
            <a:r>
              <a:rPr lang="en-US" sz="2800" b="1" dirty="0">
                <a:solidFill>
                  <a:srgbClr val="110914"/>
                </a:solidFill>
              </a:rPr>
              <a:t>Results:</a:t>
            </a:r>
          </a:p>
        </p:txBody>
      </p:sp>
      <p:sp>
        <p:nvSpPr>
          <p:cNvPr id="27" name="TextBox 26">
            <a:extLst>
              <a:ext uri="{FF2B5EF4-FFF2-40B4-BE49-F238E27FC236}">
                <a16:creationId xmlns:a16="http://schemas.microsoft.com/office/drawing/2014/main" id="{2462D525-4C56-2D1B-999D-DBD20D0521D2}"/>
              </a:ext>
            </a:extLst>
          </p:cNvPr>
          <p:cNvSpPr txBox="1"/>
          <p:nvPr/>
        </p:nvSpPr>
        <p:spPr>
          <a:xfrm>
            <a:off x="2188247" y="1595264"/>
            <a:ext cx="9059856" cy="677108"/>
          </a:xfrm>
          <a:prstGeom prst="rect">
            <a:avLst/>
          </a:prstGeom>
          <a:noFill/>
        </p:spPr>
        <p:txBody>
          <a:bodyPr wrap="square">
            <a:spAutoFit/>
          </a:bodyPr>
          <a:lstStyle/>
          <a:p>
            <a:r>
              <a:rPr lang="en-US" b="1" dirty="0"/>
              <a:t>Results on Small Instances:</a:t>
            </a:r>
          </a:p>
          <a:p>
            <a:pPr marL="457200" indent="-457200">
              <a:buFont typeface="+mj-lt"/>
              <a:buAutoNum type="arabicPeriod"/>
            </a:pPr>
            <a:endParaRPr lang="en-US" sz="2000" b="1" dirty="0"/>
          </a:p>
        </p:txBody>
      </p:sp>
      <p:sp>
        <p:nvSpPr>
          <p:cNvPr id="10" name="TextBox 9">
            <a:extLst>
              <a:ext uri="{FF2B5EF4-FFF2-40B4-BE49-F238E27FC236}">
                <a16:creationId xmlns:a16="http://schemas.microsoft.com/office/drawing/2014/main" id="{8529D213-74E3-FE30-9BC6-07F7467686A8}"/>
              </a:ext>
            </a:extLst>
          </p:cNvPr>
          <p:cNvSpPr txBox="1"/>
          <p:nvPr/>
        </p:nvSpPr>
        <p:spPr>
          <a:xfrm>
            <a:off x="2179073" y="1933818"/>
            <a:ext cx="4014589" cy="4247317"/>
          </a:xfrm>
          <a:prstGeom prst="rect">
            <a:avLst/>
          </a:prstGeom>
          <a:noFill/>
        </p:spPr>
        <p:txBody>
          <a:bodyPr wrap="square">
            <a:spAutoFit/>
          </a:bodyPr>
          <a:lstStyle/>
          <a:p>
            <a:pPr marL="285750" indent="-285750">
              <a:buFont typeface="Arial" panose="020B0604020202020204" pitchFamily="34" charset="0"/>
              <a:buChar char="•"/>
            </a:pPr>
            <a:r>
              <a:rPr lang="en-US" b="1" dirty="0"/>
              <a:t>Time/run:     100 seconds</a:t>
            </a:r>
          </a:p>
          <a:p>
            <a:pPr marL="285750" indent="-285750">
              <a:buFont typeface="Arial" panose="020B0604020202020204" pitchFamily="34" charset="0"/>
              <a:buChar char="•"/>
            </a:pPr>
            <a:r>
              <a:rPr lang="en-US" b="1" dirty="0" err="1"/>
              <a:t>s_max</a:t>
            </a:r>
            <a:r>
              <a:rPr lang="en-US" b="1" dirty="0"/>
              <a:t>:        300</a:t>
            </a:r>
          </a:p>
          <a:p>
            <a:pPr marL="285750" indent="-285750">
              <a:buFont typeface="Arial" panose="020B0604020202020204" pitchFamily="34" charset="0"/>
              <a:buChar char="•"/>
            </a:pPr>
            <a:r>
              <a:rPr lang="en-US" b="1" dirty="0"/>
              <a:t>Population:   48</a:t>
            </a:r>
          </a:p>
          <a:p>
            <a:pPr marL="285750" indent="-285750">
              <a:buFont typeface="Arial" panose="020B0604020202020204" pitchFamily="34" charset="0"/>
              <a:buChar char="•"/>
            </a:pPr>
            <a:r>
              <a:rPr lang="en-US" b="1" dirty="0"/>
              <a:t>Gamma (GS%):  0.6</a:t>
            </a:r>
          </a:p>
          <a:p>
            <a:pPr marL="285750" indent="-285750">
              <a:buFont typeface="Arial" panose="020B0604020202020204" pitchFamily="34" charset="0"/>
              <a:buChar char="•"/>
            </a:pPr>
            <a:r>
              <a:rPr lang="en-US" b="1" dirty="0"/>
              <a:t>Pm (mutate):  0.6</a:t>
            </a:r>
          </a:p>
          <a:p>
            <a:pPr marL="285750" indent="-285750">
              <a:buFont typeface="Arial" panose="020B0604020202020204" pitchFamily="34" charset="0"/>
              <a:buChar char="•"/>
            </a:pPr>
            <a:r>
              <a:rPr lang="en-US" b="1" dirty="0"/>
              <a:t>Tau:          20</a:t>
            </a:r>
          </a:p>
          <a:p>
            <a:pPr marL="285750" indent="-285750">
              <a:buFont typeface="Arial" panose="020B0604020202020204" pitchFamily="34" charset="0"/>
              <a:buChar char="•"/>
            </a:pPr>
            <a:r>
              <a:rPr lang="en-US" b="1" dirty="0"/>
              <a:t>Base seed:    42</a:t>
            </a:r>
          </a:p>
          <a:p>
            <a:pPr marL="285750" indent="-285750">
              <a:buFont typeface="Arial" panose="020B0604020202020204" pitchFamily="34" charset="0"/>
              <a:buChar char="•"/>
            </a:pPr>
            <a:r>
              <a:rPr lang="en-US" b="1" dirty="0"/>
              <a:t>Runs:         20</a:t>
            </a:r>
          </a:p>
          <a:p>
            <a:r>
              <a:rPr lang="en-US" b="1" dirty="0"/>
              <a:t>Problem loaded:</a:t>
            </a:r>
          </a:p>
          <a:p>
            <a:pPr marL="285750" indent="-285750">
              <a:buFont typeface="Arial" panose="020B0604020202020204" pitchFamily="34" charset="0"/>
              <a:buChar char="•"/>
            </a:pPr>
            <a:r>
              <a:rPr lang="en-US" b="1" dirty="0"/>
              <a:t>  Events (n)    = 100</a:t>
            </a:r>
          </a:p>
          <a:p>
            <a:pPr marL="285750" indent="-285750">
              <a:buFont typeface="Arial" panose="020B0604020202020204" pitchFamily="34" charset="0"/>
              <a:buChar char="•"/>
            </a:pPr>
            <a:r>
              <a:rPr lang="en-US" b="1" dirty="0"/>
              <a:t>  Rooms  (m)    = 5</a:t>
            </a:r>
          </a:p>
          <a:p>
            <a:pPr marL="285750" indent="-285750">
              <a:buFont typeface="Arial" panose="020B0604020202020204" pitchFamily="34" charset="0"/>
              <a:buChar char="•"/>
            </a:pPr>
            <a:r>
              <a:rPr lang="en-US" b="1" dirty="0"/>
              <a:t>  Features (l)  = 5</a:t>
            </a:r>
          </a:p>
          <a:p>
            <a:pPr marL="285750" indent="-285750">
              <a:buFont typeface="Arial" panose="020B0604020202020204" pitchFamily="34" charset="0"/>
              <a:buChar char="•"/>
            </a:pPr>
            <a:r>
              <a:rPr lang="en-US" b="1" dirty="0"/>
              <a:t>  Students (k)  = 80</a:t>
            </a:r>
          </a:p>
          <a:p>
            <a:pPr marL="285750" indent="-285750">
              <a:buFont typeface="Arial" panose="020B0604020202020204" pitchFamily="34" charset="0"/>
              <a:buChar char="•"/>
            </a:pPr>
            <a:r>
              <a:rPr lang="en-US" b="1" dirty="0"/>
              <a:t>  </a:t>
            </a:r>
            <a:r>
              <a:rPr lang="en-US" b="1" dirty="0" err="1"/>
              <a:t>TimeSlots</a:t>
            </a:r>
            <a:r>
              <a:rPr lang="en-US" b="1" dirty="0"/>
              <a:t> (p) = 45</a:t>
            </a:r>
          </a:p>
          <a:p>
            <a:pPr marL="285750" indent="-285750">
              <a:buFont typeface="Arial" panose="020B0604020202020204" pitchFamily="34" charset="0"/>
              <a:buChar char="•"/>
            </a:pPr>
            <a:r>
              <a:rPr lang="en-US" b="1" dirty="0"/>
              <a:t>  Feasible event-room pairs = 409</a:t>
            </a:r>
          </a:p>
        </p:txBody>
      </p:sp>
      <p:pic>
        <p:nvPicPr>
          <p:cNvPr id="11" name="Picture 10">
            <a:extLst>
              <a:ext uri="{FF2B5EF4-FFF2-40B4-BE49-F238E27FC236}">
                <a16:creationId xmlns:a16="http://schemas.microsoft.com/office/drawing/2014/main" id="{3133690E-5B1C-7573-1597-8D82FDC8A7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93662" y="1694673"/>
            <a:ext cx="5943600" cy="4440656"/>
          </a:xfrm>
          <a:prstGeom prst="rect">
            <a:avLst/>
          </a:prstGeom>
        </p:spPr>
      </p:pic>
    </p:spTree>
    <p:extLst>
      <p:ext uri="{BB962C8B-B14F-4D97-AF65-F5344CB8AC3E}">
        <p14:creationId xmlns:p14="http://schemas.microsoft.com/office/powerpoint/2010/main" val="4112084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93E21-7E3A-72FD-7BCD-EE1820BF28A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DB3DEBC-0F3B-83EE-4F27-E52769EF410C}"/>
              </a:ext>
            </a:extLst>
          </p:cNvPr>
          <p:cNvSpPr>
            <a:spLocks noGrp="1"/>
          </p:cNvSpPr>
          <p:nvPr>
            <p:ph type="sldNum" sz="quarter" idx="12"/>
          </p:nvPr>
        </p:nvSpPr>
        <p:spPr/>
        <p:txBody>
          <a:bodyPr/>
          <a:lstStyle/>
          <a:p>
            <a:fld id="{FA5D76E8-8AD6-443B-8B81-1688B2EC3502}" type="slidenum">
              <a:rPr lang="en-US" smtClean="0"/>
              <a:t>56</a:t>
            </a:fld>
            <a:endParaRPr lang="en-US"/>
          </a:p>
        </p:txBody>
      </p:sp>
      <p:sp>
        <p:nvSpPr>
          <p:cNvPr id="3" name="TextBox 2">
            <a:extLst>
              <a:ext uri="{FF2B5EF4-FFF2-40B4-BE49-F238E27FC236}">
                <a16:creationId xmlns:a16="http://schemas.microsoft.com/office/drawing/2014/main" id="{52EB7114-AD7A-B176-251B-E6BBA9F86B91}"/>
              </a:ext>
            </a:extLst>
          </p:cNvPr>
          <p:cNvSpPr txBox="1"/>
          <p:nvPr/>
        </p:nvSpPr>
        <p:spPr>
          <a:xfrm>
            <a:off x="4310904" y="356596"/>
            <a:ext cx="5671296" cy="769441"/>
          </a:xfrm>
          <a:prstGeom prst="rect">
            <a:avLst/>
          </a:prstGeom>
          <a:noFill/>
        </p:spPr>
        <p:txBody>
          <a:bodyPr wrap="none" rtlCol="0">
            <a:spAutoFit/>
          </a:bodyPr>
          <a:lstStyle/>
          <a:p>
            <a:pPr algn="ctr"/>
            <a:r>
              <a:rPr lang="en-US" sz="4400" b="1" dirty="0">
                <a:solidFill>
                  <a:srgbClr val="156082"/>
                </a:solidFill>
              </a:rPr>
              <a:t>Multi-Objective UCTP</a:t>
            </a:r>
            <a:endParaRPr lang="en-US" sz="4400" dirty="0"/>
          </a:p>
        </p:txBody>
      </p:sp>
      <p:sp>
        <p:nvSpPr>
          <p:cNvPr id="4" name="Rectangle 3">
            <a:extLst>
              <a:ext uri="{FF2B5EF4-FFF2-40B4-BE49-F238E27FC236}">
                <a16:creationId xmlns:a16="http://schemas.microsoft.com/office/drawing/2014/main" id="{252F4E95-E5F5-6DC6-2753-64FA506415BB}"/>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Content Placeholder 20">
            <a:extLst>
              <a:ext uri="{FF2B5EF4-FFF2-40B4-BE49-F238E27FC236}">
                <a16:creationId xmlns:a16="http://schemas.microsoft.com/office/drawing/2014/main" id="{5F1E8809-5295-3F2C-54D7-FF93884B3F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6" name="Picture 5">
            <a:extLst>
              <a:ext uri="{FF2B5EF4-FFF2-40B4-BE49-F238E27FC236}">
                <a16:creationId xmlns:a16="http://schemas.microsoft.com/office/drawing/2014/main" id="{B8236A99-58A5-38CD-4C34-AC716EC2A4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8" name="TextBox 7">
            <a:extLst>
              <a:ext uri="{FF2B5EF4-FFF2-40B4-BE49-F238E27FC236}">
                <a16:creationId xmlns:a16="http://schemas.microsoft.com/office/drawing/2014/main" id="{BE33EAA2-2A2E-6D26-A71B-0811C6D3285E}"/>
              </a:ext>
            </a:extLst>
          </p:cNvPr>
          <p:cNvSpPr txBox="1"/>
          <p:nvPr/>
        </p:nvSpPr>
        <p:spPr>
          <a:xfrm>
            <a:off x="2179074" y="1126037"/>
            <a:ext cx="6100916" cy="523220"/>
          </a:xfrm>
          <a:prstGeom prst="rect">
            <a:avLst/>
          </a:prstGeom>
          <a:noFill/>
        </p:spPr>
        <p:txBody>
          <a:bodyPr wrap="square">
            <a:spAutoFit/>
          </a:bodyPr>
          <a:lstStyle/>
          <a:p>
            <a:r>
              <a:rPr lang="en-US" sz="2800" b="1" dirty="0">
                <a:solidFill>
                  <a:srgbClr val="110914"/>
                </a:solidFill>
              </a:rPr>
              <a:t>Results:</a:t>
            </a:r>
          </a:p>
        </p:txBody>
      </p:sp>
      <p:sp>
        <p:nvSpPr>
          <p:cNvPr id="27" name="TextBox 26">
            <a:extLst>
              <a:ext uri="{FF2B5EF4-FFF2-40B4-BE49-F238E27FC236}">
                <a16:creationId xmlns:a16="http://schemas.microsoft.com/office/drawing/2014/main" id="{201C7356-BBDC-7A6F-4B8D-9A610A6E602A}"/>
              </a:ext>
            </a:extLst>
          </p:cNvPr>
          <p:cNvSpPr txBox="1"/>
          <p:nvPr/>
        </p:nvSpPr>
        <p:spPr>
          <a:xfrm>
            <a:off x="2188247" y="1595264"/>
            <a:ext cx="9059856" cy="677108"/>
          </a:xfrm>
          <a:prstGeom prst="rect">
            <a:avLst/>
          </a:prstGeom>
          <a:noFill/>
        </p:spPr>
        <p:txBody>
          <a:bodyPr wrap="square">
            <a:spAutoFit/>
          </a:bodyPr>
          <a:lstStyle/>
          <a:p>
            <a:r>
              <a:rPr lang="en-US" b="1" dirty="0"/>
              <a:t>Results on Medium Instances</a:t>
            </a:r>
          </a:p>
          <a:p>
            <a:pPr marL="457200" indent="-457200">
              <a:buFont typeface="+mj-lt"/>
              <a:buAutoNum type="arabicPeriod"/>
            </a:pPr>
            <a:endParaRPr lang="en-US" sz="2000" b="1" dirty="0"/>
          </a:p>
        </p:txBody>
      </p:sp>
      <p:pic>
        <p:nvPicPr>
          <p:cNvPr id="9" name="Picture 8">
            <a:extLst>
              <a:ext uri="{FF2B5EF4-FFF2-40B4-BE49-F238E27FC236}">
                <a16:creationId xmlns:a16="http://schemas.microsoft.com/office/drawing/2014/main" id="{9477331B-6B57-653C-423D-BE3EDA1383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59794" y="1649257"/>
            <a:ext cx="5575026" cy="4335641"/>
          </a:xfrm>
          <a:prstGeom prst="rect">
            <a:avLst/>
          </a:prstGeom>
        </p:spPr>
      </p:pic>
      <p:sp>
        <p:nvSpPr>
          <p:cNvPr id="11" name="TextBox 10">
            <a:extLst>
              <a:ext uri="{FF2B5EF4-FFF2-40B4-BE49-F238E27FC236}">
                <a16:creationId xmlns:a16="http://schemas.microsoft.com/office/drawing/2014/main" id="{245348F4-C23A-CE29-5F35-9BAD4D21843A}"/>
              </a:ext>
            </a:extLst>
          </p:cNvPr>
          <p:cNvSpPr txBox="1"/>
          <p:nvPr/>
        </p:nvSpPr>
        <p:spPr>
          <a:xfrm>
            <a:off x="2188247" y="1895478"/>
            <a:ext cx="6100916" cy="4247317"/>
          </a:xfrm>
          <a:prstGeom prst="rect">
            <a:avLst/>
          </a:prstGeom>
          <a:noFill/>
        </p:spPr>
        <p:txBody>
          <a:bodyPr wrap="square">
            <a:spAutoFit/>
          </a:bodyPr>
          <a:lstStyle/>
          <a:p>
            <a:pPr marL="285750" indent="-285750">
              <a:buFont typeface="Arial" panose="020B0604020202020204" pitchFamily="34" charset="0"/>
              <a:buChar char="•"/>
            </a:pPr>
            <a:r>
              <a:rPr lang="en-US" b="1" dirty="0"/>
              <a:t>Time/run:1000 seconds</a:t>
            </a:r>
          </a:p>
          <a:p>
            <a:pPr marL="285750" indent="-285750">
              <a:buFont typeface="Arial" panose="020B0604020202020204" pitchFamily="34" charset="0"/>
              <a:buChar char="•"/>
            </a:pPr>
            <a:r>
              <a:rPr lang="en-US" b="1" dirty="0" err="1"/>
              <a:t>s_max</a:t>
            </a:r>
            <a:r>
              <a:rPr lang="en-US" b="1" dirty="0"/>
              <a:t>:</a:t>
            </a:r>
            <a:r>
              <a:rPr lang="ar-EG" b="1" dirty="0"/>
              <a:t> </a:t>
            </a:r>
            <a:r>
              <a:rPr lang="en-US" b="1" dirty="0"/>
              <a:t>1500</a:t>
            </a:r>
          </a:p>
          <a:p>
            <a:pPr marL="285750" indent="-285750">
              <a:buFont typeface="Arial" panose="020B0604020202020204" pitchFamily="34" charset="0"/>
              <a:buChar char="•"/>
            </a:pPr>
            <a:r>
              <a:rPr lang="en-US" b="1" dirty="0"/>
              <a:t>Population:</a:t>
            </a:r>
            <a:r>
              <a:rPr lang="ar-EG" b="1" dirty="0"/>
              <a:t> </a:t>
            </a:r>
            <a:r>
              <a:rPr lang="en-US" b="1" dirty="0"/>
              <a:t>48</a:t>
            </a:r>
          </a:p>
          <a:p>
            <a:pPr marL="285750" indent="-285750">
              <a:buFont typeface="Arial" panose="020B0604020202020204" pitchFamily="34" charset="0"/>
              <a:buChar char="•"/>
            </a:pPr>
            <a:r>
              <a:rPr lang="en-US" b="1" dirty="0"/>
              <a:t>Gamma (GS%):  0.6</a:t>
            </a:r>
          </a:p>
          <a:p>
            <a:pPr marL="285750" indent="-285750">
              <a:buFont typeface="Arial" panose="020B0604020202020204" pitchFamily="34" charset="0"/>
              <a:buChar char="•"/>
            </a:pPr>
            <a:r>
              <a:rPr lang="en-US" b="1" dirty="0"/>
              <a:t>Pm (mutate):  0.6</a:t>
            </a:r>
          </a:p>
          <a:p>
            <a:pPr marL="285750" indent="-285750">
              <a:buFont typeface="Arial" panose="020B0604020202020204" pitchFamily="34" charset="0"/>
              <a:buChar char="•"/>
            </a:pPr>
            <a:r>
              <a:rPr lang="en-US" b="1" dirty="0"/>
              <a:t>Tau:</a:t>
            </a:r>
            <a:r>
              <a:rPr lang="ar-EG" b="1" dirty="0"/>
              <a:t> </a:t>
            </a:r>
            <a:r>
              <a:rPr lang="en-US" b="1" dirty="0"/>
              <a:t> 20</a:t>
            </a:r>
          </a:p>
          <a:p>
            <a:pPr marL="285750" indent="-285750">
              <a:buFont typeface="Arial" panose="020B0604020202020204" pitchFamily="34" charset="0"/>
              <a:buChar char="•"/>
            </a:pPr>
            <a:r>
              <a:rPr lang="en-US" b="1" dirty="0"/>
              <a:t>Base seed:</a:t>
            </a:r>
            <a:r>
              <a:rPr lang="ar-EG" b="1" dirty="0"/>
              <a:t> </a:t>
            </a:r>
            <a:r>
              <a:rPr lang="en-US" b="1" dirty="0"/>
              <a:t>42</a:t>
            </a:r>
          </a:p>
          <a:p>
            <a:pPr marL="285750" indent="-285750">
              <a:buFont typeface="Arial" panose="020B0604020202020204" pitchFamily="34" charset="0"/>
              <a:buChar char="•"/>
            </a:pPr>
            <a:r>
              <a:rPr lang="en-US" b="1" dirty="0"/>
              <a:t>Runs:</a:t>
            </a:r>
            <a:r>
              <a:rPr lang="ar-EG" b="1" dirty="0"/>
              <a:t> </a:t>
            </a:r>
            <a:r>
              <a:rPr lang="en-US" b="1" dirty="0"/>
              <a:t> 20</a:t>
            </a:r>
          </a:p>
          <a:p>
            <a:r>
              <a:rPr lang="en-US" b="1" dirty="0"/>
              <a:t>Problem loaded:</a:t>
            </a:r>
          </a:p>
          <a:p>
            <a:pPr marL="285750" indent="-285750">
              <a:buFont typeface="Arial" panose="020B0604020202020204" pitchFamily="34" charset="0"/>
              <a:buChar char="•"/>
            </a:pPr>
            <a:r>
              <a:rPr lang="en-US" dirty="0"/>
              <a:t>  </a:t>
            </a:r>
            <a:r>
              <a:rPr lang="en-US" b="1" dirty="0"/>
              <a:t>Events (n)    = 400</a:t>
            </a:r>
          </a:p>
          <a:p>
            <a:pPr marL="285750" indent="-285750">
              <a:buFont typeface="Arial" panose="020B0604020202020204" pitchFamily="34" charset="0"/>
              <a:buChar char="•"/>
            </a:pPr>
            <a:r>
              <a:rPr lang="en-US" b="1" dirty="0"/>
              <a:t>  Rooms  (m)    = 10</a:t>
            </a:r>
          </a:p>
          <a:p>
            <a:pPr marL="285750" indent="-285750">
              <a:buFont typeface="Arial" panose="020B0604020202020204" pitchFamily="34" charset="0"/>
              <a:buChar char="•"/>
            </a:pPr>
            <a:r>
              <a:rPr lang="en-US" b="1" dirty="0"/>
              <a:t>  Features (l)  = 5</a:t>
            </a:r>
          </a:p>
          <a:p>
            <a:pPr marL="285750" indent="-285750">
              <a:buFont typeface="Arial" panose="020B0604020202020204" pitchFamily="34" charset="0"/>
              <a:buChar char="•"/>
            </a:pPr>
            <a:r>
              <a:rPr lang="en-US" b="1" dirty="0"/>
              <a:t>  Students (k)  = 200</a:t>
            </a:r>
          </a:p>
          <a:p>
            <a:pPr marL="285750" indent="-285750">
              <a:buFont typeface="Arial" panose="020B0604020202020204" pitchFamily="34" charset="0"/>
              <a:buChar char="•"/>
            </a:pPr>
            <a:r>
              <a:rPr lang="en-US" b="1" dirty="0"/>
              <a:t>  </a:t>
            </a:r>
            <a:r>
              <a:rPr lang="en-US" b="1" dirty="0" err="1"/>
              <a:t>TimeSlots</a:t>
            </a:r>
            <a:r>
              <a:rPr lang="en-US" b="1" dirty="0"/>
              <a:t> (p) = 45</a:t>
            </a:r>
          </a:p>
          <a:p>
            <a:pPr marL="285750" indent="-285750">
              <a:buFont typeface="Arial" panose="020B0604020202020204" pitchFamily="34" charset="0"/>
              <a:buChar char="•"/>
            </a:pPr>
            <a:r>
              <a:rPr lang="en-US" b="1" dirty="0"/>
              <a:t>  Feasible event-room pairs = 1623</a:t>
            </a:r>
          </a:p>
        </p:txBody>
      </p:sp>
    </p:spTree>
    <p:extLst>
      <p:ext uri="{BB962C8B-B14F-4D97-AF65-F5344CB8AC3E}">
        <p14:creationId xmlns:p14="http://schemas.microsoft.com/office/powerpoint/2010/main" val="29247401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1AC43-32E2-CBBD-E7B3-445D39A4B72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4DD5A9-705E-B338-0F98-7465D2CB64BB}"/>
              </a:ext>
            </a:extLst>
          </p:cNvPr>
          <p:cNvSpPr>
            <a:spLocks noGrp="1"/>
          </p:cNvSpPr>
          <p:nvPr>
            <p:ph idx="1"/>
          </p:nvPr>
        </p:nvSpPr>
        <p:spPr>
          <a:xfrm>
            <a:off x="2089622" y="1341652"/>
            <a:ext cx="9311090" cy="1569978"/>
          </a:xfrm>
        </p:spPr>
        <p:txBody>
          <a:bodyPr vert="horz" lIns="91440" tIns="45720" rIns="91440" bIns="45720" rtlCol="0" anchor="t">
            <a:normAutofit fontScale="85000" lnSpcReduction="20000"/>
          </a:bodyPr>
          <a:lstStyle/>
          <a:p>
            <a:pPr>
              <a:buFont typeface="Arial"/>
              <a:buChar char="•"/>
            </a:pPr>
            <a:r>
              <a:rPr lang="en-US" sz="3900" b="1" dirty="0"/>
              <a:t>Cultural Algorithm: </a:t>
            </a:r>
            <a:r>
              <a:rPr lang="en-US" sz="3600" dirty="0"/>
              <a:t>Evolutionary algorithm that use domain knowledge extracted during the evolutionary process in order to improve the per performance of the search engine.</a:t>
            </a:r>
          </a:p>
          <a:p>
            <a:pPr>
              <a:buFont typeface="Arial"/>
              <a:buChar char="•"/>
            </a:pPr>
            <a:endParaRPr lang="en-US" sz="3600" dirty="0"/>
          </a:p>
          <a:p>
            <a:pPr marL="0" indent="0">
              <a:buNone/>
            </a:pPr>
            <a:endParaRPr lang="en-US" dirty="0"/>
          </a:p>
        </p:txBody>
      </p:sp>
      <p:sp>
        <p:nvSpPr>
          <p:cNvPr id="7" name="Rectangle 6">
            <a:extLst>
              <a:ext uri="{FF2B5EF4-FFF2-40B4-BE49-F238E27FC236}">
                <a16:creationId xmlns:a16="http://schemas.microsoft.com/office/drawing/2014/main" id="{4A70BB48-8F4A-2FC1-612A-54071AACAF4E}"/>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20">
            <a:extLst>
              <a:ext uri="{FF2B5EF4-FFF2-40B4-BE49-F238E27FC236}">
                <a16:creationId xmlns:a16="http://schemas.microsoft.com/office/drawing/2014/main" id="{93FF5C4F-10DC-6AB6-F9F1-06631C6FE6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0" name="Picture 9">
            <a:extLst>
              <a:ext uri="{FF2B5EF4-FFF2-40B4-BE49-F238E27FC236}">
                <a16:creationId xmlns:a16="http://schemas.microsoft.com/office/drawing/2014/main" id="{6615C0B4-04ED-8889-A736-6879694A65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1" name="Slide Number Placeholder 10">
            <a:extLst>
              <a:ext uri="{FF2B5EF4-FFF2-40B4-BE49-F238E27FC236}">
                <a16:creationId xmlns:a16="http://schemas.microsoft.com/office/drawing/2014/main" id="{BCAD013B-B266-414B-B939-6C53911F5713}"/>
              </a:ext>
            </a:extLst>
          </p:cNvPr>
          <p:cNvSpPr>
            <a:spLocks noGrp="1"/>
          </p:cNvSpPr>
          <p:nvPr>
            <p:ph type="sldNum" sz="quarter" idx="12"/>
          </p:nvPr>
        </p:nvSpPr>
        <p:spPr/>
        <p:txBody>
          <a:bodyPr/>
          <a:lstStyle/>
          <a:p>
            <a:fld id="{FA5D76E8-8AD6-443B-8B81-1688B2EC3502}" type="slidenum">
              <a:rPr lang="en-US" smtClean="0"/>
              <a:t>57</a:t>
            </a:fld>
            <a:endParaRPr lang="en-US"/>
          </a:p>
        </p:txBody>
      </p:sp>
      <p:sp>
        <p:nvSpPr>
          <p:cNvPr id="5" name="Title 1">
            <a:extLst>
              <a:ext uri="{FF2B5EF4-FFF2-40B4-BE49-F238E27FC236}">
                <a16:creationId xmlns:a16="http://schemas.microsoft.com/office/drawing/2014/main" id="{00C5468D-A61E-545B-1771-903702C2C263}"/>
              </a:ext>
            </a:extLst>
          </p:cNvPr>
          <p:cNvSpPr txBox="1">
            <a:spLocks/>
          </p:cNvSpPr>
          <p:nvPr/>
        </p:nvSpPr>
        <p:spPr>
          <a:xfrm>
            <a:off x="4203678" y="-1035"/>
            <a:ext cx="5759634" cy="134485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solidFill>
                  <a:srgbClr val="156082"/>
                </a:solidFill>
              </a:rPr>
              <a:t>Cultural Algorithm(CA)</a:t>
            </a:r>
            <a:endParaRPr lang="en-US" dirty="0"/>
          </a:p>
        </p:txBody>
      </p:sp>
      <p:sp>
        <p:nvSpPr>
          <p:cNvPr id="14" name="Content Placeholder 2">
            <a:extLst>
              <a:ext uri="{FF2B5EF4-FFF2-40B4-BE49-F238E27FC236}">
                <a16:creationId xmlns:a16="http://schemas.microsoft.com/office/drawing/2014/main" id="{5C263D61-0AB8-38E5-28DC-5FCAC9661207}"/>
              </a:ext>
            </a:extLst>
          </p:cNvPr>
          <p:cNvSpPr txBox="1">
            <a:spLocks/>
          </p:cNvSpPr>
          <p:nvPr/>
        </p:nvSpPr>
        <p:spPr>
          <a:xfrm>
            <a:off x="2083871" y="2917410"/>
            <a:ext cx="9311090" cy="156997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a:buChar char="•"/>
            </a:pPr>
            <a:r>
              <a:rPr lang="en-US" dirty="0">
                <a:ea typeface="+mn-lt"/>
                <a:cs typeface="+mn-lt"/>
              </a:rPr>
              <a:t>It can be seen as an inheritance process operating at two levels:</a:t>
            </a:r>
            <a:endParaRPr lang="en-US" dirty="0"/>
          </a:p>
          <a:p>
            <a:pPr marL="0" indent="0">
              <a:buFont typeface="Arial" panose="020B0604020202020204" pitchFamily="34" charset="0"/>
              <a:buNone/>
            </a:pPr>
            <a:endParaRPr lang="en-US" dirty="0"/>
          </a:p>
        </p:txBody>
      </p:sp>
      <p:sp>
        <p:nvSpPr>
          <p:cNvPr id="16" name="Content Placeholder 2">
            <a:extLst>
              <a:ext uri="{FF2B5EF4-FFF2-40B4-BE49-F238E27FC236}">
                <a16:creationId xmlns:a16="http://schemas.microsoft.com/office/drawing/2014/main" id="{227D1C83-047A-4297-B641-BCFE352B1ADD}"/>
              </a:ext>
            </a:extLst>
          </p:cNvPr>
          <p:cNvSpPr txBox="1">
            <a:spLocks/>
          </p:cNvSpPr>
          <p:nvPr/>
        </p:nvSpPr>
        <p:spPr>
          <a:xfrm>
            <a:off x="2170135" y="3880692"/>
            <a:ext cx="9311090" cy="156997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a:buChar char="•"/>
            </a:pPr>
            <a:r>
              <a:rPr lang="en-US" dirty="0">
                <a:ea typeface="+mn-lt"/>
                <a:cs typeface="+mn-lt"/>
              </a:rPr>
              <a:t>(1) a micro-evolutionary level</a:t>
            </a:r>
            <a:endParaRPr lang="en-US" dirty="0"/>
          </a:p>
          <a:p>
            <a:pPr marL="0" indent="0">
              <a:buFont typeface="Arial" panose="020B0604020202020204" pitchFamily="34" charset="0"/>
              <a:buNone/>
            </a:pPr>
            <a:endParaRPr lang="en-US" dirty="0"/>
          </a:p>
        </p:txBody>
      </p:sp>
      <p:sp>
        <p:nvSpPr>
          <p:cNvPr id="17" name="Content Placeholder 2">
            <a:extLst>
              <a:ext uri="{FF2B5EF4-FFF2-40B4-BE49-F238E27FC236}">
                <a16:creationId xmlns:a16="http://schemas.microsoft.com/office/drawing/2014/main" id="{48F9785E-DFE7-BE6D-444C-C163947C0192}"/>
              </a:ext>
            </a:extLst>
          </p:cNvPr>
          <p:cNvSpPr txBox="1">
            <a:spLocks/>
          </p:cNvSpPr>
          <p:nvPr/>
        </p:nvSpPr>
        <p:spPr>
          <a:xfrm>
            <a:off x="2170134" y="4671446"/>
            <a:ext cx="9311090" cy="156997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a:buChar char="•"/>
            </a:pPr>
            <a:r>
              <a:rPr lang="en-US" dirty="0">
                <a:ea typeface="+mn-lt"/>
                <a:cs typeface="+mn-lt"/>
              </a:rPr>
              <a:t>(2) a macro-evolutionary level</a:t>
            </a:r>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2740759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xEl>
                                              <p:pRg st="0" end="0"/>
                                            </p:txEl>
                                          </p:spTgt>
                                        </p:tgtEl>
                                        <p:attrNameLst>
                                          <p:attrName>style.visibility</p:attrName>
                                        </p:attrNameLst>
                                      </p:cBhvr>
                                      <p:to>
                                        <p:strVal val="visible"/>
                                      </p:to>
                                    </p:set>
                                    <p:animEffect transition="in" filter="fade">
                                      <p:cBhvr>
                                        <p:cTn id="12" dur="500"/>
                                        <p:tgtEl>
                                          <p:spTgt spid="1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xEl>
                                              <p:pRg st="0" end="0"/>
                                            </p:txEl>
                                          </p:spTgt>
                                        </p:tgtEl>
                                        <p:attrNameLst>
                                          <p:attrName>style.visibility</p:attrName>
                                        </p:attrNameLst>
                                      </p:cBhvr>
                                      <p:to>
                                        <p:strVal val="visible"/>
                                      </p:to>
                                    </p:set>
                                    <p:animEffect transition="in" filter="fade">
                                      <p:cBhvr>
                                        <p:cTn id="17" dur="500"/>
                                        <p:tgtEl>
                                          <p:spTgt spid="1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xEl>
                                              <p:pRg st="0" end="0"/>
                                            </p:txEl>
                                          </p:spTgt>
                                        </p:tgtEl>
                                        <p:attrNameLst>
                                          <p:attrName>style.visibility</p:attrName>
                                        </p:attrNameLst>
                                      </p:cBhvr>
                                      <p:to>
                                        <p:strVal val="visible"/>
                                      </p:to>
                                    </p:set>
                                    <p:animEffect transition="in" filter="fade">
                                      <p:cBhvr>
                                        <p:cTn id="22" dur="500"/>
                                        <p:tgtEl>
                                          <p:spTgt spid="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6882A-42CB-6751-4585-F51AD42E37BA}"/>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241F0BA6-F521-8FFA-5F4A-3427C504A5CC}"/>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20">
            <a:extLst>
              <a:ext uri="{FF2B5EF4-FFF2-40B4-BE49-F238E27FC236}">
                <a16:creationId xmlns:a16="http://schemas.microsoft.com/office/drawing/2014/main" id="{AADE4C9D-3770-CFDC-11E6-576E281E52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0" name="Picture 9">
            <a:extLst>
              <a:ext uri="{FF2B5EF4-FFF2-40B4-BE49-F238E27FC236}">
                <a16:creationId xmlns:a16="http://schemas.microsoft.com/office/drawing/2014/main" id="{10A21AC0-0AD6-08B8-DCD8-8C96912842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1" name="Slide Number Placeholder 10">
            <a:extLst>
              <a:ext uri="{FF2B5EF4-FFF2-40B4-BE49-F238E27FC236}">
                <a16:creationId xmlns:a16="http://schemas.microsoft.com/office/drawing/2014/main" id="{D444E7D2-72EA-B3B8-E1D6-880EAED60268}"/>
              </a:ext>
            </a:extLst>
          </p:cNvPr>
          <p:cNvSpPr>
            <a:spLocks noGrp="1"/>
          </p:cNvSpPr>
          <p:nvPr>
            <p:ph type="sldNum" sz="quarter" idx="12"/>
          </p:nvPr>
        </p:nvSpPr>
        <p:spPr/>
        <p:txBody>
          <a:bodyPr/>
          <a:lstStyle/>
          <a:p>
            <a:fld id="{FA5D76E8-8AD6-443B-8B81-1688B2EC3502}" type="slidenum">
              <a:rPr lang="en-US" smtClean="0"/>
              <a:t>58</a:t>
            </a:fld>
            <a:endParaRPr lang="en-US"/>
          </a:p>
        </p:txBody>
      </p:sp>
      <p:sp>
        <p:nvSpPr>
          <p:cNvPr id="5" name="Title 1">
            <a:extLst>
              <a:ext uri="{FF2B5EF4-FFF2-40B4-BE49-F238E27FC236}">
                <a16:creationId xmlns:a16="http://schemas.microsoft.com/office/drawing/2014/main" id="{CF2F17A4-ADE3-D058-8D66-E914B14DF9E9}"/>
              </a:ext>
            </a:extLst>
          </p:cNvPr>
          <p:cNvSpPr txBox="1">
            <a:spLocks/>
          </p:cNvSpPr>
          <p:nvPr/>
        </p:nvSpPr>
        <p:spPr>
          <a:xfrm>
            <a:off x="4541273" y="18255"/>
            <a:ext cx="457323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156082"/>
                </a:solidFill>
              </a:rPr>
              <a:t>Cultural Algorithm</a:t>
            </a:r>
            <a:endParaRPr lang="en-US" dirty="0"/>
          </a:p>
        </p:txBody>
      </p:sp>
      <p:sp>
        <p:nvSpPr>
          <p:cNvPr id="16" name="Content Placeholder 2">
            <a:extLst>
              <a:ext uri="{FF2B5EF4-FFF2-40B4-BE49-F238E27FC236}">
                <a16:creationId xmlns:a16="http://schemas.microsoft.com/office/drawing/2014/main" id="{4CC24CF5-FD09-BB6E-CDA3-384A36637C8F}"/>
              </a:ext>
            </a:extLst>
          </p:cNvPr>
          <p:cNvSpPr txBox="1">
            <a:spLocks/>
          </p:cNvSpPr>
          <p:nvPr/>
        </p:nvSpPr>
        <p:spPr>
          <a:xfrm>
            <a:off x="1851831" y="1343907"/>
            <a:ext cx="9311090" cy="156997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a:buChar char="•"/>
            </a:pPr>
            <a:r>
              <a:rPr lang="en-US" b="1" dirty="0">
                <a:ea typeface="+mn-lt"/>
                <a:cs typeface="+mn-lt"/>
              </a:rPr>
              <a:t>(1) a micro-evolutionary level:</a:t>
            </a:r>
            <a:endParaRPr lang="en-US" b="1" dirty="0"/>
          </a:p>
          <a:p>
            <a:pPr>
              <a:buFont typeface="Arial"/>
              <a:buChar char="•"/>
            </a:pPr>
            <a:r>
              <a:rPr lang="en-US" dirty="0">
                <a:ea typeface="+mn-lt"/>
                <a:cs typeface="+mn-lt"/>
              </a:rPr>
              <a:t>consists of the genetic material that an offspring inherits from its parents.</a:t>
            </a:r>
            <a:endParaRPr lang="en-US" b="1" dirty="0"/>
          </a:p>
          <a:p>
            <a:pPr>
              <a:buFont typeface="Arial"/>
              <a:buChar char="•"/>
            </a:pPr>
            <a:endParaRPr lang="en-US" b="1" dirty="0"/>
          </a:p>
          <a:p>
            <a:pPr marL="0" indent="0">
              <a:buNone/>
            </a:pPr>
            <a:endParaRPr lang="en-US" b="1" dirty="0"/>
          </a:p>
          <a:p>
            <a:pPr>
              <a:buFont typeface="Arial"/>
              <a:buChar char="•"/>
            </a:pPr>
            <a:endParaRPr lang="en-US" dirty="0"/>
          </a:p>
          <a:p>
            <a:pPr marL="0" indent="0">
              <a:buNone/>
            </a:pPr>
            <a:endParaRPr lang="en-US" dirty="0"/>
          </a:p>
        </p:txBody>
      </p:sp>
      <p:sp>
        <p:nvSpPr>
          <p:cNvPr id="8" name="Content Placeholder 2">
            <a:extLst>
              <a:ext uri="{FF2B5EF4-FFF2-40B4-BE49-F238E27FC236}">
                <a16:creationId xmlns:a16="http://schemas.microsoft.com/office/drawing/2014/main" id="{2A1B8D4D-B86F-DDC3-110C-182EBF2AE17B}"/>
              </a:ext>
            </a:extLst>
          </p:cNvPr>
          <p:cNvSpPr txBox="1">
            <a:spLocks/>
          </p:cNvSpPr>
          <p:nvPr/>
        </p:nvSpPr>
        <p:spPr>
          <a:xfrm>
            <a:off x="1851830" y="2915952"/>
            <a:ext cx="9311090" cy="303610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a:buChar char="•"/>
            </a:pPr>
            <a:r>
              <a:rPr lang="en-US" b="1" dirty="0">
                <a:ea typeface="+mn-lt"/>
                <a:cs typeface="+mn-lt"/>
              </a:rPr>
              <a:t>(2) a macro-evolutionary level:</a:t>
            </a:r>
          </a:p>
          <a:p>
            <a:pPr>
              <a:buFont typeface="Arial"/>
              <a:buChar char="•"/>
            </a:pPr>
            <a:r>
              <a:rPr lang="en-US" dirty="0">
                <a:ea typeface="+mn-lt"/>
                <a:cs typeface="+mn-lt"/>
              </a:rPr>
              <a:t>consists of the knowledge acquired by individuals through generations.</a:t>
            </a:r>
            <a:endParaRPr lang="en-US" b="1" dirty="0">
              <a:ea typeface="+mn-lt"/>
              <a:cs typeface="+mn-lt"/>
            </a:endParaRPr>
          </a:p>
          <a:p>
            <a:pPr>
              <a:buFont typeface="Arial"/>
              <a:buChar char="•"/>
            </a:pPr>
            <a:r>
              <a:rPr lang="en-US" dirty="0">
                <a:ea typeface="+mn-lt"/>
                <a:cs typeface="+mn-lt"/>
              </a:rPr>
              <a:t>This knowledge, once encoded and stored in the belief space, is used to guide the behavior of the individuals that belong to a certain population.</a:t>
            </a:r>
          </a:p>
          <a:p>
            <a:pPr>
              <a:buFont typeface="Arial"/>
              <a:buChar char="•"/>
            </a:pPr>
            <a:endParaRPr lang="en-US" dirty="0"/>
          </a:p>
          <a:p>
            <a:pPr>
              <a:buFont typeface="Arial"/>
              <a:buChar char="•"/>
            </a:pPr>
            <a:endParaRPr lang="en-US" b="1" dirty="0"/>
          </a:p>
          <a:p>
            <a:pPr marL="0" indent="0">
              <a:buNone/>
            </a:pPr>
            <a:endParaRPr lang="en-US" dirty="0"/>
          </a:p>
        </p:txBody>
      </p:sp>
    </p:spTree>
    <p:extLst>
      <p:ext uri="{BB962C8B-B14F-4D97-AF65-F5344CB8AC3E}">
        <p14:creationId xmlns:p14="http://schemas.microsoft.com/office/powerpoint/2010/main" val="66859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1" end="1"/>
                                            </p:txEl>
                                          </p:spTgt>
                                        </p:tgtEl>
                                        <p:attrNameLst>
                                          <p:attrName>style.visibility</p:attrName>
                                        </p:attrNameLst>
                                      </p:cBhvr>
                                      <p:to>
                                        <p:strVal val="visible"/>
                                      </p:to>
                                    </p:set>
                                    <p:animEffect transition="in" filter="fade">
                                      <p:cBhvr>
                                        <p:cTn id="7" dur="500"/>
                                        <p:tgtEl>
                                          <p:spTgt spid="1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Effect transition="in" filter="fade">
                                      <p:cBhvr>
                                        <p:cTn id="15"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D12F6-89EA-857F-6026-C4A1F330D5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69574D-5C1B-CD54-E478-0BEFD726581F}"/>
              </a:ext>
            </a:extLst>
          </p:cNvPr>
          <p:cNvSpPr>
            <a:spLocks noGrp="1"/>
          </p:cNvSpPr>
          <p:nvPr>
            <p:ph type="title"/>
          </p:nvPr>
        </p:nvSpPr>
        <p:spPr>
          <a:xfrm>
            <a:off x="2097958" y="18255"/>
            <a:ext cx="9350478" cy="1325563"/>
          </a:xfrm>
        </p:spPr>
        <p:txBody>
          <a:bodyPr/>
          <a:lstStyle/>
          <a:p>
            <a:r>
              <a:rPr lang="en-US" b="1">
                <a:solidFill>
                  <a:srgbClr val="156082"/>
                </a:solidFill>
              </a:rPr>
              <a:t>Cultural algorithm:</a:t>
            </a:r>
            <a:endParaRPr lang="en-US" b="1" dirty="0">
              <a:solidFill>
                <a:srgbClr val="156082"/>
              </a:solidFill>
            </a:endParaRPr>
          </a:p>
        </p:txBody>
      </p:sp>
      <p:sp>
        <p:nvSpPr>
          <p:cNvPr id="7" name="Rectangle 6">
            <a:extLst>
              <a:ext uri="{FF2B5EF4-FFF2-40B4-BE49-F238E27FC236}">
                <a16:creationId xmlns:a16="http://schemas.microsoft.com/office/drawing/2014/main" id="{226B9495-7656-CAC0-8CD3-494C59E65F7D}"/>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20">
            <a:extLst>
              <a:ext uri="{FF2B5EF4-FFF2-40B4-BE49-F238E27FC236}">
                <a16:creationId xmlns:a16="http://schemas.microsoft.com/office/drawing/2014/main" id="{26CF5CF8-695B-0417-7E86-7B7E8560CF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0" name="Picture 9">
            <a:extLst>
              <a:ext uri="{FF2B5EF4-FFF2-40B4-BE49-F238E27FC236}">
                <a16:creationId xmlns:a16="http://schemas.microsoft.com/office/drawing/2014/main" id="{04CCD592-E3AE-E670-4CF8-FB2A4943FF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1" name="Slide Number Placeholder 10">
            <a:extLst>
              <a:ext uri="{FF2B5EF4-FFF2-40B4-BE49-F238E27FC236}">
                <a16:creationId xmlns:a16="http://schemas.microsoft.com/office/drawing/2014/main" id="{109DFF47-489B-C298-39B5-9D7E24185DEC}"/>
              </a:ext>
            </a:extLst>
          </p:cNvPr>
          <p:cNvSpPr>
            <a:spLocks noGrp="1"/>
          </p:cNvSpPr>
          <p:nvPr>
            <p:ph type="sldNum" sz="quarter" idx="12"/>
          </p:nvPr>
        </p:nvSpPr>
        <p:spPr/>
        <p:txBody>
          <a:bodyPr/>
          <a:lstStyle/>
          <a:p>
            <a:fld id="{FA5D76E8-8AD6-443B-8B81-1688B2EC3502}" type="slidenum">
              <a:rPr lang="en-US" smtClean="0"/>
              <a:t>59</a:t>
            </a:fld>
            <a:endParaRPr lang="en-US"/>
          </a:p>
        </p:txBody>
      </p:sp>
      <p:sp>
        <p:nvSpPr>
          <p:cNvPr id="27" name="TextBox 26">
            <a:extLst>
              <a:ext uri="{FF2B5EF4-FFF2-40B4-BE49-F238E27FC236}">
                <a16:creationId xmlns:a16="http://schemas.microsoft.com/office/drawing/2014/main" id="{E54AAA83-F78E-B0A1-383C-BA93E3203154}"/>
              </a:ext>
            </a:extLst>
          </p:cNvPr>
          <p:cNvSpPr txBox="1"/>
          <p:nvPr/>
        </p:nvSpPr>
        <p:spPr>
          <a:xfrm>
            <a:off x="5866258" y="3681136"/>
            <a:ext cx="2254737" cy="646331"/>
          </a:xfrm>
          <a:prstGeom prst="rect">
            <a:avLst/>
          </a:prstGeom>
          <a:noFill/>
        </p:spPr>
        <p:txBody>
          <a:bodyPr wrap="square" lIns="91440" tIns="45720" rIns="91440" bIns="45720" anchor="t">
            <a:spAutoFit/>
          </a:bodyPr>
          <a:lstStyle/>
          <a:p>
            <a:pPr algn="ctr"/>
            <a:r>
              <a:rPr lang="en-US" dirty="0"/>
              <a:t>Communication </a:t>
            </a:r>
            <a:r>
              <a:rPr lang="en-US"/>
              <a:t>link</a:t>
            </a:r>
            <a:endParaRPr lang="en-US" dirty="0"/>
          </a:p>
          <a:p>
            <a:endParaRPr lang="en-US" dirty="0"/>
          </a:p>
        </p:txBody>
      </p:sp>
      <p:pic>
        <p:nvPicPr>
          <p:cNvPr id="15" name="Picture 14">
            <a:extLst>
              <a:ext uri="{FF2B5EF4-FFF2-40B4-BE49-F238E27FC236}">
                <a16:creationId xmlns:a16="http://schemas.microsoft.com/office/drawing/2014/main" id="{2694394F-6AFE-3DF2-BC23-4D6E513D11E4}"/>
              </a:ext>
            </a:extLst>
          </p:cNvPr>
          <p:cNvPicPr>
            <a:picLocks noChangeAspect="1"/>
          </p:cNvPicPr>
          <p:nvPr/>
        </p:nvPicPr>
        <p:blipFill>
          <a:blip r:embed="rId4"/>
          <a:stretch>
            <a:fillRect/>
          </a:stretch>
        </p:blipFill>
        <p:spPr>
          <a:xfrm>
            <a:off x="6322976" y="2775135"/>
            <a:ext cx="1331226" cy="898478"/>
          </a:xfrm>
          <a:prstGeom prst="rect">
            <a:avLst/>
          </a:prstGeom>
        </p:spPr>
      </p:pic>
      <p:sp>
        <p:nvSpPr>
          <p:cNvPr id="16" name="TextBox 15">
            <a:extLst>
              <a:ext uri="{FF2B5EF4-FFF2-40B4-BE49-F238E27FC236}">
                <a16:creationId xmlns:a16="http://schemas.microsoft.com/office/drawing/2014/main" id="{D467C7D5-2DA5-F981-CBAA-12D34B329FE2}"/>
              </a:ext>
            </a:extLst>
          </p:cNvPr>
          <p:cNvSpPr txBox="1"/>
          <p:nvPr/>
        </p:nvSpPr>
        <p:spPr>
          <a:xfrm>
            <a:off x="156944" y="1235911"/>
            <a:ext cx="7861692" cy="1334812"/>
          </a:xfrm>
          <a:prstGeom prst="rect">
            <a:avLst/>
          </a:prstGeom>
          <a:noFill/>
        </p:spPr>
        <p:txBody>
          <a:bodyPr wrap="square" lIns="91440" tIns="45720" rIns="91440" bIns="45720" anchor="t">
            <a:spAutoFit/>
          </a:bodyPr>
          <a:lstStyle/>
          <a:p>
            <a:pPr algn="ctr"/>
            <a:r>
              <a:rPr lang="en-US" sz="3600" b="1" dirty="0"/>
              <a:t>-Main </a:t>
            </a:r>
            <a:r>
              <a:rPr lang="en-US" sz="3600" b="1"/>
              <a:t>components</a:t>
            </a:r>
            <a:r>
              <a:rPr lang="en-US" sz="3600" b="1" dirty="0"/>
              <a:t>:</a:t>
            </a:r>
          </a:p>
          <a:p>
            <a:endParaRPr lang="en-US" sz="4400" b="1" dirty="0"/>
          </a:p>
        </p:txBody>
      </p:sp>
      <p:pic>
        <p:nvPicPr>
          <p:cNvPr id="17" name="Picture 16">
            <a:extLst>
              <a:ext uri="{FF2B5EF4-FFF2-40B4-BE49-F238E27FC236}">
                <a16:creationId xmlns:a16="http://schemas.microsoft.com/office/drawing/2014/main" id="{2B254169-428D-4B1D-E4E9-22E39773EE53}"/>
              </a:ext>
            </a:extLst>
          </p:cNvPr>
          <p:cNvPicPr>
            <a:picLocks noChangeAspect="1"/>
          </p:cNvPicPr>
          <p:nvPr/>
        </p:nvPicPr>
        <p:blipFill>
          <a:blip r:embed="rId5"/>
          <a:stretch>
            <a:fillRect/>
          </a:stretch>
        </p:blipFill>
        <p:spPr>
          <a:xfrm>
            <a:off x="3177369" y="2738793"/>
            <a:ext cx="1310754" cy="789012"/>
          </a:xfrm>
          <a:prstGeom prst="rect">
            <a:avLst/>
          </a:prstGeom>
        </p:spPr>
      </p:pic>
      <p:sp>
        <p:nvSpPr>
          <p:cNvPr id="25" name="TextBox 24">
            <a:extLst>
              <a:ext uri="{FF2B5EF4-FFF2-40B4-BE49-F238E27FC236}">
                <a16:creationId xmlns:a16="http://schemas.microsoft.com/office/drawing/2014/main" id="{3E2DBA29-2E01-696A-F3C6-3B5BDB94730D}"/>
              </a:ext>
            </a:extLst>
          </p:cNvPr>
          <p:cNvSpPr txBox="1"/>
          <p:nvPr/>
        </p:nvSpPr>
        <p:spPr>
          <a:xfrm>
            <a:off x="2715900" y="3681136"/>
            <a:ext cx="2254737" cy="646331"/>
          </a:xfrm>
          <a:prstGeom prst="rect">
            <a:avLst/>
          </a:prstGeom>
          <a:noFill/>
        </p:spPr>
        <p:txBody>
          <a:bodyPr wrap="square" lIns="91440" tIns="45720" rIns="91440" bIns="45720" anchor="t">
            <a:spAutoFit/>
          </a:bodyPr>
          <a:lstStyle/>
          <a:p>
            <a:pPr algn="ctr"/>
            <a:r>
              <a:rPr lang="en-US">
                <a:ea typeface="+mn-lt"/>
                <a:cs typeface="+mn-lt"/>
              </a:rPr>
              <a:t>population space</a:t>
            </a:r>
            <a:endParaRPr lang="en-US"/>
          </a:p>
          <a:p>
            <a:endParaRPr lang="en-US" dirty="0"/>
          </a:p>
        </p:txBody>
      </p:sp>
      <p:sp>
        <p:nvSpPr>
          <p:cNvPr id="26" name="TextBox 25">
            <a:extLst>
              <a:ext uri="{FF2B5EF4-FFF2-40B4-BE49-F238E27FC236}">
                <a16:creationId xmlns:a16="http://schemas.microsoft.com/office/drawing/2014/main" id="{417ED6FE-55FB-2554-63FC-53EDCB67E55A}"/>
              </a:ext>
            </a:extLst>
          </p:cNvPr>
          <p:cNvSpPr txBox="1"/>
          <p:nvPr/>
        </p:nvSpPr>
        <p:spPr>
          <a:xfrm>
            <a:off x="9208128" y="3681754"/>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Belief</a:t>
            </a:r>
            <a:r>
              <a:rPr lang="en-US" dirty="0"/>
              <a:t> space</a:t>
            </a:r>
          </a:p>
        </p:txBody>
      </p:sp>
      <p:sp>
        <p:nvSpPr>
          <p:cNvPr id="32" name="TextBox 31">
            <a:extLst>
              <a:ext uri="{FF2B5EF4-FFF2-40B4-BE49-F238E27FC236}">
                <a16:creationId xmlns:a16="http://schemas.microsoft.com/office/drawing/2014/main" id="{D3BAE249-55CE-F252-32A9-7529C117107B}"/>
              </a:ext>
            </a:extLst>
          </p:cNvPr>
          <p:cNvSpPr txBox="1"/>
          <p:nvPr/>
        </p:nvSpPr>
        <p:spPr>
          <a:xfrm>
            <a:off x="8857392" y="5091404"/>
            <a:ext cx="2254737" cy="646331"/>
          </a:xfrm>
          <a:prstGeom prst="rect">
            <a:avLst/>
          </a:prstGeom>
          <a:noFill/>
        </p:spPr>
        <p:txBody>
          <a:bodyPr wrap="square" lIns="91440" tIns="45720" rIns="91440" bIns="45720" anchor="t">
            <a:spAutoFit/>
          </a:bodyPr>
          <a:lstStyle/>
          <a:p>
            <a:pPr algn="ctr"/>
            <a:r>
              <a:rPr lang="en-US" b="1">
                <a:solidFill>
                  <a:schemeClr val="accent4">
                    <a:lumMod val="76000"/>
                  </a:schemeClr>
                </a:solidFill>
                <a:ea typeface="+mn-lt"/>
                <a:cs typeface="+mn-lt"/>
              </a:rPr>
              <a:t>(Main difference)</a:t>
            </a:r>
            <a:endParaRPr lang="en-US" b="1" dirty="0">
              <a:solidFill>
                <a:schemeClr val="accent4">
                  <a:lumMod val="76000"/>
                </a:schemeClr>
              </a:solidFill>
            </a:endParaRPr>
          </a:p>
          <a:p>
            <a:endParaRPr lang="en-US" b="1" dirty="0">
              <a:solidFill>
                <a:schemeClr val="accent4">
                  <a:lumMod val="76000"/>
                </a:schemeClr>
              </a:solidFill>
            </a:endParaRPr>
          </a:p>
        </p:txBody>
      </p:sp>
      <p:pic>
        <p:nvPicPr>
          <p:cNvPr id="34" name="Graphic 33" descr="Arrow: Clockwise curve with solid fill">
            <a:extLst>
              <a:ext uri="{FF2B5EF4-FFF2-40B4-BE49-F238E27FC236}">
                <a16:creationId xmlns:a16="http://schemas.microsoft.com/office/drawing/2014/main" id="{0BEB4519-ECBE-7966-D823-3516100C316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437427" y="4165979"/>
            <a:ext cx="914400" cy="914400"/>
          </a:xfrm>
          <a:prstGeom prst="rect">
            <a:avLst/>
          </a:prstGeom>
        </p:spPr>
      </p:pic>
      <p:pic>
        <p:nvPicPr>
          <p:cNvPr id="36" name="Graphic 35" descr="Folder Search with solid fill">
            <a:extLst>
              <a:ext uri="{FF2B5EF4-FFF2-40B4-BE49-F238E27FC236}">
                <a16:creationId xmlns:a16="http://schemas.microsoft.com/office/drawing/2014/main" id="{12D5F5B7-1BFD-1D7C-25AF-221084E93D1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439619" y="2779005"/>
            <a:ext cx="914400" cy="914400"/>
          </a:xfrm>
          <a:prstGeom prst="rect">
            <a:avLst/>
          </a:prstGeom>
        </p:spPr>
      </p:pic>
    </p:spTree>
    <p:extLst>
      <p:ext uri="{BB962C8B-B14F-4D97-AF65-F5344CB8AC3E}">
        <p14:creationId xmlns:p14="http://schemas.microsoft.com/office/powerpoint/2010/main" val="40817258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64EA4-4D03-2FF7-A9B4-7AB1D941FC52}"/>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8B055CEE-731C-76A9-7DFB-06A37E959C7E}"/>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20">
            <a:extLst>
              <a:ext uri="{FF2B5EF4-FFF2-40B4-BE49-F238E27FC236}">
                <a16:creationId xmlns:a16="http://schemas.microsoft.com/office/drawing/2014/main" id="{A363C6A1-DD25-0FF9-A3FF-5D746BDF9A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0" name="Picture 9">
            <a:extLst>
              <a:ext uri="{FF2B5EF4-FFF2-40B4-BE49-F238E27FC236}">
                <a16:creationId xmlns:a16="http://schemas.microsoft.com/office/drawing/2014/main" id="{846AB23E-B588-5356-07F8-E2D4F773D4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1" name="Slide Number Placeholder 10">
            <a:extLst>
              <a:ext uri="{FF2B5EF4-FFF2-40B4-BE49-F238E27FC236}">
                <a16:creationId xmlns:a16="http://schemas.microsoft.com/office/drawing/2014/main" id="{5E204A52-61D0-C995-334A-D7A609BAB53D}"/>
              </a:ext>
            </a:extLst>
          </p:cNvPr>
          <p:cNvSpPr>
            <a:spLocks noGrp="1"/>
          </p:cNvSpPr>
          <p:nvPr>
            <p:ph type="sldNum" sz="quarter" idx="12"/>
          </p:nvPr>
        </p:nvSpPr>
        <p:spPr/>
        <p:txBody>
          <a:bodyPr/>
          <a:lstStyle/>
          <a:p>
            <a:fld id="{FA5D76E8-8AD6-443B-8B81-1688B2EC3502}" type="slidenum">
              <a:rPr lang="en-US" smtClean="0"/>
              <a:t>60</a:t>
            </a:fld>
            <a:endParaRPr lang="en-US"/>
          </a:p>
        </p:txBody>
      </p:sp>
      <p:sp>
        <p:nvSpPr>
          <p:cNvPr id="5" name="Title 1">
            <a:extLst>
              <a:ext uri="{FF2B5EF4-FFF2-40B4-BE49-F238E27FC236}">
                <a16:creationId xmlns:a16="http://schemas.microsoft.com/office/drawing/2014/main" id="{F88AD6BF-8EC8-C66B-6DB8-14D1AF26C4AD}"/>
              </a:ext>
            </a:extLst>
          </p:cNvPr>
          <p:cNvSpPr txBox="1">
            <a:spLocks/>
          </p:cNvSpPr>
          <p:nvPr/>
        </p:nvSpPr>
        <p:spPr>
          <a:xfrm>
            <a:off x="4541273" y="8610"/>
            <a:ext cx="4939761" cy="133520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156082"/>
                </a:solidFill>
              </a:rPr>
              <a:t>Cultural Algorithm</a:t>
            </a:r>
          </a:p>
          <a:p>
            <a:r>
              <a:rPr lang="en-US" sz="3200" b="1" dirty="0">
                <a:solidFill>
                  <a:srgbClr val="156082"/>
                </a:solidFill>
              </a:rPr>
              <a:t>       (</a:t>
            </a:r>
            <a:r>
              <a:rPr lang="en-US" sz="3200" b="1">
                <a:solidFill>
                  <a:srgbClr val="156082"/>
                </a:solidFill>
              </a:rPr>
              <a:t>Proposed</a:t>
            </a:r>
            <a:r>
              <a:rPr lang="en-US" sz="3200" b="1" dirty="0">
                <a:solidFill>
                  <a:srgbClr val="156082"/>
                </a:solidFill>
              </a:rPr>
              <a:t> approach)</a:t>
            </a:r>
          </a:p>
        </p:txBody>
      </p:sp>
      <p:sp>
        <p:nvSpPr>
          <p:cNvPr id="16" name="Content Placeholder 2">
            <a:extLst>
              <a:ext uri="{FF2B5EF4-FFF2-40B4-BE49-F238E27FC236}">
                <a16:creationId xmlns:a16="http://schemas.microsoft.com/office/drawing/2014/main" id="{08416B43-8932-B3D3-9E7E-72F2BDA8984C}"/>
              </a:ext>
            </a:extLst>
          </p:cNvPr>
          <p:cNvSpPr txBox="1">
            <a:spLocks/>
          </p:cNvSpPr>
          <p:nvPr/>
        </p:nvSpPr>
        <p:spPr>
          <a:xfrm>
            <a:off x="1851831" y="1343907"/>
            <a:ext cx="9311090" cy="178218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ea typeface="+mn-lt"/>
                <a:cs typeface="+mn-lt"/>
              </a:rPr>
              <a:t>1. Population space:</a:t>
            </a:r>
            <a:r>
              <a:rPr lang="en-US" sz="2500" dirty="0">
                <a:ea typeface="+mn-lt"/>
                <a:cs typeface="+mn-lt"/>
              </a:rPr>
              <a:t>(traditional evolutionary algorithm)</a:t>
            </a:r>
            <a:endParaRPr lang="en-US" sz="2500" dirty="0"/>
          </a:p>
          <a:p>
            <a:pPr>
              <a:buFont typeface="Arial"/>
              <a:buChar char="•"/>
            </a:pPr>
            <a:r>
              <a:rPr lang="en-US" dirty="0">
                <a:ea typeface="+mn-lt"/>
                <a:cs typeface="+mn-lt"/>
              </a:rPr>
              <a:t>which consists of (as in all evolutionary algorithms) a set of individuals. Each individual has a set of independent features that are used to determine its fitness.</a:t>
            </a:r>
            <a:endParaRPr lang="en-US" b="1" dirty="0"/>
          </a:p>
          <a:p>
            <a:pPr marL="0" indent="0">
              <a:buNone/>
            </a:pPr>
            <a:endParaRPr lang="en-US" b="1" dirty="0"/>
          </a:p>
          <a:p>
            <a:pPr>
              <a:buFont typeface="Arial"/>
              <a:buChar char="•"/>
            </a:pPr>
            <a:endParaRPr lang="en-US" dirty="0"/>
          </a:p>
          <a:p>
            <a:pPr marL="0" indent="0">
              <a:buNone/>
            </a:pPr>
            <a:endParaRPr lang="en-US" dirty="0"/>
          </a:p>
        </p:txBody>
      </p:sp>
      <p:sp>
        <p:nvSpPr>
          <p:cNvPr id="8" name="Content Placeholder 2">
            <a:extLst>
              <a:ext uri="{FF2B5EF4-FFF2-40B4-BE49-F238E27FC236}">
                <a16:creationId xmlns:a16="http://schemas.microsoft.com/office/drawing/2014/main" id="{7354CCD7-CAA9-4AA6-03BE-26DD4DE26139}"/>
              </a:ext>
            </a:extLst>
          </p:cNvPr>
          <p:cNvSpPr txBox="1">
            <a:spLocks/>
          </p:cNvSpPr>
          <p:nvPr/>
        </p:nvSpPr>
        <p:spPr>
          <a:xfrm>
            <a:off x="1851830" y="3427167"/>
            <a:ext cx="9311090" cy="303610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ea typeface="+mn-lt"/>
                <a:cs typeface="+mn-lt"/>
              </a:rPr>
              <a:t>2. Communication link:</a:t>
            </a:r>
          </a:p>
          <a:p>
            <a:pPr>
              <a:buFont typeface="Arial"/>
              <a:buChar char="•"/>
            </a:pPr>
            <a:r>
              <a:rPr lang="en-US" dirty="0">
                <a:ea typeface="+mn-lt"/>
                <a:cs typeface="+mn-lt"/>
              </a:rPr>
              <a:t>In order to join the two spaces, it is necessary to provide a communication link, which dictates the rules regarding the type of information that must be exchanged between the two spaces.</a:t>
            </a:r>
          </a:p>
          <a:p>
            <a:pPr>
              <a:buFont typeface="Arial"/>
              <a:buChar char="•"/>
            </a:pPr>
            <a:endParaRPr lang="en-US" dirty="0"/>
          </a:p>
          <a:p>
            <a:pPr>
              <a:buFont typeface="Arial"/>
              <a:buChar char="•"/>
            </a:pPr>
            <a:endParaRPr lang="en-US" dirty="0"/>
          </a:p>
          <a:p>
            <a:pPr>
              <a:buFont typeface="Arial"/>
              <a:buChar char="•"/>
            </a:pPr>
            <a:endParaRPr lang="en-US" b="1" dirty="0"/>
          </a:p>
          <a:p>
            <a:pPr marL="0" indent="0">
              <a:buNone/>
            </a:pPr>
            <a:endParaRPr lang="en-US" dirty="0"/>
          </a:p>
        </p:txBody>
      </p:sp>
    </p:spTree>
    <p:extLst>
      <p:ext uri="{BB962C8B-B14F-4D97-AF65-F5344CB8AC3E}">
        <p14:creationId xmlns:p14="http://schemas.microsoft.com/office/powerpoint/2010/main" val="2414926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1" end="1"/>
                                            </p:txEl>
                                          </p:spTgt>
                                        </p:tgtEl>
                                        <p:attrNameLst>
                                          <p:attrName>style.visibility</p:attrName>
                                        </p:attrNameLst>
                                      </p:cBhvr>
                                      <p:to>
                                        <p:strVal val="visible"/>
                                      </p:to>
                                    </p:set>
                                    <p:animEffect transition="in" filter="fade">
                                      <p:cBhvr>
                                        <p:cTn id="7" dur="500"/>
                                        <p:tgtEl>
                                          <p:spTgt spid="1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55B98-C399-6D8F-01F4-AC0E313B039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606D1997-927B-3296-13A8-B0DD36799D80}"/>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20">
            <a:extLst>
              <a:ext uri="{FF2B5EF4-FFF2-40B4-BE49-F238E27FC236}">
                <a16:creationId xmlns:a16="http://schemas.microsoft.com/office/drawing/2014/main" id="{C2C7D277-1C36-4421-B4D3-D896003B41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0" name="Picture 9">
            <a:extLst>
              <a:ext uri="{FF2B5EF4-FFF2-40B4-BE49-F238E27FC236}">
                <a16:creationId xmlns:a16="http://schemas.microsoft.com/office/drawing/2014/main" id="{4FBB2853-1417-8F18-A9AA-8E2ACE73AF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1" name="Slide Number Placeholder 10">
            <a:extLst>
              <a:ext uri="{FF2B5EF4-FFF2-40B4-BE49-F238E27FC236}">
                <a16:creationId xmlns:a16="http://schemas.microsoft.com/office/drawing/2014/main" id="{A9F7F9EF-E92B-F33E-F699-1BF6190EBAAF}"/>
              </a:ext>
            </a:extLst>
          </p:cNvPr>
          <p:cNvSpPr>
            <a:spLocks noGrp="1"/>
          </p:cNvSpPr>
          <p:nvPr>
            <p:ph type="sldNum" sz="quarter" idx="12"/>
          </p:nvPr>
        </p:nvSpPr>
        <p:spPr/>
        <p:txBody>
          <a:bodyPr/>
          <a:lstStyle/>
          <a:p>
            <a:fld id="{FA5D76E8-8AD6-443B-8B81-1688B2EC3502}" type="slidenum">
              <a:rPr lang="en-US" smtClean="0"/>
              <a:t>61</a:t>
            </a:fld>
            <a:endParaRPr lang="en-US"/>
          </a:p>
        </p:txBody>
      </p:sp>
      <p:sp>
        <p:nvSpPr>
          <p:cNvPr id="5" name="Title 1">
            <a:extLst>
              <a:ext uri="{FF2B5EF4-FFF2-40B4-BE49-F238E27FC236}">
                <a16:creationId xmlns:a16="http://schemas.microsoft.com/office/drawing/2014/main" id="{25686106-3521-CA51-F897-D13493C89C52}"/>
              </a:ext>
            </a:extLst>
          </p:cNvPr>
          <p:cNvSpPr txBox="1">
            <a:spLocks/>
          </p:cNvSpPr>
          <p:nvPr/>
        </p:nvSpPr>
        <p:spPr>
          <a:xfrm>
            <a:off x="4541273" y="18255"/>
            <a:ext cx="457323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156082"/>
                </a:solidFill>
              </a:rPr>
              <a:t>Cultural Algorithm</a:t>
            </a:r>
          </a:p>
          <a:p>
            <a:r>
              <a:rPr lang="en-US" sz="3200" b="1">
                <a:solidFill>
                  <a:srgbClr val="156082"/>
                </a:solidFill>
              </a:rPr>
              <a:t>    (Proposed approach)</a:t>
            </a:r>
            <a:endParaRPr lang="en-US" sz="3200">
              <a:solidFill>
                <a:srgbClr val="000000"/>
              </a:solidFill>
            </a:endParaRPr>
          </a:p>
        </p:txBody>
      </p:sp>
      <p:sp>
        <p:nvSpPr>
          <p:cNvPr id="8" name="Content Placeholder 2">
            <a:extLst>
              <a:ext uri="{FF2B5EF4-FFF2-40B4-BE49-F238E27FC236}">
                <a16:creationId xmlns:a16="http://schemas.microsoft.com/office/drawing/2014/main" id="{F3278840-5566-6B8F-FCDA-A22050AF2C33}"/>
              </a:ext>
            </a:extLst>
          </p:cNvPr>
          <p:cNvSpPr txBox="1">
            <a:spLocks/>
          </p:cNvSpPr>
          <p:nvPr/>
        </p:nvSpPr>
        <p:spPr>
          <a:xfrm>
            <a:off x="1851830" y="1121876"/>
            <a:ext cx="9311090" cy="303610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600" b="1" dirty="0">
                <a:ea typeface="+mn-lt"/>
                <a:cs typeface="+mn-lt"/>
              </a:rPr>
              <a:t>(2) Communication link:</a:t>
            </a:r>
          </a:p>
          <a:p>
            <a:pPr marL="0" indent="0">
              <a:buNone/>
            </a:pPr>
            <a:r>
              <a:rPr lang="en-US" b="1" dirty="0">
                <a:ea typeface="+mn-lt"/>
                <a:cs typeface="+mn-lt"/>
              </a:rPr>
              <a:t>Consisting of :</a:t>
            </a:r>
          </a:p>
          <a:p>
            <a:pPr>
              <a:buFont typeface="Arial"/>
              <a:buChar char="•"/>
            </a:pPr>
            <a:r>
              <a:rPr lang="en-US" sz="3200" b="1" dirty="0">
                <a:ea typeface="+mn-lt"/>
                <a:cs typeface="+mn-lt"/>
              </a:rPr>
              <a:t> Accept function</a:t>
            </a:r>
            <a:r>
              <a:rPr lang="en-US" dirty="0">
                <a:ea typeface="+mn-lt"/>
                <a:cs typeface="+mn-lt"/>
              </a:rPr>
              <a:t>: At each generation the belief space is updated and it incorporates the individual experiences of a select group of members of the population by applying an accept function.</a:t>
            </a:r>
            <a:endParaRPr lang="en-US" dirty="0"/>
          </a:p>
          <a:p>
            <a:pPr>
              <a:buFont typeface="Arial"/>
              <a:buChar char="•"/>
            </a:pPr>
            <a:endParaRPr lang="en-US" dirty="0"/>
          </a:p>
          <a:p>
            <a:pPr>
              <a:buFont typeface="Arial"/>
              <a:buChar char="•"/>
            </a:pPr>
            <a:endParaRPr lang="en-US" dirty="0"/>
          </a:p>
          <a:p>
            <a:pPr>
              <a:buFont typeface="Arial"/>
              <a:buChar char="•"/>
            </a:pPr>
            <a:endParaRPr lang="en-US" b="1" dirty="0"/>
          </a:p>
          <a:p>
            <a:pPr marL="0" indent="0">
              <a:buNone/>
            </a:pPr>
            <a:endParaRPr lang="en-US" dirty="0"/>
          </a:p>
        </p:txBody>
      </p:sp>
      <p:sp>
        <p:nvSpPr>
          <p:cNvPr id="2" name="Content Placeholder 2">
            <a:extLst>
              <a:ext uri="{FF2B5EF4-FFF2-40B4-BE49-F238E27FC236}">
                <a16:creationId xmlns:a16="http://schemas.microsoft.com/office/drawing/2014/main" id="{4F7B14E5-876F-005D-98D5-B63FF838E560}"/>
              </a:ext>
            </a:extLst>
          </p:cNvPr>
          <p:cNvSpPr txBox="1">
            <a:spLocks/>
          </p:cNvSpPr>
          <p:nvPr/>
        </p:nvSpPr>
        <p:spPr>
          <a:xfrm>
            <a:off x="1851829" y="3359648"/>
            <a:ext cx="9311090" cy="3441217"/>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b="1" dirty="0">
              <a:ea typeface="+mn-lt"/>
              <a:cs typeface="+mn-lt"/>
            </a:endParaRPr>
          </a:p>
          <a:p>
            <a:pPr>
              <a:buFont typeface="Arial"/>
              <a:buChar char="•"/>
            </a:pPr>
            <a:r>
              <a:rPr lang="en-US" sz="3200" b="1" dirty="0">
                <a:ea typeface="+mn-lt"/>
                <a:cs typeface="+mn-lt"/>
              </a:rPr>
              <a:t> Influence function</a:t>
            </a:r>
            <a:r>
              <a:rPr lang="en-US" dirty="0">
                <a:ea typeface="+mn-lt"/>
                <a:cs typeface="+mn-lt"/>
              </a:rPr>
              <a:t>: This function applies some pressure such that the children resulting from the variation operators can </a:t>
            </a:r>
            <a:r>
              <a:rPr lang="en-US" dirty="0" err="1">
                <a:ea typeface="+mn-lt"/>
                <a:cs typeface="+mn-lt"/>
              </a:rPr>
              <a:t>exibit</a:t>
            </a:r>
            <a:r>
              <a:rPr lang="en-US" dirty="0">
                <a:ea typeface="+mn-lt"/>
                <a:cs typeface="+mn-lt"/>
              </a:rPr>
              <a:t> behaviors closer to the </a:t>
            </a:r>
            <a:r>
              <a:rPr lang="en-US" dirty="0" err="1">
                <a:ea typeface="+mn-lt"/>
                <a:cs typeface="+mn-lt"/>
              </a:rPr>
              <a:t>diserable</a:t>
            </a:r>
            <a:r>
              <a:rPr lang="en-US" dirty="0">
                <a:ea typeface="+mn-lt"/>
                <a:cs typeface="+mn-lt"/>
              </a:rPr>
              <a:t> ones and father away from the </a:t>
            </a:r>
            <a:r>
              <a:rPr lang="en-US" dirty="0" err="1">
                <a:ea typeface="+mn-lt"/>
                <a:cs typeface="+mn-lt"/>
              </a:rPr>
              <a:t>undiserable</a:t>
            </a:r>
            <a:r>
              <a:rPr lang="en-US" dirty="0">
                <a:ea typeface="+mn-lt"/>
                <a:cs typeface="+mn-lt"/>
              </a:rPr>
              <a:t> ones, according to the information stored in the belief space.</a:t>
            </a:r>
            <a:endParaRPr lang="en-US" dirty="0"/>
          </a:p>
          <a:p>
            <a:pPr>
              <a:buFont typeface="Arial"/>
              <a:buChar char="•"/>
            </a:pPr>
            <a:endParaRPr lang="en-US" dirty="0"/>
          </a:p>
          <a:p>
            <a:pPr>
              <a:buFont typeface="Arial"/>
              <a:buChar char="•"/>
            </a:pPr>
            <a:endParaRPr lang="en-US" dirty="0"/>
          </a:p>
          <a:p>
            <a:pPr>
              <a:buFont typeface="Arial"/>
              <a:buChar char="•"/>
            </a:pPr>
            <a:endParaRPr lang="en-US" b="1" dirty="0"/>
          </a:p>
          <a:p>
            <a:pPr marL="0" indent="0">
              <a:buNone/>
            </a:pPr>
            <a:endParaRPr lang="en-US" dirty="0"/>
          </a:p>
        </p:txBody>
      </p:sp>
    </p:spTree>
    <p:extLst>
      <p:ext uri="{BB962C8B-B14F-4D97-AF65-F5344CB8AC3E}">
        <p14:creationId xmlns:p14="http://schemas.microsoft.com/office/powerpoint/2010/main" val="4067951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500"/>
                                        <p:tgtEl>
                                          <p:spTgt spid="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A321C-A046-30F9-A252-DA8C98E00FFF}"/>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76FC1D9E-C648-BAFB-E072-14ECE62D03D5}"/>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20">
            <a:extLst>
              <a:ext uri="{FF2B5EF4-FFF2-40B4-BE49-F238E27FC236}">
                <a16:creationId xmlns:a16="http://schemas.microsoft.com/office/drawing/2014/main" id="{F6988F21-F08F-FE13-F7CF-872578FC57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0" name="Picture 9">
            <a:extLst>
              <a:ext uri="{FF2B5EF4-FFF2-40B4-BE49-F238E27FC236}">
                <a16:creationId xmlns:a16="http://schemas.microsoft.com/office/drawing/2014/main" id="{58409BB9-B313-3D0C-CD3A-51404A7788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1" name="Slide Number Placeholder 10">
            <a:extLst>
              <a:ext uri="{FF2B5EF4-FFF2-40B4-BE49-F238E27FC236}">
                <a16:creationId xmlns:a16="http://schemas.microsoft.com/office/drawing/2014/main" id="{9111C3A2-B102-4B00-FB5D-415248C4DCF8}"/>
              </a:ext>
            </a:extLst>
          </p:cNvPr>
          <p:cNvSpPr>
            <a:spLocks noGrp="1"/>
          </p:cNvSpPr>
          <p:nvPr>
            <p:ph type="sldNum" sz="quarter" idx="12"/>
          </p:nvPr>
        </p:nvSpPr>
        <p:spPr/>
        <p:txBody>
          <a:bodyPr/>
          <a:lstStyle/>
          <a:p>
            <a:fld id="{FA5D76E8-8AD6-443B-8B81-1688B2EC3502}" type="slidenum">
              <a:rPr lang="en-US" smtClean="0"/>
              <a:t>62</a:t>
            </a:fld>
            <a:endParaRPr lang="en-US"/>
          </a:p>
        </p:txBody>
      </p:sp>
      <p:sp>
        <p:nvSpPr>
          <p:cNvPr id="5" name="Title 1">
            <a:extLst>
              <a:ext uri="{FF2B5EF4-FFF2-40B4-BE49-F238E27FC236}">
                <a16:creationId xmlns:a16="http://schemas.microsoft.com/office/drawing/2014/main" id="{F23B88BB-6A67-82DE-A950-712583D6DEF2}"/>
              </a:ext>
            </a:extLst>
          </p:cNvPr>
          <p:cNvSpPr txBox="1">
            <a:spLocks/>
          </p:cNvSpPr>
          <p:nvPr/>
        </p:nvSpPr>
        <p:spPr>
          <a:xfrm>
            <a:off x="4541273" y="18255"/>
            <a:ext cx="457323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156082"/>
                </a:solidFill>
              </a:rPr>
              <a:t>Cultural Algorithm</a:t>
            </a:r>
            <a:endParaRPr lang="en-US" dirty="0">
              <a:solidFill>
                <a:srgbClr val="000000"/>
              </a:solidFill>
            </a:endParaRPr>
          </a:p>
          <a:p>
            <a:r>
              <a:rPr lang="en-US" sz="3200" b="1">
                <a:solidFill>
                  <a:srgbClr val="156082"/>
                </a:solidFill>
              </a:rPr>
              <a:t>    (Proposed approach)</a:t>
            </a:r>
            <a:endParaRPr lang="en-US" sz="3200">
              <a:solidFill>
                <a:srgbClr val="000000"/>
              </a:solidFill>
            </a:endParaRPr>
          </a:p>
        </p:txBody>
      </p:sp>
      <p:sp>
        <p:nvSpPr>
          <p:cNvPr id="8" name="Content Placeholder 2">
            <a:extLst>
              <a:ext uri="{FF2B5EF4-FFF2-40B4-BE49-F238E27FC236}">
                <a16:creationId xmlns:a16="http://schemas.microsoft.com/office/drawing/2014/main" id="{54F2D774-5C5F-BF01-6145-4AD46770C641}"/>
              </a:ext>
            </a:extLst>
          </p:cNvPr>
          <p:cNvSpPr txBox="1">
            <a:spLocks/>
          </p:cNvSpPr>
          <p:nvPr/>
        </p:nvSpPr>
        <p:spPr>
          <a:xfrm>
            <a:off x="1851830" y="1121876"/>
            <a:ext cx="9311090" cy="5736862"/>
          </a:xfrm>
          <a:prstGeom prst="rect">
            <a:avLst/>
          </a:prstGeom>
        </p:spPr>
        <p:txBody>
          <a:bodyPr vert="horz" lIns="91440" tIns="45720" rIns="91440" bIns="45720" rtlCol="0" anchor="t">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500" b="1" dirty="0">
                <a:ea typeface="+mn-lt"/>
                <a:cs typeface="+mn-lt"/>
              </a:rPr>
              <a:t>(3)Belief space:</a:t>
            </a:r>
          </a:p>
          <a:p>
            <a:pPr>
              <a:buFont typeface="Arial"/>
              <a:buChar char="•"/>
            </a:pPr>
            <a:r>
              <a:rPr lang="en-US" b="1" dirty="0"/>
              <a:t>We have </a:t>
            </a:r>
            <a:r>
              <a:rPr lang="en-US" b="1" dirty="0">
                <a:ea typeface="+mn-lt"/>
                <a:cs typeface="+mn-lt"/>
              </a:rPr>
              <a:t>three types of knowledge are stored:</a:t>
            </a:r>
            <a:endParaRPr lang="en-US" b="1" dirty="0"/>
          </a:p>
          <a:p>
            <a:pPr marL="0" indent="0">
              <a:buNone/>
            </a:pPr>
            <a:r>
              <a:rPr lang="en-US" sz="3200" b="1" dirty="0">
                <a:ea typeface="+mn-lt"/>
                <a:cs typeface="+mn-lt"/>
              </a:rPr>
              <a:t>1. Situational:</a:t>
            </a:r>
            <a:r>
              <a:rPr lang="en-US" dirty="0">
                <a:ea typeface="+mn-lt"/>
                <a:cs typeface="+mn-lt"/>
              </a:rPr>
              <a:t> With the situational influence each individual tries to follow a leader. Such a leader is the best individual found, and is stored in the situational belief space</a:t>
            </a:r>
            <a:endParaRPr lang="en-US" dirty="0"/>
          </a:p>
          <a:p>
            <a:pPr marL="0" indent="0">
              <a:buNone/>
            </a:pPr>
            <a:r>
              <a:rPr lang="en-US" sz="3200" b="1" dirty="0">
                <a:ea typeface="+mn-lt"/>
                <a:cs typeface="+mn-lt"/>
              </a:rPr>
              <a:t>3. Normative: </a:t>
            </a:r>
            <a:r>
              <a:rPr lang="en-US" dirty="0">
                <a:ea typeface="+mn-lt"/>
                <a:cs typeface="+mn-lt"/>
              </a:rPr>
              <a:t>A statistical component that collects the "collective wisdom" of the entire elite population to establish guidelines, boundaries, and safe zones for the mutation process.</a:t>
            </a:r>
          </a:p>
          <a:p>
            <a:pPr marL="0" indent="0">
              <a:buNone/>
            </a:pPr>
            <a:r>
              <a:rPr lang="en-US" sz="3200" b="1" dirty="0"/>
              <a:t>3. </a:t>
            </a:r>
            <a:r>
              <a:rPr lang="en-US" sz="3500" b="1" dirty="0">
                <a:ea typeface="+mn-lt"/>
                <a:cs typeface="+mn-lt"/>
              </a:rPr>
              <a:t>Domain</a:t>
            </a:r>
            <a:r>
              <a:rPr lang="en-US" sz="3200" b="1" dirty="0"/>
              <a:t>: </a:t>
            </a:r>
            <a:r>
              <a:rPr lang="en-US" sz="3200" dirty="0">
                <a:ea typeface="+mn-lt"/>
                <a:cs typeface="+mn-lt"/>
              </a:rPr>
              <a:t>makes a post-processing procedure which uses the domain knowledge to modify individuals. In the timetabling problem, it is known that the best solution does not include events in the last timeslots of each day</a:t>
            </a:r>
            <a:endParaRPr lang="en-US" dirty="0"/>
          </a:p>
          <a:p>
            <a:pPr marL="0" indent="0">
              <a:buNone/>
            </a:pPr>
            <a:endParaRPr lang="en-US" dirty="0"/>
          </a:p>
          <a:p>
            <a:pPr>
              <a:buFont typeface="Arial"/>
              <a:buChar char="•"/>
            </a:pPr>
            <a:endParaRPr lang="en-US" dirty="0"/>
          </a:p>
          <a:p>
            <a:pPr>
              <a:buFont typeface="Arial"/>
              <a:buChar char="•"/>
            </a:pPr>
            <a:endParaRPr lang="en-US" b="1" dirty="0"/>
          </a:p>
          <a:p>
            <a:pPr marL="0" indent="0">
              <a:buNone/>
            </a:pPr>
            <a:endParaRPr lang="en-US" dirty="0"/>
          </a:p>
        </p:txBody>
      </p:sp>
    </p:spTree>
    <p:extLst>
      <p:ext uri="{BB962C8B-B14F-4D97-AF65-F5344CB8AC3E}">
        <p14:creationId xmlns:p14="http://schemas.microsoft.com/office/powerpoint/2010/main" val="1506728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500"/>
                                        <p:tgtEl>
                                          <p:spTgt spid="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fade">
                                      <p:cBhvr>
                                        <p:cTn id="12" dur="500"/>
                                        <p:tgtEl>
                                          <p:spTgt spid="8">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fade">
                                      <p:cBhvr>
                                        <p:cTn id="17"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75E45-03D8-61FE-D202-9E15F0A0B196}"/>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9EAAC1DB-C9DB-92BC-0AB9-AF7E44E6676F}"/>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20">
            <a:extLst>
              <a:ext uri="{FF2B5EF4-FFF2-40B4-BE49-F238E27FC236}">
                <a16:creationId xmlns:a16="http://schemas.microsoft.com/office/drawing/2014/main" id="{343FEBCC-B481-FAE2-220E-9651A9FFEA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0" name="Picture 9">
            <a:extLst>
              <a:ext uri="{FF2B5EF4-FFF2-40B4-BE49-F238E27FC236}">
                <a16:creationId xmlns:a16="http://schemas.microsoft.com/office/drawing/2014/main" id="{779A5C57-A579-28B1-B17A-9018EE5588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1" name="Slide Number Placeholder 10">
            <a:extLst>
              <a:ext uri="{FF2B5EF4-FFF2-40B4-BE49-F238E27FC236}">
                <a16:creationId xmlns:a16="http://schemas.microsoft.com/office/drawing/2014/main" id="{E4A99C4B-F438-C531-EB14-D64EDC867D23}"/>
              </a:ext>
            </a:extLst>
          </p:cNvPr>
          <p:cNvSpPr>
            <a:spLocks noGrp="1"/>
          </p:cNvSpPr>
          <p:nvPr>
            <p:ph type="sldNum" sz="quarter" idx="12"/>
          </p:nvPr>
        </p:nvSpPr>
        <p:spPr/>
        <p:txBody>
          <a:bodyPr/>
          <a:lstStyle/>
          <a:p>
            <a:fld id="{FA5D76E8-8AD6-443B-8B81-1688B2EC3502}" type="slidenum">
              <a:rPr lang="en-US" smtClean="0"/>
              <a:t>63</a:t>
            </a:fld>
            <a:endParaRPr lang="en-US"/>
          </a:p>
        </p:txBody>
      </p:sp>
      <p:sp>
        <p:nvSpPr>
          <p:cNvPr id="5" name="Title 1">
            <a:extLst>
              <a:ext uri="{FF2B5EF4-FFF2-40B4-BE49-F238E27FC236}">
                <a16:creationId xmlns:a16="http://schemas.microsoft.com/office/drawing/2014/main" id="{92D07408-B0DD-C58A-E2FB-ABC86F447866}"/>
              </a:ext>
            </a:extLst>
          </p:cNvPr>
          <p:cNvSpPr txBox="1">
            <a:spLocks/>
          </p:cNvSpPr>
          <p:nvPr/>
        </p:nvSpPr>
        <p:spPr>
          <a:xfrm>
            <a:off x="4541273" y="18255"/>
            <a:ext cx="457323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156082"/>
                </a:solidFill>
              </a:rPr>
              <a:t>Cultural Algorithm</a:t>
            </a:r>
            <a:endParaRPr lang="en-US" dirty="0">
              <a:solidFill>
                <a:srgbClr val="000000"/>
              </a:solidFill>
            </a:endParaRPr>
          </a:p>
          <a:p>
            <a:r>
              <a:rPr lang="en-US" sz="3200" b="1">
                <a:solidFill>
                  <a:srgbClr val="156082"/>
                </a:solidFill>
              </a:rPr>
              <a:t>    (Proposed approach)</a:t>
            </a:r>
            <a:endParaRPr lang="en-US" sz="3200">
              <a:solidFill>
                <a:srgbClr val="000000"/>
              </a:solidFill>
            </a:endParaRPr>
          </a:p>
        </p:txBody>
      </p:sp>
      <p:sp>
        <p:nvSpPr>
          <p:cNvPr id="8" name="Content Placeholder 2">
            <a:extLst>
              <a:ext uri="{FF2B5EF4-FFF2-40B4-BE49-F238E27FC236}">
                <a16:creationId xmlns:a16="http://schemas.microsoft.com/office/drawing/2014/main" id="{005555C9-08D4-F1DE-C6DC-E62E139AA9DF}"/>
              </a:ext>
            </a:extLst>
          </p:cNvPr>
          <p:cNvSpPr txBox="1">
            <a:spLocks/>
          </p:cNvSpPr>
          <p:nvPr/>
        </p:nvSpPr>
        <p:spPr>
          <a:xfrm>
            <a:off x="1851830" y="1121876"/>
            <a:ext cx="9311090" cy="480124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b="1" dirty="0">
                <a:ea typeface="+mn-lt"/>
                <a:cs typeface="+mn-lt"/>
              </a:rPr>
              <a:t>(3)Belief space:</a:t>
            </a:r>
          </a:p>
          <a:p>
            <a:pPr>
              <a:buFont typeface="Arial"/>
              <a:buChar char="•"/>
            </a:pPr>
            <a:r>
              <a:rPr lang="en-US" sz="2600" dirty="0">
                <a:ea typeface="+mn-lt"/>
                <a:cs typeface="+mn-lt"/>
              </a:rPr>
              <a:t>Also, we are using </a:t>
            </a:r>
            <a:r>
              <a:rPr lang="en-US" sz="2600" b="1" dirty="0">
                <a:ea typeface="+mn-lt"/>
                <a:cs typeface="+mn-lt"/>
              </a:rPr>
              <a:t>five</a:t>
            </a:r>
            <a:r>
              <a:rPr lang="en-US" sz="2600" dirty="0">
                <a:ea typeface="+mn-lt"/>
                <a:cs typeface="+mn-lt"/>
              </a:rPr>
              <a:t> variation operators:</a:t>
            </a:r>
          </a:p>
          <a:p>
            <a:pPr marL="0" indent="0">
              <a:buNone/>
            </a:pPr>
            <a:endParaRPr lang="en-US" sz="2600" dirty="0">
              <a:ea typeface="+mn-lt"/>
              <a:cs typeface="+mn-lt"/>
            </a:endParaRPr>
          </a:p>
          <a:p>
            <a:pPr>
              <a:buFont typeface="Arial"/>
              <a:buChar char="•"/>
            </a:pPr>
            <a:r>
              <a:rPr lang="en-US" sz="2600" dirty="0">
                <a:ea typeface="+mn-lt"/>
                <a:cs typeface="+mn-lt"/>
              </a:rPr>
              <a:t> </a:t>
            </a:r>
            <a:r>
              <a:rPr lang="en-US" sz="2600" b="1" dirty="0">
                <a:ea typeface="+mn-lt"/>
                <a:cs typeface="+mn-lt"/>
              </a:rPr>
              <a:t>Two</a:t>
            </a:r>
            <a:r>
              <a:rPr lang="en-US" sz="2600" dirty="0">
                <a:ea typeface="+mn-lt"/>
                <a:cs typeface="+mn-lt"/>
              </a:rPr>
              <a:t> of them use the cultural knowledge (cultural mutation and repair).</a:t>
            </a:r>
          </a:p>
          <a:p>
            <a:pPr>
              <a:buFont typeface="Arial"/>
              <a:buChar char="•"/>
            </a:pPr>
            <a:endParaRPr lang="en-US" sz="2600" dirty="0">
              <a:ea typeface="+mn-lt"/>
              <a:cs typeface="+mn-lt"/>
            </a:endParaRPr>
          </a:p>
          <a:p>
            <a:pPr>
              <a:buFont typeface="Arial"/>
              <a:buChar char="•"/>
            </a:pPr>
            <a:r>
              <a:rPr lang="en-US" sz="2600" dirty="0">
                <a:ea typeface="+mn-lt"/>
                <a:cs typeface="+mn-lt"/>
              </a:rPr>
              <a:t>The other </a:t>
            </a:r>
            <a:r>
              <a:rPr lang="en-US" sz="2600" b="1" dirty="0">
                <a:ea typeface="+mn-lt"/>
                <a:cs typeface="+mn-lt"/>
              </a:rPr>
              <a:t>three</a:t>
            </a:r>
            <a:r>
              <a:rPr lang="en-US" sz="2600" dirty="0">
                <a:ea typeface="+mn-lt"/>
                <a:cs typeface="+mn-lt"/>
              </a:rPr>
              <a:t> are designed to add the </a:t>
            </a:r>
            <a:r>
              <a:rPr lang="en-US" sz="3200" b="1" dirty="0">
                <a:ea typeface="+mn-lt"/>
                <a:cs typeface="+mn-lt"/>
              </a:rPr>
              <a:t>Exploration component</a:t>
            </a:r>
            <a:r>
              <a:rPr lang="en-US" sz="2600" dirty="0">
                <a:ea typeface="+mn-lt"/>
                <a:cs typeface="+mn-lt"/>
              </a:rPr>
              <a:t> of the algorithm (inter change, sequencing and simple mutation).And there is only one of the Exploration operators is applied to each individual.</a:t>
            </a:r>
            <a:endParaRPr lang="en-US" sz="2600" dirty="0"/>
          </a:p>
          <a:p>
            <a:pPr>
              <a:buFont typeface="Arial"/>
              <a:buChar char="•"/>
            </a:pPr>
            <a:endParaRPr lang="en-US" sz="4000" b="1" dirty="0"/>
          </a:p>
          <a:p>
            <a:pPr>
              <a:buFont typeface="Arial"/>
              <a:buChar char="•"/>
            </a:pPr>
            <a:endParaRPr lang="en-US" b="1" dirty="0"/>
          </a:p>
          <a:p>
            <a:pPr marL="0" indent="0">
              <a:buNone/>
            </a:pPr>
            <a:endParaRPr lang="en-US" dirty="0"/>
          </a:p>
          <a:p>
            <a:pPr>
              <a:buFont typeface="Arial"/>
              <a:buChar char="•"/>
            </a:pPr>
            <a:endParaRPr lang="en-US" dirty="0"/>
          </a:p>
          <a:p>
            <a:pPr>
              <a:buFont typeface="Arial"/>
              <a:buChar char="•"/>
            </a:pPr>
            <a:endParaRPr lang="en-US" b="1" dirty="0"/>
          </a:p>
          <a:p>
            <a:pPr marL="0" indent="0">
              <a:buNone/>
            </a:pPr>
            <a:endParaRPr lang="en-US" dirty="0"/>
          </a:p>
        </p:txBody>
      </p:sp>
    </p:spTree>
    <p:extLst>
      <p:ext uri="{BB962C8B-B14F-4D97-AF65-F5344CB8AC3E}">
        <p14:creationId xmlns:p14="http://schemas.microsoft.com/office/powerpoint/2010/main" val="122420617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F4330-D523-F50F-B970-127E90CF8DB7}"/>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441DA4D8-1A15-A3D1-81BC-F6E4C4C1162C}"/>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20">
            <a:extLst>
              <a:ext uri="{FF2B5EF4-FFF2-40B4-BE49-F238E27FC236}">
                <a16:creationId xmlns:a16="http://schemas.microsoft.com/office/drawing/2014/main" id="{759A1EC3-E3C9-844B-622A-93DB50104F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0" name="Picture 9">
            <a:extLst>
              <a:ext uri="{FF2B5EF4-FFF2-40B4-BE49-F238E27FC236}">
                <a16:creationId xmlns:a16="http://schemas.microsoft.com/office/drawing/2014/main" id="{394FF6BC-E17F-7051-4476-8668FD7171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1" name="Slide Number Placeholder 10">
            <a:extLst>
              <a:ext uri="{FF2B5EF4-FFF2-40B4-BE49-F238E27FC236}">
                <a16:creationId xmlns:a16="http://schemas.microsoft.com/office/drawing/2014/main" id="{D73C3EF2-983D-3B74-DECD-D818AADB10E3}"/>
              </a:ext>
            </a:extLst>
          </p:cNvPr>
          <p:cNvSpPr>
            <a:spLocks noGrp="1"/>
          </p:cNvSpPr>
          <p:nvPr>
            <p:ph type="sldNum" sz="quarter" idx="12"/>
          </p:nvPr>
        </p:nvSpPr>
        <p:spPr/>
        <p:txBody>
          <a:bodyPr/>
          <a:lstStyle/>
          <a:p>
            <a:fld id="{FA5D76E8-8AD6-443B-8B81-1688B2EC3502}" type="slidenum">
              <a:rPr lang="en-US" smtClean="0"/>
              <a:t>64</a:t>
            </a:fld>
            <a:endParaRPr lang="en-US"/>
          </a:p>
        </p:txBody>
      </p:sp>
      <p:sp>
        <p:nvSpPr>
          <p:cNvPr id="5" name="Title 1">
            <a:extLst>
              <a:ext uri="{FF2B5EF4-FFF2-40B4-BE49-F238E27FC236}">
                <a16:creationId xmlns:a16="http://schemas.microsoft.com/office/drawing/2014/main" id="{30C0B091-8C20-9639-93D8-791F77AC4A23}"/>
              </a:ext>
            </a:extLst>
          </p:cNvPr>
          <p:cNvSpPr txBox="1">
            <a:spLocks/>
          </p:cNvSpPr>
          <p:nvPr/>
        </p:nvSpPr>
        <p:spPr>
          <a:xfrm>
            <a:off x="4541273" y="18255"/>
            <a:ext cx="457323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156082"/>
                </a:solidFill>
              </a:rPr>
              <a:t>Cultural Algorithm</a:t>
            </a:r>
            <a:endParaRPr lang="en-US" dirty="0">
              <a:solidFill>
                <a:srgbClr val="000000"/>
              </a:solidFill>
            </a:endParaRPr>
          </a:p>
          <a:p>
            <a:r>
              <a:rPr lang="en-US" sz="3200" b="1">
                <a:solidFill>
                  <a:srgbClr val="156082"/>
                </a:solidFill>
              </a:rPr>
              <a:t>    (Proposed approach)</a:t>
            </a:r>
            <a:endParaRPr lang="en-US" sz="3200">
              <a:solidFill>
                <a:srgbClr val="000000"/>
              </a:solidFill>
            </a:endParaRPr>
          </a:p>
        </p:txBody>
      </p:sp>
      <p:sp>
        <p:nvSpPr>
          <p:cNvPr id="8" name="Content Placeholder 2">
            <a:extLst>
              <a:ext uri="{FF2B5EF4-FFF2-40B4-BE49-F238E27FC236}">
                <a16:creationId xmlns:a16="http://schemas.microsoft.com/office/drawing/2014/main" id="{075ED2BB-1189-6CC7-5BA2-C05BF09EAA35}"/>
              </a:ext>
            </a:extLst>
          </p:cNvPr>
          <p:cNvSpPr txBox="1">
            <a:spLocks/>
          </p:cNvSpPr>
          <p:nvPr/>
        </p:nvSpPr>
        <p:spPr>
          <a:xfrm>
            <a:off x="1851830" y="1334078"/>
            <a:ext cx="9504000" cy="569827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b="1" dirty="0">
                <a:ea typeface="+mn-lt"/>
                <a:cs typeface="+mn-lt"/>
              </a:rPr>
              <a:t>(3)Belief space:</a:t>
            </a:r>
          </a:p>
          <a:p>
            <a:pPr marL="0" indent="0">
              <a:buNone/>
            </a:pPr>
            <a:r>
              <a:rPr lang="en-US" sz="3200" b="1" dirty="0">
                <a:ea typeface="+mn-lt"/>
                <a:cs typeface="+mn-lt"/>
              </a:rPr>
              <a:t>Exploration component:</a:t>
            </a:r>
            <a:endParaRPr lang="en-US" dirty="0"/>
          </a:p>
          <a:p>
            <a:r>
              <a:rPr lang="en-US" b="1" dirty="0"/>
              <a:t> </a:t>
            </a:r>
            <a:r>
              <a:rPr lang="en-US" b="1" dirty="0">
                <a:ea typeface="+mn-lt"/>
                <a:cs typeface="+mn-lt"/>
              </a:rPr>
              <a:t>The sequencing operator:</a:t>
            </a:r>
            <a:r>
              <a:rPr lang="en-US" dirty="0">
                <a:ea typeface="+mn-lt"/>
                <a:cs typeface="+mn-lt"/>
              </a:rPr>
              <a:t> generate a large change in the individual since it interchanges two timeslots.(most destructive).</a:t>
            </a:r>
          </a:p>
          <a:p>
            <a:r>
              <a:rPr lang="en-US" b="1" dirty="0"/>
              <a:t> </a:t>
            </a:r>
            <a:r>
              <a:rPr lang="en-US" b="1" dirty="0">
                <a:ea typeface="+mn-lt"/>
                <a:cs typeface="+mn-lt"/>
              </a:rPr>
              <a:t>The interchange operator:</a:t>
            </a:r>
            <a:r>
              <a:rPr lang="en-US" dirty="0">
                <a:ea typeface="+mn-lt"/>
                <a:cs typeface="+mn-lt"/>
              </a:rPr>
              <a:t> interchanges two events.(Feasible solution = (places, events) available).</a:t>
            </a:r>
            <a:endParaRPr lang="en-US" dirty="0"/>
          </a:p>
          <a:p>
            <a:r>
              <a:rPr lang="en-US" b="1" dirty="0">
                <a:ea typeface="+mn-lt"/>
                <a:cs typeface="+mn-lt"/>
              </a:rPr>
              <a:t> The simple mutation:</a:t>
            </a:r>
            <a:r>
              <a:rPr lang="en-US" dirty="0">
                <a:ea typeface="+mn-lt"/>
                <a:cs typeface="+mn-lt"/>
              </a:rPr>
              <a:t> changes the place of an event. (problem has places available in the feasible solution)</a:t>
            </a:r>
            <a:endParaRPr lang="en-US" dirty="0"/>
          </a:p>
          <a:p>
            <a:pPr>
              <a:buFont typeface="Arial"/>
              <a:buChar char="•"/>
            </a:pPr>
            <a:r>
              <a:rPr lang="en-US" sz="4000" b="1" dirty="0"/>
              <a:t>::T</a:t>
            </a:r>
            <a:r>
              <a:rPr lang="en-US" sz="3200" b="1" dirty="0"/>
              <a:t>he last two operators use </a:t>
            </a:r>
            <a:r>
              <a:rPr lang="en-US" sz="3200" b="1" dirty="0">
                <a:ea typeface="+mn-lt"/>
                <a:cs typeface="+mn-lt"/>
              </a:rPr>
              <a:t>Matching algorithm</a:t>
            </a:r>
            <a:endParaRPr lang="en-US" sz="3200" b="1" dirty="0"/>
          </a:p>
          <a:p>
            <a:pPr>
              <a:buFont typeface="Arial"/>
              <a:buChar char="•"/>
            </a:pPr>
            <a:endParaRPr lang="en-US" b="1" dirty="0"/>
          </a:p>
          <a:p>
            <a:pPr marL="0" indent="0">
              <a:buNone/>
            </a:pPr>
            <a:endParaRPr lang="en-US" dirty="0"/>
          </a:p>
          <a:p>
            <a:pPr>
              <a:buFont typeface="Arial"/>
              <a:buChar char="•"/>
            </a:pPr>
            <a:endParaRPr lang="en-US" dirty="0"/>
          </a:p>
          <a:p>
            <a:pPr>
              <a:buFont typeface="Arial"/>
              <a:buChar char="•"/>
            </a:pPr>
            <a:endParaRPr lang="en-US" b="1" dirty="0"/>
          </a:p>
          <a:p>
            <a:pPr marL="0" indent="0">
              <a:buNone/>
            </a:pPr>
            <a:endParaRPr lang="en-US" dirty="0"/>
          </a:p>
        </p:txBody>
      </p:sp>
    </p:spTree>
    <p:extLst>
      <p:ext uri="{BB962C8B-B14F-4D97-AF65-F5344CB8AC3E}">
        <p14:creationId xmlns:p14="http://schemas.microsoft.com/office/powerpoint/2010/main" val="177609015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71F55-D273-F969-356E-109C0CB66351}"/>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091FC58A-9BD7-4383-8746-3580B5D877A9}"/>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20">
            <a:extLst>
              <a:ext uri="{FF2B5EF4-FFF2-40B4-BE49-F238E27FC236}">
                <a16:creationId xmlns:a16="http://schemas.microsoft.com/office/drawing/2014/main" id="{249C2941-C31B-5488-5C2E-D0724C42BE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0" name="Picture 9">
            <a:extLst>
              <a:ext uri="{FF2B5EF4-FFF2-40B4-BE49-F238E27FC236}">
                <a16:creationId xmlns:a16="http://schemas.microsoft.com/office/drawing/2014/main" id="{110C17AC-AB46-1C66-0D4A-2B1DD511F5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1" name="Slide Number Placeholder 10">
            <a:extLst>
              <a:ext uri="{FF2B5EF4-FFF2-40B4-BE49-F238E27FC236}">
                <a16:creationId xmlns:a16="http://schemas.microsoft.com/office/drawing/2014/main" id="{656442BF-6E86-D85A-0462-95938ACA3C08}"/>
              </a:ext>
            </a:extLst>
          </p:cNvPr>
          <p:cNvSpPr>
            <a:spLocks noGrp="1"/>
          </p:cNvSpPr>
          <p:nvPr>
            <p:ph type="sldNum" sz="quarter" idx="12"/>
          </p:nvPr>
        </p:nvSpPr>
        <p:spPr/>
        <p:txBody>
          <a:bodyPr/>
          <a:lstStyle/>
          <a:p>
            <a:fld id="{FA5D76E8-8AD6-443B-8B81-1688B2EC3502}" type="slidenum">
              <a:rPr lang="en-US" smtClean="0"/>
              <a:t>65</a:t>
            </a:fld>
            <a:endParaRPr lang="en-US"/>
          </a:p>
        </p:txBody>
      </p:sp>
      <p:sp>
        <p:nvSpPr>
          <p:cNvPr id="3" name="TextBox 2">
            <a:extLst>
              <a:ext uri="{FF2B5EF4-FFF2-40B4-BE49-F238E27FC236}">
                <a16:creationId xmlns:a16="http://schemas.microsoft.com/office/drawing/2014/main" id="{3E962B75-7FD2-BCCB-840C-51CE788A02C1}"/>
              </a:ext>
            </a:extLst>
          </p:cNvPr>
          <p:cNvSpPr txBox="1"/>
          <p:nvPr/>
        </p:nvSpPr>
        <p:spPr>
          <a:xfrm>
            <a:off x="2101223" y="2429602"/>
            <a:ext cx="2216944" cy="1323439"/>
          </a:xfrm>
          <a:prstGeom prst="rect">
            <a:avLst/>
          </a:prstGeom>
          <a:noFill/>
        </p:spPr>
        <p:txBody>
          <a:bodyPr wrap="square">
            <a:spAutoFit/>
          </a:bodyPr>
          <a:lstStyle/>
          <a:p>
            <a:pPr algn="ctr"/>
            <a:r>
              <a:rPr lang="en-US" sz="8000" b="1" i="0" dirty="0">
                <a:solidFill>
                  <a:srgbClr val="00B0F0"/>
                </a:solidFill>
                <a:effectLst/>
                <a:latin typeface="Urbanist"/>
              </a:rPr>
              <a:t>?</a:t>
            </a:r>
            <a:endParaRPr lang="en-US" sz="8000" dirty="0">
              <a:solidFill>
                <a:srgbClr val="00B0F0"/>
              </a:solidFill>
            </a:endParaRPr>
          </a:p>
        </p:txBody>
      </p:sp>
      <p:sp>
        <p:nvSpPr>
          <p:cNvPr id="4" name="TextBox 3">
            <a:extLst>
              <a:ext uri="{FF2B5EF4-FFF2-40B4-BE49-F238E27FC236}">
                <a16:creationId xmlns:a16="http://schemas.microsoft.com/office/drawing/2014/main" id="{50895338-5F49-0814-CB7D-5518145C3132}"/>
              </a:ext>
            </a:extLst>
          </p:cNvPr>
          <p:cNvSpPr txBox="1"/>
          <p:nvPr/>
        </p:nvSpPr>
        <p:spPr>
          <a:xfrm>
            <a:off x="2097958" y="3790950"/>
            <a:ext cx="2216944" cy="923330"/>
          </a:xfrm>
          <a:prstGeom prst="rect">
            <a:avLst/>
          </a:prstGeom>
          <a:noFill/>
        </p:spPr>
        <p:txBody>
          <a:bodyPr wrap="square">
            <a:spAutoFit/>
          </a:bodyPr>
          <a:lstStyle/>
          <a:p>
            <a:pPr algn="ctr"/>
            <a:r>
              <a:rPr lang="en-US" b="0" i="0" dirty="0">
                <a:solidFill>
                  <a:srgbClr val="64748B"/>
                </a:solidFill>
                <a:effectLst/>
                <a:latin typeface="Urbanist"/>
              </a:rPr>
              <a:t>Thinking Time</a:t>
            </a:r>
          </a:p>
          <a:p>
            <a:br>
              <a:rPr lang="en-US" dirty="0"/>
            </a:br>
            <a:endParaRPr lang="en-US" dirty="0"/>
          </a:p>
        </p:txBody>
      </p:sp>
      <p:sp>
        <p:nvSpPr>
          <p:cNvPr id="12" name="TextBox 11">
            <a:extLst>
              <a:ext uri="{FF2B5EF4-FFF2-40B4-BE49-F238E27FC236}">
                <a16:creationId xmlns:a16="http://schemas.microsoft.com/office/drawing/2014/main" id="{F8E833A3-A20D-6F41-A62A-75BAE6787780}"/>
              </a:ext>
            </a:extLst>
          </p:cNvPr>
          <p:cNvSpPr txBox="1"/>
          <p:nvPr/>
        </p:nvSpPr>
        <p:spPr>
          <a:xfrm>
            <a:off x="5145880" y="1567160"/>
            <a:ext cx="6436520" cy="2739211"/>
          </a:xfrm>
          <a:prstGeom prst="rect">
            <a:avLst/>
          </a:prstGeom>
          <a:noFill/>
        </p:spPr>
        <p:txBody>
          <a:bodyPr wrap="square" lIns="91440" tIns="45720" rIns="91440" bIns="45720" anchor="t">
            <a:spAutoFit/>
          </a:bodyPr>
          <a:lstStyle/>
          <a:p>
            <a:pPr algn="ctr"/>
            <a:r>
              <a:rPr lang="en-US" sz="2400" b="1" dirty="0">
                <a:solidFill>
                  <a:srgbClr val="1E293B"/>
                </a:solidFill>
                <a:latin typeface="Urbanist"/>
              </a:rPr>
              <a:t>We said before that </a:t>
            </a:r>
            <a:r>
              <a:rPr lang="en-US" sz="2400" b="1" dirty="0">
                <a:solidFill>
                  <a:srgbClr val="000000"/>
                </a:solidFill>
                <a:latin typeface="Aptos"/>
              </a:rPr>
              <a:t>there is only one of the Exploration operators is applied to each individual.</a:t>
            </a:r>
            <a:endParaRPr lang="en-US" sz="2400" b="1" dirty="0">
              <a:solidFill>
                <a:srgbClr val="1E293B"/>
              </a:solidFill>
              <a:latin typeface="Urbanist"/>
            </a:endParaRPr>
          </a:p>
          <a:p>
            <a:pPr algn="ctr"/>
            <a:endParaRPr lang="en-US" sz="2800" dirty="0"/>
          </a:p>
          <a:p>
            <a:pPr algn="ctr"/>
            <a:r>
              <a:rPr lang="en-US" sz="3600" b="1"/>
              <a:t>But how we will choose it??</a:t>
            </a:r>
            <a:endParaRPr lang="en-US" sz="3600" b="1" dirty="0"/>
          </a:p>
          <a:p>
            <a:pPr algn="ctr"/>
            <a:br>
              <a:rPr lang="en-US" dirty="0"/>
            </a:br>
            <a:endParaRPr lang="en-US" dirty="0"/>
          </a:p>
        </p:txBody>
      </p:sp>
      <p:sp>
        <p:nvSpPr>
          <p:cNvPr id="6" name="Title 1">
            <a:extLst>
              <a:ext uri="{FF2B5EF4-FFF2-40B4-BE49-F238E27FC236}">
                <a16:creationId xmlns:a16="http://schemas.microsoft.com/office/drawing/2014/main" id="{F2663485-EA79-A777-2465-3E20ECA5AB9A}"/>
              </a:ext>
            </a:extLst>
          </p:cNvPr>
          <p:cNvSpPr txBox="1">
            <a:spLocks/>
          </p:cNvSpPr>
          <p:nvPr/>
        </p:nvSpPr>
        <p:spPr>
          <a:xfrm>
            <a:off x="5558788" y="3594832"/>
            <a:ext cx="935047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156082"/>
                </a:solidFill>
              </a:rPr>
              <a:t>Answer: Parameter </a:t>
            </a:r>
            <a:r>
              <a:rPr lang="en-US" sz="3200" b="1">
                <a:solidFill>
                  <a:srgbClr val="156082"/>
                </a:solidFill>
              </a:rPr>
              <a:t>control:</a:t>
            </a:r>
          </a:p>
        </p:txBody>
      </p:sp>
      <p:sp>
        <p:nvSpPr>
          <p:cNvPr id="15" name="Title 1">
            <a:extLst>
              <a:ext uri="{FF2B5EF4-FFF2-40B4-BE49-F238E27FC236}">
                <a16:creationId xmlns:a16="http://schemas.microsoft.com/office/drawing/2014/main" id="{E0F8DE5F-DC04-DF43-0F4F-E9884D7A9B9C}"/>
              </a:ext>
            </a:extLst>
          </p:cNvPr>
          <p:cNvSpPr txBox="1">
            <a:spLocks/>
          </p:cNvSpPr>
          <p:nvPr/>
        </p:nvSpPr>
        <p:spPr>
          <a:xfrm>
            <a:off x="4541273" y="18255"/>
            <a:ext cx="457323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156082"/>
                </a:solidFill>
              </a:rPr>
              <a:t>Cultural Algorithm</a:t>
            </a:r>
            <a:endParaRPr lang="en-US" dirty="0">
              <a:solidFill>
                <a:srgbClr val="000000"/>
              </a:solidFill>
            </a:endParaRPr>
          </a:p>
          <a:p>
            <a:r>
              <a:rPr lang="en-US" sz="3200" b="1" dirty="0">
                <a:solidFill>
                  <a:srgbClr val="156082"/>
                </a:solidFill>
              </a:rPr>
              <a:t>    (Proposed approach)</a:t>
            </a:r>
            <a:endParaRPr lang="en-US" sz="3200" dirty="0">
              <a:solidFill>
                <a:srgbClr val="000000"/>
              </a:solidFill>
            </a:endParaRPr>
          </a:p>
        </p:txBody>
      </p:sp>
    </p:spTree>
    <p:extLst>
      <p:ext uri="{BB962C8B-B14F-4D97-AF65-F5344CB8AC3E}">
        <p14:creationId xmlns:p14="http://schemas.microsoft.com/office/powerpoint/2010/main" val="356341977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815BA-5F0E-1E56-35B0-E8F8FC1AD4CC}"/>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8C9478F7-1715-C734-92E5-2759D035287D}"/>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20">
            <a:extLst>
              <a:ext uri="{FF2B5EF4-FFF2-40B4-BE49-F238E27FC236}">
                <a16:creationId xmlns:a16="http://schemas.microsoft.com/office/drawing/2014/main" id="{80092930-25A7-CDC1-7699-E97BA3619E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0" name="Picture 9">
            <a:extLst>
              <a:ext uri="{FF2B5EF4-FFF2-40B4-BE49-F238E27FC236}">
                <a16:creationId xmlns:a16="http://schemas.microsoft.com/office/drawing/2014/main" id="{FFD7F2C6-5DE2-C7AA-F1DE-156329125B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1" name="Slide Number Placeholder 10">
            <a:extLst>
              <a:ext uri="{FF2B5EF4-FFF2-40B4-BE49-F238E27FC236}">
                <a16:creationId xmlns:a16="http://schemas.microsoft.com/office/drawing/2014/main" id="{2C9059A0-BC12-C5F2-FE20-D24B338EA591}"/>
              </a:ext>
            </a:extLst>
          </p:cNvPr>
          <p:cNvSpPr>
            <a:spLocks noGrp="1"/>
          </p:cNvSpPr>
          <p:nvPr>
            <p:ph type="sldNum" sz="quarter" idx="12"/>
          </p:nvPr>
        </p:nvSpPr>
        <p:spPr/>
        <p:txBody>
          <a:bodyPr/>
          <a:lstStyle/>
          <a:p>
            <a:fld id="{FA5D76E8-8AD6-443B-8B81-1688B2EC3502}" type="slidenum">
              <a:rPr lang="en-US" smtClean="0"/>
              <a:t>66</a:t>
            </a:fld>
            <a:endParaRPr lang="en-US"/>
          </a:p>
        </p:txBody>
      </p:sp>
      <p:sp>
        <p:nvSpPr>
          <p:cNvPr id="5" name="Title 1">
            <a:extLst>
              <a:ext uri="{FF2B5EF4-FFF2-40B4-BE49-F238E27FC236}">
                <a16:creationId xmlns:a16="http://schemas.microsoft.com/office/drawing/2014/main" id="{6DF07A77-C0F9-A75B-013E-BD2133907F74}"/>
              </a:ext>
            </a:extLst>
          </p:cNvPr>
          <p:cNvSpPr txBox="1">
            <a:spLocks/>
          </p:cNvSpPr>
          <p:nvPr/>
        </p:nvSpPr>
        <p:spPr>
          <a:xfrm>
            <a:off x="4541273" y="18255"/>
            <a:ext cx="457323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solidFill>
                  <a:srgbClr val="156082"/>
                </a:solidFill>
              </a:rPr>
              <a:t>Parameter control</a:t>
            </a:r>
            <a:endParaRPr lang="en-US" b="1" dirty="0">
              <a:solidFill>
                <a:srgbClr val="156082"/>
              </a:solidFill>
            </a:endParaRPr>
          </a:p>
        </p:txBody>
      </p:sp>
      <p:sp>
        <p:nvSpPr>
          <p:cNvPr id="8" name="Content Placeholder 2">
            <a:extLst>
              <a:ext uri="{FF2B5EF4-FFF2-40B4-BE49-F238E27FC236}">
                <a16:creationId xmlns:a16="http://schemas.microsoft.com/office/drawing/2014/main" id="{2F417F76-3B13-1069-A1E6-EAE45296F1D0}"/>
              </a:ext>
            </a:extLst>
          </p:cNvPr>
          <p:cNvSpPr txBox="1">
            <a:spLocks/>
          </p:cNvSpPr>
          <p:nvPr/>
        </p:nvSpPr>
        <p:spPr>
          <a:xfrm>
            <a:off x="1866207" y="1391587"/>
            <a:ext cx="9504000" cy="546823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a:buChar char="•"/>
            </a:pPr>
            <a:r>
              <a:rPr lang="en-US" sz="3200" b="1"/>
              <a:t>Parameter control:</a:t>
            </a:r>
            <a:r>
              <a:rPr lang="en-US" sz="4000" b="1" dirty="0"/>
              <a:t> </a:t>
            </a:r>
            <a:r>
              <a:rPr lang="en-US">
                <a:ea typeface="+mn-lt"/>
                <a:cs typeface="+mn-lt"/>
              </a:rPr>
              <a:t>Is a process, concurrent to the search of solutions, that allows values of the parameters to change during this process.</a:t>
            </a:r>
            <a:endParaRPr lang="en-US"/>
          </a:p>
          <a:p>
            <a:pPr>
              <a:buFont typeface="Arial"/>
              <a:buChar char="•"/>
            </a:pPr>
            <a:r>
              <a:rPr lang="en-US">
                <a:ea typeface="+mn-lt"/>
                <a:cs typeface="+mn-lt"/>
              </a:rPr>
              <a:t>Using a </a:t>
            </a:r>
            <a:r>
              <a:rPr lang="en-US" b="1">
                <a:ea typeface="+mn-lt"/>
                <a:cs typeface="+mn-lt"/>
              </a:rPr>
              <a:t>roulette wheel</a:t>
            </a:r>
            <a:r>
              <a:rPr lang="en-US">
                <a:ea typeface="+mn-lt"/>
                <a:cs typeface="+mn-lt"/>
              </a:rPr>
              <a:t> and based on the success rate of each operator. This mechanism consists of updating the probability of each operator to be applied.</a:t>
            </a:r>
            <a:endParaRPr lang="en-US" dirty="0">
              <a:ea typeface="+mn-lt"/>
              <a:cs typeface="+mn-lt"/>
            </a:endParaRPr>
          </a:p>
          <a:p>
            <a:pPr>
              <a:buFont typeface="Arial"/>
              <a:buChar char="•"/>
            </a:pPr>
            <a:r>
              <a:rPr lang="en-US" dirty="0"/>
              <a:t>In the first generation all the operators has the same </a:t>
            </a:r>
            <a:r>
              <a:rPr lang="en-US"/>
              <a:t>probability. </a:t>
            </a:r>
            <a:endParaRPr lang="en-US" dirty="0"/>
          </a:p>
          <a:p>
            <a:pPr>
              <a:buFont typeface="Arial"/>
              <a:buChar char="•"/>
            </a:pPr>
            <a:endParaRPr lang="en-US" dirty="0"/>
          </a:p>
          <a:p>
            <a:pPr>
              <a:buFont typeface="Arial"/>
              <a:buChar char="•"/>
            </a:pPr>
            <a:endParaRPr lang="en-US" b="1" dirty="0"/>
          </a:p>
          <a:p>
            <a:pPr marL="0" indent="0">
              <a:buNone/>
            </a:pPr>
            <a:endParaRPr lang="en-US" dirty="0"/>
          </a:p>
          <a:p>
            <a:pPr>
              <a:buFont typeface="Arial"/>
              <a:buChar char="•"/>
            </a:pPr>
            <a:endParaRPr lang="en-US" dirty="0"/>
          </a:p>
          <a:p>
            <a:pPr>
              <a:buFont typeface="Arial"/>
              <a:buChar char="•"/>
            </a:pPr>
            <a:endParaRPr lang="en-US" b="1" dirty="0"/>
          </a:p>
          <a:p>
            <a:pPr marL="0" indent="0">
              <a:buNone/>
            </a:pPr>
            <a:endParaRPr lang="en-US" dirty="0"/>
          </a:p>
        </p:txBody>
      </p:sp>
      <p:pic>
        <p:nvPicPr>
          <p:cNvPr id="2" name="Picture 1">
            <a:extLst>
              <a:ext uri="{FF2B5EF4-FFF2-40B4-BE49-F238E27FC236}">
                <a16:creationId xmlns:a16="http://schemas.microsoft.com/office/drawing/2014/main" id="{B1B515E2-0DB5-73C5-170F-3CD978973E16}"/>
              </a:ext>
            </a:extLst>
          </p:cNvPr>
          <p:cNvPicPr>
            <a:picLocks noChangeAspect="1"/>
          </p:cNvPicPr>
          <p:nvPr/>
        </p:nvPicPr>
        <p:blipFill>
          <a:blip r:embed="rId4"/>
          <a:stretch>
            <a:fillRect/>
          </a:stretch>
        </p:blipFill>
        <p:spPr>
          <a:xfrm>
            <a:off x="8157533" y="4746415"/>
            <a:ext cx="2619916" cy="1376453"/>
          </a:xfrm>
          <a:prstGeom prst="rect">
            <a:avLst/>
          </a:prstGeom>
        </p:spPr>
      </p:pic>
      <p:sp>
        <p:nvSpPr>
          <p:cNvPr id="3" name="TextBox 2">
            <a:extLst>
              <a:ext uri="{FF2B5EF4-FFF2-40B4-BE49-F238E27FC236}">
                <a16:creationId xmlns:a16="http://schemas.microsoft.com/office/drawing/2014/main" id="{C219AF25-A201-3B97-64FB-6335E7EBA404}"/>
              </a:ext>
            </a:extLst>
          </p:cNvPr>
          <p:cNvSpPr txBox="1"/>
          <p:nvPr/>
        </p:nvSpPr>
        <p:spPr>
          <a:xfrm>
            <a:off x="8161322" y="6117309"/>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Roulette wheel</a:t>
            </a:r>
          </a:p>
        </p:txBody>
      </p:sp>
    </p:spTree>
    <p:extLst>
      <p:ext uri="{BB962C8B-B14F-4D97-AF65-F5344CB8AC3E}">
        <p14:creationId xmlns:p14="http://schemas.microsoft.com/office/powerpoint/2010/main" val="41540608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22ECC-A679-D611-7C62-BC31E1754181}"/>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E0BB9EA0-C3ED-A6B4-9DA2-232E052CA1AF}"/>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20">
            <a:extLst>
              <a:ext uri="{FF2B5EF4-FFF2-40B4-BE49-F238E27FC236}">
                <a16:creationId xmlns:a16="http://schemas.microsoft.com/office/drawing/2014/main" id="{0447B786-6073-C51F-31A8-570F5BBE12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0" name="Picture 9">
            <a:extLst>
              <a:ext uri="{FF2B5EF4-FFF2-40B4-BE49-F238E27FC236}">
                <a16:creationId xmlns:a16="http://schemas.microsoft.com/office/drawing/2014/main" id="{9E364984-198D-4CE5-F8DF-49B88B4EA8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1" name="Slide Number Placeholder 10">
            <a:extLst>
              <a:ext uri="{FF2B5EF4-FFF2-40B4-BE49-F238E27FC236}">
                <a16:creationId xmlns:a16="http://schemas.microsoft.com/office/drawing/2014/main" id="{C3D3A12E-4F05-3EA6-8629-A229F223BB2B}"/>
              </a:ext>
            </a:extLst>
          </p:cNvPr>
          <p:cNvSpPr>
            <a:spLocks noGrp="1"/>
          </p:cNvSpPr>
          <p:nvPr>
            <p:ph type="sldNum" sz="quarter" idx="12"/>
          </p:nvPr>
        </p:nvSpPr>
        <p:spPr/>
        <p:txBody>
          <a:bodyPr/>
          <a:lstStyle/>
          <a:p>
            <a:fld id="{FA5D76E8-8AD6-443B-8B81-1688B2EC3502}" type="slidenum">
              <a:rPr lang="en-US" smtClean="0"/>
              <a:t>67</a:t>
            </a:fld>
            <a:endParaRPr lang="en-US"/>
          </a:p>
        </p:txBody>
      </p:sp>
      <p:sp>
        <p:nvSpPr>
          <p:cNvPr id="5" name="Title 1">
            <a:extLst>
              <a:ext uri="{FF2B5EF4-FFF2-40B4-BE49-F238E27FC236}">
                <a16:creationId xmlns:a16="http://schemas.microsoft.com/office/drawing/2014/main" id="{65ACCB75-EA02-FD00-2F4E-D8E26C102FF1}"/>
              </a:ext>
            </a:extLst>
          </p:cNvPr>
          <p:cNvSpPr txBox="1">
            <a:spLocks/>
          </p:cNvSpPr>
          <p:nvPr/>
        </p:nvSpPr>
        <p:spPr>
          <a:xfrm>
            <a:off x="4541273" y="18255"/>
            <a:ext cx="457323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solidFill>
                  <a:srgbClr val="156082"/>
                </a:solidFill>
              </a:rPr>
              <a:t>Parameter control</a:t>
            </a:r>
            <a:endParaRPr lang="en-US" b="1" dirty="0">
              <a:solidFill>
                <a:srgbClr val="156082"/>
              </a:solidFill>
            </a:endParaRPr>
          </a:p>
        </p:txBody>
      </p:sp>
      <p:sp>
        <p:nvSpPr>
          <p:cNvPr id="4" name="Title 1">
            <a:extLst>
              <a:ext uri="{FF2B5EF4-FFF2-40B4-BE49-F238E27FC236}">
                <a16:creationId xmlns:a16="http://schemas.microsoft.com/office/drawing/2014/main" id="{E7436AFC-B3B8-EE63-B6D5-66B7C10285E0}"/>
              </a:ext>
            </a:extLst>
          </p:cNvPr>
          <p:cNvSpPr txBox="1">
            <a:spLocks/>
          </p:cNvSpPr>
          <p:nvPr/>
        </p:nvSpPr>
        <p:spPr>
          <a:xfrm>
            <a:off x="3836781" y="679613"/>
            <a:ext cx="638477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156082"/>
                </a:solidFill>
              </a:rPr>
              <a:t>Dealing with the </a:t>
            </a:r>
            <a:r>
              <a:rPr lang="en-US" sz="3200" b="1">
                <a:solidFill>
                  <a:srgbClr val="156082"/>
                </a:solidFill>
              </a:rPr>
              <a:t>parameter</a:t>
            </a:r>
            <a:r>
              <a:rPr lang="en-US" sz="3200" b="1" dirty="0">
                <a:solidFill>
                  <a:srgbClr val="156082"/>
                </a:solidFill>
              </a:rPr>
              <a:t> control</a:t>
            </a:r>
          </a:p>
        </p:txBody>
      </p:sp>
      <p:sp>
        <p:nvSpPr>
          <p:cNvPr id="14" name="TextBox 13">
            <a:extLst>
              <a:ext uri="{FF2B5EF4-FFF2-40B4-BE49-F238E27FC236}">
                <a16:creationId xmlns:a16="http://schemas.microsoft.com/office/drawing/2014/main" id="{0CAC56C0-AF9C-42F4-7F85-E24A4216B56C}"/>
              </a:ext>
            </a:extLst>
          </p:cNvPr>
          <p:cNvSpPr txBox="1"/>
          <p:nvPr/>
        </p:nvSpPr>
        <p:spPr>
          <a:xfrm>
            <a:off x="1905585" y="1708679"/>
            <a:ext cx="9241766"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We will deal with the fitness function before and </a:t>
            </a:r>
            <a:r>
              <a:rPr lang="en-US" sz="2800" b="1"/>
              <a:t>after applying the exploration operator.</a:t>
            </a:r>
            <a:endParaRPr lang="en-US" sz="2800" b="1" dirty="0"/>
          </a:p>
        </p:txBody>
      </p:sp>
      <p:sp>
        <p:nvSpPr>
          <p:cNvPr id="15" name="TextBox 14">
            <a:extLst>
              <a:ext uri="{FF2B5EF4-FFF2-40B4-BE49-F238E27FC236}">
                <a16:creationId xmlns:a16="http://schemas.microsoft.com/office/drawing/2014/main" id="{A9957397-A625-330B-67EC-41A7B884A686}"/>
              </a:ext>
            </a:extLst>
          </p:cNvPr>
          <p:cNvSpPr txBox="1"/>
          <p:nvPr/>
        </p:nvSpPr>
        <p:spPr>
          <a:xfrm>
            <a:off x="2709120" y="3269627"/>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6" name="TextBox 15">
            <a:extLst>
              <a:ext uri="{FF2B5EF4-FFF2-40B4-BE49-F238E27FC236}">
                <a16:creationId xmlns:a16="http://schemas.microsoft.com/office/drawing/2014/main" id="{BA66D382-6F43-8374-588B-0461E8568D27}"/>
              </a:ext>
            </a:extLst>
          </p:cNvPr>
          <p:cNvSpPr txBox="1"/>
          <p:nvPr/>
        </p:nvSpPr>
        <p:spPr>
          <a:xfrm>
            <a:off x="2690436" y="3306995"/>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8" name="TextBox 17">
            <a:extLst>
              <a:ext uri="{FF2B5EF4-FFF2-40B4-BE49-F238E27FC236}">
                <a16:creationId xmlns:a16="http://schemas.microsoft.com/office/drawing/2014/main" id="{97A96C4B-4A43-44CC-0039-EBCD921BB381}"/>
              </a:ext>
            </a:extLst>
          </p:cNvPr>
          <p:cNvSpPr txBox="1"/>
          <p:nvPr/>
        </p:nvSpPr>
        <p:spPr>
          <a:xfrm>
            <a:off x="5135836" y="2659798"/>
            <a:ext cx="27432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ea typeface="+mn-lt"/>
                <a:cs typeface="+mn-lt"/>
              </a:rPr>
              <a:t>  (</a:t>
            </a:r>
            <a:r>
              <a:rPr lang="en-US" sz="2800" b="1" dirty="0" err="1">
                <a:ea typeface="+mn-lt"/>
                <a:cs typeface="+mn-lt"/>
              </a:rPr>
              <a:t>fcur</a:t>
            </a:r>
            <a:r>
              <a:rPr lang="en-US" sz="2800" b="1" dirty="0">
                <a:ea typeface="+mn-lt"/>
                <a:cs typeface="+mn-lt"/>
              </a:rPr>
              <a:t> &lt; </a:t>
            </a:r>
            <a:r>
              <a:rPr lang="en-US" sz="2800" b="1" dirty="0" err="1">
                <a:ea typeface="+mn-lt"/>
                <a:cs typeface="+mn-lt"/>
              </a:rPr>
              <a:t>fprev</a:t>
            </a:r>
            <a:r>
              <a:rPr lang="en-US" sz="2800" b="1" dirty="0">
                <a:ea typeface="+mn-lt"/>
                <a:cs typeface="+mn-lt"/>
              </a:rPr>
              <a:t>)</a:t>
            </a:r>
            <a:endParaRPr lang="en-US" sz="2800" b="1" dirty="0"/>
          </a:p>
        </p:txBody>
      </p:sp>
      <p:sp>
        <p:nvSpPr>
          <p:cNvPr id="19" name="TextBox 18">
            <a:extLst>
              <a:ext uri="{FF2B5EF4-FFF2-40B4-BE49-F238E27FC236}">
                <a16:creationId xmlns:a16="http://schemas.microsoft.com/office/drawing/2014/main" id="{5E1EA0CC-A500-E7FA-6404-28374D521AA8}"/>
              </a:ext>
            </a:extLst>
          </p:cNvPr>
          <p:cNvSpPr txBox="1"/>
          <p:nvPr/>
        </p:nvSpPr>
        <p:spPr>
          <a:xfrm>
            <a:off x="1941354" y="3487786"/>
            <a:ext cx="4238446"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The op </a:t>
            </a:r>
            <a:r>
              <a:rPr lang="en-US" sz="2800" b="1"/>
              <a:t>probability will</a:t>
            </a:r>
            <a:endParaRPr lang="en-US"/>
          </a:p>
          <a:p>
            <a:r>
              <a:rPr lang="en-US" sz="2800" b="1"/>
              <a:t> be:</a:t>
            </a:r>
            <a:endParaRPr lang="en-US"/>
          </a:p>
          <a:p>
            <a:r>
              <a:rPr lang="en-US" sz="2800" b="1" dirty="0"/>
              <a:t>operator[</a:t>
            </a:r>
            <a:r>
              <a:rPr lang="en-US" sz="2800" b="1" dirty="0" err="1"/>
              <a:t>i</a:t>
            </a:r>
            <a:r>
              <a:rPr lang="en-US" sz="2800" b="1" dirty="0"/>
              <a:t>] =</a:t>
            </a:r>
            <a:endParaRPr lang="en-US" dirty="0"/>
          </a:p>
          <a:p>
            <a:r>
              <a:rPr lang="en-US" sz="2800" b="1" dirty="0"/>
              <a:t>operator[</a:t>
            </a:r>
            <a:r>
              <a:rPr lang="en-US" sz="2800" b="1" dirty="0" err="1"/>
              <a:t>i</a:t>
            </a:r>
            <a:r>
              <a:rPr lang="en-US" sz="2800" b="1" dirty="0"/>
              <a:t>] + ∆variation</a:t>
            </a:r>
          </a:p>
        </p:txBody>
      </p:sp>
      <p:cxnSp>
        <p:nvCxnSpPr>
          <p:cNvPr id="21" name="Straight Connector 20">
            <a:extLst>
              <a:ext uri="{FF2B5EF4-FFF2-40B4-BE49-F238E27FC236}">
                <a16:creationId xmlns:a16="http://schemas.microsoft.com/office/drawing/2014/main" id="{1FB9E12E-3BF9-1503-D1C9-DF4A5BD76D09}"/>
              </a:ext>
            </a:extLst>
          </p:cNvPr>
          <p:cNvCxnSpPr/>
          <p:nvPr/>
        </p:nvCxnSpPr>
        <p:spPr>
          <a:xfrm>
            <a:off x="6442675" y="3175244"/>
            <a:ext cx="1" cy="2220942"/>
          </a:xfrm>
          <a:prstGeom prst="line">
            <a:avLst/>
          </a:prstGeom>
          <a:ln w="50800" cap="rnd">
            <a:round/>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0BFBDC38-B134-0ECC-5895-8D9565691B9E}"/>
              </a:ext>
            </a:extLst>
          </p:cNvPr>
          <p:cNvSpPr txBox="1"/>
          <p:nvPr/>
        </p:nvSpPr>
        <p:spPr>
          <a:xfrm>
            <a:off x="7016560" y="3473408"/>
            <a:ext cx="4669767"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The other ops probability </a:t>
            </a:r>
            <a:r>
              <a:rPr lang="en-US" sz="2800" b="1"/>
              <a:t>will be​:</a:t>
            </a:r>
            <a:endParaRPr lang="en-US" sz="2800" b="1" dirty="0"/>
          </a:p>
          <a:p>
            <a:r>
              <a:rPr lang="en-US" sz="2800" b="1">
                <a:ea typeface="+mn-lt"/>
                <a:cs typeface="+mn-lt"/>
              </a:rPr>
              <a:t>operator[j] = operator[j] − ∆variation / (NumOper−1)</a:t>
            </a:r>
            <a:endParaRPr lang="en-US" b="1"/>
          </a:p>
        </p:txBody>
      </p:sp>
      <p:sp>
        <p:nvSpPr>
          <p:cNvPr id="23" name="TextBox 22">
            <a:extLst>
              <a:ext uri="{FF2B5EF4-FFF2-40B4-BE49-F238E27FC236}">
                <a16:creationId xmlns:a16="http://schemas.microsoft.com/office/drawing/2014/main" id="{FD6F1394-592C-0B6B-172D-A551F0D7B85D}"/>
              </a:ext>
            </a:extLst>
          </p:cNvPr>
          <p:cNvSpPr txBox="1"/>
          <p:nvPr/>
        </p:nvSpPr>
        <p:spPr>
          <a:xfrm>
            <a:off x="3170216" y="5674775"/>
            <a:ext cx="731519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ea typeface="+mn-lt"/>
                <a:cs typeface="+mn-lt"/>
              </a:rPr>
              <a:t>∆variation = (</a:t>
            </a:r>
            <a:r>
              <a:rPr lang="en-US" sz="2800" b="1" dirty="0" err="1">
                <a:ea typeface="+mn-lt"/>
                <a:cs typeface="+mn-lt"/>
              </a:rPr>
              <a:t>fprev−fcur</a:t>
            </a:r>
            <a:r>
              <a:rPr lang="en-US" sz="2800" b="1" dirty="0">
                <a:ea typeface="+mn-lt"/>
                <a:cs typeface="+mn-lt"/>
              </a:rPr>
              <a:t>) / ( </a:t>
            </a:r>
            <a:r>
              <a:rPr lang="en-US" sz="2800" b="1" dirty="0" err="1">
                <a:ea typeface="+mn-lt"/>
                <a:cs typeface="+mn-lt"/>
              </a:rPr>
              <a:t>fprev+fcur</a:t>
            </a:r>
            <a:r>
              <a:rPr lang="en-US" sz="2800" b="1" dirty="0">
                <a:ea typeface="+mn-lt"/>
                <a:cs typeface="+mn-lt"/>
              </a:rPr>
              <a:t>)</a:t>
            </a:r>
            <a:endParaRPr lang="en-US" sz="2800" b="1"/>
          </a:p>
        </p:txBody>
      </p:sp>
      <p:sp>
        <p:nvSpPr>
          <p:cNvPr id="24" name="TextBox 23">
            <a:extLst>
              <a:ext uri="{FF2B5EF4-FFF2-40B4-BE49-F238E27FC236}">
                <a16:creationId xmlns:a16="http://schemas.microsoft.com/office/drawing/2014/main" id="{F8894AEE-9F1C-604F-495E-2D8DD1356615}"/>
              </a:ext>
            </a:extLst>
          </p:cNvPr>
          <p:cNvSpPr txBox="1"/>
          <p:nvPr/>
        </p:nvSpPr>
        <p:spPr>
          <a:xfrm>
            <a:off x="9631090" y="5429229"/>
            <a:ext cx="2556294"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Btw </a:t>
            </a:r>
            <a:r>
              <a:rPr lang="en-US" sz="2000" b="1"/>
              <a:t>number</a:t>
            </a:r>
            <a:r>
              <a:rPr lang="en-US" sz="2000" b="1" dirty="0"/>
              <a:t> of operators is </a:t>
            </a:r>
            <a:r>
              <a:rPr lang="en-US" sz="2000" b="1" dirty="0">
                <a:solidFill>
                  <a:srgbClr val="FF0000"/>
                </a:solidFill>
              </a:rPr>
              <a:t>3</a:t>
            </a:r>
            <a:r>
              <a:rPr lang="en-US" sz="2000" b="1" dirty="0"/>
              <a:t> in our case:)</a:t>
            </a:r>
          </a:p>
        </p:txBody>
      </p:sp>
    </p:spTree>
    <p:extLst>
      <p:ext uri="{BB962C8B-B14F-4D97-AF65-F5344CB8AC3E}">
        <p14:creationId xmlns:p14="http://schemas.microsoft.com/office/powerpoint/2010/main" val="102715014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CA9F1-46D5-CEDF-7858-E2156495C4F3}"/>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45D7D41B-4288-2DAB-665C-953BEF8080CD}"/>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20">
            <a:extLst>
              <a:ext uri="{FF2B5EF4-FFF2-40B4-BE49-F238E27FC236}">
                <a16:creationId xmlns:a16="http://schemas.microsoft.com/office/drawing/2014/main" id="{BDF64F34-1347-F818-FFF8-3B408678C4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0" name="Picture 9">
            <a:extLst>
              <a:ext uri="{FF2B5EF4-FFF2-40B4-BE49-F238E27FC236}">
                <a16:creationId xmlns:a16="http://schemas.microsoft.com/office/drawing/2014/main" id="{020750F8-AFFD-6D3B-D4B9-50EDC310E4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1" name="Slide Number Placeholder 10">
            <a:extLst>
              <a:ext uri="{FF2B5EF4-FFF2-40B4-BE49-F238E27FC236}">
                <a16:creationId xmlns:a16="http://schemas.microsoft.com/office/drawing/2014/main" id="{26083F13-E684-653C-C42F-25274D00AA05}"/>
              </a:ext>
            </a:extLst>
          </p:cNvPr>
          <p:cNvSpPr>
            <a:spLocks noGrp="1"/>
          </p:cNvSpPr>
          <p:nvPr>
            <p:ph type="sldNum" sz="quarter" idx="12"/>
          </p:nvPr>
        </p:nvSpPr>
        <p:spPr/>
        <p:txBody>
          <a:bodyPr/>
          <a:lstStyle/>
          <a:p>
            <a:fld id="{FA5D76E8-8AD6-443B-8B81-1688B2EC3502}" type="slidenum">
              <a:rPr lang="en-US" smtClean="0"/>
              <a:t>68</a:t>
            </a:fld>
            <a:endParaRPr lang="en-US"/>
          </a:p>
        </p:txBody>
      </p:sp>
      <p:sp>
        <p:nvSpPr>
          <p:cNvPr id="5" name="Title 1">
            <a:extLst>
              <a:ext uri="{FF2B5EF4-FFF2-40B4-BE49-F238E27FC236}">
                <a16:creationId xmlns:a16="http://schemas.microsoft.com/office/drawing/2014/main" id="{508FEB90-9B9C-45DB-590E-68D1DA041DC8}"/>
              </a:ext>
            </a:extLst>
          </p:cNvPr>
          <p:cNvSpPr txBox="1">
            <a:spLocks/>
          </p:cNvSpPr>
          <p:nvPr/>
        </p:nvSpPr>
        <p:spPr>
          <a:xfrm>
            <a:off x="4541273" y="18255"/>
            <a:ext cx="457323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156082"/>
                </a:solidFill>
              </a:rPr>
              <a:t>Parameter control</a:t>
            </a:r>
          </a:p>
        </p:txBody>
      </p:sp>
      <p:sp>
        <p:nvSpPr>
          <p:cNvPr id="4" name="Title 1">
            <a:extLst>
              <a:ext uri="{FF2B5EF4-FFF2-40B4-BE49-F238E27FC236}">
                <a16:creationId xmlns:a16="http://schemas.microsoft.com/office/drawing/2014/main" id="{C81F61C1-0A81-EDE9-E664-2641887FFB42}"/>
              </a:ext>
            </a:extLst>
          </p:cNvPr>
          <p:cNvSpPr txBox="1">
            <a:spLocks/>
          </p:cNvSpPr>
          <p:nvPr/>
        </p:nvSpPr>
        <p:spPr>
          <a:xfrm>
            <a:off x="3836781" y="679613"/>
            <a:ext cx="638477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156082"/>
                </a:solidFill>
              </a:rPr>
              <a:t>Dealing with the </a:t>
            </a:r>
            <a:r>
              <a:rPr lang="en-US" sz="3200" b="1">
                <a:solidFill>
                  <a:srgbClr val="156082"/>
                </a:solidFill>
              </a:rPr>
              <a:t>parameter</a:t>
            </a:r>
            <a:r>
              <a:rPr lang="en-US" sz="3200" b="1" dirty="0">
                <a:solidFill>
                  <a:srgbClr val="156082"/>
                </a:solidFill>
              </a:rPr>
              <a:t> control</a:t>
            </a:r>
          </a:p>
        </p:txBody>
      </p:sp>
      <p:sp>
        <p:nvSpPr>
          <p:cNvPr id="14" name="TextBox 13">
            <a:extLst>
              <a:ext uri="{FF2B5EF4-FFF2-40B4-BE49-F238E27FC236}">
                <a16:creationId xmlns:a16="http://schemas.microsoft.com/office/drawing/2014/main" id="{A6847128-F2B5-FC26-B1EC-9DC7000D43DE}"/>
              </a:ext>
            </a:extLst>
          </p:cNvPr>
          <p:cNvSpPr txBox="1"/>
          <p:nvPr/>
        </p:nvSpPr>
        <p:spPr>
          <a:xfrm>
            <a:off x="1905585" y="1708679"/>
            <a:ext cx="9241766"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We will deal with the fitness function before and </a:t>
            </a:r>
            <a:r>
              <a:rPr lang="en-US" sz="2800" b="1"/>
              <a:t>after applying the exploration operator.</a:t>
            </a:r>
            <a:endParaRPr lang="en-US" sz="2800" b="1" dirty="0"/>
          </a:p>
        </p:txBody>
      </p:sp>
      <p:sp>
        <p:nvSpPr>
          <p:cNvPr id="15" name="TextBox 14">
            <a:extLst>
              <a:ext uri="{FF2B5EF4-FFF2-40B4-BE49-F238E27FC236}">
                <a16:creationId xmlns:a16="http://schemas.microsoft.com/office/drawing/2014/main" id="{BC3F9539-B1B7-7474-57BD-91845BE4C9DE}"/>
              </a:ext>
            </a:extLst>
          </p:cNvPr>
          <p:cNvSpPr txBox="1"/>
          <p:nvPr/>
        </p:nvSpPr>
        <p:spPr>
          <a:xfrm>
            <a:off x="2709120" y="3269627"/>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6" name="TextBox 15">
            <a:extLst>
              <a:ext uri="{FF2B5EF4-FFF2-40B4-BE49-F238E27FC236}">
                <a16:creationId xmlns:a16="http://schemas.microsoft.com/office/drawing/2014/main" id="{523531AB-615A-C71B-BE7A-155970C79871}"/>
              </a:ext>
            </a:extLst>
          </p:cNvPr>
          <p:cNvSpPr txBox="1"/>
          <p:nvPr/>
        </p:nvSpPr>
        <p:spPr>
          <a:xfrm>
            <a:off x="2690436" y="3306995"/>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8" name="TextBox 17">
            <a:extLst>
              <a:ext uri="{FF2B5EF4-FFF2-40B4-BE49-F238E27FC236}">
                <a16:creationId xmlns:a16="http://schemas.microsoft.com/office/drawing/2014/main" id="{EE5E9E7D-068A-5388-C9FE-5B8400402B8B}"/>
              </a:ext>
            </a:extLst>
          </p:cNvPr>
          <p:cNvSpPr txBox="1"/>
          <p:nvPr/>
        </p:nvSpPr>
        <p:spPr>
          <a:xfrm>
            <a:off x="5135836" y="2659798"/>
            <a:ext cx="27432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ea typeface="+mn-lt"/>
                <a:cs typeface="+mn-lt"/>
              </a:rPr>
              <a:t>  (</a:t>
            </a:r>
            <a:r>
              <a:rPr lang="en-US" sz="2800" b="1" dirty="0" err="1">
                <a:ea typeface="+mn-lt"/>
                <a:cs typeface="+mn-lt"/>
              </a:rPr>
              <a:t>fcur</a:t>
            </a:r>
            <a:r>
              <a:rPr lang="en-US" sz="2800" b="1" dirty="0">
                <a:ea typeface="+mn-lt"/>
                <a:cs typeface="+mn-lt"/>
              </a:rPr>
              <a:t> &gt; </a:t>
            </a:r>
            <a:r>
              <a:rPr lang="en-US" sz="2800" b="1" dirty="0" err="1">
                <a:ea typeface="+mn-lt"/>
                <a:cs typeface="+mn-lt"/>
              </a:rPr>
              <a:t>fprev</a:t>
            </a:r>
            <a:r>
              <a:rPr lang="en-US" sz="2800" b="1" dirty="0">
                <a:ea typeface="+mn-lt"/>
                <a:cs typeface="+mn-lt"/>
              </a:rPr>
              <a:t>)</a:t>
            </a:r>
            <a:endParaRPr lang="en-US" sz="2800" b="1" dirty="0"/>
          </a:p>
        </p:txBody>
      </p:sp>
      <p:sp>
        <p:nvSpPr>
          <p:cNvPr id="19" name="TextBox 18">
            <a:extLst>
              <a:ext uri="{FF2B5EF4-FFF2-40B4-BE49-F238E27FC236}">
                <a16:creationId xmlns:a16="http://schemas.microsoft.com/office/drawing/2014/main" id="{5B263775-2852-7441-E770-8B0B78B38B2B}"/>
              </a:ext>
            </a:extLst>
          </p:cNvPr>
          <p:cNvSpPr txBox="1"/>
          <p:nvPr/>
        </p:nvSpPr>
        <p:spPr>
          <a:xfrm>
            <a:off x="1912600" y="3473409"/>
            <a:ext cx="4425350"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The op </a:t>
            </a:r>
            <a:r>
              <a:rPr lang="en-US" sz="2800" b="1"/>
              <a:t>probability will</a:t>
            </a:r>
            <a:endParaRPr lang="en-US"/>
          </a:p>
          <a:p>
            <a:r>
              <a:rPr lang="en-US" sz="2800" b="1"/>
              <a:t> Be:</a:t>
            </a:r>
            <a:endParaRPr lang="en-US"/>
          </a:p>
          <a:p>
            <a:r>
              <a:rPr lang="en-US" sz="2800" b="1" dirty="0">
                <a:ea typeface="+mn-lt"/>
                <a:cs typeface="+mn-lt"/>
              </a:rPr>
              <a:t>operator[</a:t>
            </a:r>
            <a:r>
              <a:rPr lang="en-US" sz="2800" b="1" dirty="0" err="1">
                <a:ea typeface="+mn-lt"/>
                <a:cs typeface="+mn-lt"/>
              </a:rPr>
              <a:t>i</a:t>
            </a:r>
            <a:r>
              <a:rPr lang="en-US" sz="2800" b="1" dirty="0">
                <a:ea typeface="+mn-lt"/>
                <a:cs typeface="+mn-lt"/>
              </a:rPr>
              <a:t>] = operator[</a:t>
            </a:r>
            <a:r>
              <a:rPr lang="en-US" sz="2800" b="1" dirty="0" err="1">
                <a:ea typeface="+mn-lt"/>
                <a:cs typeface="+mn-lt"/>
              </a:rPr>
              <a:t>i</a:t>
            </a:r>
            <a:r>
              <a:rPr lang="en-US" sz="2800" b="1" dirty="0">
                <a:ea typeface="+mn-lt"/>
                <a:cs typeface="+mn-lt"/>
              </a:rPr>
              <a:t>] − ∆variation ∗ α</a:t>
            </a:r>
            <a:endParaRPr lang="en-US" b="1" dirty="0"/>
          </a:p>
        </p:txBody>
      </p:sp>
      <p:cxnSp>
        <p:nvCxnSpPr>
          <p:cNvPr id="21" name="Straight Connector 20">
            <a:extLst>
              <a:ext uri="{FF2B5EF4-FFF2-40B4-BE49-F238E27FC236}">
                <a16:creationId xmlns:a16="http://schemas.microsoft.com/office/drawing/2014/main" id="{F0314748-0100-8374-3EF4-469077BB7E74}"/>
              </a:ext>
            </a:extLst>
          </p:cNvPr>
          <p:cNvCxnSpPr/>
          <p:nvPr/>
        </p:nvCxnSpPr>
        <p:spPr>
          <a:xfrm>
            <a:off x="6442675" y="3175244"/>
            <a:ext cx="1" cy="2220942"/>
          </a:xfrm>
          <a:prstGeom prst="line">
            <a:avLst/>
          </a:prstGeom>
          <a:ln w="50800" cap="rnd">
            <a:round/>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50E405D9-6C81-2997-CE78-5FC10EFF9ED7}"/>
              </a:ext>
            </a:extLst>
          </p:cNvPr>
          <p:cNvSpPr txBox="1"/>
          <p:nvPr/>
        </p:nvSpPr>
        <p:spPr>
          <a:xfrm>
            <a:off x="7016560" y="3473408"/>
            <a:ext cx="4669767"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The other ops probability </a:t>
            </a:r>
            <a:r>
              <a:rPr lang="en-US" sz="2800" b="1"/>
              <a:t>will be​:</a:t>
            </a:r>
            <a:endParaRPr lang="en-US" sz="2800" b="1" dirty="0"/>
          </a:p>
          <a:p>
            <a:r>
              <a:rPr lang="en-US" sz="2800" b="1">
                <a:ea typeface="+mn-lt"/>
                <a:cs typeface="+mn-lt"/>
              </a:rPr>
              <a:t>operator[j] = operator[j] + ∆variation∗α NumOper−1</a:t>
            </a:r>
            <a:r>
              <a:rPr lang="en-US" sz="2800">
                <a:ea typeface="+mn-lt"/>
                <a:cs typeface="+mn-lt"/>
              </a:rPr>
              <a:t> </a:t>
            </a:r>
            <a:endParaRPr lang="en-US"/>
          </a:p>
        </p:txBody>
      </p:sp>
      <p:sp>
        <p:nvSpPr>
          <p:cNvPr id="23" name="TextBox 22">
            <a:extLst>
              <a:ext uri="{FF2B5EF4-FFF2-40B4-BE49-F238E27FC236}">
                <a16:creationId xmlns:a16="http://schemas.microsoft.com/office/drawing/2014/main" id="{78E62738-2C9B-6068-571B-2BA65217F0F5}"/>
              </a:ext>
            </a:extLst>
          </p:cNvPr>
          <p:cNvSpPr txBox="1"/>
          <p:nvPr/>
        </p:nvSpPr>
        <p:spPr>
          <a:xfrm>
            <a:off x="3831575" y="5832926"/>
            <a:ext cx="731519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ea typeface="+mn-lt"/>
                <a:cs typeface="+mn-lt"/>
              </a:rPr>
              <a:t>where α = </a:t>
            </a:r>
            <a:r>
              <a:rPr lang="en-US" sz="2800" b="1" dirty="0" err="1">
                <a:ea typeface="+mn-lt"/>
                <a:cs typeface="+mn-lt"/>
              </a:rPr>
              <a:t>PresentTime</a:t>
            </a:r>
            <a:r>
              <a:rPr lang="en-US" sz="2800" b="1" dirty="0">
                <a:ea typeface="+mn-lt"/>
                <a:cs typeface="+mn-lt"/>
              </a:rPr>
              <a:t> / Total time</a:t>
            </a:r>
            <a:endParaRPr lang="en-US" b="1" dirty="0"/>
          </a:p>
        </p:txBody>
      </p:sp>
    </p:spTree>
    <p:extLst>
      <p:ext uri="{BB962C8B-B14F-4D97-AF65-F5344CB8AC3E}">
        <p14:creationId xmlns:p14="http://schemas.microsoft.com/office/powerpoint/2010/main" val="39392547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7495F-6DF5-0128-73C8-B09D08928A97}"/>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82C2EECF-7A89-2E2E-F1F2-C930FC20C1F3}"/>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20">
            <a:extLst>
              <a:ext uri="{FF2B5EF4-FFF2-40B4-BE49-F238E27FC236}">
                <a16:creationId xmlns:a16="http://schemas.microsoft.com/office/drawing/2014/main" id="{4D698B67-FEAF-64AA-35FE-A7B10D8EE8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0" name="Picture 9">
            <a:extLst>
              <a:ext uri="{FF2B5EF4-FFF2-40B4-BE49-F238E27FC236}">
                <a16:creationId xmlns:a16="http://schemas.microsoft.com/office/drawing/2014/main" id="{916D30ED-CC25-7D95-0BD5-F58E4131B9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1" name="Slide Number Placeholder 10">
            <a:extLst>
              <a:ext uri="{FF2B5EF4-FFF2-40B4-BE49-F238E27FC236}">
                <a16:creationId xmlns:a16="http://schemas.microsoft.com/office/drawing/2014/main" id="{44DBEA46-5724-2A81-BDB5-594796AEF4DA}"/>
              </a:ext>
            </a:extLst>
          </p:cNvPr>
          <p:cNvSpPr>
            <a:spLocks noGrp="1"/>
          </p:cNvSpPr>
          <p:nvPr>
            <p:ph type="sldNum" sz="quarter" idx="12"/>
          </p:nvPr>
        </p:nvSpPr>
        <p:spPr/>
        <p:txBody>
          <a:bodyPr/>
          <a:lstStyle/>
          <a:p>
            <a:fld id="{FA5D76E8-8AD6-443B-8B81-1688B2EC3502}" type="slidenum">
              <a:rPr lang="en-US" smtClean="0"/>
              <a:t>69</a:t>
            </a:fld>
            <a:endParaRPr lang="en-US"/>
          </a:p>
        </p:txBody>
      </p:sp>
      <p:sp>
        <p:nvSpPr>
          <p:cNvPr id="5" name="Title 1">
            <a:extLst>
              <a:ext uri="{FF2B5EF4-FFF2-40B4-BE49-F238E27FC236}">
                <a16:creationId xmlns:a16="http://schemas.microsoft.com/office/drawing/2014/main" id="{94CC4FBC-1B9E-8C8B-44F2-C12D2B80655B}"/>
              </a:ext>
            </a:extLst>
          </p:cNvPr>
          <p:cNvSpPr txBox="1">
            <a:spLocks/>
          </p:cNvSpPr>
          <p:nvPr/>
        </p:nvSpPr>
        <p:spPr>
          <a:xfrm>
            <a:off x="2188247" y="386095"/>
            <a:ext cx="2631591" cy="133994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156082"/>
                </a:solidFill>
                <a:ea typeface="+mj-lt"/>
                <a:cs typeface="+mj-lt"/>
              </a:rPr>
              <a:t> </a:t>
            </a:r>
            <a:r>
              <a:rPr lang="en-US" sz="3200" b="1" dirty="0">
                <a:ea typeface="+mj-lt"/>
                <a:cs typeface="+mj-lt"/>
              </a:rPr>
              <a:t>Results</a:t>
            </a:r>
            <a:endParaRPr lang="en-US" sz="3200" b="1" dirty="0"/>
          </a:p>
        </p:txBody>
      </p:sp>
      <p:sp>
        <p:nvSpPr>
          <p:cNvPr id="18" name="TextBox 17">
            <a:extLst>
              <a:ext uri="{FF2B5EF4-FFF2-40B4-BE49-F238E27FC236}">
                <a16:creationId xmlns:a16="http://schemas.microsoft.com/office/drawing/2014/main" id="{A71AE1DF-C38C-9CAB-DBDF-1910F7262AD3}"/>
              </a:ext>
            </a:extLst>
          </p:cNvPr>
          <p:cNvSpPr txBox="1"/>
          <p:nvPr/>
        </p:nvSpPr>
        <p:spPr>
          <a:xfrm>
            <a:off x="4666824" y="1410637"/>
            <a:ext cx="444309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ea typeface="+mn-lt"/>
                <a:cs typeface="+mn-lt"/>
              </a:rPr>
              <a:t>Summary of results for all instances</a:t>
            </a:r>
            <a:endParaRPr lang="en-US" sz="2000" b="1" dirty="0"/>
          </a:p>
        </p:txBody>
      </p:sp>
      <p:cxnSp>
        <p:nvCxnSpPr>
          <p:cNvPr id="20" name="Straight Connector 19">
            <a:extLst>
              <a:ext uri="{FF2B5EF4-FFF2-40B4-BE49-F238E27FC236}">
                <a16:creationId xmlns:a16="http://schemas.microsoft.com/office/drawing/2014/main" id="{B2812D7B-2C1F-2E85-A0AE-6BB8F0DF4E89}"/>
              </a:ext>
            </a:extLst>
          </p:cNvPr>
          <p:cNvCxnSpPr/>
          <p:nvPr/>
        </p:nvCxnSpPr>
        <p:spPr>
          <a:xfrm flipV="1">
            <a:off x="3766868" y="1828535"/>
            <a:ext cx="6469812" cy="7548"/>
          </a:xfrm>
          <a:prstGeom prst="line">
            <a:avLst/>
          </a:prstGeom>
          <a:ln w="50800" cap="rnd">
            <a:round/>
          </a:ln>
        </p:spPr>
        <p:style>
          <a:lnRef idx="2">
            <a:schemeClr val="accent1"/>
          </a:lnRef>
          <a:fillRef idx="0">
            <a:schemeClr val="accent1"/>
          </a:fillRef>
          <a:effectRef idx="1">
            <a:schemeClr val="accent1"/>
          </a:effectRef>
          <a:fontRef idx="minor">
            <a:schemeClr val="tx1"/>
          </a:fontRef>
        </p:style>
      </p:cxnSp>
      <p:pic>
        <p:nvPicPr>
          <p:cNvPr id="23" name="Picture 22">
            <a:extLst>
              <a:ext uri="{FF2B5EF4-FFF2-40B4-BE49-F238E27FC236}">
                <a16:creationId xmlns:a16="http://schemas.microsoft.com/office/drawing/2014/main" id="{7FCD3B81-A2CC-F4FC-E743-951B32C32075}"/>
              </a:ext>
            </a:extLst>
          </p:cNvPr>
          <p:cNvPicPr>
            <a:picLocks noChangeAspect="1"/>
          </p:cNvPicPr>
          <p:nvPr/>
        </p:nvPicPr>
        <p:blipFill>
          <a:blip r:embed="rId4"/>
          <a:stretch>
            <a:fillRect/>
          </a:stretch>
        </p:blipFill>
        <p:spPr>
          <a:xfrm>
            <a:off x="2349627" y="2117162"/>
            <a:ext cx="4026741" cy="1626184"/>
          </a:xfrm>
          <a:prstGeom prst="rect">
            <a:avLst/>
          </a:prstGeom>
        </p:spPr>
      </p:pic>
      <p:sp>
        <p:nvSpPr>
          <p:cNvPr id="24" name="TextBox 23">
            <a:extLst>
              <a:ext uri="{FF2B5EF4-FFF2-40B4-BE49-F238E27FC236}">
                <a16:creationId xmlns:a16="http://schemas.microsoft.com/office/drawing/2014/main" id="{C0078136-DDFB-6EFB-B1A3-A0F8F31B6069}"/>
              </a:ext>
            </a:extLst>
          </p:cNvPr>
          <p:cNvSpPr txBox="1"/>
          <p:nvPr/>
        </p:nvSpPr>
        <p:spPr>
          <a:xfrm>
            <a:off x="2188247" y="3894194"/>
            <a:ext cx="413780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ea typeface="+mn-lt"/>
                <a:cs typeface="+mn-lt"/>
              </a:rPr>
              <a:t>Cultural algorithm evaluation on small instances using ITC-2002</a:t>
            </a:r>
            <a:endParaRPr lang="en-US" b="1" dirty="0"/>
          </a:p>
        </p:txBody>
      </p:sp>
      <p:pic>
        <p:nvPicPr>
          <p:cNvPr id="25" name="Picture 24">
            <a:extLst>
              <a:ext uri="{FF2B5EF4-FFF2-40B4-BE49-F238E27FC236}">
                <a16:creationId xmlns:a16="http://schemas.microsoft.com/office/drawing/2014/main" id="{41110095-F173-5CDE-FB97-BD8C071FDFC5}"/>
              </a:ext>
            </a:extLst>
          </p:cNvPr>
          <p:cNvPicPr>
            <a:picLocks noChangeAspect="1"/>
          </p:cNvPicPr>
          <p:nvPr/>
        </p:nvPicPr>
        <p:blipFill>
          <a:blip r:embed="rId5"/>
          <a:stretch>
            <a:fillRect/>
          </a:stretch>
        </p:blipFill>
        <p:spPr>
          <a:xfrm>
            <a:off x="6966826" y="2117162"/>
            <a:ext cx="4300941" cy="1629710"/>
          </a:xfrm>
          <a:prstGeom prst="rect">
            <a:avLst/>
          </a:prstGeom>
        </p:spPr>
      </p:pic>
      <p:cxnSp>
        <p:nvCxnSpPr>
          <p:cNvPr id="27" name="Straight Connector 26">
            <a:extLst>
              <a:ext uri="{FF2B5EF4-FFF2-40B4-BE49-F238E27FC236}">
                <a16:creationId xmlns:a16="http://schemas.microsoft.com/office/drawing/2014/main" id="{AC50C022-BA6C-A112-2208-81BA197B8336}"/>
              </a:ext>
            </a:extLst>
          </p:cNvPr>
          <p:cNvCxnSpPr/>
          <p:nvPr/>
        </p:nvCxnSpPr>
        <p:spPr>
          <a:xfrm>
            <a:off x="6608432" y="2117162"/>
            <a:ext cx="1" cy="2220942"/>
          </a:xfrm>
          <a:prstGeom prst="line">
            <a:avLst/>
          </a:prstGeom>
          <a:ln w="50800" cap="rnd">
            <a:round/>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60079B00-D10C-D603-A1A7-1291CFF4389F}"/>
              </a:ext>
            </a:extLst>
          </p:cNvPr>
          <p:cNvSpPr txBox="1"/>
          <p:nvPr/>
        </p:nvSpPr>
        <p:spPr>
          <a:xfrm>
            <a:off x="6966826" y="3894193"/>
            <a:ext cx="413780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ea typeface="+mn-lt"/>
                <a:cs typeface="+mn-lt"/>
              </a:rPr>
              <a:t>Cultural algorithm evaluation on medium instances using ITC-2002</a:t>
            </a:r>
            <a:endParaRPr lang="en-US" b="1" dirty="0"/>
          </a:p>
        </p:txBody>
      </p:sp>
      <p:sp>
        <p:nvSpPr>
          <p:cNvPr id="3" name="TextBox 2">
            <a:extLst>
              <a:ext uri="{FF2B5EF4-FFF2-40B4-BE49-F238E27FC236}">
                <a16:creationId xmlns:a16="http://schemas.microsoft.com/office/drawing/2014/main" id="{69928400-A3CE-14F4-F36E-C8AAEFA83B93}"/>
              </a:ext>
            </a:extLst>
          </p:cNvPr>
          <p:cNvSpPr txBox="1"/>
          <p:nvPr/>
        </p:nvSpPr>
        <p:spPr>
          <a:xfrm>
            <a:off x="4666824" y="283595"/>
            <a:ext cx="5126105" cy="769441"/>
          </a:xfrm>
          <a:prstGeom prst="rect">
            <a:avLst/>
          </a:prstGeom>
          <a:noFill/>
        </p:spPr>
        <p:txBody>
          <a:bodyPr wrap="square">
            <a:spAutoFit/>
          </a:bodyPr>
          <a:lstStyle/>
          <a:p>
            <a:r>
              <a:rPr lang="en-US" sz="4400" b="1" dirty="0">
                <a:solidFill>
                  <a:srgbClr val="156082"/>
                </a:solidFill>
              </a:rPr>
              <a:t>Cultural Algorithm</a:t>
            </a:r>
            <a:endParaRPr lang="en-US" sz="4400" dirty="0">
              <a:solidFill>
                <a:srgbClr val="000000"/>
              </a:solidFill>
            </a:endParaRPr>
          </a:p>
        </p:txBody>
      </p:sp>
    </p:spTree>
    <p:extLst>
      <p:ext uri="{BB962C8B-B14F-4D97-AF65-F5344CB8AC3E}">
        <p14:creationId xmlns:p14="http://schemas.microsoft.com/office/powerpoint/2010/main" val="3695345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00"/>
                                        <p:tgtEl>
                                          <p:spTgt spid="2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fade">
                                      <p:cBhvr>
                                        <p:cTn id="18"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8"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5DB49-94EB-31FE-2D34-15F4074E07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31A27F-A521-E3DE-94B4-854EC5538FEE}"/>
              </a:ext>
            </a:extLst>
          </p:cNvPr>
          <p:cNvSpPr>
            <a:spLocks noGrp="1"/>
          </p:cNvSpPr>
          <p:nvPr>
            <p:ph type="title"/>
          </p:nvPr>
        </p:nvSpPr>
        <p:spPr>
          <a:xfrm>
            <a:off x="4236473" y="18255"/>
            <a:ext cx="5073447" cy="1325563"/>
          </a:xfrm>
        </p:spPr>
        <p:txBody>
          <a:bodyPr/>
          <a:lstStyle/>
          <a:p>
            <a:r>
              <a:rPr lang="en-US" b="1" dirty="0">
                <a:solidFill>
                  <a:srgbClr val="156082"/>
                </a:solidFill>
              </a:rPr>
              <a:t>System Architecture</a:t>
            </a:r>
          </a:p>
        </p:txBody>
      </p:sp>
      <p:sp>
        <p:nvSpPr>
          <p:cNvPr id="7" name="Rectangle 6">
            <a:extLst>
              <a:ext uri="{FF2B5EF4-FFF2-40B4-BE49-F238E27FC236}">
                <a16:creationId xmlns:a16="http://schemas.microsoft.com/office/drawing/2014/main" id="{23B1203D-D47C-A733-3C14-150498544C78}"/>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20">
            <a:extLst>
              <a:ext uri="{FF2B5EF4-FFF2-40B4-BE49-F238E27FC236}">
                <a16:creationId xmlns:a16="http://schemas.microsoft.com/office/drawing/2014/main" id="{B426E399-828C-FB3C-1E3A-E32B93C0B5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0" name="Picture 9">
            <a:extLst>
              <a:ext uri="{FF2B5EF4-FFF2-40B4-BE49-F238E27FC236}">
                <a16:creationId xmlns:a16="http://schemas.microsoft.com/office/drawing/2014/main" id="{F5117055-AD63-04E6-BF93-8C668EAB42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1" name="Slide Number Placeholder 10">
            <a:extLst>
              <a:ext uri="{FF2B5EF4-FFF2-40B4-BE49-F238E27FC236}">
                <a16:creationId xmlns:a16="http://schemas.microsoft.com/office/drawing/2014/main" id="{090E2C51-B359-E117-5703-383B66CBD59C}"/>
              </a:ext>
            </a:extLst>
          </p:cNvPr>
          <p:cNvSpPr>
            <a:spLocks noGrp="1"/>
          </p:cNvSpPr>
          <p:nvPr>
            <p:ph type="sldNum" sz="quarter" idx="12"/>
          </p:nvPr>
        </p:nvSpPr>
        <p:spPr/>
        <p:txBody>
          <a:bodyPr/>
          <a:lstStyle/>
          <a:p>
            <a:fld id="{FA5D76E8-8AD6-443B-8B81-1688B2EC3502}" type="slidenum">
              <a:rPr lang="en-US" smtClean="0"/>
              <a:t>70</a:t>
            </a:fld>
            <a:endParaRPr lang="en-US"/>
          </a:p>
        </p:txBody>
      </p:sp>
      <p:sp>
        <p:nvSpPr>
          <p:cNvPr id="5" name="TextBox 4">
            <a:extLst>
              <a:ext uri="{FF2B5EF4-FFF2-40B4-BE49-F238E27FC236}">
                <a16:creationId xmlns:a16="http://schemas.microsoft.com/office/drawing/2014/main" id="{FEBC5BE6-811C-B6D5-EE94-60B01815EC34}"/>
              </a:ext>
            </a:extLst>
          </p:cNvPr>
          <p:cNvSpPr txBox="1"/>
          <p:nvPr/>
        </p:nvSpPr>
        <p:spPr>
          <a:xfrm>
            <a:off x="4328160" y="1132840"/>
            <a:ext cx="470408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cap="all"/>
              <a:t>Architecture Overview</a:t>
            </a:r>
            <a:endParaRPr lang="en-US"/>
          </a:p>
        </p:txBody>
      </p:sp>
      <p:sp>
        <p:nvSpPr>
          <p:cNvPr id="8" name="TextBox 7">
            <a:extLst>
              <a:ext uri="{FF2B5EF4-FFF2-40B4-BE49-F238E27FC236}">
                <a16:creationId xmlns:a16="http://schemas.microsoft.com/office/drawing/2014/main" id="{AF3D0F97-C28C-84D9-5330-BCD062FF6510}"/>
              </a:ext>
            </a:extLst>
          </p:cNvPr>
          <p:cNvSpPr txBox="1"/>
          <p:nvPr/>
        </p:nvSpPr>
        <p:spPr>
          <a:xfrm>
            <a:off x="2529840" y="2961640"/>
            <a:ext cx="19913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solidFill>
                  <a:srgbClr val="156082"/>
                </a:solidFill>
              </a:rPr>
              <a:t>Presentation</a:t>
            </a:r>
          </a:p>
        </p:txBody>
      </p:sp>
      <p:sp>
        <p:nvSpPr>
          <p:cNvPr id="12" name="TextBox 11">
            <a:extLst>
              <a:ext uri="{FF2B5EF4-FFF2-40B4-BE49-F238E27FC236}">
                <a16:creationId xmlns:a16="http://schemas.microsoft.com/office/drawing/2014/main" id="{CA130916-D22C-169E-4C35-D8382910825B}"/>
              </a:ext>
            </a:extLst>
          </p:cNvPr>
          <p:cNvSpPr txBox="1"/>
          <p:nvPr/>
        </p:nvSpPr>
        <p:spPr>
          <a:xfrm>
            <a:off x="2316480" y="3408680"/>
            <a:ext cx="241808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0" i="0" dirty="0">
                <a:solidFill>
                  <a:schemeClr val="tx1">
                    <a:lumMod val="65000"/>
                    <a:lumOff val="35000"/>
                  </a:schemeClr>
                </a:solidFill>
                <a:latin typeface="Lato"/>
                <a:ea typeface="Lato"/>
                <a:cs typeface="Lato"/>
              </a:rPr>
              <a:t>Modern, responsive UI for configuration and visualization</a:t>
            </a:r>
            <a:r>
              <a:rPr lang="en-US" dirty="0">
                <a:solidFill>
                  <a:schemeClr val="tx1">
                    <a:lumMod val="65000"/>
                    <a:lumOff val="35000"/>
                  </a:schemeClr>
                </a:solidFill>
                <a:latin typeface="Lato"/>
                <a:ea typeface="Lato"/>
                <a:cs typeface="Lato"/>
              </a:rPr>
              <a:t>.</a:t>
            </a:r>
            <a:endParaRPr lang="en-US" dirty="0">
              <a:solidFill>
                <a:schemeClr val="tx1">
                  <a:lumMod val="65000"/>
                  <a:lumOff val="35000"/>
                </a:schemeClr>
              </a:solidFill>
            </a:endParaRPr>
          </a:p>
        </p:txBody>
      </p:sp>
      <p:sp>
        <p:nvSpPr>
          <p:cNvPr id="13" name="TextBox 12">
            <a:extLst>
              <a:ext uri="{FF2B5EF4-FFF2-40B4-BE49-F238E27FC236}">
                <a16:creationId xmlns:a16="http://schemas.microsoft.com/office/drawing/2014/main" id="{F48F954D-F022-3B31-ACE0-1B7F00B5CE0F}"/>
              </a:ext>
            </a:extLst>
          </p:cNvPr>
          <p:cNvSpPr txBox="1"/>
          <p:nvPr/>
        </p:nvSpPr>
        <p:spPr>
          <a:xfrm>
            <a:off x="6014719" y="2951480"/>
            <a:ext cx="19913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solidFill>
                  <a:srgbClr val="156082"/>
                </a:solidFill>
                <a:ea typeface="+mn-lt"/>
                <a:cs typeface="+mn-lt"/>
              </a:rPr>
              <a:t>Application</a:t>
            </a:r>
            <a:endParaRPr lang="en-US">
              <a:solidFill>
                <a:srgbClr val="156082"/>
              </a:solidFill>
            </a:endParaRPr>
          </a:p>
        </p:txBody>
      </p:sp>
      <p:sp>
        <p:nvSpPr>
          <p:cNvPr id="14" name="TextBox 13">
            <a:extLst>
              <a:ext uri="{FF2B5EF4-FFF2-40B4-BE49-F238E27FC236}">
                <a16:creationId xmlns:a16="http://schemas.microsoft.com/office/drawing/2014/main" id="{D10F853F-0462-296B-3C74-431D89B5D086}"/>
              </a:ext>
            </a:extLst>
          </p:cNvPr>
          <p:cNvSpPr txBox="1"/>
          <p:nvPr/>
        </p:nvSpPr>
        <p:spPr>
          <a:xfrm>
            <a:off x="5801360" y="3429000"/>
            <a:ext cx="241808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solidFill>
                  <a:srgbClr val="595959"/>
                </a:solidFill>
                <a:latin typeface="Lato"/>
                <a:ea typeface="Lato"/>
                <a:cs typeface="Lato"/>
              </a:rPr>
              <a:t>RESTful API orchestrating data validation </a:t>
            </a:r>
            <a:r>
              <a:rPr lang="en-US" b="0" i="0" dirty="0">
                <a:solidFill>
                  <a:srgbClr val="595959"/>
                </a:solidFill>
                <a:latin typeface="Lato"/>
                <a:ea typeface="Lato"/>
                <a:cs typeface="Lato"/>
              </a:rPr>
              <a:t>and </a:t>
            </a:r>
            <a:r>
              <a:rPr lang="en-US" dirty="0">
                <a:solidFill>
                  <a:srgbClr val="595959"/>
                </a:solidFill>
                <a:latin typeface="Lato"/>
                <a:ea typeface="Lato"/>
                <a:cs typeface="Lato"/>
              </a:rPr>
              <a:t>task queuing.</a:t>
            </a:r>
            <a:endParaRPr lang="en-US" dirty="0"/>
          </a:p>
        </p:txBody>
      </p:sp>
      <p:sp>
        <p:nvSpPr>
          <p:cNvPr id="15" name="TextBox 14">
            <a:extLst>
              <a:ext uri="{FF2B5EF4-FFF2-40B4-BE49-F238E27FC236}">
                <a16:creationId xmlns:a16="http://schemas.microsoft.com/office/drawing/2014/main" id="{10AA4249-82BB-D8BE-2DCF-6061D0B07272}"/>
              </a:ext>
            </a:extLst>
          </p:cNvPr>
          <p:cNvSpPr txBox="1"/>
          <p:nvPr/>
        </p:nvSpPr>
        <p:spPr>
          <a:xfrm>
            <a:off x="9276079" y="2941320"/>
            <a:ext cx="19913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solidFill>
                  <a:srgbClr val="156082"/>
                </a:solidFill>
                <a:ea typeface="+mn-lt"/>
                <a:cs typeface="+mn-lt"/>
              </a:rPr>
              <a:t>Optimization</a:t>
            </a:r>
            <a:endParaRPr lang="en-US">
              <a:solidFill>
                <a:srgbClr val="000000"/>
              </a:solidFill>
            </a:endParaRPr>
          </a:p>
        </p:txBody>
      </p:sp>
      <p:sp>
        <p:nvSpPr>
          <p:cNvPr id="16" name="TextBox 15">
            <a:extLst>
              <a:ext uri="{FF2B5EF4-FFF2-40B4-BE49-F238E27FC236}">
                <a16:creationId xmlns:a16="http://schemas.microsoft.com/office/drawing/2014/main" id="{E0A527F0-0983-9BB2-7CDF-F28E9D91C729}"/>
              </a:ext>
            </a:extLst>
          </p:cNvPr>
          <p:cNvSpPr txBox="1"/>
          <p:nvPr/>
        </p:nvSpPr>
        <p:spPr>
          <a:xfrm>
            <a:off x="9062720" y="3439160"/>
            <a:ext cx="241808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solidFill>
                  <a:srgbClr val="595959"/>
                </a:solidFill>
                <a:latin typeface="Lato"/>
                <a:ea typeface="Lato"/>
                <a:cs typeface="Lato"/>
              </a:rPr>
              <a:t>Standalone C++ engine </a:t>
            </a:r>
            <a:r>
              <a:rPr lang="en-US" b="0" i="0">
                <a:solidFill>
                  <a:srgbClr val="595959"/>
                </a:solidFill>
                <a:latin typeface="Lato"/>
                <a:ea typeface="Lato"/>
                <a:cs typeface="Lato"/>
              </a:rPr>
              <a:t>for </a:t>
            </a:r>
            <a:r>
              <a:rPr lang="en-US">
                <a:solidFill>
                  <a:srgbClr val="595959"/>
                </a:solidFill>
                <a:latin typeface="Lato"/>
                <a:ea typeface="Lato"/>
                <a:cs typeface="Lato"/>
              </a:rPr>
              <a:t>genetic/evolutionary computation.</a:t>
            </a:r>
            <a:endParaRPr lang="en-US"/>
          </a:p>
        </p:txBody>
      </p:sp>
      <p:pic>
        <p:nvPicPr>
          <p:cNvPr id="18" name="Picture 17">
            <a:extLst>
              <a:ext uri="{FF2B5EF4-FFF2-40B4-BE49-F238E27FC236}">
                <a16:creationId xmlns:a16="http://schemas.microsoft.com/office/drawing/2014/main" id="{D122FB09-C51E-84F7-9313-2143ACC8C920}"/>
              </a:ext>
            </a:extLst>
          </p:cNvPr>
          <p:cNvPicPr>
            <a:picLocks noChangeAspect="1"/>
          </p:cNvPicPr>
          <p:nvPr/>
        </p:nvPicPr>
        <p:blipFill>
          <a:blip r:embed="rId4"/>
          <a:stretch>
            <a:fillRect/>
          </a:stretch>
        </p:blipFill>
        <p:spPr>
          <a:xfrm>
            <a:off x="10035076" y="2434437"/>
            <a:ext cx="395103" cy="395103"/>
          </a:xfrm>
          <a:prstGeom prst="rect">
            <a:avLst/>
          </a:prstGeom>
        </p:spPr>
      </p:pic>
      <p:pic>
        <p:nvPicPr>
          <p:cNvPr id="19" name="Picture 18">
            <a:extLst>
              <a:ext uri="{FF2B5EF4-FFF2-40B4-BE49-F238E27FC236}">
                <a16:creationId xmlns:a16="http://schemas.microsoft.com/office/drawing/2014/main" id="{3FAF9614-234E-BFDF-06D9-1199E5EBE1D1}"/>
              </a:ext>
            </a:extLst>
          </p:cNvPr>
          <p:cNvPicPr>
            <a:picLocks noChangeAspect="1"/>
          </p:cNvPicPr>
          <p:nvPr/>
        </p:nvPicPr>
        <p:blipFill>
          <a:blip r:embed="rId5"/>
          <a:stretch>
            <a:fillRect/>
          </a:stretch>
        </p:blipFill>
        <p:spPr>
          <a:xfrm>
            <a:off x="3291840" y="2392680"/>
            <a:ext cx="467360" cy="477520"/>
          </a:xfrm>
          <a:prstGeom prst="rect">
            <a:avLst/>
          </a:prstGeom>
        </p:spPr>
      </p:pic>
      <p:pic>
        <p:nvPicPr>
          <p:cNvPr id="20" name="Picture 19">
            <a:extLst>
              <a:ext uri="{FF2B5EF4-FFF2-40B4-BE49-F238E27FC236}">
                <a16:creationId xmlns:a16="http://schemas.microsoft.com/office/drawing/2014/main" id="{D061462C-2385-784D-B2F7-7B4C2C032176}"/>
              </a:ext>
            </a:extLst>
          </p:cNvPr>
          <p:cNvPicPr>
            <a:picLocks noChangeAspect="1"/>
          </p:cNvPicPr>
          <p:nvPr/>
        </p:nvPicPr>
        <p:blipFill>
          <a:blip r:embed="rId6"/>
          <a:stretch>
            <a:fillRect/>
          </a:stretch>
        </p:blipFill>
        <p:spPr>
          <a:xfrm>
            <a:off x="6776720" y="2392680"/>
            <a:ext cx="467360" cy="467360"/>
          </a:xfrm>
          <a:prstGeom prst="rect">
            <a:avLst/>
          </a:prstGeom>
        </p:spPr>
      </p:pic>
    </p:spTree>
    <p:extLst>
      <p:ext uri="{BB962C8B-B14F-4D97-AF65-F5344CB8AC3E}">
        <p14:creationId xmlns:p14="http://schemas.microsoft.com/office/powerpoint/2010/main" val="4283180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10" presetClass="entr" presetSubtype="0" fill="hold"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500"/>
                                        <p:tgtEl>
                                          <p:spTgt spid="2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500"/>
                                        <p:tgtEl>
                                          <p:spTgt spid="1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13" grpId="0"/>
      <p:bldP spid="14" grpId="0"/>
      <p:bldP spid="15" grpId="0"/>
      <p:bldP spid="16"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85D4C-0B2E-7FC4-4ACC-878693C176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D8F93F-E4EE-7DE0-9752-9D61E0B80BFF}"/>
              </a:ext>
            </a:extLst>
          </p:cNvPr>
          <p:cNvSpPr>
            <a:spLocks noGrp="1"/>
          </p:cNvSpPr>
          <p:nvPr>
            <p:ph type="title"/>
          </p:nvPr>
        </p:nvSpPr>
        <p:spPr>
          <a:xfrm>
            <a:off x="4236473" y="18255"/>
            <a:ext cx="5073447" cy="1325563"/>
          </a:xfrm>
        </p:spPr>
        <p:txBody>
          <a:bodyPr/>
          <a:lstStyle/>
          <a:p>
            <a:r>
              <a:rPr lang="en-US" b="1" dirty="0">
                <a:solidFill>
                  <a:srgbClr val="156082"/>
                </a:solidFill>
              </a:rPr>
              <a:t>System Architecture</a:t>
            </a:r>
          </a:p>
        </p:txBody>
      </p:sp>
      <p:sp>
        <p:nvSpPr>
          <p:cNvPr id="7" name="Rectangle 6">
            <a:extLst>
              <a:ext uri="{FF2B5EF4-FFF2-40B4-BE49-F238E27FC236}">
                <a16:creationId xmlns:a16="http://schemas.microsoft.com/office/drawing/2014/main" id="{05751A9D-ADC6-D601-D76A-957DD61B00EB}"/>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20">
            <a:extLst>
              <a:ext uri="{FF2B5EF4-FFF2-40B4-BE49-F238E27FC236}">
                <a16:creationId xmlns:a16="http://schemas.microsoft.com/office/drawing/2014/main" id="{54E8C20D-43B2-8A20-88F8-DBA4703B4A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0" name="Picture 9">
            <a:extLst>
              <a:ext uri="{FF2B5EF4-FFF2-40B4-BE49-F238E27FC236}">
                <a16:creationId xmlns:a16="http://schemas.microsoft.com/office/drawing/2014/main" id="{550C20A0-C9EF-A7E5-0FC8-DC9A2A3B9C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1" name="Slide Number Placeholder 10">
            <a:extLst>
              <a:ext uri="{FF2B5EF4-FFF2-40B4-BE49-F238E27FC236}">
                <a16:creationId xmlns:a16="http://schemas.microsoft.com/office/drawing/2014/main" id="{A8331FEA-75B7-0C90-8563-84539087A956}"/>
              </a:ext>
            </a:extLst>
          </p:cNvPr>
          <p:cNvSpPr>
            <a:spLocks noGrp="1"/>
          </p:cNvSpPr>
          <p:nvPr>
            <p:ph type="sldNum" sz="quarter" idx="12"/>
          </p:nvPr>
        </p:nvSpPr>
        <p:spPr/>
        <p:txBody>
          <a:bodyPr/>
          <a:lstStyle/>
          <a:p>
            <a:fld id="{FA5D76E8-8AD6-443B-8B81-1688B2EC3502}" type="slidenum">
              <a:rPr lang="en-US" smtClean="0"/>
              <a:t>71</a:t>
            </a:fld>
            <a:endParaRPr lang="en-US"/>
          </a:p>
        </p:txBody>
      </p:sp>
      <p:sp>
        <p:nvSpPr>
          <p:cNvPr id="5" name="TextBox 4">
            <a:extLst>
              <a:ext uri="{FF2B5EF4-FFF2-40B4-BE49-F238E27FC236}">
                <a16:creationId xmlns:a16="http://schemas.microsoft.com/office/drawing/2014/main" id="{694FA65D-A132-31D0-E907-13BC68D2CA6F}"/>
              </a:ext>
            </a:extLst>
          </p:cNvPr>
          <p:cNvSpPr txBox="1"/>
          <p:nvPr/>
        </p:nvSpPr>
        <p:spPr>
          <a:xfrm>
            <a:off x="4328160" y="1132840"/>
            <a:ext cx="470408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cap="all"/>
              <a:t>Architecture Overview</a:t>
            </a:r>
            <a:endParaRPr lang="en-US"/>
          </a:p>
        </p:txBody>
      </p:sp>
      <p:sp>
        <p:nvSpPr>
          <p:cNvPr id="4" name="TextBox 3">
            <a:extLst>
              <a:ext uri="{FF2B5EF4-FFF2-40B4-BE49-F238E27FC236}">
                <a16:creationId xmlns:a16="http://schemas.microsoft.com/office/drawing/2014/main" id="{6D7566E9-2345-9685-0418-5751503920F4}"/>
              </a:ext>
            </a:extLst>
          </p:cNvPr>
          <p:cNvSpPr txBox="1"/>
          <p:nvPr/>
        </p:nvSpPr>
        <p:spPr>
          <a:xfrm>
            <a:off x="2103120" y="2077720"/>
            <a:ext cx="399288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cap="all" dirty="0"/>
              <a:t>Presentation Layer</a:t>
            </a:r>
          </a:p>
        </p:txBody>
      </p:sp>
      <p:pic>
        <p:nvPicPr>
          <p:cNvPr id="6" name="Picture 5" descr="A black circle with white letter n in it&#10;&#10;AI-generated content may be incorrect.">
            <a:extLst>
              <a:ext uri="{FF2B5EF4-FFF2-40B4-BE49-F238E27FC236}">
                <a16:creationId xmlns:a16="http://schemas.microsoft.com/office/drawing/2014/main" id="{B7AEB87D-FAD0-2C70-E520-D0739D43E691}"/>
              </a:ext>
            </a:extLst>
          </p:cNvPr>
          <p:cNvPicPr>
            <a:picLocks noChangeAspect="1"/>
          </p:cNvPicPr>
          <p:nvPr/>
        </p:nvPicPr>
        <p:blipFill>
          <a:blip r:embed="rId4"/>
          <a:stretch>
            <a:fillRect/>
          </a:stretch>
        </p:blipFill>
        <p:spPr>
          <a:xfrm>
            <a:off x="8275637" y="2072958"/>
            <a:ext cx="3423285" cy="3423285"/>
          </a:xfrm>
          <a:prstGeom prst="rect">
            <a:avLst/>
          </a:prstGeom>
        </p:spPr>
      </p:pic>
      <p:sp>
        <p:nvSpPr>
          <p:cNvPr id="21" name="TextBox 20">
            <a:extLst>
              <a:ext uri="{FF2B5EF4-FFF2-40B4-BE49-F238E27FC236}">
                <a16:creationId xmlns:a16="http://schemas.microsoft.com/office/drawing/2014/main" id="{0AFC9115-8FC2-782D-0F85-96002B7E4EEF}"/>
              </a:ext>
            </a:extLst>
          </p:cNvPr>
          <p:cNvSpPr txBox="1"/>
          <p:nvPr/>
        </p:nvSpPr>
        <p:spPr>
          <a:xfrm>
            <a:off x="2123440" y="2727960"/>
            <a:ext cx="211328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dirty="0"/>
              <a:t>Next.js Frontend</a:t>
            </a:r>
          </a:p>
        </p:txBody>
      </p:sp>
      <p:sp>
        <p:nvSpPr>
          <p:cNvPr id="23" name="TextBox 22">
            <a:extLst>
              <a:ext uri="{FF2B5EF4-FFF2-40B4-BE49-F238E27FC236}">
                <a16:creationId xmlns:a16="http://schemas.microsoft.com/office/drawing/2014/main" id="{EBEAFFFA-2208-51CA-4110-C45195069426}"/>
              </a:ext>
            </a:extLst>
          </p:cNvPr>
          <p:cNvSpPr txBox="1"/>
          <p:nvPr/>
        </p:nvSpPr>
        <p:spPr>
          <a:xfrm>
            <a:off x="2103120" y="3195320"/>
            <a:ext cx="434848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buFont typeface=""/>
              <a:buChar char="•"/>
            </a:pPr>
            <a:r>
              <a:rPr lang="en-US" b="1" dirty="0">
                <a:solidFill>
                  <a:srgbClr val="156082"/>
                </a:solidFill>
              </a:rPr>
              <a:t>Responsive Interface:</a:t>
            </a:r>
            <a:r>
              <a:rPr lang="en-US" dirty="0"/>
              <a:t> </a:t>
            </a:r>
            <a:r>
              <a:rPr lang="en-US" dirty="0">
                <a:solidFill>
                  <a:schemeClr val="tx1">
                    <a:lumMod val="65000"/>
                    <a:lumOff val="35000"/>
                  </a:schemeClr>
                </a:solidFill>
              </a:rPr>
              <a:t>Optimized for institutional data input and schedule display.</a:t>
            </a:r>
          </a:p>
        </p:txBody>
      </p:sp>
      <p:sp>
        <p:nvSpPr>
          <p:cNvPr id="24" name="TextBox 23">
            <a:extLst>
              <a:ext uri="{FF2B5EF4-FFF2-40B4-BE49-F238E27FC236}">
                <a16:creationId xmlns:a16="http://schemas.microsoft.com/office/drawing/2014/main" id="{E6A66791-8CD5-6B8A-14B3-C26B3F933BEE}"/>
              </a:ext>
            </a:extLst>
          </p:cNvPr>
          <p:cNvSpPr txBox="1"/>
          <p:nvPr/>
        </p:nvSpPr>
        <p:spPr>
          <a:xfrm>
            <a:off x="2113279" y="4262120"/>
            <a:ext cx="433832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b="1" dirty="0">
                <a:solidFill>
                  <a:srgbClr val="156082"/>
                </a:solidFill>
                <a:latin typeface="Aptos"/>
                <a:ea typeface="Lato"/>
                <a:cs typeface="Lato"/>
              </a:rPr>
              <a:t>Parameter Management: </a:t>
            </a:r>
            <a:r>
              <a:rPr lang="en-US" dirty="0">
                <a:solidFill>
                  <a:schemeClr val="tx1">
                    <a:lumMod val="65000"/>
                    <a:lumOff val="35000"/>
                  </a:schemeClr>
                </a:solidFill>
                <a:latin typeface="Aptos"/>
                <a:ea typeface="Lato"/>
                <a:cs typeface="Lato"/>
              </a:rPr>
              <a:t>Handles constraints, room features, and student enrollments.</a:t>
            </a:r>
            <a:endParaRPr lang="en-US" dirty="0">
              <a:solidFill>
                <a:schemeClr val="tx1">
                  <a:lumMod val="65000"/>
                  <a:lumOff val="35000"/>
                </a:schemeClr>
              </a:solidFill>
            </a:endParaRPr>
          </a:p>
        </p:txBody>
      </p:sp>
    </p:spTree>
    <p:extLst>
      <p:ext uri="{BB962C8B-B14F-4D97-AF65-F5344CB8AC3E}">
        <p14:creationId xmlns:p14="http://schemas.microsoft.com/office/powerpoint/2010/main" val="1790459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1" grpId="0"/>
      <p:bldP spid="23" grpId="0"/>
      <p:bldP spid="24"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6533A-C1F2-47A1-5C59-5EEF9EA88E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0A11B1-E574-09D9-B602-4DFC243BAA48}"/>
              </a:ext>
            </a:extLst>
          </p:cNvPr>
          <p:cNvSpPr>
            <a:spLocks noGrp="1"/>
          </p:cNvSpPr>
          <p:nvPr>
            <p:ph type="title"/>
          </p:nvPr>
        </p:nvSpPr>
        <p:spPr>
          <a:xfrm>
            <a:off x="4236473" y="18255"/>
            <a:ext cx="5073447" cy="1325563"/>
          </a:xfrm>
        </p:spPr>
        <p:txBody>
          <a:bodyPr/>
          <a:lstStyle/>
          <a:p>
            <a:r>
              <a:rPr lang="en-US" b="1" dirty="0">
                <a:solidFill>
                  <a:srgbClr val="156082"/>
                </a:solidFill>
              </a:rPr>
              <a:t>System Architecture</a:t>
            </a:r>
          </a:p>
        </p:txBody>
      </p:sp>
      <p:sp>
        <p:nvSpPr>
          <p:cNvPr id="7" name="Rectangle 6">
            <a:extLst>
              <a:ext uri="{FF2B5EF4-FFF2-40B4-BE49-F238E27FC236}">
                <a16:creationId xmlns:a16="http://schemas.microsoft.com/office/drawing/2014/main" id="{176F9883-B0A6-6177-44F2-B8A92EC7B16A}"/>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20">
            <a:extLst>
              <a:ext uri="{FF2B5EF4-FFF2-40B4-BE49-F238E27FC236}">
                <a16:creationId xmlns:a16="http://schemas.microsoft.com/office/drawing/2014/main" id="{552FBE6B-983E-98B9-FFA0-81340440FB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0" name="Picture 9">
            <a:extLst>
              <a:ext uri="{FF2B5EF4-FFF2-40B4-BE49-F238E27FC236}">
                <a16:creationId xmlns:a16="http://schemas.microsoft.com/office/drawing/2014/main" id="{D1BDC6C6-A827-93E4-2680-4AB682CFD5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1" name="Slide Number Placeholder 10">
            <a:extLst>
              <a:ext uri="{FF2B5EF4-FFF2-40B4-BE49-F238E27FC236}">
                <a16:creationId xmlns:a16="http://schemas.microsoft.com/office/drawing/2014/main" id="{345F52E2-D671-3423-7DD6-B134212BBDE5}"/>
              </a:ext>
            </a:extLst>
          </p:cNvPr>
          <p:cNvSpPr>
            <a:spLocks noGrp="1"/>
          </p:cNvSpPr>
          <p:nvPr>
            <p:ph type="sldNum" sz="quarter" idx="12"/>
          </p:nvPr>
        </p:nvSpPr>
        <p:spPr/>
        <p:txBody>
          <a:bodyPr/>
          <a:lstStyle/>
          <a:p>
            <a:fld id="{FA5D76E8-8AD6-443B-8B81-1688B2EC3502}" type="slidenum">
              <a:rPr lang="en-US" smtClean="0"/>
              <a:t>72</a:t>
            </a:fld>
            <a:endParaRPr lang="en-US"/>
          </a:p>
        </p:txBody>
      </p:sp>
      <p:sp>
        <p:nvSpPr>
          <p:cNvPr id="5" name="TextBox 4">
            <a:extLst>
              <a:ext uri="{FF2B5EF4-FFF2-40B4-BE49-F238E27FC236}">
                <a16:creationId xmlns:a16="http://schemas.microsoft.com/office/drawing/2014/main" id="{DDC8A07B-7EDB-CAE3-681D-43C9AACE4EFE}"/>
              </a:ext>
            </a:extLst>
          </p:cNvPr>
          <p:cNvSpPr txBox="1"/>
          <p:nvPr/>
        </p:nvSpPr>
        <p:spPr>
          <a:xfrm>
            <a:off x="4328160" y="1132840"/>
            <a:ext cx="470408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cap="all"/>
              <a:t>Architecture Overview</a:t>
            </a:r>
            <a:endParaRPr lang="en-US"/>
          </a:p>
        </p:txBody>
      </p:sp>
      <p:sp>
        <p:nvSpPr>
          <p:cNvPr id="4" name="TextBox 3">
            <a:extLst>
              <a:ext uri="{FF2B5EF4-FFF2-40B4-BE49-F238E27FC236}">
                <a16:creationId xmlns:a16="http://schemas.microsoft.com/office/drawing/2014/main" id="{4D58C761-485D-05B5-61AF-E4F6B1C830A6}"/>
              </a:ext>
            </a:extLst>
          </p:cNvPr>
          <p:cNvSpPr txBox="1"/>
          <p:nvPr/>
        </p:nvSpPr>
        <p:spPr>
          <a:xfrm>
            <a:off x="2103120" y="2077720"/>
            <a:ext cx="399288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cap="all" dirty="0">
                <a:solidFill>
                  <a:srgbClr val="000000"/>
                </a:solidFill>
                <a:latin typeface="Aptos"/>
                <a:cs typeface="Poppins"/>
              </a:rPr>
              <a:t>Application Layer</a:t>
            </a:r>
            <a:endParaRPr lang="en-US" dirty="0"/>
          </a:p>
        </p:txBody>
      </p:sp>
      <p:pic>
        <p:nvPicPr>
          <p:cNvPr id="8" name="Picture 7" descr="A black lightning bolt in a blue circle&#10;&#10;AI-generated content may be incorrect.">
            <a:extLst>
              <a:ext uri="{FF2B5EF4-FFF2-40B4-BE49-F238E27FC236}">
                <a16:creationId xmlns:a16="http://schemas.microsoft.com/office/drawing/2014/main" id="{3EE0C949-EC11-901B-E337-9EAD602B7FE3}"/>
              </a:ext>
            </a:extLst>
          </p:cNvPr>
          <p:cNvPicPr>
            <a:picLocks noChangeAspect="1"/>
          </p:cNvPicPr>
          <p:nvPr/>
        </p:nvPicPr>
        <p:blipFill>
          <a:blip r:embed="rId4"/>
          <a:stretch>
            <a:fillRect/>
          </a:stretch>
        </p:blipFill>
        <p:spPr>
          <a:xfrm>
            <a:off x="8182610" y="2010410"/>
            <a:ext cx="3599180" cy="3548380"/>
          </a:xfrm>
          <a:prstGeom prst="rect">
            <a:avLst/>
          </a:prstGeom>
        </p:spPr>
      </p:pic>
      <p:sp>
        <p:nvSpPr>
          <p:cNvPr id="21" name="TextBox 20">
            <a:extLst>
              <a:ext uri="{FF2B5EF4-FFF2-40B4-BE49-F238E27FC236}">
                <a16:creationId xmlns:a16="http://schemas.microsoft.com/office/drawing/2014/main" id="{C0DE8581-C4CC-28CF-25E4-AEA1E16E7815}"/>
              </a:ext>
            </a:extLst>
          </p:cNvPr>
          <p:cNvSpPr txBox="1"/>
          <p:nvPr/>
        </p:nvSpPr>
        <p:spPr>
          <a:xfrm>
            <a:off x="2103120" y="2727960"/>
            <a:ext cx="277368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err="1">
                <a:solidFill>
                  <a:srgbClr val="000000"/>
                </a:solidFill>
                <a:latin typeface="Aptos"/>
                <a:cs typeface="Poppins"/>
              </a:rPr>
              <a:t>FastAPI</a:t>
            </a:r>
            <a:r>
              <a:rPr lang="en-US" b="1" dirty="0">
                <a:solidFill>
                  <a:srgbClr val="000000"/>
                </a:solidFill>
                <a:latin typeface="Aptos"/>
                <a:cs typeface="Poppins"/>
              </a:rPr>
              <a:t> Orchestrator</a:t>
            </a:r>
            <a:endParaRPr lang="en-US" dirty="0"/>
          </a:p>
        </p:txBody>
      </p:sp>
      <p:sp>
        <p:nvSpPr>
          <p:cNvPr id="23" name="TextBox 22">
            <a:extLst>
              <a:ext uri="{FF2B5EF4-FFF2-40B4-BE49-F238E27FC236}">
                <a16:creationId xmlns:a16="http://schemas.microsoft.com/office/drawing/2014/main" id="{2D20F597-C591-557D-8E19-B0D531A2DDAE}"/>
              </a:ext>
            </a:extLst>
          </p:cNvPr>
          <p:cNvSpPr txBox="1"/>
          <p:nvPr/>
        </p:nvSpPr>
        <p:spPr>
          <a:xfrm>
            <a:off x="2103120" y="3195320"/>
            <a:ext cx="434848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b="1" dirty="0">
                <a:solidFill>
                  <a:srgbClr val="156082"/>
                </a:solidFill>
              </a:rPr>
              <a:t>Data Validation:</a:t>
            </a:r>
            <a:r>
              <a:rPr lang="en-US" dirty="0"/>
              <a:t> </a:t>
            </a:r>
            <a:r>
              <a:rPr lang="en-US" dirty="0" err="1">
                <a:solidFill>
                  <a:schemeClr val="tx1">
                    <a:lumMod val="65000"/>
                    <a:lumOff val="35000"/>
                  </a:schemeClr>
                </a:solidFill>
                <a:ea typeface="Lato"/>
                <a:cs typeface="Lato"/>
              </a:rPr>
              <a:t>Pydantic</a:t>
            </a:r>
            <a:r>
              <a:rPr lang="en-US" dirty="0">
                <a:solidFill>
                  <a:schemeClr val="tx1">
                    <a:lumMod val="65000"/>
                    <a:lumOff val="35000"/>
                  </a:schemeClr>
                </a:solidFill>
                <a:latin typeface="Aptos"/>
                <a:ea typeface="Lato"/>
                <a:cs typeface="Lato"/>
              </a:rPr>
              <a:t> models for rigorous input sanitization.</a:t>
            </a:r>
          </a:p>
        </p:txBody>
      </p:sp>
      <p:sp>
        <p:nvSpPr>
          <p:cNvPr id="24" name="TextBox 23">
            <a:extLst>
              <a:ext uri="{FF2B5EF4-FFF2-40B4-BE49-F238E27FC236}">
                <a16:creationId xmlns:a16="http://schemas.microsoft.com/office/drawing/2014/main" id="{BBCB1E20-8955-2016-CFFB-42916E15E839}"/>
              </a:ext>
            </a:extLst>
          </p:cNvPr>
          <p:cNvSpPr txBox="1"/>
          <p:nvPr/>
        </p:nvSpPr>
        <p:spPr>
          <a:xfrm>
            <a:off x="2113279" y="4262120"/>
            <a:ext cx="433832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b="1" dirty="0">
                <a:solidFill>
                  <a:srgbClr val="156082"/>
                </a:solidFill>
                <a:latin typeface="Aptos"/>
                <a:ea typeface="Lato"/>
                <a:cs typeface="Lato"/>
              </a:rPr>
              <a:t>Task Delegation </a:t>
            </a:r>
            <a:r>
              <a:rPr lang="en-US" dirty="0">
                <a:solidFill>
                  <a:schemeClr val="tx1">
                    <a:lumMod val="65000"/>
                    <a:lumOff val="35000"/>
                  </a:schemeClr>
                </a:solidFill>
                <a:latin typeface="Aptos"/>
                <a:ea typeface="Lato"/>
                <a:cs typeface="Lato"/>
              </a:rPr>
              <a:t>Offloads heavy processing to Redis queues.</a:t>
            </a:r>
            <a:endParaRPr lang="en-US" dirty="0">
              <a:solidFill>
                <a:schemeClr val="tx1">
                  <a:lumMod val="65000"/>
                  <a:lumOff val="35000"/>
                </a:schemeClr>
              </a:solidFill>
            </a:endParaRPr>
          </a:p>
        </p:txBody>
      </p:sp>
    </p:spTree>
    <p:extLst>
      <p:ext uri="{BB962C8B-B14F-4D97-AF65-F5344CB8AC3E}">
        <p14:creationId xmlns:p14="http://schemas.microsoft.com/office/powerpoint/2010/main" val="992526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xEl>
                                              <p:pRg st="0" end="0"/>
                                            </p:txEl>
                                          </p:spTgt>
                                        </p:tgtEl>
                                        <p:attrNameLst>
                                          <p:attrName>style.visibility</p:attrName>
                                        </p:attrNameLst>
                                      </p:cBhvr>
                                      <p:to>
                                        <p:strVal val="visible"/>
                                      </p:to>
                                    </p:set>
                                    <p:animEffect transition="in" filter="fade">
                                      <p:cBhvr>
                                        <p:cTn id="17" dur="500"/>
                                        <p:tgtEl>
                                          <p:spTgt spid="2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1" grpId="0"/>
      <p:bldP spid="24"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4EE17-8B15-1724-910E-4D71C39531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80B3ED-7030-03E6-2A3C-A29DDF772D1B}"/>
              </a:ext>
            </a:extLst>
          </p:cNvPr>
          <p:cNvSpPr>
            <a:spLocks noGrp="1"/>
          </p:cNvSpPr>
          <p:nvPr>
            <p:ph type="title"/>
          </p:nvPr>
        </p:nvSpPr>
        <p:spPr>
          <a:xfrm>
            <a:off x="4236473" y="18255"/>
            <a:ext cx="5073447" cy="1325563"/>
          </a:xfrm>
        </p:spPr>
        <p:txBody>
          <a:bodyPr/>
          <a:lstStyle/>
          <a:p>
            <a:r>
              <a:rPr lang="en-US" b="1" dirty="0">
                <a:solidFill>
                  <a:srgbClr val="156082"/>
                </a:solidFill>
              </a:rPr>
              <a:t>System Architecture</a:t>
            </a:r>
          </a:p>
        </p:txBody>
      </p:sp>
      <p:sp>
        <p:nvSpPr>
          <p:cNvPr id="7" name="Rectangle 6">
            <a:extLst>
              <a:ext uri="{FF2B5EF4-FFF2-40B4-BE49-F238E27FC236}">
                <a16:creationId xmlns:a16="http://schemas.microsoft.com/office/drawing/2014/main" id="{959CF16F-200E-3AB8-C88B-4A81E93E7B6F}"/>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20">
            <a:extLst>
              <a:ext uri="{FF2B5EF4-FFF2-40B4-BE49-F238E27FC236}">
                <a16:creationId xmlns:a16="http://schemas.microsoft.com/office/drawing/2014/main" id="{F600208F-89BD-5FD9-BDC4-0B97D2AC07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0" name="Picture 9">
            <a:extLst>
              <a:ext uri="{FF2B5EF4-FFF2-40B4-BE49-F238E27FC236}">
                <a16:creationId xmlns:a16="http://schemas.microsoft.com/office/drawing/2014/main" id="{67560B6B-2018-4577-95E1-40599E03FD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1" name="Slide Number Placeholder 10">
            <a:extLst>
              <a:ext uri="{FF2B5EF4-FFF2-40B4-BE49-F238E27FC236}">
                <a16:creationId xmlns:a16="http://schemas.microsoft.com/office/drawing/2014/main" id="{34088234-7FE7-0AC2-064A-1A9896AE86C9}"/>
              </a:ext>
            </a:extLst>
          </p:cNvPr>
          <p:cNvSpPr>
            <a:spLocks noGrp="1"/>
          </p:cNvSpPr>
          <p:nvPr>
            <p:ph type="sldNum" sz="quarter" idx="12"/>
          </p:nvPr>
        </p:nvSpPr>
        <p:spPr/>
        <p:txBody>
          <a:bodyPr/>
          <a:lstStyle/>
          <a:p>
            <a:fld id="{FA5D76E8-8AD6-443B-8B81-1688B2EC3502}" type="slidenum">
              <a:rPr lang="en-US" smtClean="0"/>
              <a:t>73</a:t>
            </a:fld>
            <a:endParaRPr lang="en-US"/>
          </a:p>
        </p:txBody>
      </p:sp>
      <p:sp>
        <p:nvSpPr>
          <p:cNvPr id="5" name="TextBox 4">
            <a:extLst>
              <a:ext uri="{FF2B5EF4-FFF2-40B4-BE49-F238E27FC236}">
                <a16:creationId xmlns:a16="http://schemas.microsoft.com/office/drawing/2014/main" id="{5FBF5CE3-8329-E73D-F068-A507CE262D76}"/>
              </a:ext>
            </a:extLst>
          </p:cNvPr>
          <p:cNvSpPr txBox="1"/>
          <p:nvPr/>
        </p:nvSpPr>
        <p:spPr>
          <a:xfrm>
            <a:off x="4328160" y="1132840"/>
            <a:ext cx="470408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cap="all"/>
              <a:t>Architecture Overview</a:t>
            </a:r>
            <a:endParaRPr lang="en-US"/>
          </a:p>
        </p:txBody>
      </p:sp>
      <p:sp>
        <p:nvSpPr>
          <p:cNvPr id="4" name="TextBox 3">
            <a:extLst>
              <a:ext uri="{FF2B5EF4-FFF2-40B4-BE49-F238E27FC236}">
                <a16:creationId xmlns:a16="http://schemas.microsoft.com/office/drawing/2014/main" id="{3C3210AC-94C0-2771-B39E-4B31D56FC5C1}"/>
              </a:ext>
            </a:extLst>
          </p:cNvPr>
          <p:cNvSpPr txBox="1"/>
          <p:nvPr/>
        </p:nvSpPr>
        <p:spPr>
          <a:xfrm>
            <a:off x="2516777" y="2066834"/>
            <a:ext cx="399288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cap="all">
                <a:solidFill>
                  <a:srgbClr val="000000"/>
                </a:solidFill>
                <a:latin typeface="Aptos"/>
                <a:cs typeface="Poppins"/>
              </a:rPr>
              <a:t>Data Persistence</a:t>
            </a:r>
            <a:endParaRPr lang="en-US"/>
          </a:p>
        </p:txBody>
      </p:sp>
      <p:sp>
        <p:nvSpPr>
          <p:cNvPr id="21" name="TextBox 20">
            <a:extLst>
              <a:ext uri="{FF2B5EF4-FFF2-40B4-BE49-F238E27FC236}">
                <a16:creationId xmlns:a16="http://schemas.microsoft.com/office/drawing/2014/main" id="{91DE96AB-2D67-440C-4264-5115AC814595}"/>
              </a:ext>
            </a:extLst>
          </p:cNvPr>
          <p:cNvSpPr txBox="1"/>
          <p:nvPr/>
        </p:nvSpPr>
        <p:spPr>
          <a:xfrm>
            <a:off x="7325360" y="2727960"/>
            <a:ext cx="277368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00000"/>
                </a:solidFill>
                <a:latin typeface="Aptos"/>
                <a:cs typeface="Poppins"/>
              </a:rPr>
              <a:t>Relational PostgreSQL</a:t>
            </a:r>
            <a:endParaRPr lang="en-US"/>
          </a:p>
        </p:txBody>
      </p:sp>
      <p:sp>
        <p:nvSpPr>
          <p:cNvPr id="23" name="TextBox 22">
            <a:extLst>
              <a:ext uri="{FF2B5EF4-FFF2-40B4-BE49-F238E27FC236}">
                <a16:creationId xmlns:a16="http://schemas.microsoft.com/office/drawing/2014/main" id="{0D6E35E1-C55C-74B4-D257-76A59CF39665}"/>
              </a:ext>
            </a:extLst>
          </p:cNvPr>
          <p:cNvSpPr txBox="1"/>
          <p:nvPr/>
        </p:nvSpPr>
        <p:spPr>
          <a:xfrm>
            <a:off x="7325360" y="3195320"/>
            <a:ext cx="434848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b="1">
                <a:solidFill>
                  <a:srgbClr val="156082"/>
                </a:solidFill>
                <a:ea typeface="Lato"/>
                <a:cs typeface="Lato"/>
              </a:rPr>
              <a:t>Transactional</a:t>
            </a:r>
            <a:r>
              <a:rPr lang="en-US" b="1">
                <a:solidFill>
                  <a:srgbClr val="156082"/>
                </a:solidFill>
                <a:latin typeface="Aptos"/>
                <a:ea typeface="Lato"/>
                <a:cs typeface="Lato"/>
              </a:rPr>
              <a:t> Integrity:</a:t>
            </a:r>
            <a:r>
              <a:rPr lang="en-US"/>
              <a:t> </a:t>
            </a:r>
            <a:r>
              <a:rPr lang="en-US">
                <a:solidFill>
                  <a:schemeClr val="tx1">
                    <a:lumMod val="65000"/>
                    <a:lumOff val="35000"/>
                  </a:schemeClr>
                </a:solidFill>
                <a:ea typeface="Lato"/>
                <a:cs typeface="Lato"/>
              </a:rPr>
              <a:t>Ensures</a:t>
            </a:r>
            <a:r>
              <a:rPr lang="en-US" dirty="0">
                <a:solidFill>
                  <a:schemeClr val="tx1">
                    <a:lumMod val="65000"/>
                    <a:lumOff val="35000"/>
                  </a:schemeClr>
                </a:solidFill>
                <a:latin typeface="Aptos"/>
                <a:ea typeface="Lato"/>
                <a:cs typeface="Lato"/>
              </a:rPr>
              <a:t> </a:t>
            </a:r>
            <a:r>
              <a:rPr lang="en-US">
                <a:solidFill>
                  <a:schemeClr val="tx1">
                    <a:lumMod val="65000"/>
                    <a:lumOff val="35000"/>
                  </a:schemeClr>
                </a:solidFill>
                <a:latin typeface="Aptos"/>
                <a:ea typeface="Lato"/>
                <a:cs typeface="Lato"/>
              </a:rPr>
              <a:t>consistency across complex table relationships.</a:t>
            </a:r>
          </a:p>
        </p:txBody>
      </p:sp>
      <p:sp>
        <p:nvSpPr>
          <p:cNvPr id="24" name="TextBox 23">
            <a:extLst>
              <a:ext uri="{FF2B5EF4-FFF2-40B4-BE49-F238E27FC236}">
                <a16:creationId xmlns:a16="http://schemas.microsoft.com/office/drawing/2014/main" id="{1437390D-DABA-F982-1856-AB9B85095066}"/>
              </a:ext>
            </a:extLst>
          </p:cNvPr>
          <p:cNvSpPr txBox="1"/>
          <p:nvPr/>
        </p:nvSpPr>
        <p:spPr>
          <a:xfrm>
            <a:off x="7335519" y="4262120"/>
            <a:ext cx="433832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b="1">
                <a:solidFill>
                  <a:srgbClr val="156082"/>
                </a:solidFill>
                <a:latin typeface="Aptos"/>
                <a:ea typeface="Lato"/>
                <a:cs typeface="Lato"/>
              </a:rPr>
              <a:t>Structured Storage: </a:t>
            </a:r>
            <a:r>
              <a:rPr lang="en-US">
                <a:solidFill>
                  <a:schemeClr val="tx1">
                    <a:lumMod val="65000"/>
                    <a:lumOff val="35000"/>
                  </a:schemeClr>
                </a:solidFill>
                <a:latin typeface="Aptos"/>
                <a:ea typeface="Lato"/>
                <a:cs typeface="Lato"/>
              </a:rPr>
              <a:t>Houses events, constraints, and student enrollments.</a:t>
            </a:r>
            <a:endParaRPr lang="en-US">
              <a:solidFill>
                <a:schemeClr val="tx1">
                  <a:lumMod val="65000"/>
                  <a:lumOff val="35000"/>
                </a:schemeClr>
              </a:solidFill>
            </a:endParaRPr>
          </a:p>
        </p:txBody>
      </p:sp>
      <p:pic>
        <p:nvPicPr>
          <p:cNvPr id="6" name="Picture 5" descr="A blue elephant logo with black text&#10;&#10;AI-generated content may be incorrect.">
            <a:extLst>
              <a:ext uri="{FF2B5EF4-FFF2-40B4-BE49-F238E27FC236}">
                <a16:creationId xmlns:a16="http://schemas.microsoft.com/office/drawing/2014/main" id="{3F69D26F-548A-C4CA-C1B0-31F3D70C0484}"/>
              </a:ext>
            </a:extLst>
          </p:cNvPr>
          <p:cNvPicPr>
            <a:picLocks noChangeAspect="1"/>
          </p:cNvPicPr>
          <p:nvPr/>
        </p:nvPicPr>
        <p:blipFill>
          <a:blip r:embed="rId4"/>
          <a:stretch>
            <a:fillRect/>
          </a:stretch>
        </p:blipFill>
        <p:spPr>
          <a:xfrm>
            <a:off x="1984195" y="2590800"/>
            <a:ext cx="4228556" cy="4125686"/>
          </a:xfrm>
          <a:prstGeom prst="rect">
            <a:avLst/>
          </a:prstGeom>
        </p:spPr>
      </p:pic>
    </p:spTree>
    <p:extLst>
      <p:ext uri="{BB962C8B-B14F-4D97-AF65-F5344CB8AC3E}">
        <p14:creationId xmlns:p14="http://schemas.microsoft.com/office/powerpoint/2010/main" val="63897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500"/>
                                        <p:tgtEl>
                                          <p:spTgt spid="2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1" grpId="0"/>
      <p:bldP spid="23" grpId="0"/>
      <p:bldP spid="24"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6A46E-B472-0003-93EC-BD1B4F38AE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67A4C1-2E40-B3E9-7B1B-F2FE1B056059}"/>
              </a:ext>
            </a:extLst>
          </p:cNvPr>
          <p:cNvSpPr>
            <a:spLocks noGrp="1"/>
          </p:cNvSpPr>
          <p:nvPr>
            <p:ph type="title"/>
          </p:nvPr>
        </p:nvSpPr>
        <p:spPr>
          <a:xfrm>
            <a:off x="4236473" y="18255"/>
            <a:ext cx="5073447" cy="1325563"/>
          </a:xfrm>
        </p:spPr>
        <p:txBody>
          <a:bodyPr/>
          <a:lstStyle/>
          <a:p>
            <a:r>
              <a:rPr lang="en-US" b="1" dirty="0">
                <a:solidFill>
                  <a:srgbClr val="156082"/>
                </a:solidFill>
              </a:rPr>
              <a:t>System Architecture</a:t>
            </a:r>
          </a:p>
        </p:txBody>
      </p:sp>
      <p:sp>
        <p:nvSpPr>
          <p:cNvPr id="7" name="Rectangle 6">
            <a:extLst>
              <a:ext uri="{FF2B5EF4-FFF2-40B4-BE49-F238E27FC236}">
                <a16:creationId xmlns:a16="http://schemas.microsoft.com/office/drawing/2014/main" id="{27993EF6-AC93-8604-5718-A2191DA0A5D5}"/>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20">
            <a:extLst>
              <a:ext uri="{FF2B5EF4-FFF2-40B4-BE49-F238E27FC236}">
                <a16:creationId xmlns:a16="http://schemas.microsoft.com/office/drawing/2014/main" id="{983F9654-B074-24DA-AE21-9F7F706AEF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0" name="Picture 9">
            <a:extLst>
              <a:ext uri="{FF2B5EF4-FFF2-40B4-BE49-F238E27FC236}">
                <a16:creationId xmlns:a16="http://schemas.microsoft.com/office/drawing/2014/main" id="{0C3634E3-C939-52EB-F911-79F41DB29E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1" name="Slide Number Placeholder 10">
            <a:extLst>
              <a:ext uri="{FF2B5EF4-FFF2-40B4-BE49-F238E27FC236}">
                <a16:creationId xmlns:a16="http://schemas.microsoft.com/office/drawing/2014/main" id="{640671F4-083D-D477-BDA0-21B16E5A09D2}"/>
              </a:ext>
            </a:extLst>
          </p:cNvPr>
          <p:cNvSpPr>
            <a:spLocks noGrp="1"/>
          </p:cNvSpPr>
          <p:nvPr>
            <p:ph type="sldNum" sz="quarter" idx="12"/>
          </p:nvPr>
        </p:nvSpPr>
        <p:spPr/>
        <p:txBody>
          <a:bodyPr/>
          <a:lstStyle/>
          <a:p>
            <a:fld id="{FA5D76E8-8AD6-443B-8B81-1688B2EC3502}" type="slidenum">
              <a:rPr lang="en-US" smtClean="0"/>
              <a:t>74</a:t>
            </a:fld>
            <a:endParaRPr lang="en-US"/>
          </a:p>
        </p:txBody>
      </p:sp>
      <p:sp>
        <p:nvSpPr>
          <p:cNvPr id="5" name="TextBox 4">
            <a:extLst>
              <a:ext uri="{FF2B5EF4-FFF2-40B4-BE49-F238E27FC236}">
                <a16:creationId xmlns:a16="http://schemas.microsoft.com/office/drawing/2014/main" id="{3EFB1D46-6012-7EB7-F44B-7AC126E0AB1A}"/>
              </a:ext>
            </a:extLst>
          </p:cNvPr>
          <p:cNvSpPr txBox="1"/>
          <p:nvPr/>
        </p:nvSpPr>
        <p:spPr>
          <a:xfrm>
            <a:off x="4328160" y="946027"/>
            <a:ext cx="470408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cap="all" dirty="0">
                <a:solidFill>
                  <a:srgbClr val="000000"/>
                </a:solidFill>
                <a:latin typeface="Aptos"/>
                <a:cs typeface="Poppins"/>
              </a:rPr>
              <a:t>ERD</a:t>
            </a:r>
            <a:endParaRPr lang="en-US" sz="2400" dirty="0"/>
          </a:p>
        </p:txBody>
      </p:sp>
      <p:pic>
        <p:nvPicPr>
          <p:cNvPr id="4" name="Picture 3">
            <a:extLst>
              <a:ext uri="{FF2B5EF4-FFF2-40B4-BE49-F238E27FC236}">
                <a16:creationId xmlns:a16="http://schemas.microsoft.com/office/drawing/2014/main" id="{234C7E7F-7C25-0443-4DDA-43E741B310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28431" y="1317506"/>
            <a:ext cx="9261987" cy="5015696"/>
          </a:xfrm>
          <a:prstGeom prst="rect">
            <a:avLst/>
          </a:prstGeom>
        </p:spPr>
      </p:pic>
    </p:spTree>
    <p:extLst>
      <p:ext uri="{BB962C8B-B14F-4D97-AF65-F5344CB8AC3E}">
        <p14:creationId xmlns:p14="http://schemas.microsoft.com/office/powerpoint/2010/main" val="4171394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89998-B4EF-E5AB-D70B-2B915F7A2D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CA2EA1-F37A-1126-8A3D-6C03BB0E7B07}"/>
              </a:ext>
            </a:extLst>
          </p:cNvPr>
          <p:cNvSpPr>
            <a:spLocks noGrp="1"/>
          </p:cNvSpPr>
          <p:nvPr>
            <p:ph type="title"/>
          </p:nvPr>
        </p:nvSpPr>
        <p:spPr>
          <a:xfrm>
            <a:off x="4236473" y="18255"/>
            <a:ext cx="5073447" cy="1325563"/>
          </a:xfrm>
        </p:spPr>
        <p:txBody>
          <a:bodyPr/>
          <a:lstStyle/>
          <a:p>
            <a:r>
              <a:rPr lang="en-US" b="1" dirty="0">
                <a:solidFill>
                  <a:srgbClr val="156082"/>
                </a:solidFill>
              </a:rPr>
              <a:t>System Architecture</a:t>
            </a:r>
          </a:p>
        </p:txBody>
      </p:sp>
      <p:sp>
        <p:nvSpPr>
          <p:cNvPr id="7" name="Rectangle 6">
            <a:extLst>
              <a:ext uri="{FF2B5EF4-FFF2-40B4-BE49-F238E27FC236}">
                <a16:creationId xmlns:a16="http://schemas.microsoft.com/office/drawing/2014/main" id="{FE30FDD8-A514-42CD-383E-93B58FFFBD43}"/>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20">
            <a:extLst>
              <a:ext uri="{FF2B5EF4-FFF2-40B4-BE49-F238E27FC236}">
                <a16:creationId xmlns:a16="http://schemas.microsoft.com/office/drawing/2014/main" id="{E36FD194-BEC5-9127-79F6-D06A1B3145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0" name="Picture 9">
            <a:extLst>
              <a:ext uri="{FF2B5EF4-FFF2-40B4-BE49-F238E27FC236}">
                <a16:creationId xmlns:a16="http://schemas.microsoft.com/office/drawing/2014/main" id="{60439AFC-299C-762C-3971-4FC797C052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1" name="Slide Number Placeholder 10">
            <a:extLst>
              <a:ext uri="{FF2B5EF4-FFF2-40B4-BE49-F238E27FC236}">
                <a16:creationId xmlns:a16="http://schemas.microsoft.com/office/drawing/2014/main" id="{6FBC366B-4EFB-6167-CEB4-E3B1CF1699A5}"/>
              </a:ext>
            </a:extLst>
          </p:cNvPr>
          <p:cNvSpPr>
            <a:spLocks noGrp="1"/>
          </p:cNvSpPr>
          <p:nvPr>
            <p:ph type="sldNum" sz="quarter" idx="12"/>
          </p:nvPr>
        </p:nvSpPr>
        <p:spPr/>
        <p:txBody>
          <a:bodyPr/>
          <a:lstStyle/>
          <a:p>
            <a:fld id="{FA5D76E8-8AD6-443B-8B81-1688B2EC3502}" type="slidenum">
              <a:rPr lang="en-US" smtClean="0"/>
              <a:t>75</a:t>
            </a:fld>
            <a:endParaRPr lang="en-US"/>
          </a:p>
        </p:txBody>
      </p:sp>
      <p:sp>
        <p:nvSpPr>
          <p:cNvPr id="5" name="TextBox 4">
            <a:extLst>
              <a:ext uri="{FF2B5EF4-FFF2-40B4-BE49-F238E27FC236}">
                <a16:creationId xmlns:a16="http://schemas.microsoft.com/office/drawing/2014/main" id="{548E902E-28E8-58EB-6342-789A06D91292}"/>
              </a:ext>
            </a:extLst>
          </p:cNvPr>
          <p:cNvSpPr txBox="1"/>
          <p:nvPr/>
        </p:nvSpPr>
        <p:spPr>
          <a:xfrm>
            <a:off x="1848464" y="1030088"/>
            <a:ext cx="507344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cap="all" dirty="0">
                <a:solidFill>
                  <a:srgbClr val="000000"/>
                </a:solidFill>
                <a:latin typeface="Aptos"/>
                <a:cs typeface="Poppins"/>
              </a:rPr>
              <a:t>System architecture diagram:</a:t>
            </a:r>
            <a:endParaRPr lang="en-US" sz="2400" dirty="0"/>
          </a:p>
        </p:txBody>
      </p:sp>
      <p:pic>
        <p:nvPicPr>
          <p:cNvPr id="4" name="Picture 3">
            <a:extLst>
              <a:ext uri="{FF2B5EF4-FFF2-40B4-BE49-F238E27FC236}">
                <a16:creationId xmlns:a16="http://schemas.microsoft.com/office/drawing/2014/main" id="{25FD50BE-5450-A9A5-6CC4-C9E0C912DE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82065" y="1317749"/>
            <a:ext cx="7187379" cy="5355828"/>
          </a:xfrm>
          <a:prstGeom prst="rect">
            <a:avLst/>
          </a:prstGeom>
        </p:spPr>
      </p:pic>
    </p:spTree>
    <p:extLst>
      <p:ext uri="{BB962C8B-B14F-4D97-AF65-F5344CB8AC3E}">
        <p14:creationId xmlns:p14="http://schemas.microsoft.com/office/powerpoint/2010/main" val="2980428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E1DFF-FCC3-4185-D88F-429D0BCC2E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8A4537-6E5B-CBB6-ACFC-6ACB76B12E4B}"/>
              </a:ext>
            </a:extLst>
          </p:cNvPr>
          <p:cNvSpPr>
            <a:spLocks noGrp="1"/>
          </p:cNvSpPr>
          <p:nvPr>
            <p:ph type="title"/>
          </p:nvPr>
        </p:nvSpPr>
        <p:spPr>
          <a:xfrm>
            <a:off x="4236473" y="18255"/>
            <a:ext cx="5073447" cy="1325563"/>
          </a:xfrm>
        </p:spPr>
        <p:txBody>
          <a:bodyPr/>
          <a:lstStyle/>
          <a:p>
            <a:r>
              <a:rPr lang="en-US" b="1" dirty="0">
                <a:solidFill>
                  <a:srgbClr val="156082"/>
                </a:solidFill>
              </a:rPr>
              <a:t>System Architecture</a:t>
            </a:r>
          </a:p>
        </p:txBody>
      </p:sp>
      <p:sp>
        <p:nvSpPr>
          <p:cNvPr id="7" name="Rectangle 6">
            <a:extLst>
              <a:ext uri="{FF2B5EF4-FFF2-40B4-BE49-F238E27FC236}">
                <a16:creationId xmlns:a16="http://schemas.microsoft.com/office/drawing/2014/main" id="{90A53921-3A6C-94F7-3340-BD4DC6BD42BF}"/>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20">
            <a:extLst>
              <a:ext uri="{FF2B5EF4-FFF2-40B4-BE49-F238E27FC236}">
                <a16:creationId xmlns:a16="http://schemas.microsoft.com/office/drawing/2014/main" id="{4D3E4C72-3B96-028B-CE57-783A17A002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0" name="Picture 9">
            <a:extLst>
              <a:ext uri="{FF2B5EF4-FFF2-40B4-BE49-F238E27FC236}">
                <a16:creationId xmlns:a16="http://schemas.microsoft.com/office/drawing/2014/main" id="{6B0D3D01-1B86-88C6-D8C0-778474AB3A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1" name="Slide Number Placeholder 10">
            <a:extLst>
              <a:ext uri="{FF2B5EF4-FFF2-40B4-BE49-F238E27FC236}">
                <a16:creationId xmlns:a16="http://schemas.microsoft.com/office/drawing/2014/main" id="{3D098512-E14E-77DD-C5C3-DC057CF35BCA}"/>
              </a:ext>
            </a:extLst>
          </p:cNvPr>
          <p:cNvSpPr>
            <a:spLocks noGrp="1"/>
          </p:cNvSpPr>
          <p:nvPr>
            <p:ph type="sldNum" sz="quarter" idx="12"/>
          </p:nvPr>
        </p:nvSpPr>
        <p:spPr/>
        <p:txBody>
          <a:bodyPr/>
          <a:lstStyle/>
          <a:p>
            <a:fld id="{FA5D76E8-8AD6-443B-8B81-1688B2EC3502}" type="slidenum">
              <a:rPr lang="en-US" smtClean="0"/>
              <a:t>76</a:t>
            </a:fld>
            <a:endParaRPr lang="en-US"/>
          </a:p>
        </p:txBody>
      </p:sp>
      <p:sp>
        <p:nvSpPr>
          <p:cNvPr id="5" name="TextBox 4">
            <a:extLst>
              <a:ext uri="{FF2B5EF4-FFF2-40B4-BE49-F238E27FC236}">
                <a16:creationId xmlns:a16="http://schemas.microsoft.com/office/drawing/2014/main" id="{609FA05E-1BE8-6D83-F973-C469AB121F3C}"/>
              </a:ext>
            </a:extLst>
          </p:cNvPr>
          <p:cNvSpPr txBox="1"/>
          <p:nvPr/>
        </p:nvSpPr>
        <p:spPr>
          <a:xfrm>
            <a:off x="4328160" y="1132840"/>
            <a:ext cx="470408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cap="all">
                <a:solidFill>
                  <a:srgbClr val="000000"/>
                </a:solidFill>
                <a:latin typeface="Aptos"/>
                <a:cs typeface="Poppins"/>
              </a:rPr>
              <a:t>Asynchronous Management</a:t>
            </a:r>
            <a:endParaRPr lang="en-US"/>
          </a:p>
        </p:txBody>
      </p:sp>
      <p:sp>
        <p:nvSpPr>
          <p:cNvPr id="8" name="TextBox 7">
            <a:extLst>
              <a:ext uri="{FF2B5EF4-FFF2-40B4-BE49-F238E27FC236}">
                <a16:creationId xmlns:a16="http://schemas.microsoft.com/office/drawing/2014/main" id="{7D322E2D-B5D6-FCBF-6482-80FDCD51C708}"/>
              </a:ext>
            </a:extLst>
          </p:cNvPr>
          <p:cNvSpPr txBox="1"/>
          <p:nvPr/>
        </p:nvSpPr>
        <p:spPr>
          <a:xfrm>
            <a:off x="2481943" y="3058886"/>
            <a:ext cx="28738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t>Redis Queue (RQ)</a:t>
            </a:r>
          </a:p>
        </p:txBody>
      </p:sp>
      <p:sp>
        <p:nvSpPr>
          <p:cNvPr id="13" name="TextBox 12">
            <a:extLst>
              <a:ext uri="{FF2B5EF4-FFF2-40B4-BE49-F238E27FC236}">
                <a16:creationId xmlns:a16="http://schemas.microsoft.com/office/drawing/2014/main" id="{E9ABB72A-B854-727C-2A97-509F8E5FACA3}"/>
              </a:ext>
            </a:extLst>
          </p:cNvPr>
          <p:cNvSpPr txBox="1"/>
          <p:nvPr/>
        </p:nvSpPr>
        <p:spPr>
          <a:xfrm>
            <a:off x="7935686" y="3058886"/>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t>Worker Implementation</a:t>
            </a:r>
          </a:p>
        </p:txBody>
      </p:sp>
      <p:sp>
        <p:nvSpPr>
          <p:cNvPr id="16" name="TextBox 15">
            <a:extLst>
              <a:ext uri="{FF2B5EF4-FFF2-40B4-BE49-F238E27FC236}">
                <a16:creationId xmlns:a16="http://schemas.microsoft.com/office/drawing/2014/main" id="{C76DE15D-F60B-AEBC-0193-3682763422ED}"/>
              </a:ext>
            </a:extLst>
          </p:cNvPr>
          <p:cNvSpPr txBox="1"/>
          <p:nvPr/>
        </p:nvSpPr>
        <p:spPr>
          <a:xfrm>
            <a:off x="2231571" y="3537857"/>
            <a:ext cx="374468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solidFill>
                  <a:schemeClr val="tx1">
                    <a:lumMod val="65000"/>
                    <a:lumOff val="35000"/>
                  </a:schemeClr>
                </a:solidFill>
              </a:rPr>
              <a:t>Acts as the buffer between the API and the solver. Prevents main thread blocking during intensive optimization.</a:t>
            </a:r>
          </a:p>
        </p:txBody>
      </p:sp>
      <p:sp>
        <p:nvSpPr>
          <p:cNvPr id="18" name="TextBox 17">
            <a:extLst>
              <a:ext uri="{FF2B5EF4-FFF2-40B4-BE49-F238E27FC236}">
                <a16:creationId xmlns:a16="http://schemas.microsoft.com/office/drawing/2014/main" id="{5E8C51A9-30A3-4C1F-E5CF-FA31744810D8}"/>
              </a:ext>
            </a:extLst>
          </p:cNvPr>
          <p:cNvSpPr txBox="1"/>
          <p:nvPr/>
        </p:nvSpPr>
        <p:spPr>
          <a:xfrm>
            <a:off x="7946572" y="3429000"/>
            <a:ext cx="2732314"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solidFill>
                  <a:schemeClr val="tx1">
                    <a:lumMod val="65000"/>
                    <a:lumOff val="35000"/>
                  </a:schemeClr>
                </a:solidFill>
              </a:rPr>
              <a:t>Independent workers consume jobs from the queue, triggering the C++ executor and managing its lifecycle.</a:t>
            </a:r>
          </a:p>
        </p:txBody>
      </p:sp>
      <p:pic>
        <p:nvPicPr>
          <p:cNvPr id="19" name="Picture 18">
            <a:extLst>
              <a:ext uri="{FF2B5EF4-FFF2-40B4-BE49-F238E27FC236}">
                <a16:creationId xmlns:a16="http://schemas.microsoft.com/office/drawing/2014/main" id="{559382B9-E169-78B6-CDE9-C0285A5BD151}"/>
              </a:ext>
            </a:extLst>
          </p:cNvPr>
          <p:cNvPicPr>
            <a:picLocks noChangeAspect="1"/>
          </p:cNvPicPr>
          <p:nvPr/>
        </p:nvPicPr>
        <p:blipFill>
          <a:blip r:embed="rId4"/>
          <a:stretch>
            <a:fillRect/>
          </a:stretch>
        </p:blipFill>
        <p:spPr>
          <a:xfrm>
            <a:off x="9035143" y="2383971"/>
            <a:ext cx="566058" cy="576943"/>
          </a:xfrm>
          <a:prstGeom prst="rect">
            <a:avLst/>
          </a:prstGeom>
        </p:spPr>
      </p:pic>
      <p:pic>
        <p:nvPicPr>
          <p:cNvPr id="20" name="Picture 19">
            <a:extLst>
              <a:ext uri="{FF2B5EF4-FFF2-40B4-BE49-F238E27FC236}">
                <a16:creationId xmlns:a16="http://schemas.microsoft.com/office/drawing/2014/main" id="{7F3ECE97-2C6C-9DEB-0755-4BD53031A6E3}"/>
              </a:ext>
            </a:extLst>
          </p:cNvPr>
          <p:cNvPicPr>
            <a:picLocks noChangeAspect="1"/>
          </p:cNvPicPr>
          <p:nvPr/>
        </p:nvPicPr>
        <p:blipFill>
          <a:blip r:embed="rId5"/>
          <a:stretch>
            <a:fillRect/>
          </a:stretch>
        </p:blipFill>
        <p:spPr>
          <a:xfrm>
            <a:off x="3537856" y="2329542"/>
            <a:ext cx="566058" cy="674914"/>
          </a:xfrm>
          <a:prstGeom prst="rect">
            <a:avLst/>
          </a:prstGeom>
        </p:spPr>
      </p:pic>
    </p:spTree>
    <p:extLst>
      <p:ext uri="{BB962C8B-B14F-4D97-AF65-F5344CB8AC3E}">
        <p14:creationId xmlns:p14="http://schemas.microsoft.com/office/powerpoint/2010/main" val="188650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p:bldP spid="16" grpId="0"/>
      <p:bldP spid="18"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00771-2D3F-BEAE-9EF0-8FEFE4D8E7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AC6FA1-57A3-9771-207B-5BE75CFCB398}"/>
              </a:ext>
            </a:extLst>
          </p:cNvPr>
          <p:cNvSpPr>
            <a:spLocks noGrp="1"/>
          </p:cNvSpPr>
          <p:nvPr>
            <p:ph type="title"/>
          </p:nvPr>
        </p:nvSpPr>
        <p:spPr>
          <a:xfrm>
            <a:off x="3282744" y="18255"/>
            <a:ext cx="6980905" cy="1325563"/>
          </a:xfrm>
        </p:spPr>
        <p:txBody>
          <a:bodyPr/>
          <a:lstStyle/>
          <a:p>
            <a:r>
              <a:rPr lang="en-US" b="1" dirty="0">
                <a:solidFill>
                  <a:srgbClr val="156082"/>
                </a:solidFill>
              </a:rPr>
              <a:t>Conclusion and Future Work</a:t>
            </a:r>
          </a:p>
        </p:txBody>
      </p:sp>
      <p:sp>
        <p:nvSpPr>
          <p:cNvPr id="3" name="Content Placeholder 2">
            <a:extLst>
              <a:ext uri="{FF2B5EF4-FFF2-40B4-BE49-F238E27FC236}">
                <a16:creationId xmlns:a16="http://schemas.microsoft.com/office/drawing/2014/main" id="{E4B799F0-B6FC-73A5-9251-0CD5F0ACDC3F}"/>
              </a:ext>
            </a:extLst>
          </p:cNvPr>
          <p:cNvSpPr>
            <a:spLocks noGrp="1"/>
          </p:cNvSpPr>
          <p:nvPr>
            <p:ph idx="1"/>
          </p:nvPr>
        </p:nvSpPr>
        <p:spPr>
          <a:xfrm>
            <a:off x="2150806" y="1126037"/>
            <a:ext cx="9884013" cy="5156776"/>
          </a:xfrm>
        </p:spPr>
        <p:txBody>
          <a:bodyPr>
            <a:normAutofit lnSpcReduction="10000"/>
          </a:bodyPr>
          <a:lstStyle/>
          <a:p>
            <a:pPr marL="0" indent="0">
              <a:buNone/>
            </a:pPr>
            <a:r>
              <a:rPr lang="en-US" b="1" dirty="0"/>
              <a:t>Conclusion</a:t>
            </a:r>
          </a:p>
          <a:p>
            <a:pPr marL="0" indent="0">
              <a:buNone/>
            </a:pPr>
            <a:r>
              <a:rPr lang="en-US" b="1" dirty="0"/>
              <a:t>Research Contributions</a:t>
            </a:r>
          </a:p>
          <a:p>
            <a:pPr marL="0" indent="0">
              <a:buNone/>
            </a:pPr>
            <a:r>
              <a:rPr lang="en-US" dirty="0"/>
              <a:t>Developed a comprehensive framework for solving the </a:t>
            </a:r>
            <a:r>
              <a:rPr lang="en-US" b="1" dirty="0"/>
              <a:t>University Course Timetabling Problem (UCTP).</a:t>
            </a:r>
            <a:endParaRPr lang="en-US" dirty="0"/>
          </a:p>
          <a:p>
            <a:pPr marL="0" indent="0">
              <a:buNone/>
            </a:pPr>
            <a:r>
              <a:rPr lang="en-US" dirty="0"/>
              <a:t>Implemented and evaluated multiple advanced metaheuristics: </a:t>
            </a:r>
          </a:p>
          <a:p>
            <a:pPr lvl="1"/>
            <a:r>
              <a:rPr lang="en-US" dirty="0"/>
              <a:t>Memetic Algorithm (MA) </a:t>
            </a:r>
          </a:p>
          <a:p>
            <a:pPr lvl="1"/>
            <a:r>
              <a:rPr lang="en-US" dirty="0"/>
              <a:t>Cultural Algorithm (CA) </a:t>
            </a:r>
          </a:p>
          <a:p>
            <a:pPr lvl="1"/>
            <a:r>
              <a:rPr lang="en-US" dirty="0"/>
              <a:t>Hybrid Genetic Algorithm with Tabu Search (HGATS) </a:t>
            </a:r>
          </a:p>
          <a:p>
            <a:pPr lvl="1"/>
            <a:r>
              <a:rPr lang="en-US" dirty="0"/>
              <a:t>Guided Search NSGA-II (GSNSGA-II) </a:t>
            </a:r>
          </a:p>
          <a:p>
            <a:pPr marL="0" indent="0">
              <a:buNone/>
            </a:pPr>
            <a:r>
              <a:rPr lang="en-US" dirty="0"/>
              <a:t>Designed a high-performance C++ optimization engine with efficient search and evaluation mechanisms.</a:t>
            </a:r>
          </a:p>
          <a:p>
            <a:endParaRPr lang="en-US" dirty="0"/>
          </a:p>
        </p:txBody>
      </p:sp>
      <p:sp>
        <p:nvSpPr>
          <p:cNvPr id="7" name="Rectangle 6">
            <a:extLst>
              <a:ext uri="{FF2B5EF4-FFF2-40B4-BE49-F238E27FC236}">
                <a16:creationId xmlns:a16="http://schemas.microsoft.com/office/drawing/2014/main" id="{21A2DB21-F909-3E51-C58F-04FC495B01E0}"/>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20">
            <a:extLst>
              <a:ext uri="{FF2B5EF4-FFF2-40B4-BE49-F238E27FC236}">
                <a16:creationId xmlns:a16="http://schemas.microsoft.com/office/drawing/2014/main" id="{13A71481-E8D4-AF99-AEC9-32CAFCB1FA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0" name="Picture 9">
            <a:extLst>
              <a:ext uri="{FF2B5EF4-FFF2-40B4-BE49-F238E27FC236}">
                <a16:creationId xmlns:a16="http://schemas.microsoft.com/office/drawing/2014/main" id="{8CE602F8-3BCA-732E-7E53-F8BB6183BB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1" name="Slide Number Placeholder 10">
            <a:extLst>
              <a:ext uri="{FF2B5EF4-FFF2-40B4-BE49-F238E27FC236}">
                <a16:creationId xmlns:a16="http://schemas.microsoft.com/office/drawing/2014/main" id="{41D95422-F02A-ED4A-9BB1-0D47D98E7BE8}"/>
              </a:ext>
            </a:extLst>
          </p:cNvPr>
          <p:cNvSpPr>
            <a:spLocks noGrp="1"/>
          </p:cNvSpPr>
          <p:nvPr>
            <p:ph type="sldNum" sz="quarter" idx="12"/>
          </p:nvPr>
        </p:nvSpPr>
        <p:spPr/>
        <p:txBody>
          <a:bodyPr/>
          <a:lstStyle/>
          <a:p>
            <a:fld id="{FA5D76E8-8AD6-443B-8B81-1688B2EC3502}" type="slidenum">
              <a:rPr lang="en-US" smtClean="0"/>
              <a:t>77</a:t>
            </a:fld>
            <a:endParaRPr lang="en-US"/>
          </a:p>
        </p:txBody>
      </p:sp>
    </p:spTree>
    <p:extLst>
      <p:ext uri="{BB962C8B-B14F-4D97-AF65-F5344CB8AC3E}">
        <p14:creationId xmlns:p14="http://schemas.microsoft.com/office/powerpoint/2010/main" val="578379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fade">
                                      <p:cBhvr>
                                        <p:cTn id="39"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36CA8-A1A7-8A77-4533-A6DB41EABA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C3D070-8F2E-7EBB-EC9C-80276F33B89A}"/>
              </a:ext>
            </a:extLst>
          </p:cNvPr>
          <p:cNvSpPr>
            <a:spLocks noGrp="1"/>
          </p:cNvSpPr>
          <p:nvPr>
            <p:ph type="title"/>
          </p:nvPr>
        </p:nvSpPr>
        <p:spPr>
          <a:xfrm>
            <a:off x="3282744" y="18255"/>
            <a:ext cx="6980905" cy="1325563"/>
          </a:xfrm>
        </p:spPr>
        <p:txBody>
          <a:bodyPr/>
          <a:lstStyle/>
          <a:p>
            <a:r>
              <a:rPr lang="en-US" b="1" dirty="0">
                <a:solidFill>
                  <a:srgbClr val="156082"/>
                </a:solidFill>
              </a:rPr>
              <a:t>Conclusion and Future Work</a:t>
            </a:r>
          </a:p>
        </p:txBody>
      </p:sp>
      <p:sp>
        <p:nvSpPr>
          <p:cNvPr id="3" name="Content Placeholder 2">
            <a:extLst>
              <a:ext uri="{FF2B5EF4-FFF2-40B4-BE49-F238E27FC236}">
                <a16:creationId xmlns:a16="http://schemas.microsoft.com/office/drawing/2014/main" id="{FC22CC13-B1B8-4288-6368-3AE203A9112B}"/>
              </a:ext>
            </a:extLst>
          </p:cNvPr>
          <p:cNvSpPr>
            <a:spLocks noGrp="1"/>
          </p:cNvSpPr>
          <p:nvPr>
            <p:ph idx="1"/>
          </p:nvPr>
        </p:nvSpPr>
        <p:spPr>
          <a:xfrm>
            <a:off x="2150806" y="1126037"/>
            <a:ext cx="9884013" cy="5156776"/>
          </a:xfrm>
        </p:spPr>
        <p:txBody>
          <a:bodyPr>
            <a:normAutofit/>
          </a:bodyPr>
          <a:lstStyle/>
          <a:p>
            <a:pPr marL="0" indent="0">
              <a:buNone/>
            </a:pPr>
            <a:r>
              <a:rPr lang="en-US" b="1" dirty="0"/>
              <a:t>Key Achievements:</a:t>
            </a:r>
          </a:p>
          <a:p>
            <a:pPr marL="0" indent="0">
              <a:buNone/>
            </a:pPr>
            <a:r>
              <a:rPr lang="en-US" b="1" dirty="0"/>
              <a:t>Experimental Results</a:t>
            </a:r>
          </a:p>
          <a:p>
            <a:pPr marL="514350" indent="-514350">
              <a:buFont typeface="+mj-lt"/>
              <a:buAutoNum type="arabicPeriod"/>
            </a:pPr>
            <a:r>
              <a:rPr lang="en-US" dirty="0"/>
              <a:t>Achieved </a:t>
            </a:r>
            <a:r>
              <a:rPr lang="en-US" b="1" dirty="0"/>
              <a:t>100% feasibility</a:t>
            </a:r>
            <a:r>
              <a:rPr lang="en-US" dirty="0"/>
              <a:t> across benchmark instances (zero hard-constraint violations).</a:t>
            </a:r>
          </a:p>
          <a:p>
            <a:pPr marL="514350" indent="-514350">
              <a:buFont typeface="+mj-lt"/>
              <a:buAutoNum type="arabicPeriod"/>
            </a:pPr>
            <a:r>
              <a:rPr lang="en-US" dirty="0"/>
              <a:t>Significantly reduced soft-constraint penalties.</a:t>
            </a:r>
          </a:p>
          <a:p>
            <a:pPr marL="514350" indent="-514350">
              <a:buFont typeface="+mj-lt"/>
              <a:buAutoNum type="arabicPeriod"/>
            </a:pPr>
            <a:r>
              <a:rPr lang="en-US" dirty="0"/>
              <a:t>Validated on internationally recognized:</a:t>
            </a:r>
          </a:p>
          <a:p>
            <a:pPr lvl="1"/>
            <a:r>
              <a:rPr lang="en-US" dirty="0"/>
              <a:t>ITC-2002 Dataset </a:t>
            </a:r>
          </a:p>
          <a:p>
            <a:pPr lvl="1"/>
            <a:r>
              <a:rPr lang="en-US" dirty="0"/>
              <a:t>ITC-2007 Dataset </a:t>
            </a:r>
          </a:p>
          <a:p>
            <a:pPr marL="514350" indent="-514350">
              <a:buFont typeface="+mj-lt"/>
              <a:buAutoNum type="arabicPeriod"/>
            </a:pPr>
            <a:r>
              <a:rPr lang="en-US" dirty="0"/>
              <a:t>Extended the problem from a </a:t>
            </a:r>
            <a:r>
              <a:rPr lang="en-US" b="1" dirty="0"/>
              <a:t>Single-Objective</a:t>
            </a:r>
            <a:r>
              <a:rPr lang="en-US" dirty="0"/>
              <a:t> formulation to a </a:t>
            </a:r>
            <a:r>
              <a:rPr lang="en-US" b="1" dirty="0"/>
              <a:t>Multi-Objective Optimization Problem (MOOP)</a:t>
            </a:r>
            <a:r>
              <a:rPr lang="en-US" dirty="0"/>
              <a:t>.</a:t>
            </a:r>
          </a:p>
        </p:txBody>
      </p:sp>
      <p:sp>
        <p:nvSpPr>
          <p:cNvPr id="7" name="Rectangle 6">
            <a:extLst>
              <a:ext uri="{FF2B5EF4-FFF2-40B4-BE49-F238E27FC236}">
                <a16:creationId xmlns:a16="http://schemas.microsoft.com/office/drawing/2014/main" id="{C842CA20-F15F-F7F1-AED6-75DF4F40D9A1}"/>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20">
            <a:extLst>
              <a:ext uri="{FF2B5EF4-FFF2-40B4-BE49-F238E27FC236}">
                <a16:creationId xmlns:a16="http://schemas.microsoft.com/office/drawing/2014/main" id="{4973720A-DFAA-797D-E0E7-10CC1EF568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0" name="Picture 9">
            <a:extLst>
              <a:ext uri="{FF2B5EF4-FFF2-40B4-BE49-F238E27FC236}">
                <a16:creationId xmlns:a16="http://schemas.microsoft.com/office/drawing/2014/main" id="{AD0C5B9D-053C-5301-6534-6B8D65D3E6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1" name="Slide Number Placeholder 10">
            <a:extLst>
              <a:ext uri="{FF2B5EF4-FFF2-40B4-BE49-F238E27FC236}">
                <a16:creationId xmlns:a16="http://schemas.microsoft.com/office/drawing/2014/main" id="{67EEA11D-015E-B00F-9DF0-8E52726CD496}"/>
              </a:ext>
            </a:extLst>
          </p:cNvPr>
          <p:cNvSpPr>
            <a:spLocks noGrp="1"/>
          </p:cNvSpPr>
          <p:nvPr>
            <p:ph type="sldNum" sz="quarter" idx="12"/>
          </p:nvPr>
        </p:nvSpPr>
        <p:spPr/>
        <p:txBody>
          <a:bodyPr/>
          <a:lstStyle/>
          <a:p>
            <a:fld id="{FA5D76E8-8AD6-443B-8B81-1688B2EC3502}" type="slidenum">
              <a:rPr lang="en-US" smtClean="0"/>
              <a:t>78</a:t>
            </a:fld>
            <a:endParaRPr lang="en-US"/>
          </a:p>
        </p:txBody>
      </p:sp>
    </p:spTree>
    <p:extLst>
      <p:ext uri="{BB962C8B-B14F-4D97-AF65-F5344CB8AC3E}">
        <p14:creationId xmlns:p14="http://schemas.microsoft.com/office/powerpoint/2010/main" val="2286927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576BD-D0F9-F6F0-1FBA-67FABB215A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D7F0D9-0CB7-D29F-A84D-2651F32BB8F2}"/>
              </a:ext>
            </a:extLst>
          </p:cNvPr>
          <p:cNvSpPr>
            <a:spLocks noGrp="1"/>
          </p:cNvSpPr>
          <p:nvPr>
            <p:ph type="title"/>
          </p:nvPr>
        </p:nvSpPr>
        <p:spPr>
          <a:xfrm>
            <a:off x="3282744" y="18255"/>
            <a:ext cx="6980905" cy="1325563"/>
          </a:xfrm>
        </p:spPr>
        <p:txBody>
          <a:bodyPr/>
          <a:lstStyle/>
          <a:p>
            <a:r>
              <a:rPr lang="en-US" b="1" dirty="0">
                <a:solidFill>
                  <a:srgbClr val="156082"/>
                </a:solidFill>
              </a:rPr>
              <a:t>Conclusion and Future Work</a:t>
            </a:r>
          </a:p>
        </p:txBody>
      </p:sp>
      <p:sp>
        <p:nvSpPr>
          <p:cNvPr id="3" name="Content Placeholder 2">
            <a:extLst>
              <a:ext uri="{FF2B5EF4-FFF2-40B4-BE49-F238E27FC236}">
                <a16:creationId xmlns:a16="http://schemas.microsoft.com/office/drawing/2014/main" id="{030ED9AD-6583-8BE6-5D44-CF9BDF4C48F9}"/>
              </a:ext>
            </a:extLst>
          </p:cNvPr>
          <p:cNvSpPr>
            <a:spLocks noGrp="1"/>
          </p:cNvSpPr>
          <p:nvPr>
            <p:ph idx="1"/>
          </p:nvPr>
        </p:nvSpPr>
        <p:spPr>
          <a:xfrm>
            <a:off x="2150806" y="1126037"/>
            <a:ext cx="9884013" cy="5156776"/>
          </a:xfrm>
        </p:spPr>
        <p:txBody>
          <a:bodyPr>
            <a:normAutofit/>
          </a:bodyPr>
          <a:lstStyle/>
          <a:p>
            <a:r>
              <a:rPr lang="en-US" b="1" dirty="0"/>
              <a:t>Future Work</a:t>
            </a:r>
          </a:p>
          <a:p>
            <a:pPr marL="514350" indent="-514350">
              <a:buFont typeface="+mj-lt"/>
              <a:buAutoNum type="arabicPeriod"/>
            </a:pPr>
            <a:r>
              <a:rPr lang="en-US" dirty="0"/>
              <a:t>Explicit Lecturer Modeling and Faculty Preferences.</a:t>
            </a:r>
          </a:p>
          <a:p>
            <a:pPr marL="514350" indent="-514350">
              <a:buFont typeface="+mj-lt"/>
              <a:buAutoNum type="arabicPeriod"/>
            </a:pPr>
            <a:r>
              <a:rPr lang="en-US" dirty="0"/>
              <a:t>Distributed Multi-Node Processing for Large-Scale Universities.</a:t>
            </a:r>
          </a:p>
          <a:p>
            <a:pPr marL="514350" indent="-514350">
              <a:buFont typeface="+mj-lt"/>
              <a:buAutoNum type="arabicPeriod"/>
            </a:pPr>
            <a:r>
              <a:rPr lang="en-US" dirty="0"/>
              <a:t>Advanced Analytics Dashboards for:</a:t>
            </a:r>
          </a:p>
          <a:p>
            <a:pPr lvl="1"/>
            <a:r>
              <a:rPr lang="en-US" dirty="0"/>
              <a:t>Room Utilization </a:t>
            </a:r>
          </a:p>
          <a:p>
            <a:pPr lvl="1"/>
            <a:r>
              <a:rPr lang="en-US" dirty="0"/>
              <a:t>Resource Allocation </a:t>
            </a:r>
          </a:p>
          <a:p>
            <a:pPr lvl="1"/>
            <a:r>
              <a:rPr lang="en-US" dirty="0"/>
              <a:t>Scheduling Insights</a:t>
            </a:r>
          </a:p>
          <a:p>
            <a:pPr marL="0" indent="0">
              <a:buNone/>
            </a:pPr>
            <a:endParaRPr lang="en-US" dirty="0"/>
          </a:p>
        </p:txBody>
      </p:sp>
      <p:sp>
        <p:nvSpPr>
          <p:cNvPr id="7" name="Rectangle 6">
            <a:extLst>
              <a:ext uri="{FF2B5EF4-FFF2-40B4-BE49-F238E27FC236}">
                <a16:creationId xmlns:a16="http://schemas.microsoft.com/office/drawing/2014/main" id="{5A87B920-249E-B581-A715-802A50244F7B}"/>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20">
            <a:extLst>
              <a:ext uri="{FF2B5EF4-FFF2-40B4-BE49-F238E27FC236}">
                <a16:creationId xmlns:a16="http://schemas.microsoft.com/office/drawing/2014/main" id="{195573F6-88DA-EFA6-4ECA-AE9E15EDC8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10" name="Picture 9">
            <a:extLst>
              <a:ext uri="{FF2B5EF4-FFF2-40B4-BE49-F238E27FC236}">
                <a16:creationId xmlns:a16="http://schemas.microsoft.com/office/drawing/2014/main" id="{56D7F65C-8C44-C832-2BD8-6D8A08089C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11" name="Slide Number Placeholder 10">
            <a:extLst>
              <a:ext uri="{FF2B5EF4-FFF2-40B4-BE49-F238E27FC236}">
                <a16:creationId xmlns:a16="http://schemas.microsoft.com/office/drawing/2014/main" id="{EF643F96-BA3C-2741-7FDB-8455CAA97D76}"/>
              </a:ext>
            </a:extLst>
          </p:cNvPr>
          <p:cNvSpPr>
            <a:spLocks noGrp="1"/>
          </p:cNvSpPr>
          <p:nvPr>
            <p:ph type="sldNum" sz="quarter" idx="12"/>
          </p:nvPr>
        </p:nvSpPr>
        <p:spPr/>
        <p:txBody>
          <a:bodyPr/>
          <a:lstStyle/>
          <a:p>
            <a:fld id="{FA5D76E8-8AD6-443B-8B81-1688B2EC3502}" type="slidenum">
              <a:rPr lang="en-US" smtClean="0"/>
              <a:t>79</a:t>
            </a:fld>
            <a:endParaRPr lang="en-US"/>
          </a:p>
        </p:txBody>
      </p:sp>
    </p:spTree>
    <p:extLst>
      <p:ext uri="{BB962C8B-B14F-4D97-AF65-F5344CB8AC3E}">
        <p14:creationId xmlns:p14="http://schemas.microsoft.com/office/powerpoint/2010/main" val="3022612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AD4E9F-4A44-4F66-E46E-7AF109A59DF5}"/>
              </a:ext>
            </a:extLst>
          </p:cNvPr>
          <p:cNvSpPr>
            <a:spLocks noGrp="1"/>
          </p:cNvSpPr>
          <p:nvPr>
            <p:ph type="sldNum" sz="quarter" idx="12"/>
          </p:nvPr>
        </p:nvSpPr>
        <p:spPr/>
        <p:txBody>
          <a:bodyPr/>
          <a:lstStyle/>
          <a:p>
            <a:fld id="{FA5D76E8-8AD6-443B-8B81-1688B2EC3502}" type="slidenum">
              <a:rPr lang="en-US" smtClean="0"/>
              <a:t>80</a:t>
            </a:fld>
            <a:endParaRPr lang="en-US"/>
          </a:p>
        </p:txBody>
      </p:sp>
      <p:sp>
        <p:nvSpPr>
          <p:cNvPr id="5" name="Rectangle 4">
            <a:extLst>
              <a:ext uri="{FF2B5EF4-FFF2-40B4-BE49-F238E27FC236}">
                <a16:creationId xmlns:a16="http://schemas.microsoft.com/office/drawing/2014/main" id="{A7B0C2A6-1665-336A-FBF6-059575D65960}"/>
              </a:ext>
            </a:extLst>
          </p:cNvPr>
          <p:cNvSpPr/>
          <p:nvPr/>
        </p:nvSpPr>
        <p:spPr>
          <a:xfrm>
            <a:off x="0" y="0"/>
            <a:ext cx="184846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Content Placeholder 20">
            <a:extLst>
              <a:ext uri="{FF2B5EF4-FFF2-40B4-BE49-F238E27FC236}">
                <a16:creationId xmlns:a16="http://schemas.microsoft.com/office/drawing/2014/main" id="{402ACB16-E1D0-2AFC-2587-10EF185240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83" y="184423"/>
            <a:ext cx="1168898" cy="1883229"/>
          </a:xfrm>
          <a:prstGeom prst="rect">
            <a:avLst/>
          </a:prstGeom>
        </p:spPr>
      </p:pic>
      <p:pic>
        <p:nvPicPr>
          <p:cNvPr id="7" name="Picture 6">
            <a:extLst>
              <a:ext uri="{FF2B5EF4-FFF2-40B4-BE49-F238E27FC236}">
                <a16:creationId xmlns:a16="http://schemas.microsoft.com/office/drawing/2014/main" id="{9B4572E8-D3F7-E077-452E-080CE15E86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80" y="5189772"/>
            <a:ext cx="1534103" cy="1483805"/>
          </a:xfrm>
          <a:prstGeom prst="rect">
            <a:avLst/>
          </a:prstGeom>
        </p:spPr>
      </p:pic>
      <p:sp>
        <p:nvSpPr>
          <p:cNvPr id="8" name="TextBox 7">
            <a:extLst>
              <a:ext uri="{FF2B5EF4-FFF2-40B4-BE49-F238E27FC236}">
                <a16:creationId xmlns:a16="http://schemas.microsoft.com/office/drawing/2014/main" id="{6D2AE27B-1632-4907-3720-96D68E363D1E}"/>
              </a:ext>
            </a:extLst>
          </p:cNvPr>
          <p:cNvSpPr txBox="1"/>
          <p:nvPr/>
        </p:nvSpPr>
        <p:spPr>
          <a:xfrm>
            <a:off x="2039247" y="629254"/>
            <a:ext cx="4247536" cy="1569660"/>
          </a:xfrm>
          <a:prstGeom prst="rect">
            <a:avLst/>
          </a:prstGeom>
          <a:noFill/>
        </p:spPr>
        <p:txBody>
          <a:bodyPr wrap="square" rtlCol="0">
            <a:spAutoFit/>
          </a:bodyPr>
          <a:lstStyle/>
          <a:p>
            <a:r>
              <a:rPr lang="en-US" sz="3600" b="1" dirty="0">
                <a:solidFill>
                  <a:schemeClr val="tx1">
                    <a:lumMod val="95000"/>
                    <a:lumOff val="5000"/>
                  </a:schemeClr>
                </a:solidFill>
                <a:latin typeface="Calibri"/>
                <a:cs typeface="Calibri"/>
              </a:rPr>
              <a:t>Thanks</a:t>
            </a:r>
            <a:r>
              <a:rPr lang="en-US" sz="3600" b="1" spc="-90" dirty="0">
                <a:solidFill>
                  <a:schemeClr val="tx1">
                    <a:lumMod val="95000"/>
                    <a:lumOff val="5000"/>
                  </a:schemeClr>
                </a:solidFill>
                <a:latin typeface="Calibri"/>
                <a:cs typeface="Calibri"/>
              </a:rPr>
              <a:t> </a:t>
            </a:r>
            <a:r>
              <a:rPr lang="en-US" sz="3600" b="1" dirty="0">
                <a:solidFill>
                  <a:schemeClr val="tx1">
                    <a:lumMod val="95000"/>
                    <a:lumOff val="5000"/>
                  </a:schemeClr>
                </a:solidFill>
                <a:latin typeface="Calibri"/>
                <a:cs typeface="Calibri"/>
              </a:rPr>
              <a:t>a</a:t>
            </a:r>
            <a:r>
              <a:rPr lang="en-US" sz="3600" b="1" spc="-85" dirty="0">
                <a:solidFill>
                  <a:schemeClr val="tx1">
                    <a:lumMod val="95000"/>
                    <a:lumOff val="5000"/>
                  </a:schemeClr>
                </a:solidFill>
                <a:latin typeface="Calibri"/>
                <a:cs typeface="Calibri"/>
              </a:rPr>
              <a:t> </a:t>
            </a:r>
            <a:r>
              <a:rPr lang="en-US" sz="3600" b="1" dirty="0">
                <a:solidFill>
                  <a:schemeClr val="tx1">
                    <a:lumMod val="95000"/>
                    <a:lumOff val="5000"/>
                  </a:schemeClr>
                </a:solidFill>
                <a:latin typeface="Calibri"/>
                <a:cs typeface="Calibri"/>
              </a:rPr>
              <a:t>million!!</a:t>
            </a:r>
            <a:r>
              <a:rPr lang="en-US" sz="3600" b="1" spc="-75" dirty="0">
                <a:solidFill>
                  <a:schemeClr val="tx1">
                    <a:lumMod val="95000"/>
                    <a:lumOff val="5000"/>
                  </a:schemeClr>
                </a:solidFill>
                <a:latin typeface="Calibri"/>
                <a:cs typeface="Calibri"/>
              </a:rPr>
              <a:t> </a:t>
            </a:r>
            <a:r>
              <a:rPr lang="en-US" sz="3600" b="1" spc="-50" dirty="0">
                <a:solidFill>
                  <a:schemeClr val="tx1">
                    <a:lumMod val="95000"/>
                    <a:lumOff val="5000"/>
                  </a:schemeClr>
                </a:solidFill>
                <a:latin typeface="Wingdings"/>
                <a:cs typeface="Wingdings"/>
              </a:rPr>
              <a:t></a:t>
            </a:r>
            <a:endParaRPr lang="en-US" sz="3600" b="1" dirty="0">
              <a:solidFill>
                <a:schemeClr val="tx1">
                  <a:lumMod val="95000"/>
                  <a:lumOff val="5000"/>
                </a:schemeClr>
              </a:solidFill>
              <a:latin typeface="Wingdings"/>
              <a:cs typeface="Wingdings"/>
            </a:endParaRPr>
          </a:p>
          <a:p>
            <a:endParaRPr lang="en-US" sz="6000" dirty="0">
              <a:solidFill>
                <a:srgbClr val="156082"/>
              </a:solidFill>
            </a:endParaRPr>
          </a:p>
        </p:txBody>
      </p:sp>
      <p:sp>
        <p:nvSpPr>
          <p:cNvPr id="10" name="TextBox 9">
            <a:extLst>
              <a:ext uri="{FF2B5EF4-FFF2-40B4-BE49-F238E27FC236}">
                <a16:creationId xmlns:a16="http://schemas.microsoft.com/office/drawing/2014/main" id="{A54C56E3-E21A-9A7D-5222-44A44BE9D225}"/>
              </a:ext>
            </a:extLst>
          </p:cNvPr>
          <p:cNvSpPr txBox="1"/>
          <p:nvPr/>
        </p:nvSpPr>
        <p:spPr>
          <a:xfrm>
            <a:off x="7738971" y="2061801"/>
            <a:ext cx="3614829" cy="1213153"/>
          </a:xfrm>
          <a:prstGeom prst="rect">
            <a:avLst/>
          </a:prstGeom>
          <a:noFill/>
        </p:spPr>
        <p:txBody>
          <a:bodyPr wrap="square" rtlCol="0">
            <a:spAutoFit/>
          </a:bodyPr>
          <a:lstStyle/>
          <a:p>
            <a:pPr marL="12700" marR="5080">
              <a:lnSpc>
                <a:spcPct val="100000"/>
              </a:lnSpc>
              <a:spcBef>
                <a:spcPts val="100"/>
              </a:spcBef>
            </a:pPr>
            <a:r>
              <a:rPr lang="en-US" sz="3600" b="1" dirty="0">
                <a:solidFill>
                  <a:schemeClr val="tx1">
                    <a:lumMod val="95000"/>
                    <a:lumOff val="5000"/>
                  </a:schemeClr>
                </a:solidFill>
                <a:latin typeface="Calibri"/>
                <a:cs typeface="Calibri"/>
              </a:rPr>
              <a:t>Questions</a:t>
            </a:r>
            <a:r>
              <a:rPr lang="en-US" sz="3600" b="1" spc="-95" dirty="0">
                <a:solidFill>
                  <a:schemeClr val="tx1">
                    <a:lumMod val="95000"/>
                    <a:lumOff val="5000"/>
                  </a:schemeClr>
                </a:solidFill>
                <a:latin typeface="Calibri"/>
                <a:cs typeface="Calibri"/>
              </a:rPr>
              <a:t> </a:t>
            </a:r>
            <a:r>
              <a:rPr lang="en-US" sz="3600" b="1" dirty="0">
                <a:solidFill>
                  <a:schemeClr val="tx1">
                    <a:lumMod val="95000"/>
                    <a:lumOff val="5000"/>
                  </a:schemeClr>
                </a:solidFill>
                <a:latin typeface="Calibri"/>
                <a:cs typeface="Calibri"/>
              </a:rPr>
              <a:t>..</a:t>
            </a:r>
            <a:r>
              <a:rPr lang="en-US" sz="3600" b="1" spc="-110" dirty="0">
                <a:solidFill>
                  <a:schemeClr val="tx1">
                    <a:lumMod val="95000"/>
                    <a:lumOff val="5000"/>
                  </a:schemeClr>
                </a:solidFill>
                <a:latin typeface="Calibri"/>
                <a:cs typeface="Calibri"/>
              </a:rPr>
              <a:t> </a:t>
            </a:r>
            <a:r>
              <a:rPr lang="en-US" sz="3600" b="1" spc="-50" dirty="0">
                <a:solidFill>
                  <a:schemeClr val="tx1">
                    <a:lumMod val="95000"/>
                    <a:lumOff val="5000"/>
                  </a:schemeClr>
                </a:solidFill>
                <a:latin typeface="Calibri"/>
                <a:cs typeface="Calibri"/>
              </a:rPr>
              <a:t>?</a:t>
            </a:r>
          </a:p>
          <a:p>
            <a:pPr marL="12700" marR="5080">
              <a:lnSpc>
                <a:spcPct val="100000"/>
              </a:lnSpc>
              <a:spcBef>
                <a:spcPts val="100"/>
              </a:spcBef>
            </a:pPr>
            <a:r>
              <a:rPr lang="en-US" sz="3600" b="1" dirty="0">
                <a:solidFill>
                  <a:schemeClr val="tx1">
                    <a:lumMod val="95000"/>
                    <a:lumOff val="5000"/>
                  </a:schemeClr>
                </a:solidFill>
                <a:latin typeface="Calibri"/>
                <a:cs typeface="Calibri"/>
              </a:rPr>
              <a:t>Comments</a:t>
            </a:r>
            <a:r>
              <a:rPr lang="en-US" sz="3600" b="1" spc="-50" dirty="0">
                <a:solidFill>
                  <a:schemeClr val="tx1">
                    <a:lumMod val="95000"/>
                    <a:lumOff val="5000"/>
                  </a:schemeClr>
                </a:solidFill>
                <a:latin typeface="Calibri"/>
                <a:cs typeface="Calibri"/>
              </a:rPr>
              <a:t> </a:t>
            </a:r>
            <a:r>
              <a:rPr lang="en-US" sz="3600" b="1" dirty="0">
                <a:solidFill>
                  <a:schemeClr val="tx1">
                    <a:lumMod val="95000"/>
                    <a:lumOff val="5000"/>
                  </a:schemeClr>
                </a:solidFill>
                <a:latin typeface="Calibri"/>
                <a:cs typeface="Calibri"/>
              </a:rPr>
              <a:t>..</a:t>
            </a:r>
            <a:r>
              <a:rPr lang="en-US" sz="3600" b="1" spc="-50" dirty="0">
                <a:solidFill>
                  <a:schemeClr val="tx1">
                    <a:lumMod val="95000"/>
                    <a:lumOff val="5000"/>
                  </a:schemeClr>
                </a:solidFill>
                <a:latin typeface="Calibri"/>
                <a:cs typeface="Calibri"/>
              </a:rPr>
              <a:t> ?</a:t>
            </a:r>
            <a:endParaRPr lang="en-US" sz="3600" dirty="0">
              <a:solidFill>
                <a:schemeClr val="tx1">
                  <a:lumMod val="95000"/>
                  <a:lumOff val="5000"/>
                </a:schemeClr>
              </a:solidFill>
              <a:latin typeface="Calibri"/>
              <a:cs typeface="Calibri"/>
            </a:endParaRPr>
          </a:p>
        </p:txBody>
      </p:sp>
      <p:pic>
        <p:nvPicPr>
          <p:cNvPr id="12" name="Picture 11">
            <a:extLst>
              <a:ext uri="{FF2B5EF4-FFF2-40B4-BE49-F238E27FC236}">
                <a16:creationId xmlns:a16="http://schemas.microsoft.com/office/drawing/2014/main" id="{7A111A7E-2A4E-BE08-0183-2610DBD1F0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10828" y="4172630"/>
            <a:ext cx="1762125" cy="2409825"/>
          </a:xfrm>
          <a:prstGeom prst="rect">
            <a:avLst/>
          </a:prstGeom>
        </p:spPr>
      </p:pic>
      <p:graphicFrame>
        <p:nvGraphicFramePr>
          <p:cNvPr id="16" name="Table 15">
            <a:extLst>
              <a:ext uri="{FF2B5EF4-FFF2-40B4-BE49-F238E27FC236}">
                <a16:creationId xmlns:a16="http://schemas.microsoft.com/office/drawing/2014/main" id="{5095A2B6-3FBD-6B4A-7997-CDCE911C6793}"/>
              </a:ext>
            </a:extLst>
          </p:cNvPr>
          <p:cNvGraphicFramePr>
            <a:graphicFrameLocks noGrp="1"/>
          </p:cNvGraphicFramePr>
          <p:nvPr>
            <p:extLst>
              <p:ext uri="{D42A27DB-BD31-4B8C-83A1-F6EECF244321}">
                <p14:modId xmlns:p14="http://schemas.microsoft.com/office/powerpoint/2010/main" val="2978325356"/>
              </p:ext>
            </p:extLst>
          </p:nvPr>
        </p:nvGraphicFramePr>
        <p:xfrm>
          <a:off x="2297271" y="3803923"/>
          <a:ext cx="4575629" cy="2734989"/>
        </p:xfrm>
        <a:graphic>
          <a:graphicData uri="http://schemas.openxmlformats.org/drawingml/2006/table">
            <a:tbl>
              <a:tblPr firstRow="1" bandRow="1">
                <a:tableStyleId>{5C22544A-7EE6-4342-B048-85BDC9FD1C3A}</a:tableStyleId>
              </a:tblPr>
              <a:tblGrid>
                <a:gridCol w="4575629">
                  <a:extLst>
                    <a:ext uri="{9D8B030D-6E8A-4147-A177-3AD203B41FA5}">
                      <a16:colId xmlns:a16="http://schemas.microsoft.com/office/drawing/2014/main" val="2130673099"/>
                    </a:ext>
                  </a:extLst>
                </a:gridCol>
              </a:tblGrid>
              <a:tr h="3088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tx1">
                              <a:lumMod val="95000"/>
                              <a:lumOff val="5000"/>
                            </a:schemeClr>
                          </a:solidFill>
                        </a:rPr>
                        <a:t>Presented by:</a:t>
                      </a:r>
                    </a:p>
                  </a:txBody>
                  <a:tcPr/>
                </a:tc>
                <a:extLst>
                  <a:ext uri="{0D108BD9-81ED-4DB2-BD59-A6C34878D82A}">
                    <a16:rowId xmlns:a16="http://schemas.microsoft.com/office/drawing/2014/main" val="2132295922"/>
                  </a:ext>
                </a:extLst>
              </a:tr>
              <a:tr h="3088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tx1">
                              <a:lumMod val="95000"/>
                              <a:lumOff val="5000"/>
                            </a:schemeClr>
                          </a:solidFill>
                        </a:rPr>
                        <a:t>Ahmed Ragab </a:t>
                      </a:r>
                      <a:r>
                        <a:rPr lang="en-US" sz="1800" b="1" dirty="0" err="1">
                          <a:solidFill>
                            <a:schemeClr val="tx1">
                              <a:lumMod val="95000"/>
                              <a:lumOff val="5000"/>
                            </a:schemeClr>
                          </a:solidFill>
                        </a:rPr>
                        <a:t>Desouki</a:t>
                      </a:r>
                      <a:r>
                        <a:rPr lang="en-US" sz="1800" b="1" dirty="0">
                          <a:solidFill>
                            <a:schemeClr val="tx1">
                              <a:lumMod val="95000"/>
                              <a:lumOff val="5000"/>
                            </a:schemeClr>
                          </a:solidFill>
                        </a:rPr>
                        <a:t> Mohamed</a:t>
                      </a:r>
                    </a:p>
                  </a:txBody>
                  <a:tcPr/>
                </a:tc>
                <a:extLst>
                  <a:ext uri="{0D108BD9-81ED-4DB2-BD59-A6C34878D82A}">
                    <a16:rowId xmlns:a16="http://schemas.microsoft.com/office/drawing/2014/main" val="1101818862"/>
                  </a:ext>
                </a:extLst>
              </a:tr>
              <a:tr h="3088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tx1">
                              <a:lumMod val="95000"/>
                              <a:lumOff val="5000"/>
                            </a:schemeClr>
                          </a:solidFill>
                        </a:rPr>
                        <a:t>Ahmed Amr Moustafa Fouad</a:t>
                      </a:r>
                    </a:p>
                  </a:txBody>
                  <a:tcPr/>
                </a:tc>
                <a:extLst>
                  <a:ext uri="{0D108BD9-81ED-4DB2-BD59-A6C34878D82A}">
                    <a16:rowId xmlns:a16="http://schemas.microsoft.com/office/drawing/2014/main" val="2395735467"/>
                  </a:ext>
                </a:extLst>
              </a:tr>
              <a:tr h="3088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tx1">
                              <a:lumMod val="95000"/>
                              <a:lumOff val="5000"/>
                            </a:schemeClr>
                          </a:solidFill>
                        </a:rPr>
                        <a:t>Ahmed Mohamed </a:t>
                      </a:r>
                      <a:r>
                        <a:rPr lang="en-US" sz="1800" b="1" dirty="0" err="1">
                          <a:solidFill>
                            <a:schemeClr val="tx1">
                              <a:lumMod val="95000"/>
                              <a:lumOff val="5000"/>
                            </a:schemeClr>
                          </a:solidFill>
                        </a:rPr>
                        <a:t>Mohamed</a:t>
                      </a:r>
                      <a:r>
                        <a:rPr lang="en-US" sz="1800" b="1" dirty="0">
                          <a:solidFill>
                            <a:schemeClr val="tx1">
                              <a:lumMod val="95000"/>
                              <a:lumOff val="5000"/>
                            </a:schemeClr>
                          </a:solidFill>
                        </a:rPr>
                        <a:t> Saleh</a:t>
                      </a:r>
                    </a:p>
                  </a:txBody>
                  <a:tcPr/>
                </a:tc>
                <a:extLst>
                  <a:ext uri="{0D108BD9-81ED-4DB2-BD59-A6C34878D82A}">
                    <a16:rowId xmlns:a16="http://schemas.microsoft.com/office/drawing/2014/main" val="423287134"/>
                  </a:ext>
                </a:extLst>
              </a:tr>
              <a:tr h="3088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tx1">
                              <a:lumMod val="95000"/>
                              <a:lumOff val="5000"/>
                            </a:schemeClr>
                          </a:solidFill>
                        </a:rPr>
                        <a:t>Ahmed Mohamed Mahmoud Ibrahim</a:t>
                      </a:r>
                    </a:p>
                  </a:txBody>
                  <a:tcPr/>
                </a:tc>
                <a:extLst>
                  <a:ext uri="{0D108BD9-81ED-4DB2-BD59-A6C34878D82A}">
                    <a16:rowId xmlns:a16="http://schemas.microsoft.com/office/drawing/2014/main" val="2200178564"/>
                  </a:ext>
                </a:extLst>
              </a:tr>
              <a:tr h="3088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tx1">
                              <a:lumMod val="95000"/>
                              <a:lumOff val="5000"/>
                            </a:schemeClr>
                          </a:solidFill>
                        </a:rPr>
                        <a:t>Asem Hamed Elsayed Mahmoud</a:t>
                      </a:r>
                    </a:p>
                  </a:txBody>
                  <a:tcPr/>
                </a:tc>
                <a:extLst>
                  <a:ext uri="{0D108BD9-81ED-4DB2-BD59-A6C34878D82A}">
                    <a16:rowId xmlns:a16="http://schemas.microsoft.com/office/drawing/2014/main" val="226184566"/>
                  </a:ext>
                </a:extLst>
              </a:tr>
              <a:tr h="5404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dk1"/>
                          </a:solidFill>
                          <a:effectLst/>
                          <a:latin typeface="+mn-lt"/>
                          <a:ea typeface="+mn-ea"/>
                          <a:cs typeface="+mn-cs"/>
                        </a:rPr>
                        <a:t>Abdelrahaman Hany Hegazy Saber</a:t>
                      </a:r>
                      <a:endParaRPr lang="en-US" dirty="0">
                        <a:effectLst/>
                      </a:endParaRPr>
                    </a:p>
                  </a:txBody>
                  <a:tcPr/>
                </a:tc>
                <a:extLst>
                  <a:ext uri="{0D108BD9-81ED-4DB2-BD59-A6C34878D82A}">
                    <a16:rowId xmlns:a16="http://schemas.microsoft.com/office/drawing/2014/main" val="706510838"/>
                  </a:ext>
                </a:extLst>
              </a:tr>
            </a:tbl>
          </a:graphicData>
        </a:graphic>
      </p:graphicFrame>
    </p:spTree>
    <p:extLst>
      <p:ext uri="{BB962C8B-B14F-4D97-AF65-F5344CB8AC3E}">
        <p14:creationId xmlns:p14="http://schemas.microsoft.com/office/powerpoint/2010/main" val="11247508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1116</TotalTime>
  <Words>5146</Words>
  <Application>Microsoft Office PowerPoint</Application>
  <PresentationFormat>Widescreen</PresentationFormat>
  <Paragraphs>1043</Paragraphs>
  <Slides>80</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80</vt:i4>
      </vt:variant>
    </vt:vector>
  </HeadingPairs>
  <TitlesOfParts>
    <vt:vector size="91" baseType="lpstr">
      <vt:lpstr>Aptos</vt:lpstr>
      <vt:lpstr>Aptos Display</vt:lpstr>
      <vt:lpstr>Arial</vt:lpstr>
      <vt:lpstr>Calibri</vt:lpstr>
      <vt:lpstr>Cambria Math</vt:lpstr>
      <vt:lpstr>Courier New</vt:lpstr>
      <vt:lpstr>JetBrains Mono</vt:lpstr>
      <vt:lpstr>Lato</vt:lpstr>
      <vt:lpstr>Urbanist</vt:lpstr>
      <vt:lpstr>Wingdings</vt:lpstr>
      <vt:lpstr>Office Theme</vt:lpstr>
      <vt:lpstr>A HYBRID WEB-BASED FRAMEWORK FOR UNIVERSITY COURSE TIMETABLING PROBLEM USING EVOLUTIONARY ALGORITHMS </vt:lpstr>
      <vt:lpstr>Outlines:</vt:lpstr>
      <vt:lpstr>Scheduling vs. Timetabling: </vt:lpstr>
      <vt:lpstr>Introduction and Background</vt:lpstr>
      <vt:lpstr>Introduction and Background</vt:lpstr>
      <vt:lpstr>Introduction and Background</vt:lpstr>
      <vt:lpstr>Introduction and Background</vt:lpstr>
      <vt:lpstr>Introduction and Background</vt:lpstr>
      <vt:lpstr>Introduction and Background</vt:lpstr>
      <vt:lpstr>Problem Definition</vt:lpstr>
      <vt:lpstr>Problem Definition</vt:lpstr>
      <vt:lpstr>Problem Definition</vt:lpstr>
      <vt:lpstr>Problem Definition</vt:lpstr>
      <vt:lpstr>Problem Definition</vt:lpstr>
      <vt:lpstr>Problem Definition</vt:lpstr>
      <vt:lpstr>Problem Definition</vt:lpstr>
      <vt:lpstr>Used Datasets</vt:lpstr>
      <vt:lpstr>Used Datasets</vt:lpstr>
      <vt:lpstr>The Proposed Memetic Algorithm (MA)</vt:lpstr>
      <vt:lpstr>Advanced Neighborhood Search</vt:lpstr>
      <vt:lpstr>Bipartite Room Allocation</vt:lpstr>
      <vt:lpstr>Network Flow Transformation</vt:lpstr>
      <vt:lpstr>Network Flow Transformation</vt:lpstr>
      <vt:lpstr>Deterministic Fallback</vt:lpstr>
      <vt:lpstr>Local Search 1: Constraint Tuning</vt:lpstr>
      <vt:lpstr>LS2: Stochastic Targeting</vt:lpstr>
      <vt:lpstr>Steady-State GA Architecture</vt:lpstr>
      <vt:lpstr>The Memetic Integration Loop</vt:lpstr>
      <vt:lpstr>Performance Enhancements</vt:lpstr>
      <vt:lpstr>Memetic Evaluation Results</vt:lpstr>
      <vt:lpstr>Proposed Hybrid Methods</vt:lpstr>
      <vt:lpstr>Proposed Hybrid Methods</vt:lpstr>
      <vt:lpstr>Proposed Hybrid Methods</vt:lpstr>
      <vt:lpstr>Proposed Hybrid Methods</vt:lpstr>
      <vt:lpstr>Proposed Hybrid Methods</vt:lpstr>
      <vt:lpstr>Proposed Hybrid Methods</vt:lpstr>
      <vt:lpstr>Proposed Hybrid Methods</vt:lpstr>
      <vt:lpstr>Proposed Hybrid Methods</vt:lpstr>
      <vt:lpstr>Proposed Hybrid Methods</vt:lpstr>
      <vt:lpstr>Proposed Hybrid Methods</vt:lpstr>
      <vt:lpstr>Proposed Hybrid Methods</vt:lpstr>
      <vt:lpstr>Proposed Hybrid Methods</vt:lpstr>
      <vt:lpstr>Proposed Hybrid Methods</vt:lpstr>
      <vt:lpstr>Proposed Hybrid Methods</vt:lpstr>
      <vt:lpstr>Multi-Objective UCTP</vt:lpstr>
      <vt:lpstr>Multi-Objective UCTP</vt:lpstr>
      <vt:lpstr>Multi-Objective UCTP</vt:lpstr>
      <vt:lpstr>Multi-Objective UCTP</vt:lpstr>
      <vt:lpstr>Multi-Objective UCTP</vt:lpstr>
      <vt:lpstr>Multi-Objective UCTP</vt:lpstr>
      <vt:lpstr>PowerPoint Presentation</vt:lpstr>
      <vt:lpstr>Multi-Objective UCTP</vt:lpstr>
      <vt:lpstr>Multi-Objective UCTP</vt:lpstr>
      <vt:lpstr>PowerPoint Presentation</vt:lpstr>
      <vt:lpstr>PowerPoint Presentation</vt:lpstr>
      <vt:lpstr>PowerPoint Presentation</vt:lpstr>
      <vt:lpstr>PowerPoint Presentation</vt:lpstr>
      <vt:lpstr>PowerPoint Presentation</vt:lpstr>
      <vt:lpstr>Cultural algorithm: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 Architecture</vt:lpstr>
      <vt:lpstr>System Architecture</vt:lpstr>
      <vt:lpstr>System Architecture</vt:lpstr>
      <vt:lpstr>System Architecture</vt:lpstr>
      <vt:lpstr>System Architecture</vt:lpstr>
      <vt:lpstr>System Architecture</vt:lpstr>
      <vt:lpstr>System Architecture</vt:lpstr>
      <vt:lpstr>Conclusion and Future Work</vt:lpstr>
      <vt:lpstr>Conclusion and Future Work</vt:lpstr>
      <vt:lpstr>Conclusion and Future Work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Eslam Mohamed</dc:creator>
  <cp:lastModifiedBy>Eslam Mohamed</cp:lastModifiedBy>
  <cp:revision>218</cp:revision>
  <dcterms:created xsi:type="dcterms:W3CDTF">2026-06-10T09:06:04Z</dcterms:created>
  <dcterms:modified xsi:type="dcterms:W3CDTF">2026-06-12T23:06:56Z</dcterms:modified>
</cp:coreProperties>
</file>